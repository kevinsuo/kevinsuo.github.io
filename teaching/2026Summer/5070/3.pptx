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8"/>
    <p:restoredTop sz="94651"/>
  </p:normalViewPr>
  <p:slideViewPr>
    <p:cSldViewPr>
      <p:cViewPr varScale="1">
        <p:scale>
          <a:sx n="284" d="100"/>
          <a:sy n="284" d="100"/>
        </p:scale>
        <p:origin x="51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4771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531100"/>
            <a:ext cx="4358411" cy="1138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55377" y="3351784"/>
            <a:ext cx="62199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51" y="3351784"/>
            <a:ext cx="2797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ksu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slide" Target="slide1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pc="-10" dirty="0">
                <a:solidFill>
                  <a:srgbClr val="B30000"/>
                </a:solidFill>
              </a:rPr>
              <a:t>CS5070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Mathematical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25" dirty="0">
                <a:solidFill>
                  <a:srgbClr val="B30000"/>
                </a:solidFill>
              </a:rPr>
              <a:t>Structures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for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30" dirty="0">
                <a:solidFill>
                  <a:srgbClr val="B30000"/>
                </a:solidFill>
              </a:rPr>
              <a:t>Computer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B30000"/>
                </a:solidFill>
              </a:rPr>
              <a:t>-</a:t>
            </a:r>
            <a:r>
              <a:rPr spc="-6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Notes</a:t>
            </a:r>
            <a:r>
              <a:rPr spc="-55" dirty="0">
                <a:solidFill>
                  <a:srgbClr val="B30000"/>
                </a:solidFill>
              </a:rPr>
              <a:t> </a:t>
            </a:r>
            <a:r>
              <a:rPr spc="-50" dirty="0">
                <a:solidFill>
                  <a:srgbClr val="B30000"/>
                </a:solidFill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7935" y="1345043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Science </a:t>
            </a:r>
            <a:r>
              <a:rPr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-US" sz="1200" i="1" spc="-50" dirty="0">
                <a:latin typeface="Trebuchet MS"/>
                <a:cs typeface="Trebuchet MS"/>
                <a:hlinkClick r:id="rId5"/>
              </a:rPr>
              <a:t>ksuo</a:t>
            </a:r>
            <a:r>
              <a:rPr sz="1200" i="1" spc="-50" dirty="0">
                <a:latin typeface="Trebuchet MS"/>
                <a:cs typeface="Trebuchet MS"/>
                <a:hlinkClick r:id="rId5"/>
              </a:rPr>
              <a:t>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30" dirty="0"/>
              <a:t> </a:t>
            </a:r>
            <a:r>
              <a:rPr spc="-20" dirty="0"/>
              <a:t>(Chapter</a:t>
            </a:r>
            <a:r>
              <a:rPr spc="-25" dirty="0"/>
              <a:t> 1)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682256"/>
            <a:ext cx="4483735" cy="817880"/>
            <a:chOff x="87743" y="682256"/>
            <a:chExt cx="4483735" cy="817880"/>
          </a:xfrm>
        </p:grpSpPr>
        <p:sp>
          <p:nvSpPr>
            <p:cNvPr id="5" name="object 5"/>
            <p:cNvSpPr/>
            <p:nvPr/>
          </p:nvSpPr>
          <p:spPr>
            <a:xfrm>
              <a:off x="87743" y="68225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67968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9847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385773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726490"/>
              <a:ext cx="50800" cy="6719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12234"/>
              <a:ext cx="4432935" cy="537210"/>
            </a:xfrm>
            <a:custGeom>
              <a:avLst/>
              <a:gdLst/>
              <a:ahLst/>
              <a:cxnLst/>
              <a:rect l="l" t="t" r="r" b="b"/>
              <a:pathLst>
                <a:path w="4432935" h="537210">
                  <a:moveTo>
                    <a:pt x="44325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4381765" y="537039"/>
                  </a:lnTo>
                  <a:lnTo>
                    <a:pt x="4401490" y="533030"/>
                  </a:lnTo>
                  <a:lnTo>
                    <a:pt x="4417643" y="522116"/>
                  </a:lnTo>
                  <a:lnTo>
                    <a:pt x="4428558" y="505963"/>
                  </a:lnTo>
                  <a:lnTo>
                    <a:pt x="4432566" y="4862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64572"/>
              <a:ext cx="0" cy="653415"/>
            </a:xfrm>
            <a:custGeom>
              <a:avLst/>
              <a:gdLst/>
              <a:ahLst/>
              <a:cxnLst/>
              <a:rect l="l" t="t" r="r" b="b"/>
              <a:pathLst>
                <a:path h="653415">
                  <a:moveTo>
                    <a:pt x="0" y="652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518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391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7264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1601203"/>
            <a:ext cx="4483735" cy="654050"/>
            <a:chOff x="87743" y="1601203"/>
            <a:chExt cx="4483735" cy="654050"/>
          </a:xfrm>
        </p:grpSpPr>
        <p:sp>
          <p:nvSpPr>
            <p:cNvPr id="16" name="object 16"/>
            <p:cNvSpPr/>
            <p:nvPr/>
          </p:nvSpPr>
          <p:spPr>
            <a:xfrm>
              <a:off x="87743" y="1601203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786915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153056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140356"/>
              <a:ext cx="4381765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0" y="1645437"/>
              <a:ext cx="50800" cy="5076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831197"/>
              <a:ext cx="4432935" cy="372745"/>
            </a:xfrm>
            <a:custGeom>
              <a:avLst/>
              <a:gdLst/>
              <a:ahLst/>
              <a:cxnLst/>
              <a:rect l="l" t="t" r="r" b="b"/>
              <a:pathLst>
                <a:path w="4432935" h="372744">
                  <a:moveTo>
                    <a:pt x="4432566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4381765" y="372659"/>
                  </a:lnTo>
                  <a:lnTo>
                    <a:pt x="4401490" y="368650"/>
                  </a:lnTo>
                  <a:lnTo>
                    <a:pt x="4417643" y="357736"/>
                  </a:lnTo>
                  <a:lnTo>
                    <a:pt x="4428558" y="341583"/>
                  </a:lnTo>
                  <a:lnTo>
                    <a:pt x="4432566" y="32185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683536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6708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6581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0" y="16454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2355786"/>
            <a:ext cx="4483735" cy="645795"/>
            <a:chOff x="87743" y="2355786"/>
            <a:chExt cx="4483735" cy="645795"/>
          </a:xfrm>
        </p:grpSpPr>
        <p:sp>
          <p:nvSpPr>
            <p:cNvPr id="27" name="object 27"/>
            <p:cNvSpPr/>
            <p:nvPr/>
          </p:nvSpPr>
          <p:spPr>
            <a:xfrm>
              <a:off x="87743" y="235578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3" y="2541498"/>
              <a:ext cx="4432566" cy="506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899930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887230"/>
              <a:ext cx="4381765" cy="1143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0" y="2400020"/>
              <a:ext cx="50800" cy="49991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7743" y="2585769"/>
              <a:ext cx="4432935" cy="365125"/>
            </a:xfrm>
            <a:custGeom>
              <a:avLst/>
              <a:gdLst/>
              <a:ahLst/>
              <a:cxnLst/>
              <a:rect l="l" t="t" r="r" b="b"/>
              <a:pathLst>
                <a:path w="4432935" h="365125">
                  <a:moveTo>
                    <a:pt x="44325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4381765" y="364962"/>
                  </a:lnTo>
                  <a:lnTo>
                    <a:pt x="4401490" y="360953"/>
                  </a:lnTo>
                  <a:lnTo>
                    <a:pt x="4417643" y="350039"/>
                  </a:lnTo>
                  <a:lnTo>
                    <a:pt x="4428558" y="333886"/>
                  </a:lnTo>
                  <a:lnTo>
                    <a:pt x="4432566" y="3141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10" y="2438107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10" y="24254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10" y="2412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0" y="24000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5844" y="618451"/>
            <a:ext cx="4286250" cy="23018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Counting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Introduction</a:t>
            </a:r>
            <a:endParaRPr sz="1200" dirty="0">
              <a:latin typeface="Tahoma"/>
              <a:cs typeface="Tahoma"/>
            </a:endParaRPr>
          </a:p>
          <a:p>
            <a:pPr marL="12700" marR="42545">
              <a:lnSpc>
                <a:spcPct val="102600"/>
              </a:lnSpc>
              <a:spcBef>
                <a:spcPts val="265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rather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simple </a:t>
            </a:r>
            <a:r>
              <a:rPr sz="1100" spc="-30" dirty="0">
                <a:latin typeface="Tahoma"/>
                <a:cs typeface="Tahoma"/>
              </a:rPr>
              <a:t>counting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problem: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14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varieties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donuts,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16</a:t>
            </a:r>
            <a:r>
              <a:rPr sz="1100" spc="-45" dirty="0">
                <a:latin typeface="Tahoma"/>
                <a:cs typeface="Tahoma"/>
              </a:rPr>
              <a:t> types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dogs.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you </a:t>
            </a:r>
            <a:r>
              <a:rPr sz="1100" spc="-35" dirty="0">
                <a:latin typeface="Tahoma"/>
                <a:cs typeface="Tahoma"/>
              </a:rPr>
              <a:t>want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either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donut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dog,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45" dirty="0">
                <a:latin typeface="Tahoma"/>
                <a:cs typeface="Tahoma"/>
              </a:rPr>
              <a:t> you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have?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isn’t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0" dirty="0">
                <a:latin typeface="Tahoma"/>
                <a:cs typeface="Tahoma"/>
              </a:rPr>
              <a:t> hard,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add </a:t>
            </a:r>
            <a:r>
              <a:rPr sz="1100" spc="-20" dirty="0">
                <a:latin typeface="Tahoma"/>
                <a:cs typeface="Tahoma"/>
              </a:rPr>
              <a:t>14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16.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Additive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endParaRPr sz="1200" dirty="0">
              <a:latin typeface="Tahoma"/>
              <a:cs typeface="Tahoma"/>
            </a:endParaRPr>
          </a:p>
          <a:p>
            <a:pPr marL="12700" marR="205104">
              <a:lnSpc>
                <a:spcPct val="102699"/>
              </a:lnSpc>
              <a:spcBef>
                <a:spcPts val="26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states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occur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 </a:t>
            </a:r>
            <a:r>
              <a:rPr sz="1100" spc="-65" dirty="0">
                <a:latin typeface="Tahoma"/>
                <a:cs typeface="Tahoma"/>
              </a:rPr>
              <a:t>ways,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4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occur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b="1" spc="-30" dirty="0">
                <a:latin typeface="Arial"/>
                <a:cs typeface="Arial"/>
              </a:rPr>
              <a:t>disjoint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ways,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Disjoint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Events</a:t>
            </a:r>
            <a:endParaRPr sz="12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disjoint: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i.e.,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7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happen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time.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Thus,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90" dirty="0">
                <a:latin typeface="Lucida Sans Unicode"/>
                <a:cs typeface="Lucida Sans Unicode"/>
              </a:rPr>
              <a:t>∅</a:t>
            </a: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0" dirty="0"/>
              <a:t>Counting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908316"/>
            <a:ext cx="4483735" cy="817880"/>
            <a:chOff x="87743" y="908316"/>
            <a:chExt cx="4483735" cy="817880"/>
          </a:xfrm>
        </p:grpSpPr>
        <p:sp>
          <p:nvSpPr>
            <p:cNvPr id="5" name="object 5"/>
            <p:cNvSpPr/>
            <p:nvPr/>
          </p:nvSpPr>
          <p:spPr>
            <a:xfrm>
              <a:off x="87743" y="90831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94028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2454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11845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952550"/>
              <a:ext cx="50800" cy="6719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38307"/>
              <a:ext cx="4432935" cy="537210"/>
            </a:xfrm>
            <a:custGeom>
              <a:avLst/>
              <a:gdLst/>
              <a:ahLst/>
              <a:cxnLst/>
              <a:rect l="l" t="t" r="r" b="b"/>
              <a:pathLst>
                <a:path w="4432935" h="537210">
                  <a:moveTo>
                    <a:pt x="44325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4381765" y="537039"/>
                  </a:lnTo>
                  <a:lnTo>
                    <a:pt x="4401490" y="533030"/>
                  </a:lnTo>
                  <a:lnTo>
                    <a:pt x="4417643" y="522116"/>
                  </a:lnTo>
                  <a:lnTo>
                    <a:pt x="4428558" y="505963"/>
                  </a:lnTo>
                  <a:lnTo>
                    <a:pt x="4432566" y="4862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90645"/>
              <a:ext cx="0" cy="653415"/>
            </a:xfrm>
            <a:custGeom>
              <a:avLst/>
              <a:gdLst/>
              <a:ahLst/>
              <a:cxnLst/>
              <a:rect l="l" t="t" r="r" b="b"/>
              <a:pathLst>
                <a:path h="653414">
                  <a:moveTo>
                    <a:pt x="0" y="652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79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652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9525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5844" y="844512"/>
            <a:ext cx="4356735" cy="1858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Multiplicative</a:t>
            </a:r>
            <a:r>
              <a:rPr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endParaRPr sz="1200" dirty="0">
              <a:latin typeface="Tahoma"/>
              <a:cs typeface="Tahoma"/>
            </a:endParaRPr>
          </a:p>
          <a:p>
            <a:pPr marL="12700" marR="5080" algn="just">
              <a:lnSpc>
                <a:spcPct val="102600"/>
              </a:lnSpc>
              <a:spcBef>
                <a:spcPts val="26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multiplicative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principle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occur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ahoma"/>
                <a:cs typeface="Tahoma"/>
              </a:rPr>
              <a:t>ways,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possibility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allows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event </a:t>
            </a:r>
            <a:r>
              <a:rPr sz="1100" spc="60" dirty="0">
                <a:latin typeface="Tahoma"/>
                <a:cs typeface="Tahoma"/>
              </a:rPr>
              <a:t>‘A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B‘</a:t>
            </a:r>
            <a:r>
              <a:rPr sz="1100" spc="-20" dirty="0">
                <a:latin typeface="Tahoma"/>
                <a:cs typeface="Tahoma"/>
              </a:rPr>
              <a:t> can occur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ahoma"/>
                <a:cs typeface="Tahoma"/>
              </a:rPr>
              <a:t>ways.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Events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-20" dirty="0">
                <a:latin typeface="Tahoma"/>
                <a:cs typeface="Tahoma"/>
              </a:rPr>
              <a:t> occur </a:t>
            </a:r>
            <a:r>
              <a:rPr sz="1100" spc="-10" dirty="0">
                <a:latin typeface="Tahoma"/>
                <a:cs typeface="Tahoma"/>
              </a:rPr>
              <a:t>independently.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 dirty="0">
              <a:latin typeface="Tahoma"/>
              <a:cs typeface="Tahoma"/>
            </a:endParaRPr>
          </a:p>
          <a:p>
            <a:pPr marL="12700" marR="37465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College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offers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semester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seven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Programming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20" dirty="0">
                <a:latin typeface="Tahoma"/>
                <a:cs typeface="Tahoma"/>
              </a:rPr>
              <a:t>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Lab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Programming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Students can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lab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section.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student</a:t>
            </a:r>
            <a:r>
              <a:rPr sz="1100" spc="-40" dirty="0">
                <a:latin typeface="Tahoma"/>
                <a:cs typeface="Tahoma"/>
              </a:rPr>
              <a:t> register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these?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Answer: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7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9.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484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0" dirty="0"/>
              <a:t>Sets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878725"/>
            <a:ext cx="4483735" cy="645795"/>
            <a:chOff x="87743" y="878725"/>
            <a:chExt cx="4483735" cy="645795"/>
          </a:xfrm>
        </p:grpSpPr>
        <p:sp>
          <p:nvSpPr>
            <p:cNvPr id="5" name="object 5"/>
            <p:cNvSpPr/>
            <p:nvPr/>
          </p:nvSpPr>
          <p:spPr>
            <a:xfrm>
              <a:off x="87743" y="878725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644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2288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10182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922959"/>
              <a:ext cx="50800" cy="4999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08721"/>
              <a:ext cx="4432935" cy="365125"/>
            </a:xfrm>
            <a:custGeom>
              <a:avLst/>
              <a:gdLst/>
              <a:ahLst/>
              <a:cxnLst/>
              <a:rect l="l" t="t" r="r" b="b"/>
              <a:pathLst>
                <a:path w="4432935" h="365125">
                  <a:moveTo>
                    <a:pt x="44325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4381765" y="364962"/>
                  </a:lnTo>
                  <a:lnTo>
                    <a:pt x="4401490" y="360953"/>
                  </a:lnTo>
                  <a:lnTo>
                    <a:pt x="4417643" y="350039"/>
                  </a:lnTo>
                  <a:lnTo>
                    <a:pt x="4428558" y="333886"/>
                  </a:lnTo>
                  <a:lnTo>
                    <a:pt x="4432566" y="3141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61059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483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356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9229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1701520"/>
            <a:ext cx="4483735" cy="1005840"/>
            <a:chOff x="87743" y="1701520"/>
            <a:chExt cx="4483735" cy="1005840"/>
          </a:xfrm>
        </p:grpSpPr>
        <p:sp>
          <p:nvSpPr>
            <p:cNvPr id="16" name="object 16"/>
            <p:cNvSpPr/>
            <p:nvPr/>
          </p:nvSpPr>
          <p:spPr>
            <a:xfrm>
              <a:off x="87743" y="1701520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887232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605214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592514"/>
              <a:ext cx="4381765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0" y="1745754"/>
              <a:ext cx="50800" cy="8594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931504"/>
              <a:ext cx="4432935" cy="724535"/>
            </a:xfrm>
            <a:custGeom>
              <a:avLst/>
              <a:gdLst/>
              <a:ahLst/>
              <a:cxnLst/>
              <a:rect l="l" t="t" r="r" b="b"/>
              <a:pathLst>
                <a:path w="4432935" h="724535">
                  <a:moveTo>
                    <a:pt x="4432566" y="0"/>
                  </a:moveTo>
                  <a:lnTo>
                    <a:pt x="0" y="0"/>
                  </a:lnTo>
                  <a:lnTo>
                    <a:pt x="0" y="673709"/>
                  </a:lnTo>
                  <a:lnTo>
                    <a:pt x="4008" y="693434"/>
                  </a:lnTo>
                  <a:lnTo>
                    <a:pt x="14922" y="709587"/>
                  </a:lnTo>
                  <a:lnTo>
                    <a:pt x="31075" y="720501"/>
                  </a:lnTo>
                  <a:lnTo>
                    <a:pt x="50800" y="724510"/>
                  </a:lnTo>
                  <a:lnTo>
                    <a:pt x="4381765" y="724510"/>
                  </a:lnTo>
                  <a:lnTo>
                    <a:pt x="4401490" y="720501"/>
                  </a:lnTo>
                  <a:lnTo>
                    <a:pt x="4417643" y="709587"/>
                  </a:lnTo>
                  <a:lnTo>
                    <a:pt x="4428558" y="693434"/>
                  </a:lnTo>
                  <a:lnTo>
                    <a:pt x="4432566" y="67370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783843"/>
              <a:ext cx="0" cy="840740"/>
            </a:xfrm>
            <a:custGeom>
              <a:avLst/>
              <a:gdLst/>
              <a:ahLst/>
              <a:cxnLst/>
              <a:rect l="l" t="t" r="r" b="b"/>
              <a:pathLst>
                <a:path h="840739">
                  <a:moveTo>
                    <a:pt x="0" y="8404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7711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7584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0" y="17457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5844" y="814920"/>
            <a:ext cx="4231005" cy="180276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Using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Sets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265"/>
              </a:spcBef>
            </a:pPr>
            <a:r>
              <a:rPr sz="1100" spc="-50" dirty="0">
                <a:latin typeface="Tahoma"/>
                <a:cs typeface="Tahoma"/>
              </a:rPr>
              <a:t>Instead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 contain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happen.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Additive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Sets</a:t>
            </a:r>
            <a:endParaRPr sz="1200">
              <a:latin typeface="Tahoma"/>
              <a:cs typeface="Tahoma"/>
            </a:endParaRPr>
          </a:p>
          <a:p>
            <a:pPr marL="12700" marR="248285">
              <a:lnSpc>
                <a:spcPct val="102699"/>
              </a:lnSpc>
              <a:spcBef>
                <a:spcPts val="325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∅</a:t>
            </a:r>
            <a:r>
              <a:rPr sz="1100" spc="-29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 is,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no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dirty="0">
                <a:latin typeface="Tahoma"/>
                <a:cs typeface="Tahoma"/>
              </a:rPr>
              <a:t> 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both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125095" algn="ctr">
              <a:lnSpc>
                <a:spcPct val="100000"/>
              </a:lnSpc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6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Multiplicative</a:t>
            </a:r>
            <a:r>
              <a:rPr spc="-35" dirty="0"/>
              <a:t> </a:t>
            </a:r>
            <a:r>
              <a:rPr spc="-10" dirty="0"/>
              <a:t>Principle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930070"/>
            <a:ext cx="4306570" cy="1445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Cartesian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product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6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25" dirty="0">
                <a:latin typeface="Tahoma"/>
                <a:cs typeface="Tahoma"/>
              </a:rPr>
              <a:t> by: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50165" algn="ctr">
              <a:lnSpc>
                <a:spcPct val="100000"/>
              </a:lnSpc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7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: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∧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160" dirty="0">
                <a:latin typeface="Trebuchet MS"/>
                <a:cs typeface="Trebuchet MS"/>
              </a:rPr>
              <a:t>B</a:t>
            </a:r>
            <a:r>
              <a:rPr sz="1100" spc="16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25" dirty="0">
                <a:latin typeface="Tahoma"/>
                <a:cs typeface="Tahoma"/>
              </a:rPr>
              <a:t> (</a:t>
            </a:r>
            <a:r>
              <a:rPr sz="1100" i="1" spc="-25" dirty="0">
                <a:latin typeface="Trebuchet MS"/>
                <a:cs typeface="Trebuchet MS"/>
              </a:rPr>
              <a:t>a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A</a:t>
            </a:r>
            <a:endParaRPr sz="1100">
              <a:latin typeface="Trebuchet MS"/>
              <a:cs typeface="Trebuchet MS"/>
            </a:endParaRPr>
          </a:p>
          <a:p>
            <a:pPr marL="12700" marR="2416810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Tahoma"/>
                <a:cs typeface="Tahoma"/>
              </a:rPr>
              <a:t>. </a:t>
            </a:r>
            <a:r>
              <a:rPr sz="1100" spc="-35" dirty="0">
                <a:latin typeface="Tahoma"/>
                <a:cs typeface="Tahoma"/>
              </a:rPr>
              <a:t>Example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Cartesian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product:</a:t>
            </a:r>
            <a:endParaRPr sz="1100">
              <a:latin typeface="Tahoma"/>
              <a:cs typeface="Tahoma"/>
            </a:endParaRPr>
          </a:p>
          <a:p>
            <a:pPr marL="50165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60" dirty="0">
                <a:latin typeface="Tahoma"/>
                <a:cs typeface="Tahoma"/>
              </a:rPr>
              <a:t>2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60" dirty="0">
                <a:latin typeface="Tahoma"/>
                <a:cs typeface="Tahoma"/>
              </a:rPr>
              <a:t>5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5)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5)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386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CC0000"/>
                </a:solidFill>
                <a:latin typeface="Tahoma"/>
                <a:cs typeface="Tahoma"/>
              </a:rPr>
              <a:t>Cartesian </a:t>
            </a:r>
            <a:r>
              <a:rPr sz="1400" dirty="0">
                <a:solidFill>
                  <a:srgbClr val="CC0000"/>
                </a:solidFill>
                <a:latin typeface="Tahoma"/>
                <a:cs typeface="Tahoma"/>
              </a:rPr>
              <a:t>Product</a:t>
            </a:r>
            <a:r>
              <a:rPr sz="14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CC0000"/>
                </a:solidFill>
                <a:latin typeface="Tahoma"/>
                <a:cs typeface="Tahoma"/>
              </a:rPr>
              <a:t>Counting</a:t>
            </a:r>
            <a:r>
              <a:rPr sz="14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Tahoma"/>
                <a:cs typeface="Tahoma"/>
              </a:rPr>
              <a:t>(2)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94" y="982512"/>
          <a:ext cx="3547110" cy="1212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154"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100" i="1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sz="1100" spc="-8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spc="1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100" i="1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30" dirty="0">
                          <a:latin typeface="Lucida Sans Unicode"/>
                          <a:cs typeface="Lucida Sans Unicode"/>
                        </a:rPr>
                        <a:t>{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130"/>
                        </a:lnSpc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130"/>
                        </a:lnSpc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354330" algn="ctr">
                        <a:lnSpc>
                          <a:spcPts val="120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18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8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7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5844" y="1827858"/>
            <a:ext cx="3216910" cy="682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rows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30" dirty="0">
                <a:latin typeface="Tahoma"/>
                <a:cs typeface="Tahoma"/>
              </a:rPr>
              <a:t>pairs,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pairs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Multiplicative</a:t>
            </a:r>
            <a:r>
              <a:rPr spc="-35" dirty="0"/>
              <a:t> </a:t>
            </a:r>
            <a:r>
              <a:rPr spc="-10" dirty="0"/>
              <a:t>Principle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686129"/>
            <a:ext cx="4333875" cy="21126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disjoint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those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elements.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 marR="2708910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Multiplicative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Principle Given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Tahoma"/>
                <a:cs typeface="Tahoma"/>
              </a:rPr>
              <a:t>,</a:t>
            </a:r>
            <a:endParaRPr sz="1100" dirty="0">
              <a:latin typeface="Tahoma"/>
              <a:cs typeface="Tahoma"/>
            </a:endParaRPr>
          </a:p>
          <a:p>
            <a:pPr marL="22225" algn="ctr">
              <a:lnSpc>
                <a:spcPct val="100000"/>
              </a:lnSpc>
              <a:spcBef>
                <a:spcPts val="1130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extended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sets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is: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22225" algn="ctr">
              <a:lnSpc>
                <a:spcPct val="100000"/>
              </a:lnSpc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1026" name="Picture 2" descr="Union And Intersection Of Sets Cardinal Number Practical Problems">
            <a:extLst>
              <a:ext uri="{FF2B5EF4-FFF2-40B4-BE49-F238E27FC236}">
                <a16:creationId xmlns:a16="http://schemas.microsoft.com/office/drawing/2014/main" id="{CB79A4FA-2B59-B691-F441-6AE4B31BF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69" y="1882775"/>
            <a:ext cx="1162050" cy="72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Cardinality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Union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3</a:t>
            </a:r>
            <a:r>
              <a:rPr spc="-4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5844" y="531100"/>
            <a:ext cx="4389006" cy="1138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For</a:t>
            </a:r>
            <a:r>
              <a:rPr spc="-35" dirty="0"/>
              <a:t> any</a:t>
            </a:r>
            <a:r>
              <a:rPr spc="-25" dirty="0"/>
              <a:t> </a:t>
            </a:r>
            <a:r>
              <a:rPr spc="-10" dirty="0"/>
              <a:t>finite</a:t>
            </a:r>
            <a:r>
              <a:rPr spc="-15" dirty="0"/>
              <a:t> </a:t>
            </a:r>
            <a:r>
              <a:rPr spc="-35" dirty="0"/>
              <a:t>sets</a:t>
            </a:r>
            <a:r>
              <a:rPr spc="-20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dirty="0"/>
              <a:t>,</a:t>
            </a:r>
            <a:r>
              <a:rPr spc="-20" dirty="0"/>
              <a:t> </a:t>
            </a:r>
            <a:r>
              <a:rPr i="1" spc="75" dirty="0">
                <a:latin typeface="Trebuchet MS"/>
                <a:cs typeface="Trebuchet MS"/>
              </a:rPr>
              <a:t>B</a:t>
            </a:r>
            <a:r>
              <a:rPr spc="75" dirty="0"/>
              <a:t>,</a:t>
            </a:r>
            <a:r>
              <a:rPr spc="-15" dirty="0"/>
              <a:t> </a:t>
            </a:r>
            <a:r>
              <a:rPr spc="-35" dirty="0"/>
              <a:t>and</a:t>
            </a:r>
            <a:r>
              <a:rPr spc="-20" dirty="0"/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204" dirty="0">
                <a:latin typeface="Trebuchet MS"/>
                <a:cs typeface="Trebuchet MS"/>
              </a:rPr>
              <a:t> </a:t>
            </a:r>
            <a:r>
              <a:rPr spc="-50" dirty="0"/>
              <a:t>,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10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25" dirty="0">
                <a:latin typeface="Lucida Sans Unicode"/>
                <a:cs typeface="Lucida Sans Unicode"/>
              </a:rPr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spc="-65" dirty="0">
                <a:latin typeface="Lucida Sans Unicode"/>
                <a:cs typeface="Lucida Sans Unicode"/>
              </a:rPr>
              <a:t>|</a:t>
            </a:r>
            <a:r>
              <a:rPr i="1" spc="-65" dirty="0">
                <a:latin typeface="Trebuchet MS"/>
                <a:cs typeface="Trebuchet MS"/>
              </a:rPr>
              <a:t>A</a:t>
            </a:r>
            <a:r>
              <a:rPr spc="-65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05" dirty="0"/>
              <a:t> </a:t>
            </a:r>
            <a:r>
              <a:rPr spc="-20" dirty="0">
                <a:latin typeface="Lucida Sans Unicode"/>
                <a:cs typeface="Lucida Sans Unicode"/>
              </a:rPr>
              <a:t>|</a:t>
            </a:r>
            <a:r>
              <a:rPr i="1" spc="-20" dirty="0">
                <a:latin typeface="Trebuchet MS"/>
                <a:cs typeface="Trebuchet MS"/>
              </a:rPr>
              <a:t>B</a:t>
            </a:r>
            <a:r>
              <a:rPr spc="-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05" dirty="0"/>
              <a:t> </a:t>
            </a:r>
            <a:r>
              <a:rPr spc="-45" dirty="0">
                <a:latin typeface="Lucida Sans Unicode"/>
                <a:cs typeface="Lucida Sans Unicode"/>
              </a:rPr>
              <a:t>|</a:t>
            </a:r>
            <a:r>
              <a:rPr i="1" spc="-45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0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10" dirty="0"/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0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0" dirty="0">
                <a:latin typeface="Trebuchet MS"/>
                <a:cs typeface="Trebuchet MS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|</a:t>
            </a:r>
          </a:p>
          <a:p>
            <a:pPr marL="12700" marR="656590">
              <a:lnSpc>
                <a:spcPct val="147900"/>
              </a:lnSpc>
              <a:spcBef>
                <a:spcPts val="1095"/>
              </a:spcBef>
            </a:pPr>
            <a:r>
              <a:rPr dirty="0"/>
              <a:t>This</a:t>
            </a:r>
            <a:r>
              <a:rPr spc="-30" dirty="0"/>
              <a:t> </a:t>
            </a:r>
            <a:r>
              <a:rPr spc="-60" dirty="0"/>
              <a:t>process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called </a:t>
            </a:r>
            <a:r>
              <a:rPr spc="-10" dirty="0"/>
              <a:t>the</a:t>
            </a:r>
            <a:r>
              <a:rPr spc="-20" dirty="0"/>
              <a:t> </a:t>
            </a:r>
            <a:r>
              <a:rPr i="1" spc="-50" dirty="0">
                <a:latin typeface="Trebuchet MS"/>
                <a:cs typeface="Trebuchet MS"/>
              </a:rPr>
              <a:t>Principle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spc="-45" dirty="0">
                <a:latin typeface="Trebuchet MS"/>
                <a:cs typeface="Trebuchet MS"/>
              </a:rPr>
              <a:t>of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Inclusion/Exclusion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spc="-10" dirty="0"/>
              <a:t>(PIE) </a:t>
            </a:r>
            <a:r>
              <a:rPr spc="-35" dirty="0"/>
              <a:t>Example</a:t>
            </a:r>
            <a:r>
              <a:rPr spc="-25" dirty="0"/>
              <a:t> </a:t>
            </a:r>
            <a:r>
              <a:rPr spc="-10" dirty="0"/>
              <a:t>1.1.8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4153" y="1865514"/>
            <a:ext cx="244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f</a:t>
            </a:r>
            <a:r>
              <a:rPr sz="1100" i="1" spc="10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3977" y="1807527"/>
            <a:ext cx="2677160" cy="349250"/>
            <a:chOff x="1093977" y="1807527"/>
            <a:chExt cx="2677160" cy="349250"/>
          </a:xfrm>
        </p:grpSpPr>
        <p:sp>
          <p:nvSpPr>
            <p:cNvPr id="7" name="object 7"/>
            <p:cNvSpPr/>
            <p:nvPr/>
          </p:nvSpPr>
          <p:spPr>
            <a:xfrm>
              <a:off x="1660779" y="1807527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3977" y="1982127"/>
              <a:ext cx="2677160" cy="0"/>
            </a:xfrm>
            <a:custGeom>
              <a:avLst/>
              <a:gdLst/>
              <a:ahLst/>
              <a:cxnLst/>
              <a:rect l="l" t="t" r="r" b="b"/>
              <a:pathLst>
                <a:path w="2677160">
                  <a:moveTo>
                    <a:pt x="0" y="0"/>
                  </a:moveTo>
                  <a:lnTo>
                    <a:pt x="26771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0779" y="1984667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44549" y="1765843"/>
            <a:ext cx="2559050" cy="37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100"/>
              </a:spcBef>
              <a:tabLst>
                <a:tab pos="579120" algn="l"/>
                <a:tab pos="601980" algn="l"/>
                <a:tab pos="843915" algn="l"/>
                <a:tab pos="1074420" algn="l"/>
                <a:tab pos="1306195" algn="l"/>
                <a:tab pos="1369695" algn="l"/>
                <a:tab pos="1628775" algn="l"/>
                <a:tab pos="1691005" algn="l"/>
                <a:tab pos="1948814" algn="l"/>
                <a:tab pos="2012950" algn="l"/>
                <a:tab pos="2272665" algn="l"/>
                <a:tab pos="2383155" algn="l"/>
              </a:tabLst>
            </a:pPr>
            <a:r>
              <a:rPr sz="1100" i="1" spc="-10" dirty="0">
                <a:latin typeface="Trebuchet MS"/>
                <a:cs typeface="Trebuchet MS"/>
              </a:rPr>
              <a:t>Subject</a:t>
            </a:r>
            <a:r>
              <a:rPr sz="1100" i="1" dirty="0">
                <a:latin typeface="Trebuchet MS"/>
                <a:cs typeface="Trebuchet MS"/>
              </a:rPr>
              <a:t>		</a:t>
            </a:r>
            <a:r>
              <a:rPr sz="1100" i="1" spc="-50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50" dirty="0">
                <a:latin typeface="Trebuchet MS"/>
                <a:cs typeface="Trebuchet MS"/>
              </a:rPr>
              <a:t>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45" dirty="0">
                <a:latin typeface="Trebuchet MS"/>
                <a:cs typeface="Trebuchet MS"/>
              </a:rPr>
              <a:t>AB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25" dirty="0">
                <a:latin typeface="Trebuchet MS"/>
                <a:cs typeface="Trebuchet MS"/>
              </a:rPr>
              <a:t>AC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35" dirty="0">
                <a:latin typeface="Trebuchet MS"/>
                <a:cs typeface="Trebuchet MS"/>
              </a:rPr>
              <a:t>BC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25" dirty="0">
                <a:latin typeface="Trebuchet MS"/>
                <a:cs typeface="Trebuchet MS"/>
              </a:rPr>
              <a:t>ABC </a:t>
            </a:r>
            <a:r>
              <a:rPr sz="1100" i="1" spc="-10" dirty="0">
                <a:latin typeface="Trebuchet MS"/>
                <a:cs typeface="Trebuchet MS"/>
              </a:rPr>
              <a:t>Failed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25" dirty="0">
                <a:latin typeface="Tahoma"/>
                <a:cs typeface="Tahoma"/>
              </a:rPr>
              <a:t>12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	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		</a:t>
            </a:r>
            <a:r>
              <a:rPr sz="1100" spc="-50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6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2329445"/>
            <a:ext cx="4164329" cy="784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students </a:t>
            </a:r>
            <a:r>
              <a:rPr sz="1100" spc="-25" dirty="0">
                <a:latin typeface="Tahoma"/>
                <a:cs typeface="Tahoma"/>
              </a:rPr>
              <a:t>failed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subject?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12,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Lucida Sans Unicode"/>
                <a:cs typeface="Lucida Sans Unicode"/>
              </a:rPr>
              <a:t>|</a:t>
            </a:r>
            <a:r>
              <a:rPr sz="1100" i="1" spc="-45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6,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rebuchet MS"/>
                <a:cs typeface="Trebuchet MS"/>
              </a:rPr>
              <a:t>B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50" name="Picture 2" descr="Union And Intersection Of Sets Cardinal Number Practical Problems">
            <a:extLst>
              <a:ext uri="{FF2B5EF4-FFF2-40B4-BE49-F238E27FC236}">
                <a16:creationId xmlns:a16="http://schemas.microsoft.com/office/drawing/2014/main" id="{D8B6AD7B-32E0-95B7-65CD-669A7F17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938" y="40407"/>
            <a:ext cx="1085850" cy="75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Subsets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884566"/>
            <a:ext cx="4416425" cy="17062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165" marR="136271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powerset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70" dirty="0">
                <a:latin typeface="Trebuchet MS"/>
                <a:cs typeface="Trebuchet MS"/>
              </a:rPr>
              <a:t>c</a:t>
            </a:r>
            <a:r>
              <a:rPr sz="1100" spc="70" dirty="0">
                <a:latin typeface="Lucida Sans Unicode"/>
                <a:cs typeface="Lucida Sans Unicode"/>
              </a:rPr>
              <a:t>}</a:t>
            </a:r>
            <a:r>
              <a:rPr sz="1100" spc="70" dirty="0">
                <a:latin typeface="Tahoma"/>
                <a:cs typeface="Tahoma"/>
              </a:rPr>
              <a:t>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powerset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100" spc="65" dirty="0">
                <a:latin typeface="Lucida Sans Unicode"/>
                <a:cs typeface="Lucida Sans Unicode"/>
              </a:rPr>
              <a:t>P</a:t>
            </a:r>
            <a:r>
              <a:rPr sz="1100" spc="65" dirty="0">
                <a:latin typeface="Tahoma"/>
                <a:cs typeface="Tahoma"/>
              </a:rPr>
              <a:t>(</a:t>
            </a:r>
            <a:r>
              <a:rPr sz="1100" i="1" spc="65" dirty="0">
                <a:latin typeface="Trebuchet MS"/>
                <a:cs typeface="Trebuchet MS"/>
              </a:rPr>
              <a:t>A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35" dirty="0">
                <a:latin typeface="Lucida Sans Unicode"/>
                <a:cs typeface="Lucida Sans Unicode"/>
              </a:rPr>
              <a:t>{{}</a:t>
            </a:r>
            <a:r>
              <a:rPr sz="1100" i="1" spc="13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75" dirty="0">
                <a:latin typeface="Lucida Sans Unicode"/>
                <a:cs typeface="Lucida Sans Unicode"/>
              </a:rPr>
              <a:t>{</a:t>
            </a:r>
            <a:r>
              <a:rPr sz="1100" i="1" spc="75" dirty="0">
                <a:latin typeface="Trebuchet MS"/>
                <a:cs typeface="Trebuchet MS"/>
              </a:rPr>
              <a:t>a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i="1" spc="7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80" dirty="0">
                <a:latin typeface="Lucida Sans Unicode"/>
                <a:cs typeface="Lucida Sans Unicode"/>
              </a:rPr>
              <a:t>{</a:t>
            </a:r>
            <a:r>
              <a:rPr sz="1100" i="1" spc="80" dirty="0">
                <a:latin typeface="Trebuchet MS"/>
                <a:cs typeface="Trebuchet MS"/>
              </a:rPr>
              <a:t>b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{</a:t>
            </a:r>
            <a:r>
              <a:rPr sz="1100" i="1" spc="105" dirty="0">
                <a:latin typeface="Trebuchet MS"/>
                <a:cs typeface="Trebuchet MS"/>
              </a:rPr>
              <a:t>c</a:t>
            </a:r>
            <a:r>
              <a:rPr sz="1100" spc="105" dirty="0">
                <a:latin typeface="Lucida Sans Unicode"/>
                <a:cs typeface="Lucida Sans Unicode"/>
              </a:rPr>
              <a:t>}</a:t>
            </a:r>
            <a:r>
              <a:rPr sz="1100" i="1" spc="10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Lucida Sans Unicode"/>
                <a:cs typeface="Lucida Sans Unicode"/>
              </a:rPr>
              <a:t>}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80" dirty="0">
                <a:latin typeface="Trebuchet MS"/>
                <a:cs typeface="Trebuchet MS"/>
              </a:rPr>
              <a:t>c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{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80" dirty="0">
                <a:latin typeface="Trebuchet MS"/>
                <a:cs typeface="Trebuchet MS"/>
              </a:rPr>
              <a:t>c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114" dirty="0">
                <a:latin typeface="Trebuchet MS"/>
                <a:cs typeface="Trebuchet MS"/>
              </a:rPr>
              <a:t>c</a:t>
            </a:r>
            <a:r>
              <a:rPr sz="1100" spc="114" dirty="0">
                <a:latin typeface="Lucida Sans Unicode"/>
                <a:cs typeface="Lucida Sans Unicode"/>
              </a:rPr>
              <a:t>}}</a:t>
            </a:r>
            <a:endParaRPr sz="1100" dirty="0">
              <a:latin typeface="Lucida Sans Unicode"/>
              <a:cs typeface="Lucida Sans Unicode"/>
            </a:endParaRPr>
          </a:p>
          <a:p>
            <a:pPr marL="50800" marR="713105">
              <a:lnSpc>
                <a:spcPct val="147900"/>
              </a:lnSpc>
              <a:spcBef>
                <a:spcPts val="65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3.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200" i="1" spc="-60" baseline="27777" dirty="0">
                <a:latin typeface="Constantia"/>
                <a:cs typeface="Constantia"/>
              </a:rPr>
              <a:t>k</a:t>
            </a:r>
            <a:r>
              <a:rPr sz="1200" i="1" spc="-112" baseline="27777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8.</a:t>
            </a:r>
            <a:endParaRPr sz="1100" dirty="0">
              <a:latin typeface="Tahoma"/>
              <a:cs typeface="Tahoma"/>
            </a:endParaRPr>
          </a:p>
          <a:p>
            <a:pPr marL="50800" marR="4318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elements?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have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Decomposition</a:t>
            </a:r>
            <a:r>
              <a:rPr spc="-30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689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23440"/>
            <a:ext cx="3988435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solved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partitioning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35" dirty="0">
                <a:latin typeface="Tahoma"/>
                <a:cs typeface="Tahoma"/>
              </a:rPr>
              <a:t>smaller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(sub-</a:t>
            </a:r>
            <a:r>
              <a:rPr sz="1100" spc="-10" dirty="0">
                <a:latin typeface="Tahoma"/>
                <a:cs typeface="Tahoma"/>
              </a:rPr>
              <a:t>problems)</a:t>
            </a:r>
            <a:endParaRPr sz="11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solved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10" dirty="0">
                <a:latin typeface="Tahoma"/>
                <a:cs typeface="Tahoma"/>
              </a:rPr>
              <a:t>problems</a:t>
            </a:r>
            <a:endParaRPr sz="1100" dirty="0">
              <a:latin typeface="Tahoma"/>
              <a:cs typeface="Tahoma"/>
            </a:endParaRPr>
          </a:p>
          <a:p>
            <a:pPr marL="12700" marR="199390" algn="just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combined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final </a:t>
            </a:r>
            <a:r>
              <a:rPr sz="1100" spc="-25" dirty="0">
                <a:latin typeface="Tahoma"/>
                <a:cs typeface="Tahoma"/>
              </a:rPr>
              <a:t>result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problem.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30" dirty="0">
                <a:latin typeface="Tahoma"/>
                <a:cs typeface="Tahoma"/>
              </a:rPr>
              <a:t>applied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step.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8899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9903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Bit</a:t>
            </a:r>
            <a:r>
              <a:rPr spc="175" dirty="0"/>
              <a:t> </a:t>
            </a:r>
            <a:r>
              <a:rPr spc="-25" dirty="0"/>
              <a:t>Strings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777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530552"/>
            <a:ext cx="309753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weight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1’s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Constantia"/>
                <a:cs typeface="Constantia"/>
              </a:rPr>
              <a:t>n</a:t>
            </a:r>
            <a:r>
              <a:rPr sz="1200" i="1" spc="247" baseline="31250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strings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6780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077836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87868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4532" y="128393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04428"/>
            <a:ext cx="2593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Constantia"/>
                <a:cs typeface="Constantia"/>
              </a:rPr>
              <a:t>n</a:t>
            </a:r>
            <a:r>
              <a:rPr sz="1200" i="1" spc="284" baseline="27777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497901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7532" y="1414461"/>
            <a:ext cx="38214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150" baseline="27777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011,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101,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0" dirty="0">
                <a:latin typeface="Tahoma"/>
                <a:cs typeface="Tahoma"/>
              </a:rPr>
              <a:t>110.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532" y="1480658"/>
            <a:ext cx="3817620" cy="5461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320040" algn="ctr">
              <a:lnSpc>
                <a:spcPct val="100000"/>
              </a:lnSpc>
              <a:spcBef>
                <a:spcPts val="170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length </a:t>
            </a:r>
            <a:r>
              <a:rPr sz="1100" dirty="0">
                <a:latin typeface="Tahoma"/>
                <a:cs typeface="Tahoma"/>
              </a:rPr>
              <a:t>5?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answer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200" baseline="27777" dirty="0">
                <a:latin typeface="Tahoma"/>
                <a:cs typeface="Tahoma"/>
              </a:rPr>
              <a:t>5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32.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those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707934"/>
            <a:ext cx="65265" cy="65265"/>
          </a:xfrm>
          <a:prstGeom prst="rect">
            <a:avLst/>
          </a:prstGeom>
        </p:spPr>
      </p:pic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917966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4832" y="2145778"/>
            <a:ext cx="4080510" cy="929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 algn="ctr">
              <a:lnSpc>
                <a:spcPts val="944"/>
              </a:lnSpc>
              <a:spcBef>
                <a:spcPts val="90"/>
              </a:spcBef>
            </a:pP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5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b="1" spc="-20" dirty="0">
                <a:latin typeface="Arial"/>
                <a:cs typeface="Arial"/>
              </a:rPr>
              <a:t>B</a:t>
            </a:r>
            <a:r>
              <a:rPr sz="1200" spc="-30" baseline="31250" dirty="0">
                <a:latin typeface="Tahoma"/>
                <a:cs typeface="Tahoma"/>
              </a:rPr>
              <a:t>4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 marL="1682750">
              <a:lnSpc>
                <a:spcPts val="585"/>
              </a:lnSpc>
              <a:tabLst>
                <a:tab pos="2105660" algn="l"/>
                <a:tab pos="2513965" algn="l"/>
              </a:tabLst>
            </a:pPr>
            <a:r>
              <a:rPr sz="800" spc="-50" dirty="0">
                <a:latin typeface="Tahoma"/>
                <a:cs typeface="Tahoma"/>
              </a:rPr>
              <a:t>3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  <a:p>
            <a:pPr marL="74295" algn="ctr">
              <a:lnSpc>
                <a:spcPts val="944"/>
              </a:lnSpc>
              <a:spcBef>
                <a:spcPts val="919"/>
              </a:spcBef>
            </a:pP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3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3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480" dirty="0">
                <a:latin typeface="Cambria"/>
                <a:cs typeface="Cambri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3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b="1" spc="-20" dirty="0">
                <a:latin typeface="Arial"/>
                <a:cs typeface="Arial"/>
              </a:rPr>
              <a:t>B</a:t>
            </a:r>
            <a:r>
              <a:rPr sz="1200" spc="-30" baseline="31250" dirty="0">
                <a:latin typeface="Tahoma"/>
                <a:cs typeface="Tahoma"/>
              </a:rPr>
              <a:t>3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 marL="943610">
              <a:lnSpc>
                <a:spcPts val="585"/>
              </a:lnSpc>
              <a:tabLst>
                <a:tab pos="1366520" algn="l"/>
                <a:tab pos="1774825" algn="l"/>
                <a:tab pos="2421255" algn="l"/>
                <a:tab pos="2844800" algn="l"/>
                <a:tab pos="3253104" algn="l"/>
              </a:tabLst>
            </a:pP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  <a:p>
            <a:pPr marL="50800" marR="43180">
              <a:lnSpc>
                <a:spcPct val="102600"/>
              </a:lnSpc>
              <a:spcBef>
                <a:spcPts val="440"/>
              </a:spcBef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3-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counting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5-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79478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Binomial</a:t>
            </a:r>
            <a:r>
              <a:rPr spc="-50" dirty="0"/>
              <a:t> </a:t>
            </a:r>
            <a:r>
              <a:rPr spc="-30" dirty="0"/>
              <a:t>Coefficients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785925"/>
            <a:ext cx="308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4275" y="1077809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1659" y="126656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49678" y="976184"/>
            <a:ext cx="30924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13141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8287" y="160554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432" y="1714791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2932" y="1517470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657" y="161673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5657" y="1709203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335" y="1629688"/>
            <a:ext cx="276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14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|</a:t>
            </a:r>
            <a:r>
              <a:rPr sz="1100" spc="-5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weight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99094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68287" y="18914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432" y="200074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8" name="objec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2932" y="1803411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7031" y="1915641"/>
            <a:ext cx="3810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0" name="object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85034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8287" y="217743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432" y="228668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3" name="objec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2932" y="2089364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7031" y="2201581"/>
            <a:ext cx="3076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83995" algn="l"/>
              </a:tabLst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coefficient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1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y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expansion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y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8454" y="2188640"/>
            <a:ext cx="20605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1995" algn="l"/>
              </a:tabLst>
            </a:pPr>
            <a:r>
              <a:rPr sz="800" i="1" dirty="0">
                <a:latin typeface="Constantia"/>
                <a:cs typeface="Constantia"/>
              </a:rPr>
              <a:t>k</a:t>
            </a:r>
            <a:r>
              <a:rPr sz="800" i="1" spc="175" dirty="0">
                <a:latin typeface="Constantia"/>
                <a:cs typeface="Constantia"/>
              </a:rPr>
              <a:t>  </a:t>
            </a:r>
            <a:r>
              <a:rPr sz="800" i="1" spc="35" dirty="0">
                <a:latin typeface="Constantia"/>
                <a:cs typeface="Constantia"/>
              </a:rPr>
              <a:t>n</a:t>
            </a:r>
            <a:r>
              <a:rPr sz="800" i="1" spc="35" dirty="0">
                <a:latin typeface="Arial"/>
                <a:cs typeface="Arial"/>
              </a:rPr>
              <a:t>−</a:t>
            </a:r>
            <a:r>
              <a:rPr sz="800" i="1" spc="35" dirty="0">
                <a:latin typeface="Constantia"/>
                <a:cs typeface="Constantia"/>
              </a:rPr>
              <a:t>k</a:t>
            </a:r>
            <a:r>
              <a:rPr sz="800" i="1" dirty="0">
                <a:latin typeface="Constantia"/>
                <a:cs typeface="Constantia"/>
              </a:rPr>
              <a:t>	</a:t>
            </a:r>
            <a:r>
              <a:rPr sz="800" i="1" spc="-6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pic>
        <p:nvPic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70988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68287" y="246337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6432" y="257263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9" name="object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2932" y="2375317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4771" y="2487535"/>
            <a:ext cx="3847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ways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select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objects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objects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Applying</a:t>
            </a:r>
            <a:r>
              <a:rPr spc="-35" dirty="0"/>
              <a:t> </a:t>
            </a:r>
            <a:r>
              <a:rPr spc="-10" dirty="0"/>
              <a:t>Binomial</a:t>
            </a:r>
            <a:r>
              <a:rPr spc="-35" dirty="0"/>
              <a:t> </a:t>
            </a:r>
            <a:r>
              <a:rPr spc="-30" dirty="0"/>
              <a:t>Coefficients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2301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39557"/>
            <a:ext cx="3683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55" dirty="0">
                <a:latin typeface="Tahoma"/>
                <a:cs typeface="Tahoma"/>
              </a:rPr>
              <a:t>5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contain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elements?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011629"/>
            <a:ext cx="480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Answer: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3284" y="98748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284" y="109673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19784" y="899412"/>
            <a:ext cx="2063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2095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238642"/>
            <a:ext cx="3470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length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 </a:t>
            </a:r>
            <a:r>
              <a:rPr sz="1100" dirty="0">
                <a:latin typeface="Tahoma"/>
                <a:cs typeface="Tahoma"/>
              </a:rPr>
              <a:t>3?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Answer: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3957" y="121448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3957" y="132374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10457" y="1126412"/>
            <a:ext cx="2063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08035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1524582"/>
            <a:ext cx="1383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Recurrence</a:t>
            </a:r>
            <a:r>
              <a:rPr sz="1100" spc="-20" dirty="0">
                <a:latin typeface="Tahoma"/>
                <a:cs typeface="Tahoma"/>
              </a:rPr>
              <a:t> Relation </a:t>
            </a:r>
            <a:r>
              <a:rPr sz="1100" spc="-25" dirty="0">
                <a:latin typeface="Tahoma"/>
                <a:cs typeface="Tahoma"/>
              </a:rPr>
              <a:t>for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1827" y="15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9986" y="160968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9" name="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06486" y="1412365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10435" y="1868740"/>
            <a:ext cx="1464310" cy="229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985"/>
              </a:lnSpc>
              <a:spcBef>
                <a:spcPts val="90"/>
              </a:spcBef>
            </a:pPr>
            <a:r>
              <a:rPr sz="1100" spc="-50" dirty="0">
                <a:latin typeface="Lucida Sans Unicode"/>
                <a:cs typeface="Lucida Sans Unicode"/>
              </a:rPr>
              <a:t>|</a:t>
            </a:r>
            <a:r>
              <a:rPr sz="1100" b="1" spc="-50" dirty="0">
                <a:latin typeface="Arial"/>
                <a:cs typeface="Arial"/>
              </a:rPr>
              <a:t>B</a:t>
            </a:r>
            <a:r>
              <a:rPr sz="1200" i="1" spc="-75" baseline="31250" dirty="0">
                <a:latin typeface="Constantia"/>
                <a:cs typeface="Constantia"/>
              </a:rPr>
              <a:t>n</a:t>
            </a:r>
            <a:r>
              <a:rPr sz="1200" i="1" spc="-135" baseline="31250" dirty="0">
                <a:latin typeface="Constantia"/>
                <a:cs typeface="Constantia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Constantia"/>
                <a:cs typeface="Constantia"/>
              </a:rPr>
              <a:t>n</a:t>
            </a:r>
            <a:r>
              <a:rPr sz="1200" i="1" baseline="31250" dirty="0">
                <a:latin typeface="Arial"/>
                <a:cs typeface="Arial"/>
              </a:rPr>
              <a:t>−</a:t>
            </a:r>
            <a:r>
              <a:rPr sz="1200" baseline="31250" dirty="0">
                <a:latin typeface="Tahoma"/>
                <a:cs typeface="Tahoma"/>
              </a:rPr>
              <a:t>1</a:t>
            </a:r>
            <a:r>
              <a:rPr sz="1200" spc="-247" baseline="31250" dirty="0">
                <a:latin typeface="Tahoma"/>
                <a:cs typeface="Tahoma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b="1" spc="-10" dirty="0">
                <a:latin typeface="Arial"/>
                <a:cs typeface="Arial"/>
              </a:rPr>
              <a:t>B</a:t>
            </a:r>
            <a:r>
              <a:rPr sz="1200" i="1" spc="-15" baseline="31250" dirty="0">
                <a:latin typeface="Constantia"/>
                <a:cs typeface="Constantia"/>
              </a:rPr>
              <a:t>n</a:t>
            </a:r>
            <a:r>
              <a:rPr sz="1200" i="1" spc="-15" baseline="31250" dirty="0">
                <a:latin typeface="Arial"/>
                <a:cs typeface="Arial"/>
              </a:rPr>
              <a:t>−</a:t>
            </a:r>
            <a:r>
              <a:rPr sz="1200" spc="-15" baseline="31250" dirty="0">
                <a:latin typeface="Tahoma"/>
                <a:cs typeface="Tahoma"/>
              </a:rPr>
              <a:t>1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 marR="38735" algn="ctr">
              <a:lnSpc>
                <a:spcPts val="625"/>
              </a:lnSpc>
              <a:tabLst>
                <a:tab pos="429895" algn="l"/>
                <a:tab pos="982980" algn="l"/>
              </a:tabLst>
            </a:pPr>
            <a:r>
              <a:rPr sz="1200" i="1" spc="-75" baseline="3472" dirty="0">
                <a:latin typeface="Constantia"/>
                <a:cs typeface="Constantia"/>
              </a:rPr>
              <a:t>k</a:t>
            </a:r>
            <a:r>
              <a:rPr sz="1200" i="1" baseline="3472" dirty="0">
                <a:latin typeface="Constantia"/>
                <a:cs typeface="Constantia"/>
              </a:rPr>
              <a:t>	</a:t>
            </a:r>
            <a:r>
              <a:rPr sz="800" i="1" spc="55" dirty="0">
                <a:latin typeface="Constantia"/>
                <a:cs typeface="Constantia"/>
              </a:rPr>
              <a:t>k</a:t>
            </a:r>
            <a:r>
              <a:rPr sz="800" i="1" spc="55" dirty="0">
                <a:latin typeface="Arial"/>
                <a:cs typeface="Arial"/>
              </a:rPr>
              <a:t>−</a:t>
            </a:r>
            <a:r>
              <a:rPr sz="800" spc="55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3938" y="243162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13686" y="233659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91957" y="2141244"/>
            <a:ext cx="59563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80059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6554" y="2242869"/>
            <a:ext cx="806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0059" algn="l"/>
              </a:tabLst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61920" y="2431629"/>
            <a:ext cx="343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79801" y="2141244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845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12580" y="233659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53105" y="2242869"/>
            <a:ext cx="338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69793" y="243162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65754" y="2141244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Permutations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646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43012"/>
            <a:ext cx="4007485" cy="23075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11760">
              <a:lnSpc>
                <a:spcPct val="102699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permutation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(possible)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ordered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arrangement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objects.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50" dirty="0">
                <a:latin typeface="Tahoma"/>
                <a:cs typeface="Tahoma"/>
              </a:rPr>
              <a:t>example,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6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permutations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letters </a:t>
            </a:r>
            <a:r>
              <a:rPr sz="1100" i="1" spc="-30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c</a:t>
            </a:r>
            <a:r>
              <a:rPr sz="1100" spc="-25" dirty="0"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70485" algn="ctr">
              <a:lnSpc>
                <a:spcPct val="100000"/>
              </a:lnSpc>
            </a:pPr>
            <a:r>
              <a:rPr sz="1100" i="1" spc="-10" dirty="0">
                <a:latin typeface="Trebuchet MS"/>
                <a:cs typeface="Trebuchet MS"/>
              </a:rPr>
              <a:t>abc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acb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bac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bca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cab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cba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02600"/>
              </a:lnSpc>
              <a:spcBef>
                <a:spcPts val="64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problem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determines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arrangements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distinct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counted.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permutation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is:</a:t>
            </a:r>
            <a:endParaRPr sz="1100" dirty="0">
              <a:latin typeface="Tahoma"/>
              <a:cs typeface="Tahoma"/>
            </a:endParaRPr>
          </a:p>
          <a:p>
            <a:pPr marL="71755" algn="ctr">
              <a:lnSpc>
                <a:spcPct val="100000"/>
              </a:lnSpc>
              <a:spcBef>
                <a:spcPts val="1120"/>
              </a:spcBef>
            </a:pP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!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700" marR="167005" algn="just">
              <a:lnSpc>
                <a:spcPct val="102600"/>
              </a:lnSpc>
              <a:spcBef>
                <a:spcPts val="1085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permutations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exist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 </a:t>
            </a:r>
            <a:r>
              <a:rPr sz="1100" spc="-40" dirty="0">
                <a:latin typeface="Tahoma"/>
                <a:cs typeface="Tahoma"/>
              </a:rPr>
              <a:t>choosing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those</a:t>
            </a:r>
            <a:r>
              <a:rPr sz="1100" spc="-30" dirty="0">
                <a:latin typeface="Tahoma"/>
                <a:cs typeface="Tahoma"/>
              </a:rPr>
              <a:t> objects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objects?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denoted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also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b="1" spc="-20" dirty="0">
                <a:latin typeface="Arial"/>
                <a:cs typeface="Arial"/>
              </a:rPr>
              <a:t>permutation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b="1" spc="-40" dirty="0">
                <a:latin typeface="Arial"/>
                <a:cs typeface="Arial"/>
              </a:rPr>
              <a:t>elements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637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786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9783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1532" y="2933203"/>
            <a:ext cx="594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2292" y="2839477"/>
            <a:ext cx="144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6811" y="3049816"/>
            <a:ext cx="474980" cy="0"/>
          </a:xfrm>
          <a:custGeom>
            <a:avLst/>
            <a:gdLst/>
            <a:ahLst/>
            <a:cxnLst/>
            <a:rect l="l" t="t" r="r" b="b"/>
            <a:pathLst>
              <a:path w="474980">
                <a:moveTo>
                  <a:pt x="0" y="0"/>
                </a:moveTo>
                <a:lnTo>
                  <a:pt x="4746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54111" y="3028237"/>
            <a:ext cx="500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2457" y="2933203"/>
            <a:ext cx="20713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1)(</a:t>
            </a:r>
            <a:r>
              <a:rPr sz="1100" i="1" spc="-30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1))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Combinations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779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00581"/>
            <a:ext cx="406781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unordered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selections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60" dirty="0">
                <a:latin typeface="Tahoma"/>
                <a:cs typeface="Tahoma"/>
              </a:rPr>
              <a:t> 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grouped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25" dirty="0">
                <a:latin typeface="Tahoma"/>
                <a:cs typeface="Tahoma"/>
              </a:rPr>
              <a:t>items: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37831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8033" y="1427173"/>
            <a:ext cx="599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5151" y="1333448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522" y="1522208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30541" y="1231822"/>
            <a:ext cx="30924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2283" y="142717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3700" y="1310942"/>
            <a:ext cx="62420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  <a:tabLst>
                <a:tab pos="252095" algn="l"/>
                <a:tab pos="610235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k</a:t>
            </a:r>
            <a:r>
              <a:rPr sz="1100" spc="-10" dirty="0">
                <a:latin typeface="Tahoma"/>
                <a:cs typeface="Tahoma"/>
              </a:rPr>
              <a:t>)!</a:t>
            </a:r>
            <a:r>
              <a:rPr sz="1100" i="1" spc="-10" dirty="0">
                <a:latin typeface="Trebuchet MS"/>
                <a:cs typeface="Trebuchet MS"/>
              </a:rPr>
              <a:t>k</a:t>
            </a:r>
            <a:r>
              <a:rPr sz="1100" spc="-10" dirty="0">
                <a:latin typeface="Tahoma"/>
                <a:cs typeface="Tahoma"/>
              </a:rPr>
              <a:t>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5591" y="142717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008" y="1310942"/>
            <a:ext cx="192532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1)(</a:t>
            </a:r>
            <a:r>
              <a:rPr sz="1100" i="1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2)</a:t>
            </a:r>
            <a:r>
              <a:rPr sz="1100" u="sng" spc="-1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</a:t>
            </a:r>
            <a:r>
              <a:rPr sz="1100" i="1" u="sng" spc="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1))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1)(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90293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1806840"/>
            <a:ext cx="40786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Example.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 different </a:t>
            </a:r>
            <a:r>
              <a:rPr sz="1100" spc="-50" dirty="0">
                <a:latin typeface="Tahoma"/>
                <a:cs typeface="Tahoma"/>
              </a:rPr>
              <a:t>teams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three</a:t>
            </a:r>
            <a:r>
              <a:rPr sz="1100" spc="-35" dirty="0">
                <a:latin typeface="Tahoma"/>
                <a:cs typeface="Tahoma"/>
              </a:rPr>
              <a:t> students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60" dirty="0">
                <a:latin typeface="Tahoma"/>
                <a:cs typeface="Tahoma"/>
              </a:rPr>
              <a:t>formed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</a:t>
            </a:r>
            <a:r>
              <a:rPr sz="1100" spc="-30" dirty="0">
                <a:latin typeface="Tahoma"/>
                <a:cs typeface="Tahoma"/>
              </a:rPr>
              <a:t> section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27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students?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14234" y="2245092"/>
            <a:ext cx="36830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52729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6228" y="2346717"/>
            <a:ext cx="762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2755" algn="l"/>
              </a:tabLst>
            </a:pPr>
            <a:r>
              <a:rPr sz="1100" spc="-25" dirty="0">
                <a:latin typeface="Tahoma"/>
                <a:cs typeface="Tahoma"/>
              </a:rPr>
              <a:t>27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27!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50861" y="2535477"/>
            <a:ext cx="727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7830" algn="l"/>
              </a:tabLst>
            </a:pPr>
            <a:r>
              <a:rPr sz="1100" spc="-50" dirty="0">
                <a:latin typeface="Tahoma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Tahoma"/>
                <a:cs typeface="Tahoma"/>
              </a:rPr>
              <a:t>3!24!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5234" y="2440443"/>
            <a:ext cx="644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3875" algn="l"/>
              </a:tabLst>
            </a:pP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7510" y="244044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8093" y="2324212"/>
            <a:ext cx="126428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843280" algn="l"/>
              </a:tabLst>
            </a:pP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27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26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25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17</a:t>
            </a:r>
            <a:r>
              <a:rPr sz="1100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1100" i="1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550</a:t>
            </a:r>
            <a:endParaRPr sz="1100">
              <a:latin typeface="Tahoma"/>
              <a:cs typeface="Tahoma"/>
            </a:endParaRPr>
          </a:p>
          <a:p>
            <a:pPr marL="116205">
              <a:lnSpc>
                <a:spcPct val="100000"/>
              </a:lnSpc>
              <a:spcBef>
                <a:spcPts val="170"/>
              </a:spcBef>
              <a:tabLst>
                <a:tab pos="1012190" algn="l"/>
              </a:tabLst>
            </a:pP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60546" y="2440443"/>
            <a:ext cx="510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0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925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4" name="object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854325"/>
            <a:ext cx="65265" cy="6526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2932" y="2770872"/>
            <a:ext cx="20935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permutations,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3140265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3056825"/>
            <a:ext cx="2258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combinations,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47568" y="303266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727" y="314191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30" name="objec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82227" y="2944595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  <a:hlinkClick r:id="rId7" action="ppaction://hlinksldjump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5" dirty="0"/>
              <a:t>Repetitions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3365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1006434"/>
            <a:ext cx="4095750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objects</a:t>
            </a:r>
            <a:r>
              <a:rPr sz="1100" spc="-30" dirty="0">
                <a:latin typeface="Tahoma"/>
                <a:cs typeface="Tahoma"/>
              </a:rPr>
              <a:t> allow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</a:t>
            </a:r>
            <a:endParaRPr sz="1100" dirty="0">
              <a:latin typeface="Tahoma"/>
              <a:cs typeface="Tahoma"/>
            </a:endParaRPr>
          </a:p>
          <a:p>
            <a:pPr marL="38100" marR="7162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Permutations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25" dirty="0">
                <a:latin typeface="Tahoma"/>
                <a:cs typeface="Tahoma"/>
              </a:rPr>
              <a:t>the multiplicative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principle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k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spc="-30" dirty="0">
                <a:latin typeface="Tahoma"/>
                <a:cs typeface="Tahoma"/>
              </a:rPr>
              <a:t>permutations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200" i="1" spc="-37" baseline="27777" dirty="0">
                <a:latin typeface="Constantia"/>
                <a:cs typeface="Constantia"/>
              </a:rPr>
              <a:t>k</a:t>
            </a:r>
            <a:endParaRPr sz="1200" baseline="27777" dirty="0">
              <a:latin typeface="Constantia"/>
              <a:cs typeface="Constantia"/>
            </a:endParaRPr>
          </a:p>
          <a:p>
            <a:pPr marL="38100" marR="939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constructed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26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case </a:t>
            </a:r>
            <a:r>
              <a:rPr sz="1100" spc="-10" dirty="0">
                <a:latin typeface="Tahoma"/>
                <a:cs typeface="Tahoma"/>
              </a:rPr>
              <a:t>letters?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Solution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26</a:t>
            </a:r>
            <a:r>
              <a:rPr sz="1200" spc="-37" baseline="27777" dirty="0">
                <a:latin typeface="Tahoma"/>
                <a:cs typeface="Tahoma"/>
              </a:rPr>
              <a:t>5</a:t>
            </a:r>
            <a:endParaRPr sz="1200" baseline="27777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3685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580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079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Combinations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5" dirty="0"/>
              <a:t>Repetitions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345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00009"/>
            <a:ext cx="4006850" cy="1828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expression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binomial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coefficient</a:t>
            </a:r>
            <a:endParaRPr sz="1100" dirty="0">
              <a:latin typeface="Tahoma"/>
              <a:cs typeface="Tahoma"/>
            </a:endParaRPr>
          </a:p>
          <a:p>
            <a:pPr marL="12700" marR="4597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k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915035">
              <a:lnSpc>
                <a:spcPct val="100000"/>
              </a:lnSpc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1)</a:t>
            </a:r>
            <a:endParaRPr sz="1100" dirty="0">
              <a:latin typeface="Tahoma"/>
              <a:cs typeface="Tahoma"/>
            </a:endParaRPr>
          </a:p>
          <a:p>
            <a:pPr marL="12700" marR="140335">
              <a:lnSpc>
                <a:spcPct val="102600"/>
              </a:lnSpc>
              <a:spcBef>
                <a:spcPts val="65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four</a:t>
            </a:r>
            <a:r>
              <a:rPr sz="1100" spc="-35" dirty="0">
                <a:latin typeface="Tahoma"/>
                <a:cs typeface="Tahoma"/>
              </a:rPr>
              <a:t> different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cookies.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six </a:t>
            </a:r>
            <a:r>
              <a:rPr sz="1100" spc="-35" dirty="0">
                <a:latin typeface="Tahoma"/>
                <a:cs typeface="Tahoma"/>
              </a:rPr>
              <a:t>cookies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selected?</a:t>
            </a:r>
            <a:endParaRPr sz="1100" dirty="0">
              <a:latin typeface="Tahoma"/>
              <a:cs typeface="Tahoma"/>
            </a:endParaRPr>
          </a:p>
          <a:p>
            <a:pPr marL="7302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(9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6)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(9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3)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84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556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36102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1915</Words>
  <Application>Microsoft Macintosh PowerPoint</Application>
  <PresentationFormat>Custom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MT</vt:lpstr>
      <vt:lpstr>Arial</vt:lpstr>
      <vt:lpstr>Cambria</vt:lpstr>
      <vt:lpstr>Constantia</vt:lpstr>
      <vt:lpstr>Lucida Sans Unicode</vt:lpstr>
      <vt:lpstr>Tahoma</vt:lpstr>
      <vt:lpstr>Times New Roman</vt:lpstr>
      <vt:lpstr>Trebuchet MS</vt:lpstr>
      <vt:lpstr>Office Theme</vt:lpstr>
      <vt:lpstr>CS5070 Mathematical Structures for Computer Science - Notes 3</vt:lpstr>
      <vt:lpstr>Counting (Chapter 1)</vt:lpstr>
      <vt:lpstr>More on Counting</vt:lpstr>
      <vt:lpstr>Counting with Sets</vt:lpstr>
      <vt:lpstr>Multiplicative Principle with Sets</vt:lpstr>
      <vt:lpstr>PowerPoint Presentation</vt:lpstr>
      <vt:lpstr>Multiplicative Principle with Sets</vt:lpstr>
      <vt:lpstr>Cardinality of a Union of 3 Sets</vt:lpstr>
      <vt:lpstr>Subsets</vt:lpstr>
      <vt:lpstr>Decomposition Principle</vt:lpstr>
      <vt:lpstr>Bit Strings</vt:lpstr>
      <vt:lpstr>Binomial Coefficients</vt:lpstr>
      <vt:lpstr>Applying Binomial Coefficients</vt:lpstr>
      <vt:lpstr>Permutations</vt:lpstr>
      <vt:lpstr>Combinations</vt:lpstr>
      <vt:lpstr>Counting with Repetitions</vt:lpstr>
      <vt:lpstr>Combinations with Repetitions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3</dc:title>
  <dc:creator>José Garrido</dc:creator>
  <cp:lastModifiedBy>Kun Suo</cp:lastModifiedBy>
  <cp:revision>4</cp:revision>
  <dcterms:created xsi:type="dcterms:W3CDTF">2026-04-21T18:04:54Z</dcterms:created>
  <dcterms:modified xsi:type="dcterms:W3CDTF">2026-05-23T22:01:09Z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2021-09-23T00:00:00Z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ReadingOrderVerifiedPages">
    <vt:lpwstr>1,2,3,4,5,6,7,8,9,12,13,15,16,11,14</vt:lpwstr>
  </property>
  <property fmtid="{D5CDD505-2E9C-101B-9397-08002B2CF9AE}" pid="9" name="data-panorama-remediation-history">
    <vt:lpwstr>[{"pageNumber":0,"geomIndex":-1,"lastGeomIndex":-1,"tableIndex":-1,"rowIndex":-1,"cellIndex":-1,"fontColor":"#b30000","identifiers":{"MCID":"0"},"issueDetails":{"luminance25":"0.6938717612919899","isHeader":"false","luminance75":"0.6938717612919899","textColor":"cc0000"},"issueTypeId":"LowContrastIssue:PDF","dismiss":false,"pageNumbers":[1],"coordinatesList":[[19.13002586364746,62.74916458129883,324.5712585449219,17.193920135498047]]},{"pageNumber":0,"geomIndex":-1,"lastGeomIndex":-1,"tableIndex":-1,"rowIndex":-1,"cellIndex":-1,"fontColor":"#b30000","identifiers":{"MCID":"1"},"issueDetails":{"luminance25":"0.6938717612919899","isHeader":"false","luminance75":"0.6938717612919899","textColor":"cc0000"},"issueTypeId":"LowContrastIssue:PDF","dismiss":false,"pageNumbers":[1],"coordinatesList":[[154.09703063964844,80.68216705322266,54.64466857910156,17.193920135498047]]},{"languageSet":"default","pageNumber":0,"geomIndex":-1,"identifiers":{},"issueTypeId":"MissingLanguageSetIssue:PDF","dismiss":false,"pageNumbers":[1],"coordinatesList":[[10.0,10.0,2.0,2.0]]},{"isReadingOrderVerified":"true","pageNumber":0,"geomIndex":-1,"issueTypeId":"ReadingOrderIssue:PDF","dismiss":false,"pageNumbers":[1],"coordinatesList":[[10.0,10.0,2.0,2.0]]},{"isReadingOrderVerified":"true","pageNumber":0,"geomIndex":-1,"issueTypeId":"ReadingOrderIssue:PDF","dismiss":false,"pageNumbers":[2],"coordinatesList":[[10.0,10.0,2.0,2.0]]},{"isReadingOrderVerified":"true","pageNumber":0,"geomIndex":-1,"issueTypeId":"ReadingOrderIssue:PDF","dismiss":false,"pageNumbers":[3],"coordinatesList":[[10.0,10.0,2.0,2.0]]},{"isReadingOrderVerified":"true","pageNumber":0,"geomIndex":-1,"issueTypeId":"ReadingOrderIssue:PDF","dismiss":false,"pageNumbers":[4],"coordinatesList":[[10.0,10.0,2.0,2.0]]},{"isReadingOrderVerified":"true","pageNumber":0,"geomIndex":-1,"issueTypeId":"ReadingOrderIssue:PDF","dismiss":false,"pageNumbers":[5],"coordinatesList":[[10.0,10.0,2.0,2.0]]},{"isReadingOrderVerified":"true","pageNumber":0,"geomIndex":-1,"issueTypeId":"ReadingOrderIssue:PDF","dismiss":false,"pageNumbers":[6],"coordinatesList":[[10.0,10.0,2.0,2.0]]},{"isReadingOrderVerified":"true","pageNumber":0,"geomIndex":-1,"issueTypeId":"ReadingOrderIssue:PDF","dismiss":false,"pageNumbers":[7],"coordinatesList":[[10.0,10.0,2.0,2.0]]},{"isReadingOrderVerified":"true","pageNumber":0,"geomIndex":-1,"issueTypeId":"ReadingOrderIssue:PDF","dismiss":false,"pageNumbers":[8],"coordinatesList":[[10.0,10.0,2.0,2.0]]},{"isReadingOrderVerified":"true","pageNumber":0,"geomIndex":-1,"issueTypeId":"ReadingOrderIssue:PDF","dismiss":false,"pageNumbers":[9],"coordinatesList":[[10.0,10.0,2.0,2.0]]},{"isReadingOrderVerified":"true","pageNumber":0,"geomIndex":-1,"issueTypeId":"ReadingOrderIssue:PDF","dismiss":false,"pageNumbers":[12],"coordinatesList":[[10.0,10.0,2.0,2.0]]},{"isReadingOrderVerified":"true","pageNumber":0,"geomIndex":-1,"issueTypeId":"ReadingOrderIssue:PDF","dismiss":false,"pageNumbers":[13],"coordinatesList":[[10.0,10.0,2.0,2.0]]},{"isReadingOrderVerified":"true","pageNumber":0,"geomIndex":-1,"issueTypeId":"ReadingOrderIssue:PDF","dismiss":false,"pageNumbers":[15],"coordinatesList":[[10.0,10.0,2.0,2.0]]},{"isReadingOrderVerified":"true","pageNumber":0,"geomIndex":-1,"issueTypeId":"ReadingOrderIssue:PDF","dismiss":false,"pageNumbers":[16]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[14],"coordinatesList":[[10.0,10.0,2.0,2.0]]}]</vt:lpwstr>
  </property>
</Properties>
</file>