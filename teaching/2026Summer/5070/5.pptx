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6"/>
    <p:restoredTop sz="94651"/>
  </p:normalViewPr>
  <p:slideViewPr>
    <p:cSldViewPr>
      <p:cViewPr varScale="1">
        <p:scale>
          <a:sx n="241" d="100"/>
          <a:sy n="241" d="100"/>
        </p:scale>
        <p:origin x="176" y="6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203390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33616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532" y="955419"/>
            <a:ext cx="3998595" cy="1548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55377" y="3351784"/>
            <a:ext cx="581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251" y="3351784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garrid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640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08509"/>
            <a:ext cx="4483735" cy="677545"/>
            <a:chOff x="87743" y="508509"/>
            <a:chExt cx="4483735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84161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71460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14654"/>
              <a:ext cx="50800" cy="5695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08509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552747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40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27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14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0250" y="566671"/>
            <a:ext cx="414782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" spc="-10" dirty="0">
                <a:solidFill>
                  <a:srgbClr val="B30000"/>
                </a:solidFill>
              </a:rPr>
              <a:t>CS5070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Mathematical</a:t>
            </a:r>
            <a:r>
              <a:rPr spc="-70" dirty="0"/>
              <a:t> </a:t>
            </a:r>
            <a:r>
              <a:rPr lang="en" spc="-25" dirty="0">
                <a:solidFill>
                  <a:srgbClr val="B30000"/>
                </a:solidFill>
              </a:rPr>
              <a:t>Structures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for</a:t>
            </a:r>
            <a:r>
              <a:rPr spc="-70" dirty="0"/>
              <a:t> </a:t>
            </a:r>
            <a:r>
              <a:rPr lang="en" spc="-30" dirty="0">
                <a:solidFill>
                  <a:srgbClr val="B30000"/>
                </a:solidFill>
              </a:rPr>
              <a:t>Computer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" dirty="0">
                <a:solidFill>
                  <a:srgbClr val="B30000"/>
                </a:solidFill>
              </a:rPr>
              <a:t>-</a:t>
            </a:r>
            <a:r>
              <a:rPr spc="-60" dirty="0"/>
              <a:t> </a:t>
            </a:r>
            <a:r>
              <a:rPr lang="en" spc="-10" dirty="0">
                <a:solidFill>
                  <a:srgbClr val="B30000"/>
                </a:solidFill>
              </a:rPr>
              <a:t>Notes</a:t>
            </a:r>
            <a:r>
              <a:rPr spc="-55" dirty="0"/>
              <a:t> </a:t>
            </a:r>
            <a:r>
              <a:rPr lang="en" spc="-50" dirty="0">
                <a:solidFill>
                  <a:srgbClr val="B30000"/>
                </a:solidFill>
              </a:rPr>
              <a:t>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7935" y="1345043"/>
            <a:ext cx="2992755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40" dirty="0">
                <a:latin typeface="Tahoma"/>
                <a:cs typeface="Tahoma"/>
              </a:rPr>
              <a:t>Kun Suo</a:t>
            </a:r>
            <a:endParaRPr sz="1100" dirty="0">
              <a:latin typeface="Tahoma"/>
              <a:cs typeface="Tahoma"/>
            </a:endParaRPr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lang="en" sz="1200" spc="-50" dirty="0">
                <a:latin typeface="Tahoma"/>
                <a:cs typeface="Tahoma"/>
              </a:rPr>
              <a:t>Department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lang="en" sz="1200" spc="-45" dirty="0">
                <a:latin typeface="Tahoma"/>
                <a:cs typeface="Tahoma"/>
              </a:rPr>
              <a:t>Computer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Science </a:t>
            </a:r>
            <a:r>
              <a:rPr lang="en" sz="1200" spc="-55" dirty="0">
                <a:latin typeface="Tahoma"/>
                <a:cs typeface="Tahoma"/>
              </a:rPr>
              <a:t>College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40" dirty="0">
                <a:latin typeface="Tahoma"/>
                <a:cs typeface="Tahoma"/>
              </a:rPr>
              <a:t>Computing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lang="en"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70" dirty="0">
                <a:latin typeface="Tahoma"/>
                <a:cs typeface="Tahoma"/>
              </a:rPr>
              <a:t>Software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60" dirty="0">
                <a:latin typeface="Tahoma"/>
                <a:cs typeface="Tahoma"/>
              </a:rPr>
              <a:t>Engineering</a:t>
            </a:r>
            <a:endParaRPr sz="1200" dirty="0">
              <a:latin typeface="Tahoma"/>
              <a:cs typeface="Tahoma"/>
            </a:endParaRPr>
          </a:p>
          <a:p>
            <a:pPr marL="673100">
              <a:lnSpc>
                <a:spcPts val="1360"/>
              </a:lnSpc>
            </a:pPr>
            <a:r>
              <a:rPr lang="en" sz="1200" spc="-75" dirty="0">
                <a:latin typeface="Tahoma"/>
                <a:cs typeface="Tahoma"/>
              </a:rPr>
              <a:t>Kennesaw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lang="en" sz="1200" spc="-20" dirty="0">
                <a:latin typeface="Tahoma"/>
                <a:cs typeface="Tahoma"/>
              </a:rPr>
              <a:t>State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University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" sz="1200" i="1" spc="-50" dirty="0">
                <a:latin typeface="Trebuchet MS"/>
                <a:cs typeface="Trebuchet MS"/>
                <a:hlinkClick r:id="rId5"/>
              </a:rPr>
              <a:t>ksuo@kennesaw.edu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Symbolic</a:t>
            </a:r>
            <a:r>
              <a:rPr spc="-70" dirty="0"/>
              <a:t> </a:t>
            </a:r>
            <a:r>
              <a:rPr dirty="0"/>
              <a:t>Logic</a:t>
            </a:r>
            <a:r>
              <a:rPr spc="-70" dirty="0"/>
              <a:t> </a:t>
            </a:r>
            <a:r>
              <a:rPr spc="-30" dirty="0"/>
              <a:t>and</a:t>
            </a:r>
            <a:r>
              <a:rPr spc="-70" dirty="0"/>
              <a:t> </a:t>
            </a:r>
            <a:r>
              <a:rPr dirty="0"/>
              <a:t>Proofs</a:t>
            </a:r>
            <a:r>
              <a:rPr spc="-70" dirty="0"/>
              <a:t> </a:t>
            </a:r>
            <a:r>
              <a:rPr spc="-20" dirty="0"/>
              <a:t>(Chapter</a:t>
            </a:r>
            <a:r>
              <a:rPr spc="-70" dirty="0"/>
              <a:t> </a:t>
            </a:r>
            <a:r>
              <a:rPr spc="-25" dirty="0"/>
              <a:t>3)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5914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75689"/>
            <a:ext cx="3987165" cy="22745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6002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few</a:t>
            </a:r>
            <a:r>
              <a:rPr sz="1100" spc="-30" dirty="0">
                <a:latin typeface="Tahoma"/>
                <a:cs typeface="Tahoma"/>
              </a:rPr>
              <a:t> mathematical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facts,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draw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some </a:t>
            </a:r>
            <a:r>
              <a:rPr sz="1100" spc="-10" dirty="0">
                <a:latin typeface="Tahoma"/>
                <a:cs typeface="Tahoma"/>
              </a:rPr>
              <a:t>conclusions</a:t>
            </a:r>
            <a:endParaRPr sz="1100">
              <a:latin typeface="Tahoma"/>
              <a:cs typeface="Tahoma"/>
            </a:endParaRPr>
          </a:p>
          <a:p>
            <a:pPr marL="12700" marR="33655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start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conditions,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85" dirty="0">
                <a:latin typeface="Arial"/>
                <a:cs typeface="Arial"/>
              </a:rPr>
              <a:t>premises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argument,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consequence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interest,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our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conclusion</a:t>
            </a:r>
            <a:endParaRPr sz="1100">
              <a:latin typeface="Arial"/>
              <a:cs typeface="Arial"/>
            </a:endParaRPr>
          </a:p>
          <a:p>
            <a:pPr marL="12700" marR="9207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Logic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aims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determine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cases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conclusion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not,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60" dirty="0">
                <a:latin typeface="Tahoma"/>
                <a:cs typeface="Tahoma"/>
              </a:rPr>
              <a:t>consequence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premises</a:t>
            </a:r>
            <a:endParaRPr sz="1100">
              <a:latin typeface="Tahoma"/>
              <a:cs typeface="Tahoma"/>
            </a:endParaRPr>
          </a:p>
          <a:p>
            <a:pPr marL="12700" marR="310515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rebuchet MS"/>
                <a:cs typeface="Trebuchet MS"/>
              </a:rPr>
              <a:t>argument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statements,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conclusion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called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premises</a:t>
            </a:r>
            <a:endParaRPr sz="1100">
              <a:latin typeface="Tahoma"/>
              <a:cs typeface="Tahoma"/>
            </a:endParaRPr>
          </a:p>
          <a:p>
            <a:pPr marL="12700" marR="33972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argument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said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valid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conclusion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 </a:t>
            </a:r>
            <a:r>
              <a:rPr sz="1100" spc="-60" dirty="0">
                <a:latin typeface="Tahoma"/>
                <a:cs typeface="Tahoma"/>
              </a:rPr>
              <a:t>whenever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premises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premises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conclusion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10" dirty="0">
                <a:latin typeface="Tahoma"/>
                <a:cs typeface="Tahoma"/>
              </a:rPr>
              <a:t>false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41247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23352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05469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87574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669679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Propositional</a:t>
            </a:r>
            <a:r>
              <a:rPr spc="-10" dirty="0"/>
              <a:t> Logic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8986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62645"/>
            <a:ext cx="4079875" cy="22148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rebuchet MS"/>
                <a:cs typeface="Trebuchet MS"/>
              </a:rPr>
              <a:t>proposition</a:t>
            </a:r>
            <a:r>
              <a:rPr sz="1100" b="1" spc="-1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simply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statement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Propositional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logic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studies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</a:t>
            </a:r>
            <a:r>
              <a:rPr sz="1100" spc="-35" dirty="0">
                <a:latin typeface="Tahoma"/>
                <a:cs typeface="Tahoma"/>
              </a:rPr>
              <a:t> 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interact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each </a:t>
            </a:r>
            <a:r>
              <a:rPr sz="1100" spc="-10" dirty="0">
                <a:latin typeface="Tahoma"/>
                <a:cs typeface="Tahoma"/>
              </a:rPr>
              <a:t>other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/>
                <a:cs typeface="Tahoma"/>
              </a:rPr>
              <a:t>Most </a:t>
            </a:r>
            <a:r>
              <a:rPr sz="1100" spc="-40" dirty="0">
                <a:latin typeface="Tahoma"/>
                <a:cs typeface="Tahoma"/>
              </a:rPr>
              <a:t>statements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implications:</a:t>
            </a:r>
            <a:endParaRPr sz="1100" dirty="0">
              <a:latin typeface="Tahoma"/>
              <a:cs typeface="Tahoma"/>
            </a:endParaRPr>
          </a:p>
          <a:p>
            <a:pPr marR="3175" algn="ctr">
              <a:lnSpc>
                <a:spcPct val="100000"/>
              </a:lnSpc>
              <a:spcBef>
                <a:spcPts val="1135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7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decide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truth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9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2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2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either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54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19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19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true,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both</a:t>
            </a:r>
            <a:endParaRPr sz="1100" dirty="0">
              <a:latin typeface="Tahoma"/>
              <a:cs typeface="Tahoma"/>
            </a:endParaRPr>
          </a:p>
          <a:p>
            <a:pPr marL="12700" marR="14160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direct</a:t>
            </a:r>
            <a:r>
              <a:rPr sz="1100" spc="-40" dirty="0">
                <a:latin typeface="Tahoma"/>
                <a:cs typeface="Tahoma"/>
              </a:rPr>
              <a:t> technique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determining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overall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truth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truth</a:t>
            </a:r>
            <a:r>
              <a:rPr sz="1100" b="1" spc="10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table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3.1.1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3.1.2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99896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82001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04517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86622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76872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spc="-25" dirty="0"/>
              <a:t>Logics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431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80858"/>
            <a:ext cx="3921125" cy="2432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46685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tautology</a:t>
            </a:r>
            <a:r>
              <a:rPr sz="1100" b="1" spc="-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statement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always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basis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its </a:t>
            </a:r>
            <a:r>
              <a:rPr sz="1100" spc="-10" dirty="0">
                <a:latin typeface="Tahoma"/>
                <a:cs typeface="Tahoma"/>
              </a:rPr>
              <a:t>ligical</a:t>
            </a:r>
            <a:r>
              <a:rPr sz="1100" spc="-20" dirty="0">
                <a:latin typeface="Tahoma"/>
                <a:cs typeface="Tahoma"/>
              </a:rPr>
              <a:t> form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 </a:t>
            </a:r>
            <a:r>
              <a:rPr sz="1100" dirty="0">
                <a:latin typeface="Tahoma"/>
                <a:cs typeface="Tahoma"/>
              </a:rPr>
              <a:t>truth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5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185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either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both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false.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25" dirty="0">
                <a:latin typeface="Tahoma"/>
                <a:cs typeface="Tahoma"/>
              </a:rPr>
              <a:t>These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FF0000"/>
                </a:solidFill>
                <a:latin typeface="Trebuchet MS"/>
                <a:cs typeface="Trebuchet MS"/>
              </a:rPr>
              <a:t>logically</a:t>
            </a:r>
            <a:r>
              <a:rPr sz="1100" b="1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Trebuchet MS"/>
                <a:cs typeface="Trebuchet MS"/>
              </a:rPr>
              <a:t>equivalent</a:t>
            </a:r>
            <a:endParaRPr sz="11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700" marR="508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verify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logically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equivalent,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truth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table can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used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25" dirty="0">
                <a:latin typeface="Tahoma"/>
                <a:cs typeface="Tahoma"/>
              </a:rPr>
              <a:t>DeMorgan’s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Law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47955" algn="ctr">
              <a:lnSpc>
                <a:spcPct val="100000"/>
              </a:lnSpc>
            </a:pP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25" dirty="0">
                <a:latin typeface="Yu Gothic UI Semilight"/>
                <a:cs typeface="Yu Gothic UI Semilight"/>
              </a:rPr>
              <a:t>¬</a:t>
            </a:r>
            <a:r>
              <a:rPr sz="1100" i="1" spc="-25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 dirty="0">
              <a:latin typeface="Arial"/>
              <a:cs typeface="Arial"/>
            </a:endParaRPr>
          </a:p>
          <a:p>
            <a:pPr marL="147955" algn="ctr">
              <a:lnSpc>
                <a:spcPct val="100000"/>
              </a:lnSpc>
            </a:pP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4" dirty="0">
                <a:latin typeface="Yu Gothic UI Semilight"/>
                <a:cs typeface="Yu Gothic UI Semilight"/>
              </a:rPr>
              <a:t>≡</a:t>
            </a:r>
            <a:r>
              <a:rPr sz="1100" dirty="0">
                <a:latin typeface="Yu Gothic UI Semilight"/>
                <a:cs typeface="Yu Gothic UI Semilight"/>
              </a:rPr>
              <a:t> 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spc="-25" dirty="0">
                <a:latin typeface="Yu Gothic UI Semilight"/>
                <a:cs typeface="Yu Gothic UI Semilight"/>
              </a:rPr>
              <a:t>¬</a:t>
            </a:r>
            <a:r>
              <a:rPr sz="1100" i="1" spc="-25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46416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76514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58619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Implication </a:t>
            </a:r>
            <a:r>
              <a:rPr spc="-30" dirty="0"/>
              <a:t>and</a:t>
            </a:r>
            <a:r>
              <a:rPr spc="-35" dirty="0"/>
              <a:t> </a:t>
            </a:r>
            <a:r>
              <a:rPr spc="-25" dirty="0"/>
              <a:t>Negation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5907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i="1" dirty="0">
                <a:latin typeface="Arial"/>
                <a:cs typeface="Arial"/>
              </a:rPr>
              <a:t>P</a:t>
            </a:r>
            <a:r>
              <a:rPr i="1" spc="254" dirty="0">
                <a:latin typeface="Arial"/>
                <a:cs typeface="Arial"/>
              </a:rPr>
              <a:t> </a:t>
            </a:r>
            <a:r>
              <a:rPr dirty="0">
                <a:latin typeface="Yu Gothic UI Semilight"/>
                <a:cs typeface="Yu Gothic UI Semilight"/>
              </a:rPr>
              <a:t>⇒</a:t>
            </a:r>
            <a:r>
              <a:rPr spc="225" dirty="0">
                <a:latin typeface="Yu Gothic UI Semilight"/>
                <a:cs typeface="Yu Gothic UI Semilight"/>
              </a:rPr>
              <a:t> </a:t>
            </a:r>
            <a:r>
              <a:rPr i="1" dirty="0">
                <a:latin typeface="Arial"/>
                <a:cs typeface="Arial"/>
              </a:rPr>
              <a:t>Q</a:t>
            </a:r>
            <a:r>
              <a:rPr i="1" spc="80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20" dirty="0"/>
              <a:t>logically</a:t>
            </a:r>
            <a:r>
              <a:rPr spc="-30" dirty="0"/>
              <a:t> </a:t>
            </a:r>
            <a:r>
              <a:rPr spc="-35" dirty="0"/>
              <a:t>equivalent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>
                <a:latin typeface="Yu Gothic UI Semilight"/>
                <a:cs typeface="Yu Gothic UI Semilight"/>
              </a:rPr>
              <a:t>¬</a:t>
            </a:r>
            <a:r>
              <a:rPr i="1" dirty="0">
                <a:latin typeface="Arial"/>
                <a:cs typeface="Arial"/>
              </a:rPr>
              <a:t>P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spc="-375" dirty="0">
                <a:latin typeface="Yu Gothic UI Semilight"/>
                <a:cs typeface="Yu Gothic UI Semilight"/>
              </a:rPr>
              <a:t>∨</a:t>
            </a:r>
            <a:r>
              <a:rPr spc="-60" dirty="0">
                <a:latin typeface="Yu Gothic UI Semilight"/>
                <a:cs typeface="Yu Gothic UI Semilight"/>
              </a:rPr>
              <a:t> </a:t>
            </a:r>
            <a:r>
              <a:rPr i="1" spc="-50" dirty="0">
                <a:latin typeface="Arial"/>
                <a:cs typeface="Arial"/>
              </a:rPr>
              <a:t>Q</a:t>
            </a: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pc="-25" dirty="0"/>
              <a:t>Double</a:t>
            </a:r>
            <a:r>
              <a:rPr spc="-35" dirty="0"/>
              <a:t> </a:t>
            </a:r>
            <a:r>
              <a:rPr spc="-10" dirty="0"/>
              <a:t>negation:</a:t>
            </a:r>
          </a:p>
          <a:p>
            <a:pPr marL="176530">
              <a:lnSpc>
                <a:spcPct val="100000"/>
              </a:lnSpc>
              <a:spcBef>
                <a:spcPts val="630"/>
              </a:spcBef>
            </a:pPr>
            <a:r>
              <a:rPr dirty="0">
                <a:latin typeface="Yu Gothic UI Semilight"/>
                <a:cs typeface="Yu Gothic UI Semilight"/>
              </a:rPr>
              <a:t>¬¬</a:t>
            </a:r>
            <a:r>
              <a:rPr i="1" dirty="0">
                <a:latin typeface="Arial"/>
                <a:cs typeface="Arial"/>
              </a:rPr>
              <a:t>P</a:t>
            </a:r>
            <a:r>
              <a:rPr i="1" spc="80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20" dirty="0"/>
              <a:t>logically</a:t>
            </a:r>
            <a:r>
              <a:rPr spc="-30" dirty="0"/>
              <a:t> </a:t>
            </a:r>
            <a:r>
              <a:rPr spc="-35" dirty="0"/>
              <a:t>equivalent</a:t>
            </a:r>
            <a:r>
              <a:rPr spc="-4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i="1" spc="-50" dirty="0">
                <a:latin typeface="Arial"/>
                <a:cs typeface="Arial"/>
              </a:rPr>
              <a:t>P</a:t>
            </a: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dirty="0"/>
              <a:t>We</a:t>
            </a:r>
            <a:r>
              <a:rPr spc="-45" dirty="0"/>
              <a:t> </a:t>
            </a:r>
            <a:r>
              <a:rPr spc="-20" dirty="0"/>
              <a:t>can</a:t>
            </a:r>
            <a:r>
              <a:rPr spc="-35" dirty="0"/>
              <a:t> </a:t>
            </a:r>
            <a:r>
              <a:rPr spc="-65" dirty="0"/>
              <a:t>use</a:t>
            </a:r>
            <a:r>
              <a:rPr spc="-20" dirty="0"/>
              <a:t> </a:t>
            </a:r>
            <a:r>
              <a:rPr spc="-45" dirty="0"/>
              <a:t>these</a:t>
            </a:r>
            <a:r>
              <a:rPr spc="-35" dirty="0"/>
              <a:t> </a:t>
            </a:r>
            <a:r>
              <a:rPr spc="-40" dirty="0"/>
              <a:t>laws </a:t>
            </a:r>
            <a:r>
              <a:rPr dirty="0"/>
              <a:t>to</a:t>
            </a:r>
            <a:r>
              <a:rPr spc="-30" dirty="0"/>
              <a:t> </a:t>
            </a:r>
            <a:r>
              <a:rPr spc="-20" dirty="0"/>
              <a:t>simplify</a:t>
            </a:r>
            <a:r>
              <a:rPr spc="-40" dirty="0"/>
              <a:t> </a:t>
            </a:r>
            <a:r>
              <a:rPr spc="-35" dirty="0"/>
              <a:t>statement </a:t>
            </a:r>
            <a:r>
              <a:rPr spc="-10" dirty="0"/>
              <a:t>expressions</a:t>
            </a:r>
          </a:p>
          <a:p>
            <a:pPr marL="38100" marR="5080">
              <a:lnSpc>
                <a:spcPct val="102699"/>
              </a:lnSpc>
              <a:spcBef>
                <a:spcPts val="295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spc="-35" dirty="0"/>
              <a:t>negation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spc="-20" dirty="0"/>
              <a:t>implication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spc="-25" dirty="0"/>
              <a:t>implication;</a:t>
            </a:r>
            <a:r>
              <a:rPr spc="-3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50" dirty="0"/>
              <a:t>a </a:t>
            </a:r>
            <a:r>
              <a:rPr spc="-10" dirty="0"/>
              <a:t>conjunction</a:t>
            </a:r>
          </a:p>
          <a:p>
            <a:pPr marL="176530">
              <a:lnSpc>
                <a:spcPct val="100000"/>
              </a:lnSpc>
              <a:spcBef>
                <a:spcPts val="635"/>
              </a:spcBef>
            </a:pPr>
            <a:r>
              <a:rPr dirty="0">
                <a:latin typeface="Yu Gothic UI Semilight"/>
                <a:cs typeface="Yu Gothic UI Semilight"/>
              </a:rPr>
              <a:t>¬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P</a:t>
            </a:r>
            <a:r>
              <a:rPr i="1" spc="270" dirty="0">
                <a:latin typeface="Arial"/>
                <a:cs typeface="Arial"/>
              </a:rPr>
              <a:t> </a:t>
            </a:r>
            <a:r>
              <a:rPr dirty="0">
                <a:latin typeface="Yu Gothic UI Semilight"/>
                <a:cs typeface="Yu Gothic UI Semilight"/>
              </a:rPr>
              <a:t>⇒</a:t>
            </a:r>
            <a:r>
              <a:rPr spc="235" dirty="0">
                <a:latin typeface="Yu Gothic UI Semilight"/>
                <a:cs typeface="Yu Gothic UI Semilight"/>
              </a:rPr>
              <a:t> </a:t>
            </a:r>
            <a:r>
              <a:rPr i="1" dirty="0">
                <a:latin typeface="Arial"/>
                <a:cs typeface="Arial"/>
              </a:rPr>
              <a:t>Q</a:t>
            </a:r>
            <a:r>
              <a:rPr dirty="0"/>
              <a:t>)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20" dirty="0"/>
              <a:t>logically</a:t>
            </a:r>
            <a:r>
              <a:rPr spc="-30" dirty="0"/>
              <a:t> </a:t>
            </a:r>
            <a:r>
              <a:rPr spc="-35" dirty="0"/>
              <a:t>equivalent</a:t>
            </a:r>
            <a:r>
              <a:rPr spc="-2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P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spc="-375" dirty="0">
                <a:latin typeface="Yu Gothic UI Semilight"/>
                <a:cs typeface="Yu Gothic UI Semilight"/>
              </a:rPr>
              <a:t>∧</a:t>
            </a:r>
            <a:r>
              <a:rPr spc="-60" dirty="0">
                <a:latin typeface="Yu Gothic UI Semilight"/>
                <a:cs typeface="Yu Gothic UI Semilight"/>
              </a:rPr>
              <a:t> </a:t>
            </a:r>
            <a:r>
              <a:rPr spc="-25" dirty="0">
                <a:latin typeface="Yu Gothic UI Semilight"/>
                <a:cs typeface="Yu Gothic UI Semilight"/>
              </a:rPr>
              <a:t>¬</a:t>
            </a:r>
            <a:r>
              <a:rPr i="1" spc="-25" dirty="0">
                <a:latin typeface="Arial"/>
                <a:cs typeface="Arial"/>
              </a:rPr>
              <a:t>Q</a:t>
            </a: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6909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7123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7156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Deductions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06157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97810" y="1613547"/>
            <a:ext cx="289560" cy="0"/>
          </a:xfrm>
          <a:custGeom>
            <a:avLst/>
            <a:gdLst/>
            <a:ahLst/>
            <a:cxnLst/>
            <a:rect l="l" t="t" r="r" b="b"/>
            <a:pathLst>
              <a:path w="289560">
                <a:moveTo>
                  <a:pt x="0" y="0"/>
                </a:moveTo>
                <a:lnTo>
                  <a:pt x="28948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2932" y="1152624"/>
            <a:ext cx="3743960" cy="12598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24485" algn="ctr">
              <a:lnSpc>
                <a:spcPct val="100000"/>
              </a:lnSpc>
              <a:spcBef>
                <a:spcPts val="42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R="1588770" algn="r">
              <a:lnSpc>
                <a:spcPct val="100000"/>
              </a:lnSpc>
              <a:spcBef>
                <a:spcPts val="325"/>
              </a:spcBef>
            </a:pPr>
            <a:r>
              <a:rPr sz="1100" i="1" spc="-50" dirty="0">
                <a:latin typeface="Arial"/>
                <a:cs typeface="Arial"/>
              </a:rPr>
              <a:t>P</a:t>
            </a:r>
            <a:endParaRPr sz="1100" dirty="0">
              <a:latin typeface="Arial"/>
              <a:cs typeface="Arial"/>
            </a:endParaRPr>
          </a:p>
          <a:p>
            <a:pPr marR="1562100" algn="r">
              <a:lnSpc>
                <a:spcPct val="100000"/>
              </a:lnSpc>
              <a:spcBef>
                <a:spcPts val="165"/>
              </a:spcBef>
            </a:pPr>
            <a:r>
              <a:rPr sz="1100" dirty="0">
                <a:latin typeface="Lucida Sans Unicode"/>
                <a:cs typeface="Lucida Sans Unicode"/>
              </a:rPr>
              <a:t>∴</a:t>
            </a:r>
            <a:r>
              <a:rPr sz="1100" spc="17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rebuchet MS"/>
                <a:cs typeface="Trebuchet MS"/>
              </a:rPr>
              <a:t>deduction</a:t>
            </a:r>
            <a:r>
              <a:rPr sz="1100" b="1" spc="10" dirty="0">
                <a:latin typeface="Trebuchet MS"/>
                <a:cs typeface="Trebuchet MS"/>
              </a:rPr>
              <a:t> </a:t>
            </a:r>
            <a:r>
              <a:rPr sz="1100" b="1" spc="-55" dirty="0">
                <a:latin typeface="Trebuchet MS"/>
                <a:cs typeface="Trebuchet MS"/>
              </a:rPr>
              <a:t>rule</a:t>
            </a:r>
            <a:r>
              <a:rPr sz="1100" spc="-55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argument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always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valid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particular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modus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ponens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6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true,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83841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93874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0390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6764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75" dirty="0"/>
              <a:t> </a:t>
            </a:r>
            <a:r>
              <a:rPr spc="-25" dirty="0"/>
              <a:t>Deduction</a:t>
            </a:r>
            <a:r>
              <a:rPr spc="-70" dirty="0"/>
              <a:t> </a:t>
            </a:r>
            <a:r>
              <a:rPr spc="-25" dirty="0"/>
              <a:t>Rules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8401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2292" y="1371904"/>
            <a:ext cx="821055" cy="0"/>
          </a:xfrm>
          <a:custGeom>
            <a:avLst/>
            <a:gdLst/>
            <a:ahLst/>
            <a:cxnLst/>
            <a:rect l="l" t="t" r="r" b="b"/>
            <a:pathLst>
              <a:path w="821055">
                <a:moveTo>
                  <a:pt x="0" y="0"/>
                </a:moveTo>
                <a:lnTo>
                  <a:pt x="82050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58975"/>
            <a:ext cx="65265" cy="65265"/>
          </a:xfrm>
          <a:prstGeom prst="rect">
            <a:avLst/>
          </a:prstGeom>
        </p:spPr>
      </p:pic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4646" y="2631656"/>
            <a:ext cx="636270" cy="0"/>
          </a:xfrm>
          <a:custGeom>
            <a:avLst/>
            <a:gdLst/>
            <a:ahLst/>
            <a:cxnLst/>
            <a:rect l="l" t="t" r="r" b="b"/>
            <a:pathLst>
              <a:path w="636269">
                <a:moveTo>
                  <a:pt x="0" y="0"/>
                </a:moveTo>
                <a:lnTo>
                  <a:pt x="63578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2931" y="584948"/>
            <a:ext cx="3273719" cy="2600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Another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rule:</a:t>
            </a:r>
            <a:endParaRPr sz="1100" dirty="0">
              <a:latin typeface="Tahoma"/>
              <a:cs typeface="Tahoma"/>
            </a:endParaRPr>
          </a:p>
          <a:p>
            <a:pPr marL="1744345">
              <a:lnSpc>
                <a:spcPct val="100000"/>
              </a:lnSpc>
              <a:spcBef>
                <a:spcPts val="1130"/>
              </a:spcBef>
            </a:pPr>
            <a:r>
              <a:rPr lang="en-US" sz="1100" i="1" dirty="0">
                <a:latin typeface="Arial"/>
                <a:cs typeface="Arial"/>
              </a:rPr>
              <a:t>  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7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767839">
              <a:lnSpc>
                <a:spcPct val="100000"/>
              </a:lnSpc>
              <a:spcBef>
                <a:spcPts val="770"/>
              </a:spcBef>
            </a:pP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6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195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824989">
              <a:lnSpc>
                <a:spcPct val="100000"/>
              </a:lnSpc>
              <a:spcBef>
                <a:spcPts val="165"/>
              </a:spcBef>
              <a:tabLst>
                <a:tab pos="2140585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∴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25299"/>
              </a:lnSpc>
              <a:spcBef>
                <a:spcPts val="58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7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7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1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true,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</a:t>
            </a:r>
            <a:r>
              <a:rPr lang="en-US" sz="1100" dirty="0">
                <a:latin typeface="Tahoma"/>
                <a:cs typeface="Tahoma"/>
              </a:rPr>
              <a:t>s</a:t>
            </a:r>
            <a:r>
              <a:rPr sz="1100" dirty="0">
                <a:latin typeface="Tahoma"/>
                <a:cs typeface="Tahoma"/>
              </a:rPr>
              <a:t>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lang="en-US" sz="1100" spc="-20" dirty="0">
                <a:latin typeface="Tahoma"/>
                <a:cs typeface="Tahoma"/>
              </a:rPr>
              <a:t>.</a:t>
            </a:r>
            <a:r>
              <a:rPr sz="1100" spc="-20" dirty="0">
                <a:latin typeface="Tahoma"/>
                <a:cs typeface="Tahoma"/>
              </a:rPr>
              <a:t> </a:t>
            </a:r>
            <a:endParaRPr lang="en-US" sz="1100" spc="-20" dirty="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  <a:spcBef>
                <a:spcPts val="585"/>
              </a:spcBef>
            </a:pPr>
            <a:r>
              <a:rPr sz="1100" spc="-120" dirty="0">
                <a:latin typeface="Tahoma"/>
                <a:cs typeface="Tahoma"/>
              </a:rPr>
              <a:t>I</a:t>
            </a:r>
            <a:r>
              <a:rPr lang="en-US" sz="1100" spc="-120" dirty="0">
                <a:latin typeface="Tahoma"/>
                <a:cs typeface="Tahoma"/>
              </a:rPr>
              <a:t>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valid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rule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?</a:t>
            </a:r>
            <a:endParaRPr sz="1100" dirty="0">
              <a:latin typeface="Tahoma"/>
              <a:cs typeface="Tahoma"/>
            </a:endParaRPr>
          </a:p>
          <a:p>
            <a:pPr marL="2104390" marR="583565" indent="-788035">
              <a:lnSpc>
                <a:spcPct val="158300"/>
              </a:lnSpc>
              <a:spcBef>
                <a:spcPts val="360"/>
              </a:spcBef>
              <a:tabLst>
                <a:tab pos="2171700" algn="l"/>
              </a:tabLst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7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R</a:t>
            </a:r>
            <a:r>
              <a:rPr sz="1100" i="1" dirty="0">
                <a:latin typeface="Arial"/>
                <a:cs typeface="Arial"/>
              </a:rPr>
              <a:t>		Q</a:t>
            </a:r>
            <a:r>
              <a:rPr sz="1100" i="1" spc="26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0" dirty="0">
                <a:latin typeface="Yu Gothic UI Semilight"/>
                <a:cs typeface="Yu Gothic UI Semilight"/>
              </a:rPr>
              <a:t> </a:t>
            </a:r>
            <a:r>
              <a:rPr sz="1100" i="1" spc="-95" dirty="0">
                <a:latin typeface="Arial"/>
                <a:cs typeface="Arial"/>
              </a:rPr>
              <a:t>R </a:t>
            </a:r>
            <a:r>
              <a:rPr sz="1100" i="1" spc="-50" dirty="0">
                <a:latin typeface="Arial"/>
                <a:cs typeface="Arial"/>
              </a:rPr>
              <a:t>R</a:t>
            </a:r>
            <a:endParaRPr sz="1100" dirty="0">
              <a:latin typeface="Arial"/>
              <a:cs typeface="Arial"/>
            </a:endParaRPr>
          </a:p>
          <a:p>
            <a:pPr marL="1721485">
              <a:lnSpc>
                <a:spcPct val="100000"/>
              </a:lnSpc>
              <a:spcBef>
                <a:spcPts val="170"/>
              </a:spcBef>
              <a:tabLst>
                <a:tab pos="1990725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∴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deduction </a:t>
            </a:r>
            <a:r>
              <a:rPr sz="1100" spc="-20" dirty="0">
                <a:latin typeface="Tahoma"/>
                <a:cs typeface="Tahoma"/>
              </a:rPr>
              <a:t>rule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valid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Another</a:t>
            </a:r>
            <a:r>
              <a:rPr spc="-70" dirty="0"/>
              <a:t> </a:t>
            </a:r>
            <a:r>
              <a:rPr spc="-25" dirty="0"/>
              <a:t>Deduction</a:t>
            </a:r>
            <a:r>
              <a:rPr spc="-70" dirty="0"/>
              <a:t> </a:t>
            </a:r>
            <a:r>
              <a:rPr dirty="0"/>
              <a:t>Rule</a:t>
            </a:r>
            <a:r>
              <a:rPr spc="-70" dirty="0"/>
              <a:t> </a:t>
            </a:r>
            <a:r>
              <a:rPr spc="-30" dirty="0"/>
              <a:t>and</a:t>
            </a:r>
            <a:r>
              <a:rPr spc="-70" dirty="0"/>
              <a:t> </a:t>
            </a:r>
            <a:r>
              <a:rPr spc="-25" dirty="0"/>
              <a:t>Predicate</a:t>
            </a:r>
            <a:r>
              <a:rPr spc="-70" dirty="0"/>
              <a:t> </a:t>
            </a:r>
            <a:r>
              <a:rPr spc="-10" dirty="0"/>
              <a:t>Logic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3695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9355" y="1144346"/>
            <a:ext cx="551180" cy="0"/>
          </a:xfrm>
          <a:custGeom>
            <a:avLst/>
            <a:gdLst/>
            <a:ahLst/>
            <a:cxnLst/>
            <a:rect l="l" t="t" r="r" b="b"/>
            <a:pathLst>
              <a:path w="551180">
                <a:moveTo>
                  <a:pt x="0" y="0"/>
                </a:moveTo>
                <a:lnTo>
                  <a:pt x="55111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2932" y="683422"/>
            <a:ext cx="3698240" cy="13462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316355">
              <a:lnSpc>
                <a:spcPct val="100000"/>
              </a:lnSpc>
              <a:spcBef>
                <a:spcPts val="420"/>
              </a:spcBef>
              <a:tabLst>
                <a:tab pos="2171700" algn="l"/>
              </a:tabLst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27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R</a:t>
            </a:r>
            <a:r>
              <a:rPr sz="1100" i="1" dirty="0">
                <a:latin typeface="Arial"/>
                <a:cs typeface="Arial"/>
              </a:rPr>
              <a:t>	Q</a:t>
            </a:r>
            <a:r>
              <a:rPr sz="1100" i="1" spc="26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R</a:t>
            </a:r>
            <a:endParaRPr sz="1100" dirty="0">
              <a:latin typeface="Arial"/>
              <a:cs typeface="Arial"/>
            </a:endParaRPr>
          </a:p>
          <a:p>
            <a:pPr marL="1948180">
              <a:lnSpc>
                <a:spcPct val="100000"/>
              </a:lnSpc>
              <a:spcBef>
                <a:spcPts val="325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∨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923414">
              <a:lnSpc>
                <a:spcPct val="100000"/>
              </a:lnSpc>
              <a:spcBef>
                <a:spcPts val="165"/>
              </a:spcBef>
              <a:tabLst>
                <a:tab pos="2146300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∴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-50" dirty="0">
                <a:latin typeface="Arial"/>
                <a:cs typeface="Arial"/>
              </a:rPr>
              <a:t>R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210"/>
              </a:spcBef>
            </a:pPr>
            <a:r>
              <a:rPr sz="1100" spc="-25" dirty="0">
                <a:latin typeface="Tahoma"/>
                <a:cs typeface="Tahoma"/>
              </a:rPr>
              <a:t>Predicates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0" dirty="0">
                <a:latin typeface="Tahoma"/>
                <a:cs typeface="Tahoma"/>
              </a:rPr>
              <a:t> 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write </a:t>
            </a:r>
            <a:r>
              <a:rPr sz="1100" spc="-40" dirty="0">
                <a:latin typeface="Tahoma"/>
                <a:cs typeface="Tahoma"/>
              </a:rPr>
              <a:t>statements, </a:t>
            </a:r>
            <a:r>
              <a:rPr sz="1100" spc="-35" dirty="0">
                <a:latin typeface="Tahoma"/>
                <a:cs typeface="Tahoma"/>
              </a:rPr>
              <a:t>quantifiers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used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133475">
              <a:lnSpc>
                <a:spcPct val="100000"/>
              </a:lnSpc>
            </a:pPr>
            <a:r>
              <a:rPr sz="1100" spc="-275" dirty="0">
                <a:latin typeface="Yu Gothic UI Semilight"/>
                <a:cs typeface="Yu Gothic UI Semilight"/>
              </a:rPr>
              <a:t>∀</a:t>
            </a:r>
            <a:r>
              <a:rPr sz="1100" i="1" spc="-27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lang="en-US" sz="1100" i="1" spc="-210" dirty="0">
                <a:latin typeface="Arial"/>
                <a:cs typeface="Arial"/>
              </a:rPr>
              <a:t>   </a:t>
            </a:r>
            <a:r>
              <a:rPr sz="1100" spc="-10" dirty="0">
                <a:latin typeface="Tahoma"/>
                <a:cs typeface="Tahoma"/>
              </a:rPr>
              <a:t>((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75" dirty="0">
                <a:latin typeface="Yu Gothic UI Semilight"/>
                <a:cs typeface="Yu Gothic UI Semilight"/>
              </a:rPr>
              <a:t>∧</a:t>
            </a:r>
            <a:r>
              <a:rPr sz="1100" spc="-60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&gt;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2)</a:t>
            </a:r>
            <a:r>
              <a:rPr sz="1100" spc="215" dirty="0">
                <a:latin typeface="Tahoma"/>
                <a:cs typeface="Tahoma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54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O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05026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75560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2092120"/>
            <a:ext cx="9131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932" y="2176130"/>
            <a:ext cx="2669020" cy="4920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01470">
              <a:lnSpc>
                <a:spcPct val="151700"/>
              </a:lnSpc>
              <a:spcBef>
                <a:spcPts val="100"/>
              </a:spcBef>
            </a:pPr>
            <a:r>
              <a:rPr sz="1100" spc="-195" dirty="0">
                <a:latin typeface="Yu Gothic UI Semilight"/>
                <a:cs typeface="Yu Gothic UI Semilight"/>
              </a:rPr>
              <a:t>¬∃</a:t>
            </a:r>
            <a:r>
              <a:rPr sz="1100" i="1" spc="-19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75" dirty="0">
                <a:latin typeface="Yu Gothic UI Semilight"/>
                <a:cs typeface="Yu Gothic UI Semilight"/>
              </a:rPr>
              <a:t>∀</a:t>
            </a:r>
            <a:r>
              <a:rPr sz="1100" i="1" spc="-27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lang="en-US" sz="1100" i="1" spc="-190" dirty="0">
                <a:latin typeface="Arial"/>
                <a:cs typeface="Arial"/>
              </a:rPr>
              <a:t>  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≥</a:t>
            </a:r>
            <a:r>
              <a:rPr sz="1100" spc="5" dirty="0">
                <a:latin typeface="Yu Gothic UI Semilight"/>
                <a:cs typeface="Yu Gothic UI Semilight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written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equivalent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1151" y="2862654"/>
            <a:ext cx="1020801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75" dirty="0">
                <a:latin typeface="Yu Gothic UI Semilight"/>
                <a:cs typeface="Yu Gothic UI Semilight"/>
              </a:rPr>
              <a:t>∀</a:t>
            </a:r>
            <a:r>
              <a:rPr sz="1100" i="1" spc="-27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75" dirty="0">
                <a:latin typeface="Yu Gothic UI Semilight"/>
                <a:cs typeface="Yu Gothic UI Semilight"/>
              </a:rPr>
              <a:t>∃</a:t>
            </a:r>
            <a:r>
              <a:rPr sz="1100" i="1" spc="-27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lang="en-US" sz="1100" i="1" spc="-190" dirty="0">
                <a:latin typeface="Arial"/>
                <a:cs typeface="Arial"/>
              </a:rPr>
              <a:t>  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060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Proofs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5321"/>
            <a:ext cx="65265" cy="65265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35353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1745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27491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37523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955927"/>
            <a:ext cx="4305935" cy="1490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Proof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contradiction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argument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99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conclusion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that </a:t>
            </a:r>
            <a:r>
              <a:rPr sz="1100" spc="-35" dirty="0">
                <a:latin typeface="Tahoma"/>
                <a:cs typeface="Tahoma"/>
              </a:rPr>
              <a:t>follows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previous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statements</a:t>
            </a:r>
            <a:endParaRPr sz="1100">
              <a:latin typeface="Tahoma"/>
              <a:cs typeface="Tahoma"/>
            </a:endParaRPr>
          </a:p>
          <a:p>
            <a:pPr marL="289560" marR="968375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conclusion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premises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true </a:t>
            </a: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Theorem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3.2.1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25" dirty="0">
                <a:latin typeface="Tahoma"/>
                <a:cs typeface="Tahoma"/>
              </a:rPr>
              <a:t> 214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conclusion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true,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premise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false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Direct</a:t>
            </a:r>
            <a:r>
              <a:rPr spc="-45" dirty="0"/>
              <a:t> </a:t>
            </a:r>
            <a:r>
              <a:rPr spc="-20" dirty="0"/>
              <a:t>Proof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215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34920"/>
            <a:ext cx="3510279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Direct</a:t>
            </a:r>
            <a:r>
              <a:rPr sz="1100" spc="-40" dirty="0">
                <a:latin typeface="Tahoma"/>
                <a:cs typeface="Tahoma"/>
              </a:rPr>
              <a:t> proofs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especially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proving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implications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format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30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29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 marL="196850">
              <a:lnSpc>
                <a:spcPct val="100000"/>
              </a:lnSpc>
              <a:spcBef>
                <a:spcPts val="635"/>
              </a:spcBef>
            </a:pPr>
            <a:r>
              <a:rPr sz="1100" spc="-40" dirty="0">
                <a:latin typeface="Tahoma"/>
                <a:cs typeface="Tahoma"/>
              </a:rPr>
              <a:t>Assume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Explain,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explain,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spc="-30" dirty="0">
                <a:latin typeface="Tahoma"/>
                <a:cs typeface="Tahoma"/>
              </a:rPr>
              <a:t>explain.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Therefore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Q</a:t>
            </a:r>
            <a:endParaRPr sz="1100" dirty="0">
              <a:latin typeface="Arial"/>
              <a:cs typeface="Arial"/>
            </a:endParaRPr>
          </a:p>
          <a:p>
            <a:pPr marL="12700" marR="494030">
              <a:lnSpc>
                <a:spcPct val="102600"/>
              </a:lnSpc>
              <a:spcBef>
                <a:spcPts val="894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universal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75" dirty="0">
                <a:latin typeface="Yu Gothic UI Semilight"/>
                <a:cs typeface="Yu Gothic UI Semilight"/>
              </a:rPr>
              <a:t>∀</a:t>
            </a:r>
            <a:r>
              <a:rPr sz="1100" i="1" spc="-275" dirty="0">
                <a:latin typeface="Arial"/>
                <a:cs typeface="Arial"/>
              </a:rPr>
              <a:t>x</a:t>
            </a:r>
            <a:r>
              <a:rPr lang="en-US" sz="1100" i="1" spc="-275" dirty="0">
                <a:latin typeface="Arial"/>
                <a:cs typeface="Arial"/>
              </a:rPr>
              <a:t>          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215" dirty="0">
                <a:latin typeface="Tahoma"/>
                <a:cs typeface="Tahoma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50" dirty="0">
                <a:latin typeface="Yu Gothic UI Semilight"/>
                <a:cs typeface="Yu Gothic UI Semilight"/>
              </a:rPr>
              <a:t> 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))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assume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P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true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deduce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Q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for </a:t>
            </a:r>
            <a:r>
              <a:rPr sz="1100" i="1" dirty="0">
                <a:latin typeface="Arial"/>
                <a:cs typeface="Arial"/>
              </a:rPr>
              <a:t>all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arbitrary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element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3.2.2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3.2.3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216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72184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06117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6030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Proof</a:t>
            </a:r>
            <a:r>
              <a:rPr spc="35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30" dirty="0"/>
              <a:t>Contrapositive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215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78698"/>
            <a:ext cx="3975735" cy="1490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implication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30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35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logically </a:t>
            </a:r>
            <a:r>
              <a:rPr sz="1100" spc="-35" dirty="0">
                <a:latin typeface="Tahoma"/>
                <a:cs typeface="Tahoma"/>
              </a:rPr>
              <a:t>equivalent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25" dirty="0">
                <a:latin typeface="Tahoma"/>
                <a:cs typeface="Tahoma"/>
              </a:rPr>
              <a:t> contrapositive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25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195" dirty="0">
                <a:latin typeface="Yu Gothic UI Semilight"/>
                <a:cs typeface="Yu Gothic UI Semilight"/>
              </a:rPr>
              <a:t> </a:t>
            </a:r>
            <a:r>
              <a:rPr sz="1100" spc="-35" dirty="0">
                <a:latin typeface="Yu Gothic UI Semilight"/>
                <a:cs typeface="Yu Gothic UI Semilight"/>
              </a:rPr>
              <a:t>¬</a:t>
            </a:r>
            <a:r>
              <a:rPr sz="1100" i="1" spc="-35" dirty="0">
                <a:latin typeface="Arial"/>
                <a:cs typeface="Arial"/>
              </a:rPr>
              <a:t>P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format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300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29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 marL="196850">
              <a:lnSpc>
                <a:spcPct val="100000"/>
              </a:lnSpc>
              <a:spcBef>
                <a:spcPts val="630"/>
              </a:spcBef>
            </a:pPr>
            <a:r>
              <a:rPr sz="1100" spc="-40" dirty="0">
                <a:latin typeface="Tahoma"/>
                <a:cs typeface="Tahoma"/>
              </a:rPr>
              <a:t>Assume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¬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Explain, </a:t>
            </a:r>
            <a:r>
              <a:rPr sz="1100" spc="-35" dirty="0">
                <a:latin typeface="Tahoma"/>
                <a:cs typeface="Tahoma"/>
              </a:rPr>
              <a:t>explain,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spc="-30" dirty="0">
                <a:latin typeface="Tahoma"/>
                <a:cs typeface="Tahoma"/>
              </a:rPr>
              <a:t>explain.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Therefore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Yu Gothic UI Semilight"/>
                <a:cs typeface="Yu Gothic UI Semilight"/>
              </a:rPr>
              <a:t>¬</a:t>
            </a:r>
            <a:r>
              <a:rPr sz="1100" i="1" spc="-25" dirty="0">
                <a:latin typeface="Arial"/>
                <a:cs typeface="Arial"/>
              </a:rPr>
              <a:t>P</a:t>
            </a:r>
            <a:endParaRPr sz="1100" dirty="0">
              <a:latin typeface="Arial"/>
              <a:cs typeface="Arial"/>
            </a:endParaRPr>
          </a:p>
          <a:p>
            <a:pPr marL="12700" marR="115570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before,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quantifiers,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30" dirty="0">
                <a:latin typeface="Tahoma"/>
                <a:cs typeface="Tahoma"/>
              </a:rPr>
              <a:t>arbitrary</a:t>
            </a:r>
            <a:r>
              <a:rPr sz="1100" spc="-50" dirty="0">
                <a:latin typeface="Tahoma"/>
                <a:cs typeface="Tahoma"/>
              </a:rPr>
              <a:t> elements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domain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3.2.4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3.2.5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217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44256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78190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6030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Proof By </a:t>
            </a:r>
            <a:r>
              <a:rPr spc="-20" dirty="0"/>
              <a:t>Counter</a:t>
            </a:r>
            <a:r>
              <a:rPr dirty="0"/>
              <a:t> </a:t>
            </a:r>
            <a:r>
              <a:rPr spc="-30" dirty="0"/>
              <a:t>Example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937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45919"/>
            <a:ext cx="4040504" cy="822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Since</a:t>
            </a:r>
            <a:r>
              <a:rPr sz="1100" spc="-30" dirty="0">
                <a:latin typeface="Tahoma"/>
                <a:cs typeface="Tahoma"/>
              </a:rPr>
              <a:t> so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statements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mathematics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universal,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making </a:t>
            </a:r>
            <a:r>
              <a:rPr sz="1100" spc="-10" dirty="0">
                <a:latin typeface="Tahoma"/>
                <a:cs typeface="Tahoma"/>
              </a:rPr>
              <a:t>their </a:t>
            </a:r>
            <a:r>
              <a:rPr sz="1100" spc="-45" dirty="0">
                <a:latin typeface="Tahoma"/>
                <a:cs typeface="Tahoma"/>
              </a:rPr>
              <a:t>negations </a:t>
            </a:r>
            <a:r>
              <a:rPr sz="1100" spc="-30" dirty="0">
                <a:latin typeface="Tahoma"/>
                <a:cs typeface="Tahoma"/>
              </a:rPr>
              <a:t>existential,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often </a:t>
            </a:r>
            <a:r>
              <a:rPr sz="1100" spc="-60" dirty="0">
                <a:latin typeface="Tahoma"/>
                <a:cs typeface="Tahoma"/>
              </a:rPr>
              <a:t>prove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statement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false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 </a:t>
            </a:r>
            <a:r>
              <a:rPr sz="1100" spc="-40" dirty="0">
                <a:latin typeface="Tahoma"/>
                <a:cs typeface="Tahoma"/>
              </a:rPr>
              <a:t>providing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counter-</a:t>
            </a:r>
            <a:r>
              <a:rPr sz="1100" spc="-10" dirty="0"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930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3.2.10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221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59470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722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Proof</a:t>
            </a:r>
            <a:r>
              <a:rPr spc="35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50" dirty="0"/>
              <a:t>Cases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3887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pc="-10" dirty="0"/>
              <a:t>Prove</a:t>
            </a:r>
            <a:r>
              <a:rPr spc="-4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P</a:t>
            </a:r>
            <a:r>
              <a:rPr i="1" spc="7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20" dirty="0"/>
              <a:t>true</a:t>
            </a:r>
            <a:r>
              <a:rPr spc="-40" dirty="0"/>
              <a:t> </a:t>
            </a:r>
            <a:r>
              <a:rPr spc="-35" dirty="0"/>
              <a:t>by</a:t>
            </a:r>
            <a:r>
              <a:rPr spc="-45" dirty="0"/>
              <a:t> </a:t>
            </a:r>
            <a:r>
              <a:rPr spc="-40" dirty="0"/>
              <a:t>proving </a:t>
            </a:r>
            <a:r>
              <a:rPr dirty="0"/>
              <a:t>that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Q</a:t>
            </a:r>
            <a:r>
              <a:rPr i="1" spc="265" dirty="0">
                <a:latin typeface="Arial"/>
                <a:cs typeface="Arial"/>
              </a:rPr>
              <a:t> </a:t>
            </a:r>
            <a:r>
              <a:rPr dirty="0">
                <a:latin typeface="Yu Gothic UI Semilight"/>
                <a:cs typeface="Yu Gothic UI Semilight"/>
              </a:rPr>
              <a:t>⇒</a:t>
            </a:r>
            <a:r>
              <a:rPr spc="210" dirty="0">
                <a:latin typeface="Yu Gothic UI Semilight"/>
                <a:cs typeface="Yu Gothic UI Semilight"/>
              </a:rPr>
              <a:t> </a:t>
            </a:r>
            <a:r>
              <a:rPr i="1" dirty="0">
                <a:latin typeface="Arial"/>
                <a:cs typeface="Arial"/>
              </a:rPr>
              <a:t>P</a:t>
            </a:r>
            <a:r>
              <a:rPr i="1" spc="70" dirty="0">
                <a:latin typeface="Arial"/>
                <a:cs typeface="Arial"/>
              </a:rPr>
              <a:t> </a:t>
            </a:r>
            <a:r>
              <a:rPr spc="-35" dirty="0"/>
              <a:t>and </a:t>
            </a:r>
            <a:r>
              <a:rPr dirty="0">
                <a:latin typeface="Yu Gothic UI Semilight"/>
                <a:cs typeface="Yu Gothic UI Semilight"/>
              </a:rPr>
              <a:t>¬</a:t>
            </a:r>
            <a:r>
              <a:rPr i="1" dirty="0">
                <a:latin typeface="Arial"/>
                <a:cs typeface="Arial"/>
              </a:rPr>
              <a:t>Q</a:t>
            </a:r>
            <a:r>
              <a:rPr i="1" spc="265" dirty="0">
                <a:latin typeface="Arial"/>
                <a:cs typeface="Arial"/>
              </a:rPr>
              <a:t> </a:t>
            </a:r>
            <a:r>
              <a:rPr dirty="0">
                <a:latin typeface="Yu Gothic UI Semilight"/>
                <a:cs typeface="Yu Gothic UI Semilight"/>
              </a:rPr>
              <a:t>⇒</a:t>
            </a:r>
            <a:r>
              <a:rPr spc="210" dirty="0">
                <a:latin typeface="Yu Gothic UI Semilight"/>
                <a:cs typeface="Yu Gothic UI Semilight"/>
              </a:rPr>
              <a:t> </a:t>
            </a:r>
            <a:r>
              <a:rPr i="1" dirty="0">
                <a:latin typeface="Arial"/>
                <a:cs typeface="Arial"/>
              </a:rPr>
              <a:t>P</a:t>
            </a:r>
            <a:r>
              <a:rPr i="1" spc="70" dirty="0">
                <a:latin typeface="Arial"/>
                <a:cs typeface="Arial"/>
              </a:rPr>
              <a:t> </a:t>
            </a:r>
            <a:r>
              <a:rPr spc="-25" dirty="0"/>
              <a:t>for </a:t>
            </a:r>
            <a:r>
              <a:rPr spc="-60" dirty="0"/>
              <a:t>some</a:t>
            </a:r>
            <a:r>
              <a:rPr spc="-25" dirty="0"/>
              <a:t> </a:t>
            </a:r>
            <a:r>
              <a:rPr spc="-35" dirty="0"/>
              <a:t>statement</a:t>
            </a:r>
            <a:r>
              <a:rPr spc="-20" dirty="0"/>
              <a:t> </a:t>
            </a:r>
            <a:r>
              <a:rPr i="1" spc="-50" dirty="0">
                <a:latin typeface="Arial"/>
                <a:cs typeface="Arial"/>
              </a:rPr>
              <a:t>Q</a:t>
            </a:r>
          </a:p>
          <a:p>
            <a:pPr marL="38100" marR="140970">
              <a:lnSpc>
                <a:spcPct val="102600"/>
              </a:lnSpc>
              <a:spcBef>
                <a:spcPts val="300"/>
              </a:spcBef>
            </a:pPr>
            <a:r>
              <a:rPr spc="-45" dirty="0"/>
              <a:t>Suppose </a:t>
            </a:r>
            <a:r>
              <a:rPr spc="-95" dirty="0"/>
              <a:t>we</a:t>
            </a:r>
            <a:r>
              <a:rPr spc="10" dirty="0"/>
              <a:t> </a:t>
            </a:r>
            <a:r>
              <a:rPr spc="-30" dirty="0"/>
              <a:t>want</a:t>
            </a:r>
            <a:r>
              <a:rPr spc="-5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60" dirty="0"/>
              <a:t>prove</a:t>
            </a:r>
            <a:r>
              <a:rPr spc="-25" dirty="0"/>
              <a:t> </a:t>
            </a:r>
            <a:r>
              <a:rPr i="1" dirty="0">
                <a:latin typeface="Arial"/>
                <a:cs typeface="Arial"/>
              </a:rPr>
              <a:t>P</a:t>
            </a:r>
            <a:r>
              <a:rPr dirty="0"/>
              <a:t>.</a:t>
            </a:r>
            <a:r>
              <a:rPr spc="80" dirty="0"/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spc="-35" dirty="0"/>
              <a:t>know</a:t>
            </a:r>
            <a:r>
              <a:rPr i="1" spc="-35" dirty="0">
                <a:latin typeface="Arial"/>
                <a:cs typeface="Arial"/>
              </a:rPr>
              <a:t>Q</a:t>
            </a:r>
            <a:r>
              <a:rPr i="1" spc="85" dirty="0">
                <a:latin typeface="Arial"/>
                <a:cs typeface="Arial"/>
              </a:rPr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at</a:t>
            </a:r>
            <a:r>
              <a:rPr spc="-25" dirty="0"/>
              <a:t> least</a:t>
            </a:r>
            <a:r>
              <a:rPr spc="-30" dirty="0"/>
              <a:t> </a:t>
            </a:r>
            <a:r>
              <a:rPr spc="-45" dirty="0"/>
              <a:t>one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spc="-40" dirty="0"/>
              <a:t>statements</a:t>
            </a:r>
            <a:r>
              <a:rPr spc="-50" dirty="0"/>
              <a:t> </a:t>
            </a:r>
            <a:r>
              <a:rPr i="1" spc="-45" dirty="0">
                <a:latin typeface="Arial"/>
                <a:cs typeface="Arial"/>
              </a:rPr>
              <a:t>Q</a:t>
            </a:r>
            <a:r>
              <a:rPr sz="1200" spc="-67" baseline="-10416" dirty="0"/>
              <a:t>1</a:t>
            </a:r>
            <a:r>
              <a:rPr sz="1100" i="1" spc="-4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30" dirty="0">
                <a:latin typeface="Arial"/>
                <a:cs typeface="Arial"/>
              </a:rPr>
              <a:t>Q</a:t>
            </a:r>
            <a:r>
              <a:rPr sz="1200" spc="-44" baseline="-10416" dirty="0"/>
              <a:t>2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40" baseline="-10416" dirty="0">
                <a:latin typeface="Arial"/>
                <a:cs typeface="Arial"/>
              </a:rPr>
              <a:t> </a:t>
            </a:r>
            <a:r>
              <a:rPr sz="1100" dirty="0"/>
              <a:t>is</a:t>
            </a:r>
            <a:r>
              <a:rPr sz="1100" spc="-10" dirty="0"/>
              <a:t> </a:t>
            </a:r>
            <a:r>
              <a:rPr sz="1100" spc="-20" dirty="0"/>
              <a:t>true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pc="-30" dirty="0"/>
              <a:t>If</a:t>
            </a:r>
            <a:r>
              <a:rPr spc="-60" dirty="0"/>
              <a:t> </a:t>
            </a:r>
            <a:r>
              <a:rPr spc="-90" dirty="0"/>
              <a:t>we</a:t>
            </a:r>
            <a:r>
              <a:rPr spc="5" dirty="0"/>
              <a:t> </a:t>
            </a:r>
            <a:r>
              <a:rPr spc="-20" dirty="0"/>
              <a:t>can</a:t>
            </a:r>
            <a:r>
              <a:rPr spc="-70" dirty="0"/>
              <a:t> </a:t>
            </a:r>
            <a:r>
              <a:rPr spc="-65" dirty="0"/>
              <a:t>show</a:t>
            </a:r>
            <a:r>
              <a:rPr spc="-20" dirty="0"/>
              <a:t> </a:t>
            </a:r>
            <a:r>
              <a:rPr dirty="0"/>
              <a:t>that</a:t>
            </a:r>
            <a:r>
              <a:rPr spc="-65" dirty="0"/>
              <a:t> </a:t>
            </a:r>
            <a:r>
              <a:rPr i="1" dirty="0">
                <a:latin typeface="Arial"/>
                <a:cs typeface="Arial"/>
              </a:rPr>
              <a:t>Q</a:t>
            </a:r>
            <a:r>
              <a:rPr sz="1200" baseline="-10416" dirty="0"/>
              <a:t>1</a:t>
            </a:r>
            <a:r>
              <a:rPr sz="1200" spc="450" baseline="-10416" dirty="0"/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35" dirty="0"/>
              <a:t>and</a:t>
            </a:r>
            <a:r>
              <a:rPr sz="1100" spc="-40" dirty="0"/>
              <a:t> </a:t>
            </a:r>
            <a:r>
              <a:rPr sz="1100" i="1" dirty="0">
                <a:latin typeface="Arial"/>
                <a:cs typeface="Arial"/>
              </a:rPr>
              <a:t>Q</a:t>
            </a:r>
            <a:r>
              <a:rPr sz="1200" baseline="-10416" dirty="0"/>
              <a:t>2</a:t>
            </a:r>
            <a:r>
              <a:rPr sz="1200" spc="442" baseline="-10416" dirty="0"/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04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35" dirty="0"/>
              <a:t>and</a:t>
            </a:r>
            <a:r>
              <a:rPr sz="1100" spc="-40" dirty="0"/>
              <a:t> </a:t>
            </a:r>
            <a:r>
              <a:rPr sz="1100" spc="-30" dirty="0"/>
              <a:t>so</a:t>
            </a:r>
            <a:r>
              <a:rPr sz="1100" spc="-40" dirty="0"/>
              <a:t> </a:t>
            </a:r>
            <a:r>
              <a:rPr sz="1100" spc="-10" dirty="0"/>
              <a:t>on</a:t>
            </a:r>
            <a:r>
              <a:rPr sz="1100" spc="-45" dirty="0"/>
              <a:t> </a:t>
            </a:r>
            <a:r>
              <a:rPr sz="1100" spc="-10" dirty="0"/>
              <a:t>up</a:t>
            </a:r>
            <a:r>
              <a:rPr sz="1100" spc="-40" dirty="0"/>
              <a:t> </a:t>
            </a:r>
            <a:r>
              <a:rPr sz="1100" spc="-25" dirty="0"/>
              <a:t>to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i="1" dirty="0">
                <a:latin typeface="Arial"/>
                <a:cs typeface="Arial"/>
              </a:rPr>
              <a:t>Q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48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Yu Gothic UI Semilight"/>
                <a:cs typeface="Yu Gothic UI Semilight"/>
              </a:rPr>
              <a:t>⇒</a:t>
            </a:r>
            <a:r>
              <a:rPr sz="1100" spc="225" dirty="0">
                <a:latin typeface="Yu Gothic UI Semilight"/>
                <a:cs typeface="Yu Gothic UI Semilight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/>
              <a:t>,</a:t>
            </a:r>
            <a:r>
              <a:rPr sz="1100" spc="-30" dirty="0"/>
              <a:t> </a:t>
            </a:r>
            <a:r>
              <a:rPr sz="1100" spc="-25" dirty="0"/>
              <a:t>then</a:t>
            </a:r>
            <a:r>
              <a:rPr sz="1100" spc="-30" dirty="0"/>
              <a:t> </a:t>
            </a:r>
            <a:r>
              <a:rPr sz="1100" spc="-95" dirty="0"/>
              <a:t>we</a:t>
            </a:r>
            <a:r>
              <a:rPr sz="1100" spc="10" dirty="0"/>
              <a:t> </a:t>
            </a:r>
            <a:r>
              <a:rPr sz="1100" spc="-35" dirty="0"/>
              <a:t>conclude</a:t>
            </a:r>
            <a:r>
              <a:rPr sz="1100" spc="-30" dirty="0"/>
              <a:t> </a:t>
            </a:r>
            <a:r>
              <a:rPr sz="1100" i="1" spc="-25" dirty="0">
                <a:latin typeface="Arial"/>
                <a:cs typeface="Arial"/>
              </a:rPr>
              <a:t>P</a:t>
            </a:r>
            <a:r>
              <a:rPr sz="1100" spc="-25" dirty="0"/>
              <a:t>.</a:t>
            </a:r>
            <a:endParaRPr sz="1100" dirty="0">
              <a:latin typeface="Arial"/>
              <a:cs typeface="Arial"/>
            </a:endParaRPr>
          </a:p>
          <a:p>
            <a:pPr marL="38100" marR="769620">
              <a:lnSpc>
                <a:spcPct val="125299"/>
              </a:lnSpc>
            </a:pPr>
            <a:r>
              <a:rPr dirty="0"/>
              <a:t>We</a:t>
            </a:r>
            <a:r>
              <a:rPr spc="-90" dirty="0"/>
              <a:t> </a:t>
            </a:r>
            <a:r>
              <a:rPr spc="-60" dirty="0"/>
              <a:t>need</a:t>
            </a:r>
            <a:r>
              <a:rPr spc="-2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be</a:t>
            </a:r>
            <a:r>
              <a:rPr spc="-45" dirty="0"/>
              <a:t> </a:t>
            </a:r>
            <a:r>
              <a:rPr spc="-50" dirty="0"/>
              <a:t>sure</a:t>
            </a:r>
            <a:r>
              <a:rPr spc="-3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spc="-45" dirty="0"/>
              <a:t>one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60" dirty="0"/>
              <a:t>cases</a:t>
            </a:r>
            <a:r>
              <a:rPr spc="-30" dirty="0"/>
              <a:t> </a:t>
            </a:r>
            <a:r>
              <a:rPr spc="-25" dirty="0"/>
              <a:t>must</a:t>
            </a:r>
            <a:r>
              <a:rPr spc="-50" dirty="0"/>
              <a:t> </a:t>
            </a:r>
            <a:r>
              <a:rPr spc="-10" dirty="0"/>
              <a:t>be</a:t>
            </a:r>
            <a:r>
              <a:rPr spc="-45" dirty="0"/>
              <a:t> </a:t>
            </a:r>
            <a:r>
              <a:rPr spc="-35" dirty="0"/>
              <a:t>true </a:t>
            </a:r>
            <a:r>
              <a:rPr spc="-45" dirty="0"/>
              <a:t>See</a:t>
            </a:r>
            <a:r>
              <a:rPr spc="-20" dirty="0"/>
              <a:t> </a:t>
            </a:r>
            <a:r>
              <a:rPr spc="-35" dirty="0"/>
              <a:t>Examples</a:t>
            </a:r>
            <a:r>
              <a:rPr spc="-20" dirty="0"/>
              <a:t> </a:t>
            </a:r>
            <a:r>
              <a:rPr spc="-50" dirty="0"/>
              <a:t>3.2.11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55" dirty="0"/>
              <a:t>page</a:t>
            </a:r>
            <a:r>
              <a:rPr spc="-20" dirty="0"/>
              <a:t> </a:t>
            </a:r>
            <a:r>
              <a:rPr spc="-25" dirty="0"/>
              <a:t>222</a:t>
            </a: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20977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03082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85187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95220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926</Words>
  <Application>Microsoft Macintosh PowerPoint</Application>
  <PresentationFormat>Custom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Yu Gothic UI Semilight</vt:lpstr>
      <vt:lpstr>Arial</vt:lpstr>
      <vt:lpstr>Lucida Sans Unicode</vt:lpstr>
      <vt:lpstr>Tahoma</vt:lpstr>
      <vt:lpstr>Trebuchet MS</vt:lpstr>
      <vt:lpstr>Verdana</vt:lpstr>
      <vt:lpstr>Office Theme</vt:lpstr>
      <vt:lpstr>CS5070 Mathematical Structures for Computer Science - Notes 5</vt:lpstr>
      <vt:lpstr>Symbolic Logic and Proofs (Chapter 3)</vt:lpstr>
      <vt:lpstr>Propositional Logic</vt:lpstr>
      <vt:lpstr>More on Logics</vt:lpstr>
      <vt:lpstr>Implication and Negation</vt:lpstr>
      <vt:lpstr>Deductions</vt:lpstr>
      <vt:lpstr>More Deduction Rules</vt:lpstr>
      <vt:lpstr>Another Deduction Rule and Predicate Logic</vt:lpstr>
      <vt:lpstr>Proofs</vt:lpstr>
      <vt:lpstr>Direct Proof</vt:lpstr>
      <vt:lpstr>Proof By Contrapositive</vt:lpstr>
      <vt:lpstr>Proof By Counter Example</vt:lpstr>
      <vt:lpstr>Proof By Cases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5</dc:title>
  <dc:creator>José Garrido</dc:creator>
  <cp:lastModifiedBy>Kun Suo</cp:lastModifiedBy>
  <cp:revision>7</cp:revision>
  <dcterms:created xsi:type="dcterms:W3CDTF">2026-04-20T04:08:00Z</dcterms:created>
  <dcterms:modified xsi:type="dcterms:W3CDTF">2026-05-24T00:33:03Z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2021-10-19T00:00:00Z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2026-04-20T00:00:00Z</vt:filetime>
  </property>
  <property fmtid="{D5CDD505-2E9C-101B-9397-08002B2CF9AE}" pid="6" name="PTEX.Fullbanner">
    <vt:lpwstr>This is MiKTeX-pdfTeX 2.9.6870 (1.40.19)</vt:lpwstr>
  </property>
  <property fmtid="{D5CDD505-2E9C-101B-9397-08002B2CF9AE}" pid="7" name="Producer">
    <vt:lpwstr>pdfTeX-1.40.19</vt:lpwstr>
  </property>
  <property fmtid="{D5CDD505-2E9C-101B-9397-08002B2CF9AE}" pid="8" name="data-panorama-remediation-history">
    <vt:lpwstr>[{"pageNumber":0,"geomIndex":0,"lastGeomIndex":6,"textElement":"CS5070","tableIndex":-1,"rowIndex":-1,"cellIndex":-1,"fontColor":"#b30000","identifiers":{"PARAGRAPH_ID":"0","RUN_ID":"0","SLIDE_ID":"0"},"issueDetails":{"luminance25":"0.6866853124353136","isHeader":"false","luminance75":"0.6866853124353136","textColor":"cc0000"},"issueTypeId":"LowContrastIssue:PPTX","dismiss":false,"pageNumbers":[1],"coordinatesList":[[18.552000045776367,59.92999267578125,325.92471504211426,6.823440074920654]]},{"pageNumber":0,"geomIndex":46,"lastGeomIndex":47,"textElement":"-","tableIndex":-1,"rowIndex":-1,"cellIndex":-1,"fontColor":"#b30000","identifiers":{"PARAGRAPH_ID":"1","RUN_ID":"0","SLIDE_ID":"0"},"issueDetails":{"luminance25":"0.6866853124353136","isHeader":"false","luminance75":"0.6866853124353136","textColor":"cc0000"},"issueTypeId":"LowContrastIssue:PPTX","dismiss":false,"pageNumbers":[1],"coordinatesList":[[154.05999755859375,77.68998718261719,55.205841064453125,6.823440074920654]]},{"languageSet":"default","pageNumber":0,"geomIndex":-1,"identifiers":{},"issueTypeId":"MissingLanguageSetIssue:PPTX","dismiss":false,"pageNumbers":[1],"coordinatesList":[[10.0,10.0,2.0,2.0]]},{"isReadingOrderVerified":"true","pageNumber":0,"geomIndex":-1,"issueTypeId":"ReadingOrderIssue:PPTX","dismiss":false,"pageNumbers":[8],"coordinatesList":[[10.0,10.0,2.0,2.0]]}]</vt:lpwstr>
  </property>
  <property fmtid="{D5CDD505-2E9C-101B-9397-08002B2CF9AE}" pid="9" name="ReadingOrderVerifiedPages">
    <vt:lpwstr>8</vt:lpwstr>
  </property>
</Properties>
</file>