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81" r:id="rId4"/>
    <p:sldId id="258" r:id="rId5"/>
    <p:sldId id="282" r:id="rId6"/>
    <p:sldId id="259" r:id="rId7"/>
    <p:sldId id="260" r:id="rId8"/>
    <p:sldId id="283" r:id="rId9"/>
    <p:sldId id="261" r:id="rId10"/>
    <p:sldId id="284" r:id="rId11"/>
    <p:sldId id="262" r:id="rId12"/>
    <p:sldId id="263" r:id="rId13"/>
    <p:sldId id="264" r:id="rId14"/>
    <p:sldId id="265" r:id="rId15"/>
    <p:sldId id="266" r:id="rId16"/>
    <p:sldId id="267" r:id="rId17"/>
    <p:sldId id="285" r:id="rId18"/>
    <p:sldId id="268" r:id="rId19"/>
    <p:sldId id="269" r:id="rId20"/>
    <p:sldId id="270" r:id="rId21"/>
    <p:sldId id="271" r:id="rId22"/>
    <p:sldId id="272" r:id="rId23"/>
    <p:sldId id="286" r:id="rId24"/>
    <p:sldId id="273" r:id="rId25"/>
    <p:sldId id="287" r:id="rId26"/>
    <p:sldId id="288" r:id="rId27"/>
    <p:sldId id="274" r:id="rId28"/>
    <p:sldId id="275" r:id="rId29"/>
    <p:sldId id="289" r:id="rId30"/>
    <p:sldId id="276" r:id="rId31"/>
    <p:sldId id="290" r:id="rId32"/>
    <p:sldId id="277" r:id="rId33"/>
    <p:sldId id="278" r:id="rId34"/>
    <p:sldId id="279" r:id="rId35"/>
    <p:sldId id="291" r:id="rId36"/>
    <p:sldId id="280" r:id="rId37"/>
  </p:sldIdLst>
  <p:sldSz cx="4610100" cy="3460750"/>
  <p:notesSz cx="4610100" cy="3460750"/>
  <p:defaultTextStyle>
    <a:defPPr>
      <a:defRPr lang="en"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005"/>
    <p:restoredTop sz="88964"/>
  </p:normalViewPr>
  <p:slideViewPr>
    <p:cSldViewPr>
      <p:cViewPr varScale="1">
        <p:scale>
          <a:sx n="224" d="100"/>
          <a:sy n="224" d="100"/>
        </p:scale>
        <p:origin x="168" y="6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891DFC-42F0-CF4E-AC20-3EE8F5E2089D}" type="datetimeFigureOut">
              <a:rPr lang="en-US" smtClean="0"/>
              <a:t>5/24/26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B8973C-DAB2-6344-A917-6BE65BA16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567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游走（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）：就是允许重复经过某些顶点和边的“走法”。</a:t>
            </a:r>
            <a:endParaRPr lang="en-US" altLang="zh-CN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迹（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Trail）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边各不相同的游走。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路径（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Path）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顶点各不相同的游走（不会重复经过同一个顶点）。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B8973C-DAB2-6344-A917-6BE65BA164E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307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spc="10" dirty="0"/>
              <a:t> </a:t>
            </a:r>
            <a:r>
              <a:rPr dirty="0"/>
              <a:t>14,</a:t>
            </a:r>
            <a:r>
              <a:rPr spc="10" dirty="0"/>
              <a:t> </a:t>
            </a:r>
            <a:r>
              <a:rPr spc="-20" dirty="0"/>
              <a:t>2021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75" dirty="0"/>
              <a:t>Jos´e</a:t>
            </a:r>
            <a:r>
              <a:rPr spc="25" dirty="0"/>
              <a:t> </a:t>
            </a:r>
            <a:r>
              <a:rPr dirty="0"/>
              <a:t>Garrido</a:t>
            </a:r>
            <a:r>
              <a:rPr spc="245" dirty="0"/>
              <a:t> </a:t>
            </a:r>
            <a:r>
              <a:rPr spc="-10" dirty="0"/>
              <a:t>(KSU)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25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spc="10" dirty="0"/>
              <a:t> </a:t>
            </a:r>
            <a:r>
              <a:rPr dirty="0"/>
              <a:t>14,</a:t>
            </a:r>
            <a:r>
              <a:rPr spc="10" dirty="0"/>
              <a:t> </a:t>
            </a:r>
            <a:r>
              <a:rPr spc="-20" dirty="0"/>
              <a:t>2021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75" dirty="0"/>
              <a:t>Jos´e</a:t>
            </a:r>
            <a:r>
              <a:rPr spc="25" dirty="0"/>
              <a:t> </a:t>
            </a:r>
            <a:r>
              <a:rPr dirty="0"/>
              <a:t>Garrido</a:t>
            </a:r>
            <a:r>
              <a:rPr spc="245" dirty="0"/>
              <a:t> </a:t>
            </a:r>
            <a:r>
              <a:rPr spc="-10" dirty="0"/>
              <a:t>(KSU)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25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spc="10" dirty="0"/>
              <a:t> </a:t>
            </a:r>
            <a:r>
              <a:rPr dirty="0"/>
              <a:t>14,</a:t>
            </a:r>
            <a:r>
              <a:rPr spc="10" dirty="0"/>
              <a:t> </a:t>
            </a:r>
            <a:r>
              <a:rPr spc="-20" dirty="0"/>
              <a:t>2021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75" dirty="0"/>
              <a:t>Jos´e</a:t>
            </a:r>
            <a:r>
              <a:rPr spc="25" dirty="0"/>
              <a:t> </a:t>
            </a:r>
            <a:r>
              <a:rPr dirty="0"/>
              <a:t>Garrido</a:t>
            </a:r>
            <a:r>
              <a:rPr spc="245" dirty="0"/>
              <a:t> </a:t>
            </a:r>
            <a:r>
              <a:rPr spc="-10" dirty="0"/>
              <a:t>(KSU)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25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spc="10" dirty="0"/>
              <a:t> </a:t>
            </a:r>
            <a:r>
              <a:rPr dirty="0"/>
              <a:t>14,</a:t>
            </a:r>
            <a:r>
              <a:rPr spc="10" dirty="0"/>
              <a:t> </a:t>
            </a:r>
            <a:r>
              <a:rPr spc="-20" dirty="0"/>
              <a:t>2021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75" dirty="0"/>
              <a:t>Jos´e</a:t>
            </a:r>
            <a:r>
              <a:rPr spc="25" dirty="0"/>
              <a:t> </a:t>
            </a:r>
            <a:r>
              <a:rPr dirty="0"/>
              <a:t>Garrido</a:t>
            </a:r>
            <a:r>
              <a:rPr spc="245" dirty="0"/>
              <a:t> </a:t>
            </a:r>
            <a:r>
              <a:rPr spc="-10" dirty="0"/>
              <a:t>(KSU)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25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spc="10" dirty="0"/>
              <a:t> </a:t>
            </a:r>
            <a:r>
              <a:rPr dirty="0"/>
              <a:t>14,</a:t>
            </a:r>
            <a:r>
              <a:rPr spc="10" dirty="0"/>
              <a:t> </a:t>
            </a:r>
            <a:r>
              <a:rPr spc="-20" dirty="0"/>
              <a:t>2021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75" dirty="0"/>
              <a:t>Jos´e</a:t>
            </a:r>
            <a:r>
              <a:rPr spc="25" dirty="0"/>
              <a:t> </a:t>
            </a:r>
            <a:r>
              <a:rPr dirty="0"/>
              <a:t>Garrido</a:t>
            </a:r>
            <a:r>
              <a:rPr spc="245" dirty="0"/>
              <a:t> </a:t>
            </a:r>
            <a:r>
              <a:rPr spc="-10" dirty="0"/>
              <a:t>(KSU)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25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9878"/>
            <a:ext cx="195389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532" y="982712"/>
            <a:ext cx="4108450" cy="14725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555377" y="3351784"/>
            <a:ext cx="58166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August</a:t>
            </a:r>
            <a:r>
              <a:rPr spc="10" dirty="0"/>
              <a:t> </a:t>
            </a:r>
            <a:r>
              <a:rPr dirty="0"/>
              <a:t>14,</a:t>
            </a:r>
            <a:r>
              <a:rPr spc="10" dirty="0"/>
              <a:t> </a:t>
            </a:r>
            <a:r>
              <a:rPr spc="-20" dirty="0"/>
              <a:t>2021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09600" y="3351784"/>
            <a:ext cx="716915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F2F2F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75" dirty="0"/>
              <a:t>Jos´e</a:t>
            </a:r>
            <a:r>
              <a:rPr spc="25" dirty="0"/>
              <a:t> </a:t>
            </a:r>
            <a:r>
              <a:rPr dirty="0"/>
              <a:t>Garrido</a:t>
            </a:r>
            <a:r>
              <a:rPr spc="245" dirty="0"/>
              <a:t> </a:t>
            </a:r>
            <a:r>
              <a:rPr spc="-10" dirty="0"/>
              <a:t>(KSU)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73851" y="3351784"/>
            <a:ext cx="27940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jgarrido@kennesaw.edu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gif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7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jpeg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89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8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98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jpeg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2.gif"/><Relationship Id="rId4" Type="http://schemas.openxmlformats.org/officeDocument/2006/relationships/image" Target="../media/image10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5.jpeg"/><Relationship Id="rId4" Type="http://schemas.openxmlformats.org/officeDocument/2006/relationships/image" Target="../media/image10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58.png"/><Relationship Id="rId7" Type="http://schemas.openxmlformats.org/officeDocument/2006/relationships/image" Target="../media/image109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5" Type="http://schemas.openxmlformats.org/officeDocument/2006/relationships/image" Target="../media/image56.png"/><Relationship Id="rId4" Type="http://schemas.openxmlformats.org/officeDocument/2006/relationships/image" Target="../media/image10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3.gif"/><Relationship Id="rId4" Type="http://schemas.openxmlformats.org/officeDocument/2006/relationships/image" Target="../media/image3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5.png"/><Relationship Id="rId5" Type="http://schemas.openxmlformats.org/officeDocument/2006/relationships/image" Target="../media/image17.png"/><Relationship Id="rId4" Type="http://schemas.openxmlformats.org/officeDocument/2006/relationships/image" Target="../media/image12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8.png"/><Relationship Id="rId5" Type="http://schemas.openxmlformats.org/officeDocument/2006/relationships/image" Target="../media/image127.png"/><Relationship Id="rId4" Type="http://schemas.openxmlformats.org/officeDocument/2006/relationships/image" Target="../media/image11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1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3" Type="http://schemas.openxmlformats.org/officeDocument/2006/relationships/image" Target="../media/image133.png"/><Relationship Id="rId7" Type="http://schemas.openxmlformats.org/officeDocument/2006/relationships/image" Target="../media/image137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6.png"/><Relationship Id="rId5" Type="http://schemas.openxmlformats.org/officeDocument/2006/relationships/image" Target="../media/image135.png"/><Relationship Id="rId4" Type="http://schemas.openxmlformats.org/officeDocument/2006/relationships/image" Target="../media/image1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43" y="464095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7743" y="508509"/>
            <a:ext cx="4483735" cy="677545"/>
            <a:chOff x="87743" y="508509"/>
            <a:chExt cx="4483735" cy="677545"/>
          </a:xfrm>
        </p:grpSpPr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44" y="1084161"/>
              <a:ext cx="101600" cy="1016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344" y="1071460"/>
              <a:ext cx="4381765" cy="11430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0310" y="514654"/>
              <a:ext cx="50800" cy="569506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7743" y="508509"/>
              <a:ext cx="4432935" cy="626745"/>
            </a:xfrm>
            <a:custGeom>
              <a:avLst/>
              <a:gdLst/>
              <a:ahLst/>
              <a:cxnLst/>
              <a:rect l="l" t="t" r="r" b="b"/>
              <a:pathLst>
                <a:path w="4432935" h="626744">
                  <a:moveTo>
                    <a:pt x="4432566" y="0"/>
                  </a:moveTo>
                  <a:lnTo>
                    <a:pt x="0" y="0"/>
                  </a:lnTo>
                  <a:lnTo>
                    <a:pt x="0" y="575651"/>
                  </a:lnTo>
                  <a:lnTo>
                    <a:pt x="4008" y="595375"/>
                  </a:lnTo>
                  <a:lnTo>
                    <a:pt x="14922" y="611528"/>
                  </a:lnTo>
                  <a:lnTo>
                    <a:pt x="31075" y="622443"/>
                  </a:lnTo>
                  <a:lnTo>
                    <a:pt x="50800" y="626451"/>
                  </a:lnTo>
                  <a:lnTo>
                    <a:pt x="4381765" y="626451"/>
                  </a:lnTo>
                  <a:lnTo>
                    <a:pt x="4401490" y="622443"/>
                  </a:lnTo>
                  <a:lnTo>
                    <a:pt x="4417643" y="611528"/>
                  </a:lnTo>
                  <a:lnTo>
                    <a:pt x="4428558" y="595375"/>
                  </a:lnTo>
                  <a:lnTo>
                    <a:pt x="4432566" y="575651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20310" y="552747"/>
              <a:ext cx="0" cy="550545"/>
            </a:xfrm>
            <a:custGeom>
              <a:avLst/>
              <a:gdLst/>
              <a:ahLst/>
              <a:cxnLst/>
              <a:rect l="l" t="t" r="r" b="b"/>
              <a:pathLst>
                <a:path h="550544">
                  <a:moveTo>
                    <a:pt x="0" y="5504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20310" y="5400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520310" y="5273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520310" y="5146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230250" y="566671"/>
            <a:ext cx="4147820" cy="47180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lang="en" spc="-10" dirty="0">
                <a:solidFill>
                  <a:srgbClr val="B30000"/>
                </a:solidFill>
              </a:rPr>
              <a:t>CS5070</a:t>
            </a:r>
            <a:r>
              <a:rPr spc="-70" dirty="0"/>
              <a:t> </a:t>
            </a:r>
            <a:r>
              <a:rPr lang="en" spc="-10" dirty="0">
                <a:solidFill>
                  <a:srgbClr val="B30000"/>
                </a:solidFill>
              </a:rPr>
              <a:t>Mathematical</a:t>
            </a:r>
            <a:r>
              <a:rPr spc="-70" dirty="0"/>
              <a:t> </a:t>
            </a:r>
            <a:r>
              <a:rPr lang="en" spc="-25" dirty="0">
                <a:solidFill>
                  <a:srgbClr val="B30000"/>
                </a:solidFill>
              </a:rPr>
              <a:t>Structures</a:t>
            </a:r>
            <a:r>
              <a:rPr spc="-70" dirty="0"/>
              <a:t> </a:t>
            </a:r>
            <a:r>
              <a:rPr lang="en" spc="-10" dirty="0">
                <a:solidFill>
                  <a:srgbClr val="B30000"/>
                </a:solidFill>
              </a:rPr>
              <a:t>for</a:t>
            </a:r>
            <a:r>
              <a:rPr spc="-70" dirty="0"/>
              <a:t> </a:t>
            </a:r>
            <a:r>
              <a:rPr lang="en" spc="-30" dirty="0">
                <a:solidFill>
                  <a:srgbClr val="B30000"/>
                </a:solidFill>
              </a:rPr>
              <a:t>Computer</a:t>
            </a:r>
            <a:r>
              <a:rPr spc="-70" dirty="0"/>
              <a:t> </a:t>
            </a:r>
            <a:r>
              <a:rPr lang="en" spc="-10" dirty="0">
                <a:solidFill>
                  <a:srgbClr val="B30000"/>
                </a:solidFill>
              </a:rPr>
              <a:t>Science</a:t>
            </a:r>
          </a:p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lang="en" dirty="0">
                <a:solidFill>
                  <a:srgbClr val="B30000"/>
                </a:solidFill>
              </a:rPr>
              <a:t>-</a:t>
            </a:r>
            <a:r>
              <a:rPr spc="-60" dirty="0"/>
              <a:t> </a:t>
            </a:r>
            <a:r>
              <a:rPr lang="en-US" spc="-10" dirty="0">
                <a:solidFill>
                  <a:srgbClr val="B30000"/>
                </a:solidFill>
              </a:rPr>
              <a:t>Graph</a:t>
            </a:r>
            <a:endParaRPr lang="en" spc="-50" dirty="0">
              <a:solidFill>
                <a:srgbClr val="B30000"/>
              </a:solidFill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07935" y="1345043"/>
            <a:ext cx="2992755" cy="113492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lang="en-US" sz="1100" spc="-40" dirty="0">
                <a:latin typeface="Tahoma"/>
                <a:cs typeface="Tahoma"/>
              </a:rPr>
              <a:t>Kun Suo</a:t>
            </a:r>
            <a:endParaRPr sz="1100" dirty="0">
              <a:latin typeface="Tahoma"/>
              <a:cs typeface="Tahoma"/>
            </a:endParaRPr>
          </a:p>
          <a:p>
            <a:pPr marL="12700" marR="5080" indent="447675">
              <a:lnSpc>
                <a:spcPts val="1390"/>
              </a:lnSpc>
              <a:spcBef>
                <a:spcPts val="1190"/>
              </a:spcBef>
            </a:pPr>
            <a:r>
              <a:rPr lang="en" sz="1200" spc="-50" dirty="0">
                <a:latin typeface="Tahoma"/>
                <a:cs typeface="Tahoma"/>
              </a:rPr>
              <a:t>Department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lang="en" sz="1200" dirty="0">
                <a:latin typeface="Tahoma"/>
                <a:cs typeface="Tahoma"/>
              </a:rPr>
              <a:t>of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lang="en" sz="1200" spc="-45" dirty="0">
                <a:latin typeface="Tahoma"/>
                <a:cs typeface="Tahoma"/>
              </a:rPr>
              <a:t>Computer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lang="en" sz="1200" spc="-10" dirty="0">
                <a:latin typeface="Tahoma"/>
                <a:cs typeface="Tahoma"/>
              </a:rPr>
              <a:t>Science </a:t>
            </a:r>
            <a:r>
              <a:rPr lang="en" sz="1200" spc="-55" dirty="0">
                <a:latin typeface="Tahoma"/>
                <a:cs typeface="Tahoma"/>
              </a:rPr>
              <a:t>College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lang="en" sz="1200" dirty="0">
                <a:latin typeface="Tahoma"/>
                <a:cs typeface="Tahoma"/>
              </a:rPr>
              <a:t>of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lang="en" sz="1200" spc="-40" dirty="0">
                <a:latin typeface="Tahoma"/>
                <a:cs typeface="Tahoma"/>
              </a:rPr>
              <a:t>Computing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lang="en" sz="1200" spc="-55" dirty="0">
                <a:latin typeface="Tahoma"/>
                <a:cs typeface="Tahoma"/>
              </a:rPr>
              <a:t>and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lang="en" sz="1200" spc="-70" dirty="0">
                <a:latin typeface="Tahoma"/>
                <a:cs typeface="Tahoma"/>
              </a:rPr>
              <a:t>Software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lang="en" sz="1200" spc="-60" dirty="0">
                <a:latin typeface="Tahoma"/>
                <a:cs typeface="Tahoma"/>
              </a:rPr>
              <a:t>Engineering</a:t>
            </a:r>
            <a:endParaRPr sz="1200" dirty="0">
              <a:latin typeface="Tahoma"/>
              <a:cs typeface="Tahoma"/>
            </a:endParaRPr>
          </a:p>
          <a:p>
            <a:pPr marL="673100">
              <a:lnSpc>
                <a:spcPts val="1360"/>
              </a:lnSpc>
            </a:pPr>
            <a:r>
              <a:rPr lang="en" sz="1200" spc="-75" dirty="0">
                <a:latin typeface="Tahoma"/>
                <a:cs typeface="Tahoma"/>
              </a:rPr>
              <a:t>Kennesaw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lang="en" sz="1200" spc="-20" dirty="0">
                <a:latin typeface="Tahoma"/>
                <a:cs typeface="Tahoma"/>
              </a:rPr>
              <a:t>State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lang="en" sz="1200" spc="-10" dirty="0">
                <a:latin typeface="Tahoma"/>
                <a:cs typeface="Tahoma"/>
              </a:rPr>
              <a:t>University</a:t>
            </a:r>
            <a:endParaRPr sz="120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55"/>
              </a:spcBef>
            </a:pPr>
            <a:r>
              <a:rPr lang="en" sz="1200" i="1" spc="-50" dirty="0">
                <a:latin typeface="Trebuchet MS"/>
                <a:cs typeface="Trebuchet MS"/>
                <a:hlinkClick r:id="rId5"/>
              </a:rPr>
              <a:t>ksuo@kennesaw.edu</a:t>
            </a:r>
            <a:endParaRPr sz="12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Graphs</a:t>
            </a:r>
            <a:r>
              <a:rPr spc="-45" dirty="0"/>
              <a:t> </a:t>
            </a:r>
            <a:r>
              <a:rPr spc="-20" dirty="0"/>
              <a:t>(Chapter</a:t>
            </a:r>
            <a:r>
              <a:rPr spc="-45" dirty="0"/>
              <a:t> </a:t>
            </a:r>
            <a:r>
              <a:rPr spc="-25" dirty="0"/>
              <a:t>4)</a:t>
            </a:r>
          </a:p>
        </p:txBody>
      </p:sp>
      <p:pic>
        <p:nvPic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78522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595070"/>
            <a:ext cx="4086225" cy="130728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>
              <a:lnSpc>
                <a:spcPct val="102699"/>
              </a:lnSpc>
              <a:spcBef>
                <a:spcPts val="55"/>
              </a:spcBef>
            </a:pPr>
            <a:r>
              <a:rPr sz="1100" spc="-35" dirty="0">
                <a:latin typeface="Tahoma"/>
                <a:cs typeface="Tahoma"/>
              </a:rPr>
              <a:t>Graphs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constructed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collection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dots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known</a:t>
            </a:r>
            <a:r>
              <a:rPr sz="1100" spc="-30" dirty="0">
                <a:latin typeface="Tahoma"/>
                <a:cs typeface="Tahoma"/>
              </a:rPr>
              <a:t> as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b="1" spc="-40" dirty="0">
                <a:latin typeface="Arial"/>
                <a:cs typeface="Arial"/>
              </a:rPr>
              <a:t>vertices</a:t>
            </a:r>
            <a:r>
              <a:rPr sz="1100" b="1" dirty="0">
                <a:latin typeface="Arial"/>
                <a:cs typeface="Arial"/>
              </a:rPr>
              <a:t> </a:t>
            </a:r>
            <a:r>
              <a:rPr sz="1100" spc="-45" dirty="0">
                <a:latin typeface="Tahoma"/>
                <a:cs typeface="Tahoma"/>
              </a:rPr>
              <a:t>and </a:t>
            </a:r>
            <a:r>
              <a:rPr sz="1100" spc="-25" dirty="0">
                <a:latin typeface="Tahoma"/>
                <a:cs typeface="Tahoma"/>
              </a:rPr>
              <a:t>lines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known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Arial"/>
                <a:cs typeface="Arial"/>
              </a:rPr>
              <a:t>edges</a:t>
            </a:r>
            <a:endParaRPr sz="1100" dirty="0">
              <a:latin typeface="Arial"/>
              <a:cs typeface="Arial"/>
            </a:endParaRPr>
          </a:p>
          <a:p>
            <a:pPr marL="38100" marR="197485">
              <a:lnSpc>
                <a:spcPct val="125299"/>
              </a:lnSpc>
            </a:pPr>
            <a:r>
              <a:rPr sz="1100" dirty="0">
                <a:latin typeface="Tahoma"/>
                <a:cs typeface="Tahoma"/>
              </a:rPr>
              <a:t>Two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vertices</a:t>
            </a:r>
            <a:r>
              <a:rPr sz="1100" spc="-45" dirty="0">
                <a:latin typeface="Tahoma"/>
                <a:cs typeface="Tahoma"/>
              </a:rPr>
              <a:t> connected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by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edge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said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be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b="1" spc="-25" dirty="0">
                <a:latin typeface="Arial"/>
                <a:cs typeface="Arial"/>
              </a:rPr>
              <a:t>adjacent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vertices </a:t>
            </a: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graph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abstraction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real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situation</a:t>
            </a:r>
            <a:endParaRPr sz="1100" dirty="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175"/>
              </a:spcBef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graph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ordered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pair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G</a:t>
            </a:r>
            <a:r>
              <a:rPr sz="1100" i="1" spc="8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i="1" spc="-10" dirty="0">
                <a:latin typeface="Arial"/>
                <a:cs typeface="Arial"/>
              </a:rPr>
              <a:t>V</a:t>
            </a:r>
            <a:r>
              <a:rPr sz="1100" i="1" spc="-130" dirty="0">
                <a:latin typeface="Arial"/>
                <a:cs typeface="Arial"/>
              </a:rPr>
              <a:t> </a:t>
            </a:r>
            <a:r>
              <a:rPr sz="1100" i="1" dirty="0">
                <a:latin typeface="Comic Sans MS"/>
                <a:cs typeface="Comic Sans MS"/>
              </a:rPr>
              <a:t>,</a:t>
            </a:r>
            <a:r>
              <a:rPr sz="1100" i="1" spc="-150" dirty="0">
                <a:latin typeface="Comic Sans MS"/>
                <a:cs typeface="Comic Sans MS"/>
              </a:rPr>
              <a:t> </a:t>
            </a:r>
            <a:r>
              <a:rPr sz="1100" i="1" spc="-95" dirty="0">
                <a:latin typeface="Arial"/>
                <a:cs typeface="Arial"/>
              </a:rPr>
              <a:t>E</a:t>
            </a:r>
            <a:r>
              <a:rPr sz="1100" i="1" spc="-17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sets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:</a:t>
            </a:r>
            <a:endParaRPr sz="1100" dirty="0">
              <a:latin typeface="Tahoma"/>
              <a:cs typeface="Tahoma"/>
            </a:endParaRPr>
          </a:p>
          <a:p>
            <a:pPr marL="349250" indent="-171450">
              <a:lnSpc>
                <a:spcPts val="1200"/>
              </a:lnSpc>
              <a:spcBef>
                <a:spcPts val="175"/>
              </a:spcBef>
              <a:buFont typeface="Arial" panose="020B0604020202020204" pitchFamily="34" charset="0"/>
              <a:buChar char="•"/>
            </a:pPr>
            <a:r>
              <a:rPr sz="1000" i="1" dirty="0">
                <a:latin typeface="Arial"/>
                <a:cs typeface="Arial"/>
              </a:rPr>
              <a:t>V</a:t>
            </a:r>
            <a:r>
              <a:rPr sz="1000" i="1" spc="155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is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the</a:t>
            </a:r>
            <a:r>
              <a:rPr sz="1000" spc="-20" dirty="0">
                <a:latin typeface="Tahoma"/>
                <a:cs typeface="Tahoma"/>
              </a:rPr>
              <a:t> set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vertices</a:t>
            </a:r>
            <a:endParaRPr sz="1000" dirty="0">
              <a:latin typeface="Tahoma"/>
              <a:cs typeface="Tahoma"/>
            </a:endParaRPr>
          </a:p>
          <a:p>
            <a:pPr marL="349250" indent="-171450">
              <a:lnSpc>
                <a:spcPts val="1200"/>
              </a:lnSpc>
              <a:buFont typeface="Arial" panose="020B0604020202020204" pitchFamily="34" charset="0"/>
              <a:buChar char="•"/>
            </a:pPr>
            <a:r>
              <a:rPr sz="1000" i="1" dirty="0">
                <a:latin typeface="Arial"/>
                <a:cs typeface="Arial"/>
              </a:rPr>
              <a:t>E</a:t>
            </a:r>
            <a:r>
              <a:rPr sz="1000" i="1" spc="100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is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the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set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35" dirty="0">
                <a:latin typeface="Tahoma"/>
                <a:cs typeface="Tahoma"/>
              </a:rPr>
              <a:t> edges.</a:t>
            </a:r>
            <a:r>
              <a:rPr sz="1000" spc="6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Set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E</a:t>
            </a:r>
            <a:r>
              <a:rPr sz="1000" i="1" spc="100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is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set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2-</a:t>
            </a:r>
            <a:r>
              <a:rPr sz="1000" spc="-40" dirty="0">
                <a:latin typeface="Tahoma"/>
                <a:cs typeface="Tahoma"/>
              </a:rPr>
              <a:t>element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subsets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i="1" spc="-50" dirty="0">
                <a:latin typeface="Arial"/>
                <a:cs typeface="Arial"/>
              </a:rPr>
              <a:t>V</a:t>
            </a:r>
            <a:endParaRPr sz="1000" dirty="0">
              <a:latin typeface="Arial"/>
              <a:cs typeface="Arial"/>
            </a:endParaRPr>
          </a:p>
        </p:txBody>
      </p:sp>
      <p:pic>
        <p:nvPic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060627"/>
            <a:ext cx="65265" cy="65265"/>
          </a:xfrm>
          <a:prstGeom prst="rect">
            <a:avLst/>
          </a:prstGeom>
        </p:spPr>
      </p:pic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270660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460449"/>
            <a:ext cx="65265" cy="65265"/>
          </a:xfrm>
          <a:prstGeom prst="rect">
            <a:avLst/>
          </a:prstGeom>
        </p:spPr>
      </p:pic>
      <p:pic>
        <p:nvPicPr>
          <p:cNvPr id="1026" name="Picture 2" descr="Graph definition - Math Insight">
            <a:extLst>
              <a:ext uri="{FF2B5EF4-FFF2-40B4-BE49-F238E27FC236}">
                <a16:creationId xmlns:a16="http://schemas.microsoft.com/office/drawing/2014/main" id="{1B21CF5D-40F9-3839-C0A6-10FEA9F3EF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0650" y="2035175"/>
            <a:ext cx="1465263" cy="1318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74C7D-9D55-9250-102A-F109DD18D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0A9F737-D53E-9DB6-4DF2-E650C85550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Graphs</a:t>
            </a:r>
            <a:r>
              <a:rPr spc="-45" dirty="0"/>
              <a:t> </a:t>
            </a:r>
            <a:r>
              <a:rPr spc="-20" dirty="0"/>
              <a:t>(Chapter</a:t>
            </a:r>
            <a:r>
              <a:rPr spc="-45" dirty="0"/>
              <a:t> </a:t>
            </a:r>
            <a:r>
              <a:rPr spc="-25" dirty="0"/>
              <a:t>4)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268F224-64FC-908D-6B76-01849D8C7234}"/>
              </a:ext>
            </a:extLst>
          </p:cNvPr>
          <p:cNvSpPr txBox="1"/>
          <p:nvPr/>
        </p:nvSpPr>
        <p:spPr>
          <a:xfrm>
            <a:off x="400050" y="1930603"/>
            <a:ext cx="4086225" cy="1095172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0"/>
              </a:spcBef>
            </a:pPr>
            <a:r>
              <a:rPr sz="1100" spc="-35" dirty="0">
                <a:latin typeface="Tahoma"/>
                <a:cs typeface="Tahoma"/>
              </a:rPr>
              <a:t>Example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graph:</a:t>
            </a:r>
            <a:endParaRPr sz="1100" dirty="0">
              <a:latin typeface="Tahoma"/>
              <a:cs typeface="Tahoma"/>
            </a:endParaRPr>
          </a:p>
          <a:p>
            <a:pPr marL="176530">
              <a:lnSpc>
                <a:spcPct val="100000"/>
              </a:lnSpc>
              <a:spcBef>
                <a:spcPts val="35"/>
              </a:spcBef>
            </a:pPr>
            <a:r>
              <a:rPr sz="1100" i="1" dirty="0">
                <a:latin typeface="Arial"/>
                <a:cs typeface="Arial"/>
              </a:rPr>
              <a:t>V</a:t>
            </a:r>
            <a:r>
              <a:rPr sz="1100" i="1" spc="2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Cambria"/>
                <a:cs typeface="Cambria"/>
              </a:rPr>
              <a:t>{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100" i="1" dirty="0">
                <a:latin typeface="Comic Sans MS"/>
                <a:cs typeface="Comic Sans MS"/>
              </a:rPr>
              <a:t>,</a:t>
            </a:r>
            <a:r>
              <a:rPr sz="1100" i="1" spc="-135" dirty="0">
                <a:latin typeface="Comic Sans MS"/>
                <a:cs typeface="Comic Sans MS"/>
              </a:rPr>
              <a:t> </a:t>
            </a:r>
            <a:r>
              <a:rPr sz="1100" i="1" spc="-20" dirty="0">
                <a:latin typeface="Arial"/>
                <a:cs typeface="Arial"/>
              </a:rPr>
              <a:t>b</a:t>
            </a:r>
            <a:r>
              <a:rPr sz="1100" i="1" spc="-20" dirty="0">
                <a:latin typeface="Comic Sans MS"/>
                <a:cs typeface="Comic Sans MS"/>
              </a:rPr>
              <a:t>,</a:t>
            </a:r>
            <a:r>
              <a:rPr sz="1100" i="1" spc="-130" dirty="0">
                <a:latin typeface="Comic Sans MS"/>
                <a:cs typeface="Comic Sans MS"/>
              </a:rPr>
              <a:t> </a:t>
            </a:r>
            <a:r>
              <a:rPr sz="1100" i="1" dirty="0">
                <a:latin typeface="Arial"/>
                <a:cs typeface="Arial"/>
              </a:rPr>
              <a:t>c</a:t>
            </a:r>
            <a:r>
              <a:rPr sz="1100" i="1" dirty="0">
                <a:latin typeface="Comic Sans MS"/>
                <a:cs typeface="Comic Sans MS"/>
              </a:rPr>
              <a:t>,</a:t>
            </a:r>
            <a:r>
              <a:rPr sz="1100" i="1" spc="-135" dirty="0">
                <a:latin typeface="Comic Sans MS"/>
                <a:cs typeface="Comic Sans MS"/>
              </a:rPr>
              <a:t> </a:t>
            </a:r>
            <a:r>
              <a:rPr sz="1100" i="1" dirty="0">
                <a:latin typeface="Arial"/>
                <a:cs typeface="Arial"/>
              </a:rPr>
              <a:t>d</a:t>
            </a:r>
            <a:r>
              <a:rPr sz="1100" i="1" dirty="0">
                <a:latin typeface="Comic Sans MS"/>
                <a:cs typeface="Comic Sans MS"/>
              </a:rPr>
              <a:t>,</a:t>
            </a:r>
            <a:r>
              <a:rPr sz="1100" i="1" spc="-130" dirty="0">
                <a:latin typeface="Comic Sans MS"/>
                <a:cs typeface="Comic Sans MS"/>
              </a:rPr>
              <a:t> </a:t>
            </a:r>
            <a:r>
              <a:rPr sz="1100" i="1" spc="-25" dirty="0">
                <a:latin typeface="Arial"/>
                <a:cs typeface="Arial"/>
              </a:rPr>
              <a:t>e</a:t>
            </a:r>
            <a:r>
              <a:rPr sz="1100" spc="-25" dirty="0">
                <a:latin typeface="Cambria"/>
                <a:cs typeface="Cambria"/>
              </a:rPr>
              <a:t>}</a:t>
            </a:r>
            <a:endParaRPr sz="1100" dirty="0">
              <a:latin typeface="Cambria"/>
              <a:cs typeface="Cambria"/>
            </a:endParaRPr>
          </a:p>
          <a:p>
            <a:pPr marL="176530">
              <a:lnSpc>
                <a:spcPct val="100000"/>
              </a:lnSpc>
              <a:spcBef>
                <a:spcPts val="35"/>
              </a:spcBef>
            </a:pPr>
            <a:r>
              <a:rPr sz="1100" i="1" dirty="0">
                <a:latin typeface="Arial"/>
                <a:cs typeface="Arial"/>
              </a:rPr>
              <a:t>E</a:t>
            </a:r>
            <a:r>
              <a:rPr sz="1100" i="1" spc="24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45" dirty="0">
                <a:latin typeface="Tahoma"/>
                <a:cs typeface="Tahoma"/>
              </a:rPr>
              <a:t> </a:t>
            </a:r>
            <a:r>
              <a:rPr sz="1100" dirty="0">
                <a:latin typeface="Cambria"/>
                <a:cs typeface="Cambria"/>
              </a:rPr>
              <a:t>{{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100" i="1" dirty="0">
                <a:latin typeface="Comic Sans MS"/>
                <a:cs typeface="Comic Sans MS"/>
              </a:rPr>
              <a:t>,</a:t>
            </a:r>
            <a:r>
              <a:rPr sz="1100" i="1" spc="-105" dirty="0">
                <a:latin typeface="Comic Sans MS"/>
                <a:cs typeface="Comic Sans MS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dirty="0">
                <a:latin typeface="Cambria"/>
                <a:cs typeface="Cambria"/>
              </a:rPr>
              <a:t>}</a:t>
            </a:r>
            <a:r>
              <a:rPr sz="1100" i="1" dirty="0">
                <a:latin typeface="Comic Sans MS"/>
                <a:cs typeface="Comic Sans MS"/>
              </a:rPr>
              <a:t>,</a:t>
            </a:r>
            <a:r>
              <a:rPr sz="1100" i="1" spc="-100" dirty="0">
                <a:latin typeface="Comic Sans MS"/>
                <a:cs typeface="Comic Sans MS"/>
              </a:rPr>
              <a:t> </a:t>
            </a:r>
            <a:r>
              <a:rPr sz="1100" dirty="0">
                <a:latin typeface="Cambria"/>
                <a:cs typeface="Cambria"/>
              </a:rPr>
              <a:t>{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100" i="1" dirty="0">
                <a:latin typeface="Comic Sans MS"/>
                <a:cs typeface="Comic Sans MS"/>
              </a:rPr>
              <a:t>,</a:t>
            </a:r>
            <a:r>
              <a:rPr sz="1100" i="1" spc="-100" dirty="0">
                <a:latin typeface="Comic Sans MS"/>
                <a:cs typeface="Comic Sans MS"/>
              </a:rPr>
              <a:t> </a:t>
            </a:r>
            <a:r>
              <a:rPr sz="1100" i="1" dirty="0">
                <a:latin typeface="Arial"/>
                <a:cs typeface="Arial"/>
              </a:rPr>
              <a:t>c</a:t>
            </a:r>
            <a:r>
              <a:rPr sz="1100" dirty="0">
                <a:latin typeface="Cambria"/>
                <a:cs typeface="Cambria"/>
              </a:rPr>
              <a:t>}</a:t>
            </a:r>
            <a:r>
              <a:rPr sz="1100" i="1" dirty="0">
                <a:latin typeface="Comic Sans MS"/>
                <a:cs typeface="Comic Sans MS"/>
              </a:rPr>
              <a:t>,</a:t>
            </a:r>
            <a:r>
              <a:rPr sz="1100" i="1" spc="-105" dirty="0">
                <a:latin typeface="Comic Sans MS"/>
                <a:cs typeface="Comic Sans MS"/>
              </a:rPr>
              <a:t> </a:t>
            </a:r>
            <a:r>
              <a:rPr sz="1100" dirty="0">
                <a:latin typeface="Cambria"/>
                <a:cs typeface="Cambria"/>
              </a:rPr>
              <a:t>{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100" i="1" dirty="0">
                <a:latin typeface="Comic Sans MS"/>
                <a:cs typeface="Comic Sans MS"/>
              </a:rPr>
              <a:t>,</a:t>
            </a:r>
            <a:r>
              <a:rPr sz="1100" i="1" spc="-100" dirty="0">
                <a:latin typeface="Comic Sans MS"/>
                <a:cs typeface="Comic Sans MS"/>
              </a:rPr>
              <a:t> </a:t>
            </a:r>
            <a:r>
              <a:rPr sz="1100" i="1" spc="-65" dirty="0">
                <a:latin typeface="Arial"/>
                <a:cs typeface="Arial"/>
              </a:rPr>
              <a:t>d</a:t>
            </a:r>
            <a:r>
              <a:rPr sz="1100" i="1" spc="-180" dirty="0">
                <a:latin typeface="Arial"/>
                <a:cs typeface="Arial"/>
              </a:rPr>
              <a:t> </a:t>
            </a:r>
            <a:r>
              <a:rPr sz="1100" spc="55" dirty="0">
                <a:latin typeface="Cambria"/>
                <a:cs typeface="Cambria"/>
              </a:rPr>
              <a:t>}</a:t>
            </a:r>
            <a:r>
              <a:rPr sz="1100" i="1" spc="55" dirty="0">
                <a:latin typeface="Comic Sans MS"/>
                <a:cs typeface="Comic Sans MS"/>
              </a:rPr>
              <a:t>,</a:t>
            </a:r>
            <a:r>
              <a:rPr sz="1100" i="1" spc="-100" dirty="0">
                <a:latin typeface="Comic Sans MS"/>
                <a:cs typeface="Comic Sans MS"/>
              </a:rPr>
              <a:t> </a:t>
            </a:r>
            <a:r>
              <a:rPr sz="1100" dirty="0">
                <a:latin typeface="Cambria"/>
                <a:cs typeface="Cambria"/>
              </a:rPr>
              <a:t>{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100" i="1" dirty="0">
                <a:latin typeface="Comic Sans MS"/>
                <a:cs typeface="Comic Sans MS"/>
              </a:rPr>
              <a:t>,</a:t>
            </a:r>
            <a:r>
              <a:rPr sz="1100" i="1" spc="-105" dirty="0">
                <a:latin typeface="Comic Sans MS"/>
                <a:cs typeface="Comic Sans MS"/>
              </a:rPr>
              <a:t> </a:t>
            </a:r>
            <a:r>
              <a:rPr sz="1100" i="1" dirty="0">
                <a:latin typeface="Arial"/>
                <a:cs typeface="Arial"/>
              </a:rPr>
              <a:t>e</a:t>
            </a:r>
            <a:r>
              <a:rPr sz="1100" dirty="0">
                <a:latin typeface="Cambria"/>
                <a:cs typeface="Cambria"/>
              </a:rPr>
              <a:t>}</a:t>
            </a:r>
            <a:r>
              <a:rPr sz="1100" i="1" dirty="0">
                <a:latin typeface="Comic Sans MS"/>
                <a:cs typeface="Comic Sans MS"/>
              </a:rPr>
              <a:t>,</a:t>
            </a:r>
            <a:r>
              <a:rPr sz="1100" i="1" spc="-100" dirty="0">
                <a:latin typeface="Comic Sans MS"/>
                <a:cs typeface="Comic Sans MS"/>
              </a:rPr>
              <a:t> </a:t>
            </a:r>
            <a:r>
              <a:rPr sz="1100" dirty="0">
                <a:latin typeface="Cambria"/>
                <a:cs typeface="Cambria"/>
              </a:rPr>
              <a:t>{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dirty="0">
                <a:latin typeface="Comic Sans MS"/>
                <a:cs typeface="Comic Sans MS"/>
              </a:rPr>
              <a:t>,</a:t>
            </a:r>
            <a:r>
              <a:rPr sz="1100" i="1" spc="-105" dirty="0">
                <a:latin typeface="Comic Sans MS"/>
                <a:cs typeface="Comic Sans MS"/>
              </a:rPr>
              <a:t> </a:t>
            </a:r>
            <a:r>
              <a:rPr sz="1100" i="1" dirty="0">
                <a:latin typeface="Arial"/>
                <a:cs typeface="Arial"/>
              </a:rPr>
              <a:t>c</a:t>
            </a:r>
            <a:r>
              <a:rPr sz="1100" dirty="0">
                <a:latin typeface="Cambria"/>
                <a:cs typeface="Cambria"/>
              </a:rPr>
              <a:t>}</a:t>
            </a:r>
            <a:r>
              <a:rPr sz="1100" i="1" dirty="0">
                <a:latin typeface="Comic Sans MS"/>
                <a:cs typeface="Comic Sans MS"/>
              </a:rPr>
              <a:t>,</a:t>
            </a:r>
            <a:r>
              <a:rPr sz="1100" i="1" spc="-100" dirty="0">
                <a:latin typeface="Comic Sans MS"/>
                <a:cs typeface="Comic Sans MS"/>
              </a:rPr>
              <a:t> </a:t>
            </a:r>
            <a:r>
              <a:rPr sz="1100" spc="50" dirty="0">
                <a:latin typeface="Cambria"/>
                <a:cs typeface="Cambria"/>
              </a:rPr>
              <a:t>{</a:t>
            </a:r>
            <a:r>
              <a:rPr sz="1100" i="1" spc="50" dirty="0">
                <a:latin typeface="Arial"/>
                <a:cs typeface="Arial"/>
              </a:rPr>
              <a:t>d</a:t>
            </a:r>
            <a:r>
              <a:rPr sz="1100" i="1" spc="50" dirty="0">
                <a:latin typeface="Comic Sans MS"/>
                <a:cs typeface="Comic Sans MS"/>
              </a:rPr>
              <a:t>,</a:t>
            </a:r>
            <a:r>
              <a:rPr sz="1100" i="1" spc="-100" dirty="0">
                <a:latin typeface="Comic Sans MS"/>
                <a:cs typeface="Comic Sans MS"/>
              </a:rPr>
              <a:t> </a:t>
            </a:r>
            <a:r>
              <a:rPr sz="1100" i="1" spc="30" dirty="0">
                <a:latin typeface="Arial"/>
                <a:cs typeface="Arial"/>
              </a:rPr>
              <a:t>e</a:t>
            </a:r>
            <a:r>
              <a:rPr sz="1100" spc="30" dirty="0">
                <a:latin typeface="Cambria"/>
                <a:cs typeface="Cambria"/>
              </a:rPr>
              <a:t>}}</a:t>
            </a:r>
            <a:endParaRPr sz="1100" dirty="0">
              <a:latin typeface="Cambria"/>
              <a:cs typeface="Cambria"/>
            </a:endParaRPr>
          </a:p>
          <a:p>
            <a:pPr marL="38100">
              <a:lnSpc>
                <a:spcPct val="100000"/>
              </a:lnSpc>
              <a:spcBef>
                <a:spcPts val="335"/>
              </a:spcBef>
            </a:pPr>
            <a:r>
              <a:rPr sz="1100" spc="-45" dirty="0">
                <a:latin typeface="Tahoma"/>
                <a:cs typeface="Tahoma"/>
              </a:rPr>
              <a:t>See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Example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4.1.2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page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235</a:t>
            </a:r>
            <a:endParaRPr sz="1100" dirty="0">
              <a:latin typeface="Tahoma"/>
              <a:cs typeface="Tahoma"/>
            </a:endParaRPr>
          </a:p>
          <a:p>
            <a:pPr marL="38100" marR="14224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Tahoma"/>
                <a:cs typeface="Tahoma"/>
              </a:rPr>
              <a:t>Two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(or</a:t>
            </a:r>
            <a:r>
              <a:rPr sz="1100" spc="-45" dirty="0">
                <a:latin typeface="Tahoma"/>
                <a:cs typeface="Tahoma"/>
              </a:rPr>
              <a:t> more)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graphs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equal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vertices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of </a:t>
            </a:r>
            <a:r>
              <a:rPr sz="1100" spc="-70" dirty="0">
                <a:latin typeface="Tahoma"/>
                <a:cs typeface="Tahoma"/>
              </a:rPr>
              <a:t>edges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same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8" name="object 8">
            <a:extLst>
              <a:ext uri="{FF2B5EF4-FFF2-40B4-BE49-F238E27FC236}">
                <a16:creationId xmlns:a16="http://schemas.microsoft.com/office/drawing/2014/main" id="{03BFABF2-7037-4282-FF31-03D86CF02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999450"/>
            <a:ext cx="65265" cy="65265"/>
          </a:xfrm>
          <a:prstGeom prst="rect">
            <a:avLst/>
          </a:prstGeom>
        </p:spPr>
      </p:pic>
      <p:pic>
        <p:nvPicPr>
          <p:cNvPr id="9" name="object 9">
            <a:extLst>
              <a:ext uri="{FF2B5EF4-FFF2-40B4-BE49-F238E27FC236}">
                <a16:creationId xmlns:a16="http://schemas.microsoft.com/office/drawing/2014/main" id="{60167632-F156-816F-D0E0-E9FECC745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2553639"/>
            <a:ext cx="65265" cy="65265"/>
          </a:xfrm>
          <a:prstGeom prst="rect">
            <a:avLst/>
          </a:prstGeom>
        </p:spPr>
      </p:pic>
      <p:pic>
        <p:nvPicPr>
          <p:cNvPr id="10" name="object 10">
            <a:extLst>
              <a:ext uri="{FF2B5EF4-FFF2-40B4-BE49-F238E27FC236}">
                <a16:creationId xmlns:a16="http://schemas.microsoft.com/office/drawing/2014/main" id="{EF05D4F4-7DF5-78F9-8C6E-5A251F5FD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763672"/>
            <a:ext cx="65265" cy="65265"/>
          </a:xfrm>
          <a:prstGeom prst="rect">
            <a:avLst/>
          </a:prstGeom>
        </p:spPr>
      </p:pic>
      <p:pic>
        <p:nvPicPr>
          <p:cNvPr id="2050" name="Picture 2" descr="Solved] Determine whether the two graphs are equivalent. equivalent not  equivalent | Course Hero">
            <a:extLst>
              <a:ext uri="{FF2B5EF4-FFF2-40B4-BE49-F238E27FC236}">
                <a16:creationId xmlns:a16="http://schemas.microsoft.com/office/drawing/2014/main" id="{588A0582-1617-E1D9-C682-D679E9F0E3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5050" y="587375"/>
            <a:ext cx="2113385" cy="1242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5ADCF4C-ED6D-6AD9-4674-5B2F9A1111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104" y="942234"/>
            <a:ext cx="1617831" cy="51756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DDF34B4-A4DC-0CF0-3E15-5311E107503C}"/>
              </a:ext>
            </a:extLst>
          </p:cNvPr>
          <p:cNvSpPr txBox="1"/>
          <p:nvPr/>
        </p:nvSpPr>
        <p:spPr>
          <a:xfrm>
            <a:off x="698919" y="412991"/>
            <a:ext cx="838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spc="-35" dirty="0">
                <a:latin typeface="Tahoma"/>
                <a:cs typeface="Tahoma"/>
              </a:rPr>
              <a:t>Equivalent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5D6519-483F-20EE-3CE7-9B3F919AED3E}"/>
              </a:ext>
            </a:extLst>
          </p:cNvPr>
          <p:cNvSpPr txBox="1"/>
          <p:nvPr/>
        </p:nvSpPr>
        <p:spPr>
          <a:xfrm>
            <a:off x="2762250" y="412991"/>
            <a:ext cx="10667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spc="-35" dirty="0">
                <a:latin typeface="Tahoma"/>
                <a:cs typeface="Tahoma"/>
              </a:rPr>
              <a:t>Not equivalent</a:t>
            </a:r>
          </a:p>
        </p:txBody>
      </p:sp>
    </p:spTree>
    <p:extLst>
      <p:ext uri="{BB962C8B-B14F-4D97-AF65-F5344CB8AC3E}">
        <p14:creationId xmlns:p14="http://schemas.microsoft.com/office/powerpoint/2010/main" val="4180384615"/>
      </p:ext>
    </p:extLst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39763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Isomorphic</a:t>
            </a:r>
            <a:r>
              <a:rPr spc="-15" dirty="0"/>
              <a:t> </a:t>
            </a:r>
            <a:r>
              <a:rPr spc="-40" dirty="0"/>
              <a:t>Graphs</a:t>
            </a:r>
          </a:p>
        </p:txBody>
      </p:sp>
      <p:pic>
        <p:nvPic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827976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744523"/>
            <a:ext cx="4125595" cy="210248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11176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ahoma"/>
                <a:cs typeface="Tahoma"/>
              </a:rPr>
              <a:t>Two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more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graphs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b="1" spc="-60" dirty="0">
                <a:latin typeface="Arial"/>
                <a:cs typeface="Arial"/>
              </a:rPr>
              <a:t>isomorphic</a:t>
            </a:r>
            <a:r>
              <a:rPr sz="1100" b="1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35" dirty="0">
                <a:latin typeface="Tahoma"/>
                <a:cs typeface="Tahoma"/>
              </a:rPr>
              <a:t> equal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but</a:t>
            </a:r>
            <a:r>
              <a:rPr sz="1100" spc="-40" dirty="0">
                <a:latin typeface="Tahoma"/>
                <a:cs typeface="Tahoma"/>
              </a:rPr>
              <a:t> may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same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except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names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vertices</a:t>
            </a:r>
            <a:endParaRPr sz="1100" dirty="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latin typeface="Tahoma"/>
                <a:cs typeface="Tahoma"/>
              </a:rPr>
              <a:t>An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b="1" spc="-65" dirty="0">
                <a:latin typeface="Arial"/>
                <a:cs typeface="Arial"/>
              </a:rPr>
              <a:t>isomorphism</a:t>
            </a:r>
            <a:r>
              <a:rPr sz="1100" b="1" dirty="0">
                <a:latin typeface="Arial"/>
                <a:cs typeface="Arial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 </a:t>
            </a:r>
            <a:r>
              <a:rPr sz="1100" spc="-45" dirty="0">
                <a:latin typeface="Tahoma"/>
                <a:cs typeface="Tahoma"/>
              </a:rPr>
              <a:t>graphs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-10" dirty="0">
                <a:latin typeface="Arial"/>
                <a:cs typeface="Arial"/>
              </a:rPr>
              <a:t>G</a:t>
            </a:r>
            <a:r>
              <a:rPr sz="1200" spc="-15" baseline="-10416" dirty="0">
                <a:latin typeface="Tahoma"/>
                <a:cs typeface="Tahoma"/>
              </a:rPr>
              <a:t>1</a:t>
            </a:r>
            <a:r>
              <a:rPr sz="1200" spc="150" baseline="-10416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spc="-10" dirty="0">
                <a:latin typeface="Arial"/>
                <a:cs typeface="Arial"/>
              </a:rPr>
              <a:t>G</a:t>
            </a:r>
            <a:r>
              <a:rPr sz="1200" spc="-15" baseline="-10416" dirty="0">
                <a:latin typeface="Tahoma"/>
                <a:cs typeface="Tahoma"/>
              </a:rPr>
              <a:t>2</a:t>
            </a:r>
            <a:r>
              <a:rPr sz="1200" spc="150" baseline="-10416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bijection</a:t>
            </a:r>
            <a:endParaRPr sz="1100" dirty="0">
              <a:latin typeface="Tahoma"/>
              <a:cs typeface="Tahoma"/>
            </a:endParaRPr>
          </a:p>
          <a:p>
            <a:pPr marL="38100" marR="185420">
              <a:lnSpc>
                <a:spcPct val="102699"/>
              </a:lnSpc>
            </a:pP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165" dirty="0">
                <a:latin typeface="Arial"/>
                <a:cs typeface="Arial"/>
              </a:rPr>
              <a:t> </a:t>
            </a:r>
            <a:r>
              <a:rPr sz="1100" spc="-90" dirty="0">
                <a:latin typeface="Tahoma"/>
                <a:cs typeface="Tahoma"/>
              </a:rPr>
              <a:t>: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V</a:t>
            </a:r>
            <a:r>
              <a:rPr sz="1200" baseline="-10416" dirty="0">
                <a:latin typeface="Tahoma"/>
                <a:cs typeface="Tahoma"/>
              </a:rPr>
              <a:t>1</a:t>
            </a:r>
            <a:r>
              <a:rPr sz="1200" spc="120" baseline="-10416" dirty="0">
                <a:latin typeface="Tahoma"/>
                <a:cs typeface="Tahoma"/>
              </a:rPr>
              <a:t> </a:t>
            </a:r>
            <a:r>
              <a:rPr sz="1100" dirty="0">
                <a:latin typeface="Cambria"/>
                <a:cs typeface="Cambria"/>
              </a:rPr>
              <a:t>⇒</a:t>
            </a:r>
            <a:r>
              <a:rPr sz="1100" spc="45" dirty="0">
                <a:latin typeface="Cambria"/>
                <a:cs typeface="Cambria"/>
              </a:rPr>
              <a:t> </a:t>
            </a:r>
            <a:r>
              <a:rPr sz="1100" i="1" dirty="0">
                <a:latin typeface="Arial"/>
                <a:cs typeface="Arial"/>
              </a:rPr>
              <a:t>V</a:t>
            </a:r>
            <a:r>
              <a:rPr sz="1200" baseline="-10416" dirty="0">
                <a:latin typeface="Tahoma"/>
                <a:cs typeface="Tahoma"/>
              </a:rPr>
              <a:t>2</a:t>
            </a:r>
            <a:r>
              <a:rPr sz="1200" spc="202" baseline="-10416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vertices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graphs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such</a:t>
            </a:r>
            <a:r>
              <a:rPr sz="1100" dirty="0">
                <a:latin typeface="Tahoma"/>
                <a:cs typeface="Tahoma"/>
              </a:rPr>
              <a:t> that </a:t>
            </a:r>
            <a:r>
              <a:rPr sz="1100" dirty="0">
                <a:latin typeface="Cambria"/>
                <a:cs typeface="Cambria"/>
              </a:rPr>
              <a:t>{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100" i="1" dirty="0">
                <a:latin typeface="Comic Sans MS"/>
                <a:cs typeface="Comic Sans MS"/>
              </a:rPr>
              <a:t>,</a:t>
            </a:r>
            <a:r>
              <a:rPr sz="1100" i="1" spc="-150" dirty="0">
                <a:latin typeface="Comic Sans MS"/>
                <a:cs typeface="Comic Sans MS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dirty="0">
                <a:latin typeface="Cambria"/>
                <a:cs typeface="Cambria"/>
              </a:rPr>
              <a:t>}</a:t>
            </a:r>
            <a:r>
              <a:rPr sz="1100" spc="90" dirty="0">
                <a:latin typeface="Cambria"/>
                <a:cs typeface="Cambri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 </a:t>
            </a:r>
            <a:r>
              <a:rPr sz="1100" spc="-70" dirty="0">
                <a:latin typeface="Tahoma"/>
                <a:cs typeface="Tahoma"/>
              </a:rPr>
              <a:t>edge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i="1" spc="-10" dirty="0">
                <a:latin typeface="Arial"/>
                <a:cs typeface="Arial"/>
              </a:rPr>
              <a:t>G</a:t>
            </a:r>
            <a:r>
              <a:rPr sz="1200" spc="-15" baseline="-10416" dirty="0">
                <a:latin typeface="Tahoma"/>
                <a:cs typeface="Tahoma"/>
              </a:rPr>
              <a:t>1</a:t>
            </a:r>
            <a:r>
              <a:rPr sz="1200" spc="179" baseline="-10416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only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70" dirty="0">
                <a:latin typeface="Cambria"/>
                <a:cs typeface="Cambria"/>
              </a:rPr>
              <a:t>{</a:t>
            </a:r>
            <a:r>
              <a:rPr sz="1100" i="1" spc="70" dirty="0">
                <a:latin typeface="Arial"/>
                <a:cs typeface="Arial"/>
              </a:rPr>
              <a:t>f</a:t>
            </a:r>
            <a:r>
              <a:rPr sz="1100" i="1" spc="-75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(</a:t>
            </a:r>
            <a:r>
              <a:rPr sz="1100" i="1" spc="-30" dirty="0">
                <a:latin typeface="Arial"/>
                <a:cs typeface="Arial"/>
              </a:rPr>
              <a:t>a</a:t>
            </a:r>
            <a:r>
              <a:rPr sz="1100" spc="-30" dirty="0">
                <a:latin typeface="Tahoma"/>
                <a:cs typeface="Tahoma"/>
              </a:rPr>
              <a:t>)</a:t>
            </a:r>
            <a:r>
              <a:rPr sz="1100" i="1" spc="-30" dirty="0">
                <a:latin typeface="Comic Sans MS"/>
                <a:cs typeface="Comic Sans MS"/>
              </a:rPr>
              <a:t>,</a:t>
            </a:r>
            <a:r>
              <a:rPr sz="1100" i="1" spc="-150" dirty="0">
                <a:latin typeface="Comic Sans MS"/>
                <a:cs typeface="Comic Sans MS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dirty="0">
                <a:latin typeface="Cambria"/>
                <a:cs typeface="Cambria"/>
              </a:rPr>
              <a:t>}</a:t>
            </a:r>
            <a:r>
              <a:rPr sz="1100" spc="80" dirty="0">
                <a:latin typeface="Cambria"/>
                <a:cs typeface="Cambri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edge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G</a:t>
            </a:r>
            <a:r>
              <a:rPr sz="1200" spc="-37" baseline="-10416" dirty="0">
                <a:latin typeface="Tahoma"/>
                <a:cs typeface="Tahoma"/>
              </a:rPr>
              <a:t>2</a:t>
            </a:r>
            <a:endParaRPr sz="1200" baseline="-10416" dirty="0">
              <a:latin typeface="Tahoma"/>
              <a:cs typeface="Tahoma"/>
            </a:endParaRPr>
          </a:p>
          <a:p>
            <a:pPr marL="38100" marR="30480">
              <a:lnSpc>
                <a:spcPct val="106400"/>
              </a:lnSpc>
              <a:spcBef>
                <a:spcPts val="245"/>
              </a:spcBef>
            </a:pPr>
            <a:r>
              <a:rPr sz="1100" dirty="0">
                <a:latin typeface="Tahoma"/>
                <a:cs typeface="Tahoma"/>
              </a:rPr>
              <a:t>Two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graphs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b="1" spc="-60" dirty="0">
                <a:latin typeface="Arial"/>
                <a:cs typeface="Arial"/>
              </a:rPr>
              <a:t>isomorphic</a:t>
            </a:r>
            <a:r>
              <a:rPr sz="1100" b="1" spc="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isomorphism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them, </a:t>
            </a:r>
            <a:r>
              <a:rPr sz="1650" spc="-52" baseline="2525" dirty="0">
                <a:latin typeface="Tahoma"/>
                <a:cs typeface="Tahoma"/>
              </a:rPr>
              <a:t>and</a:t>
            </a:r>
            <a:r>
              <a:rPr sz="1650" spc="-82" baseline="2525" dirty="0">
                <a:latin typeface="Tahoma"/>
                <a:cs typeface="Tahoma"/>
              </a:rPr>
              <a:t> </a:t>
            </a:r>
            <a:r>
              <a:rPr sz="1650" spc="-67" baseline="2525" dirty="0">
                <a:latin typeface="Tahoma"/>
                <a:cs typeface="Tahoma"/>
              </a:rPr>
              <a:t>denoted</a:t>
            </a:r>
            <a:r>
              <a:rPr sz="1650" spc="-60" baseline="2525" dirty="0">
                <a:latin typeface="Tahoma"/>
                <a:cs typeface="Tahoma"/>
              </a:rPr>
              <a:t> </a:t>
            </a:r>
            <a:r>
              <a:rPr sz="1650" i="1" spc="-30" baseline="2525" dirty="0">
                <a:latin typeface="Arial"/>
                <a:cs typeface="Arial"/>
              </a:rPr>
              <a:t>G</a:t>
            </a:r>
            <a:r>
              <a:rPr sz="1200" spc="-30" baseline="-6944" dirty="0">
                <a:latin typeface="Tahoma"/>
                <a:cs typeface="Tahoma"/>
              </a:rPr>
              <a:t>1</a:t>
            </a:r>
            <a:r>
              <a:rPr sz="1200" spc="60" baseline="-6944" dirty="0">
                <a:latin typeface="Tahoma"/>
                <a:cs typeface="Tahoma"/>
              </a:rPr>
              <a:t> </a:t>
            </a:r>
            <a:r>
              <a:rPr sz="1650" spc="-1170" baseline="17676" dirty="0">
                <a:latin typeface="Cambria"/>
                <a:cs typeface="Cambria"/>
              </a:rPr>
              <a:t>∼</a:t>
            </a:r>
            <a:r>
              <a:rPr sz="1100" spc="15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650" i="1" spc="-37" baseline="2525" dirty="0">
                <a:latin typeface="Arial"/>
                <a:cs typeface="Arial"/>
              </a:rPr>
              <a:t>G</a:t>
            </a:r>
            <a:r>
              <a:rPr sz="1200" spc="-37" baseline="-6944" dirty="0">
                <a:latin typeface="Tahoma"/>
                <a:cs typeface="Tahoma"/>
              </a:rPr>
              <a:t>2</a:t>
            </a:r>
            <a:endParaRPr sz="1200" baseline="-6944" dirty="0">
              <a:latin typeface="Tahoma"/>
              <a:cs typeface="Tahoma"/>
            </a:endParaRPr>
          </a:p>
          <a:p>
            <a:pPr marL="38100" marR="879475">
              <a:lnSpc>
                <a:spcPts val="1650"/>
              </a:lnSpc>
              <a:spcBef>
                <a:spcPts val="65"/>
              </a:spcBef>
            </a:pPr>
            <a:r>
              <a:rPr sz="1100" dirty="0">
                <a:latin typeface="Tahoma"/>
                <a:cs typeface="Tahoma"/>
              </a:rPr>
              <a:t>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isomorphism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function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renames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vertices </a:t>
            </a:r>
            <a:r>
              <a:rPr sz="1100" spc="-45" dirty="0">
                <a:latin typeface="Tahoma"/>
                <a:cs typeface="Tahoma"/>
              </a:rPr>
              <a:t>See</a:t>
            </a:r>
            <a:r>
              <a:rPr sz="1100" spc="-35" dirty="0">
                <a:latin typeface="Tahoma"/>
                <a:cs typeface="Tahoma"/>
              </a:rPr>
              <a:t> Example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4.1.3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page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236</a:t>
            </a:r>
            <a:endParaRPr sz="1100" dirty="0">
              <a:latin typeface="Tahoma"/>
              <a:cs typeface="Tahoma"/>
            </a:endParaRPr>
          </a:p>
          <a:p>
            <a:pPr marL="38100" marR="81280">
              <a:lnSpc>
                <a:spcPct val="102600"/>
              </a:lnSpc>
              <a:spcBef>
                <a:spcPts val="195"/>
              </a:spcBef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collection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isomorphic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graphs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often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known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b="1" spc="-70" dirty="0">
                <a:latin typeface="Arial"/>
                <a:cs typeface="Arial"/>
              </a:rPr>
              <a:t>isomorphism </a:t>
            </a:r>
            <a:r>
              <a:rPr sz="1100" b="1" spc="-10" dirty="0">
                <a:latin typeface="Arial"/>
                <a:cs typeface="Arial"/>
              </a:rPr>
              <a:t>class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210081"/>
            <a:ext cx="65265" cy="65265"/>
          </a:xfrm>
          <a:prstGeom prst="rect">
            <a:avLst/>
          </a:prstGeom>
        </p:spPr>
      </p:pic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764258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146363"/>
            <a:ext cx="65265" cy="65265"/>
          </a:xfrm>
          <a:prstGeom prst="rect">
            <a:avLst/>
          </a:prstGeom>
        </p:spPr>
      </p:pic>
      <p:pic>
        <p:nvPic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356396"/>
            <a:ext cx="65265" cy="65265"/>
          </a:xfrm>
          <a:prstGeom prst="rect">
            <a:avLst/>
          </a:prstGeom>
        </p:spPr>
      </p:pic>
      <p:pic>
        <p:nvPicPr>
          <p:cNvPr id="9" name="object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2566428"/>
            <a:ext cx="65265" cy="6526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BD533-235C-C00F-DA7C-9D125B740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FA4A482-4F19-697B-EE2C-46E266EB60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39763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Isomorphic</a:t>
            </a:r>
            <a:r>
              <a:rPr spc="-15" dirty="0"/>
              <a:t> </a:t>
            </a:r>
            <a:r>
              <a:rPr spc="-40" dirty="0"/>
              <a:t>Graphs</a:t>
            </a:r>
          </a:p>
        </p:txBody>
      </p:sp>
      <p:pic>
        <p:nvPicPr>
          <p:cNvPr id="3074" name="Picture 2" descr="enter image description here">
            <a:extLst>
              <a:ext uri="{FF2B5EF4-FFF2-40B4-BE49-F238E27FC236}">
                <a16:creationId xmlns:a16="http://schemas.microsoft.com/office/drawing/2014/main" id="{7FAA61E8-F169-B714-CDA8-AA1F7833A2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434975"/>
            <a:ext cx="2303684" cy="1338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enter image description here">
            <a:extLst>
              <a:ext uri="{FF2B5EF4-FFF2-40B4-BE49-F238E27FC236}">
                <a16:creationId xmlns:a16="http://schemas.microsoft.com/office/drawing/2014/main" id="{62F2DEB3-A46B-8831-37B7-413C07C9A0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093" y="1903860"/>
            <a:ext cx="2303684" cy="1204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5C799F3-1D35-2925-E062-77EA2AA06DB4}"/>
              </a:ext>
            </a:extLst>
          </p:cNvPr>
          <p:cNvSpPr txBox="1"/>
          <p:nvPr/>
        </p:nvSpPr>
        <p:spPr>
          <a:xfrm>
            <a:off x="3295650" y="968375"/>
            <a:ext cx="9343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solidFill>
                  <a:srgbClr val="0C0D0E"/>
                </a:solidFill>
                <a:effectLst/>
                <a:latin typeface="Georgia" panose="02040502050405020303" pitchFamily="18" charset="0"/>
              </a:rPr>
              <a:t>isomorphic</a:t>
            </a:r>
            <a:endParaRPr lang="en-US" sz="11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7F67CF-4ABA-C4FE-8388-A1C725659B89}"/>
              </a:ext>
            </a:extLst>
          </p:cNvPr>
          <p:cNvSpPr txBox="1"/>
          <p:nvPr/>
        </p:nvSpPr>
        <p:spPr>
          <a:xfrm>
            <a:off x="3143250" y="2339975"/>
            <a:ext cx="1295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solidFill>
                  <a:srgbClr val="0C0D0E"/>
                </a:solidFill>
                <a:effectLst/>
                <a:latin typeface="Georgia" panose="02040502050405020303" pitchFamily="18" charset="0"/>
              </a:rPr>
              <a:t>Not isomorphic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29997614"/>
      </p:ext>
    </p:extLst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Subgraphs</a:t>
            </a:r>
          </a:p>
        </p:txBody>
      </p:sp>
      <p:pic>
        <p:nvPic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407" y="582512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323850" y="511175"/>
            <a:ext cx="4108450" cy="147256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pc="-30" dirty="0"/>
              <a:t>Graph</a:t>
            </a:r>
            <a:r>
              <a:rPr spc="-60" dirty="0"/>
              <a:t> </a:t>
            </a:r>
            <a:r>
              <a:rPr i="1" spc="-135" dirty="0">
                <a:latin typeface="Arial"/>
                <a:cs typeface="Arial"/>
              </a:rPr>
              <a:t>G</a:t>
            </a:r>
            <a:r>
              <a:rPr i="1" spc="-180" dirty="0">
                <a:latin typeface="Arial"/>
                <a:cs typeface="Arial"/>
              </a:rPr>
              <a:t> </a:t>
            </a:r>
            <a:r>
              <a:rPr sz="1200" baseline="27777" dirty="0">
                <a:latin typeface="Lucida Sans Unicode"/>
                <a:cs typeface="Lucida Sans Unicode"/>
              </a:rPr>
              <a:t>r</a:t>
            </a:r>
            <a:r>
              <a:rPr sz="1200" spc="15" baseline="27777" dirty="0">
                <a:latin typeface="Lucida Sans Unicode"/>
                <a:cs typeface="Lucida Sans Unicode"/>
              </a:rPr>
              <a:t> </a:t>
            </a:r>
            <a:r>
              <a:rPr sz="1100" dirty="0"/>
              <a:t>=</a:t>
            </a:r>
            <a:r>
              <a:rPr sz="1100" spc="-70" dirty="0"/>
              <a:t> </a:t>
            </a:r>
            <a:r>
              <a:rPr sz="1100" spc="-10" dirty="0"/>
              <a:t>(</a:t>
            </a:r>
            <a:r>
              <a:rPr sz="1100" i="1" spc="-10" dirty="0">
                <a:latin typeface="Arial"/>
                <a:cs typeface="Arial"/>
              </a:rPr>
              <a:t>V</a:t>
            </a:r>
            <a:r>
              <a:rPr sz="1100" i="1" spc="-130" dirty="0">
                <a:latin typeface="Arial"/>
                <a:cs typeface="Arial"/>
              </a:rPr>
              <a:t> </a:t>
            </a:r>
            <a:r>
              <a:rPr sz="1200" spc="-44" baseline="27777" dirty="0">
                <a:latin typeface="Lucida Sans Unicode"/>
                <a:cs typeface="Lucida Sans Unicode"/>
              </a:rPr>
              <a:t>r</a:t>
            </a:r>
            <a:r>
              <a:rPr sz="1100" i="1" spc="-30" dirty="0">
                <a:latin typeface="Comic Sans MS"/>
                <a:cs typeface="Comic Sans MS"/>
              </a:rPr>
              <a:t>,</a:t>
            </a:r>
            <a:r>
              <a:rPr sz="1100" i="1" spc="-150" dirty="0">
                <a:latin typeface="Comic Sans MS"/>
                <a:cs typeface="Comic Sans MS"/>
              </a:rPr>
              <a:t> </a:t>
            </a:r>
            <a:r>
              <a:rPr sz="1100" i="1" spc="-95" dirty="0">
                <a:latin typeface="Arial"/>
                <a:cs typeface="Arial"/>
              </a:rPr>
              <a:t>E</a:t>
            </a:r>
            <a:r>
              <a:rPr sz="1100" i="1" spc="-175" dirty="0">
                <a:latin typeface="Arial"/>
                <a:cs typeface="Arial"/>
              </a:rPr>
              <a:t> </a:t>
            </a:r>
            <a:r>
              <a:rPr sz="1200" baseline="27777" dirty="0">
                <a:latin typeface="Lucida Sans Unicode"/>
                <a:cs typeface="Lucida Sans Unicode"/>
              </a:rPr>
              <a:t>r</a:t>
            </a:r>
            <a:r>
              <a:rPr sz="1100" dirty="0"/>
              <a:t>)</a:t>
            </a:r>
            <a:r>
              <a:rPr sz="1100" spc="-10" dirty="0"/>
              <a:t> </a:t>
            </a:r>
            <a:r>
              <a:rPr sz="1100" dirty="0"/>
              <a:t>is</a:t>
            </a:r>
            <a:r>
              <a:rPr sz="1100" spc="-15" dirty="0"/>
              <a:t> </a:t>
            </a:r>
            <a:r>
              <a:rPr sz="1100" dirty="0"/>
              <a:t>a</a:t>
            </a:r>
            <a:r>
              <a:rPr sz="1100" spc="-15" dirty="0"/>
              <a:t> </a:t>
            </a:r>
            <a:r>
              <a:rPr sz="1100" b="1" spc="-70" dirty="0">
                <a:latin typeface="Arial"/>
                <a:cs typeface="Arial"/>
              </a:rPr>
              <a:t>subgraph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dirty="0"/>
              <a:t>of</a:t>
            </a:r>
            <a:r>
              <a:rPr sz="1100" spc="-20" dirty="0"/>
              <a:t> </a:t>
            </a:r>
            <a:r>
              <a:rPr sz="1100" i="1" dirty="0">
                <a:latin typeface="Arial"/>
                <a:cs typeface="Arial"/>
              </a:rPr>
              <a:t>G</a:t>
            </a:r>
            <a:r>
              <a:rPr sz="1100" i="1" spc="90" dirty="0">
                <a:latin typeface="Arial"/>
                <a:cs typeface="Arial"/>
              </a:rPr>
              <a:t> </a:t>
            </a:r>
            <a:r>
              <a:rPr sz="1100" dirty="0"/>
              <a:t>=</a:t>
            </a:r>
            <a:r>
              <a:rPr sz="1100" spc="-70" dirty="0"/>
              <a:t> </a:t>
            </a:r>
            <a:r>
              <a:rPr sz="1100" spc="-10" dirty="0"/>
              <a:t>(</a:t>
            </a:r>
            <a:r>
              <a:rPr sz="1100" i="1" spc="-10" dirty="0">
                <a:latin typeface="Arial"/>
                <a:cs typeface="Arial"/>
              </a:rPr>
              <a:t>V</a:t>
            </a:r>
            <a:r>
              <a:rPr sz="1100" i="1" spc="-130" dirty="0">
                <a:latin typeface="Arial"/>
                <a:cs typeface="Arial"/>
              </a:rPr>
              <a:t> </a:t>
            </a:r>
            <a:r>
              <a:rPr sz="1100" i="1" dirty="0">
                <a:latin typeface="Comic Sans MS"/>
                <a:cs typeface="Comic Sans MS"/>
              </a:rPr>
              <a:t>,</a:t>
            </a:r>
            <a:r>
              <a:rPr sz="1100" i="1" spc="-150" dirty="0">
                <a:latin typeface="Comic Sans MS"/>
                <a:cs typeface="Comic Sans MS"/>
              </a:rPr>
              <a:t> </a:t>
            </a:r>
            <a:r>
              <a:rPr sz="1100" i="1" spc="-95" dirty="0">
                <a:latin typeface="Arial"/>
                <a:cs typeface="Arial"/>
              </a:rPr>
              <a:t>E</a:t>
            </a:r>
            <a:r>
              <a:rPr sz="1100" i="1" spc="-175" dirty="0">
                <a:latin typeface="Arial"/>
                <a:cs typeface="Arial"/>
              </a:rPr>
              <a:t> </a:t>
            </a:r>
            <a:r>
              <a:rPr sz="1100" dirty="0"/>
              <a:t>),</a:t>
            </a:r>
            <a:r>
              <a:rPr sz="1100" spc="-10" dirty="0"/>
              <a:t> </a:t>
            </a:r>
            <a:r>
              <a:rPr sz="1100" spc="-45" dirty="0"/>
              <a:t>denoted</a:t>
            </a:r>
            <a:r>
              <a:rPr sz="1100" spc="-15" dirty="0"/>
              <a:t> </a:t>
            </a:r>
            <a:r>
              <a:rPr sz="1100" spc="-25" dirty="0"/>
              <a:t>by</a:t>
            </a:r>
            <a:endParaRPr sz="1100" dirty="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i="1" spc="-135" dirty="0">
                <a:latin typeface="Arial"/>
                <a:cs typeface="Arial"/>
              </a:rPr>
              <a:t>G</a:t>
            </a:r>
            <a:r>
              <a:rPr i="1" spc="-180" dirty="0">
                <a:latin typeface="Arial"/>
                <a:cs typeface="Arial"/>
              </a:rPr>
              <a:t> </a:t>
            </a:r>
            <a:r>
              <a:rPr sz="1200" baseline="27777" dirty="0">
                <a:latin typeface="Lucida Sans Unicode"/>
                <a:cs typeface="Lucida Sans Unicode"/>
              </a:rPr>
              <a:t>r</a:t>
            </a:r>
            <a:r>
              <a:rPr sz="1200" spc="15" baseline="27777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Cambria"/>
                <a:cs typeface="Cambria"/>
              </a:rPr>
              <a:t>⊆</a:t>
            </a:r>
            <a:r>
              <a:rPr sz="1100" spc="35" dirty="0">
                <a:latin typeface="Cambria"/>
                <a:cs typeface="Cambria"/>
              </a:rPr>
              <a:t> </a:t>
            </a:r>
            <a:r>
              <a:rPr sz="1100" i="1" spc="-135" dirty="0">
                <a:latin typeface="Arial"/>
                <a:cs typeface="Arial"/>
              </a:rPr>
              <a:t>G</a:t>
            </a:r>
            <a:r>
              <a:rPr sz="1100" i="1" spc="-180" dirty="0">
                <a:latin typeface="Arial"/>
                <a:cs typeface="Arial"/>
              </a:rPr>
              <a:t> </a:t>
            </a:r>
            <a:r>
              <a:rPr sz="1100" dirty="0"/>
              <a:t>,</a:t>
            </a:r>
            <a:r>
              <a:rPr sz="1100" spc="-15" dirty="0"/>
              <a:t> </a:t>
            </a:r>
            <a:r>
              <a:rPr sz="1100" spc="-45" dirty="0"/>
              <a:t>provided</a:t>
            </a:r>
            <a:r>
              <a:rPr sz="1100" spc="-15" dirty="0"/>
              <a:t> </a:t>
            </a:r>
            <a:r>
              <a:rPr sz="1100" i="1" spc="-20" dirty="0">
                <a:latin typeface="Arial"/>
                <a:cs typeface="Arial"/>
              </a:rPr>
              <a:t>V</a:t>
            </a:r>
            <a:r>
              <a:rPr sz="1100" i="1" spc="-130" dirty="0">
                <a:latin typeface="Arial"/>
                <a:cs typeface="Arial"/>
              </a:rPr>
              <a:t> </a:t>
            </a:r>
            <a:r>
              <a:rPr sz="1200" baseline="27777" dirty="0">
                <a:latin typeface="Lucida Sans Unicode"/>
                <a:cs typeface="Lucida Sans Unicode"/>
              </a:rPr>
              <a:t>r</a:t>
            </a:r>
            <a:r>
              <a:rPr sz="1200" spc="89" baseline="27777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Cambria"/>
                <a:cs typeface="Cambria"/>
              </a:rPr>
              <a:t>⊆</a:t>
            </a:r>
            <a:r>
              <a:rPr sz="1100" spc="35" dirty="0">
                <a:latin typeface="Cambria"/>
                <a:cs typeface="Cambria"/>
              </a:rPr>
              <a:t> </a:t>
            </a:r>
            <a:r>
              <a:rPr sz="1100" i="1" dirty="0">
                <a:latin typeface="Arial"/>
                <a:cs typeface="Arial"/>
              </a:rPr>
              <a:t>V</a:t>
            </a:r>
            <a:r>
              <a:rPr sz="1100" i="1" spc="175" dirty="0">
                <a:latin typeface="Arial"/>
                <a:cs typeface="Arial"/>
              </a:rPr>
              <a:t> </a:t>
            </a:r>
            <a:r>
              <a:rPr sz="1100" spc="-35" dirty="0"/>
              <a:t>and</a:t>
            </a:r>
            <a:r>
              <a:rPr sz="1100" spc="-15" dirty="0"/>
              <a:t> </a:t>
            </a:r>
            <a:r>
              <a:rPr sz="1100" i="1" spc="-95" dirty="0">
                <a:latin typeface="Arial"/>
                <a:cs typeface="Arial"/>
              </a:rPr>
              <a:t>E</a:t>
            </a:r>
            <a:r>
              <a:rPr sz="1100" i="1" spc="-175" dirty="0">
                <a:latin typeface="Arial"/>
                <a:cs typeface="Arial"/>
              </a:rPr>
              <a:t> </a:t>
            </a:r>
            <a:r>
              <a:rPr sz="1200" baseline="27777" dirty="0">
                <a:latin typeface="Lucida Sans Unicode"/>
                <a:cs typeface="Lucida Sans Unicode"/>
              </a:rPr>
              <a:t>r</a:t>
            </a:r>
            <a:r>
              <a:rPr sz="1200" spc="97" baseline="27777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Cambria"/>
                <a:cs typeface="Cambria"/>
              </a:rPr>
              <a:t>⊆</a:t>
            </a:r>
            <a:r>
              <a:rPr sz="1100" spc="35" dirty="0">
                <a:latin typeface="Cambria"/>
                <a:cs typeface="Cambria"/>
              </a:rPr>
              <a:t> </a:t>
            </a:r>
            <a:r>
              <a:rPr sz="1100" i="1" spc="-50" dirty="0">
                <a:latin typeface="Arial"/>
                <a:cs typeface="Arial"/>
              </a:rPr>
              <a:t>E</a:t>
            </a:r>
            <a:endParaRPr sz="1100" dirty="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34"/>
              </a:spcBef>
            </a:pPr>
            <a:r>
              <a:rPr i="1" spc="-135" dirty="0">
                <a:latin typeface="Arial"/>
                <a:cs typeface="Arial"/>
              </a:rPr>
              <a:t>G</a:t>
            </a:r>
            <a:r>
              <a:rPr i="1" spc="-180" dirty="0">
                <a:latin typeface="Arial"/>
                <a:cs typeface="Arial"/>
              </a:rPr>
              <a:t> </a:t>
            </a:r>
            <a:r>
              <a:rPr sz="1200" baseline="27777" dirty="0">
                <a:latin typeface="Lucida Sans Unicode"/>
                <a:cs typeface="Lucida Sans Unicode"/>
              </a:rPr>
              <a:t>r</a:t>
            </a:r>
            <a:r>
              <a:rPr sz="1200" spc="-44" baseline="27777" dirty="0">
                <a:latin typeface="Lucida Sans Unicode"/>
                <a:cs typeface="Lucida Sans Unicode"/>
              </a:rPr>
              <a:t> </a:t>
            </a:r>
            <a:r>
              <a:rPr sz="1100" dirty="0"/>
              <a:t>=</a:t>
            </a:r>
            <a:r>
              <a:rPr sz="1100" spc="-80" dirty="0"/>
              <a:t> </a:t>
            </a:r>
            <a:r>
              <a:rPr sz="1100" spc="-10" dirty="0"/>
              <a:t>(</a:t>
            </a:r>
            <a:r>
              <a:rPr sz="1100" i="1" spc="-10" dirty="0">
                <a:latin typeface="Arial"/>
                <a:cs typeface="Arial"/>
              </a:rPr>
              <a:t>V</a:t>
            </a:r>
            <a:r>
              <a:rPr sz="1100" i="1" spc="-130" dirty="0">
                <a:latin typeface="Arial"/>
                <a:cs typeface="Arial"/>
              </a:rPr>
              <a:t> </a:t>
            </a:r>
            <a:r>
              <a:rPr sz="1200" spc="-44" baseline="27777" dirty="0">
                <a:latin typeface="Lucida Sans Unicode"/>
                <a:cs typeface="Lucida Sans Unicode"/>
              </a:rPr>
              <a:t>r</a:t>
            </a:r>
            <a:r>
              <a:rPr sz="1100" i="1" spc="-30" dirty="0">
                <a:latin typeface="Comic Sans MS"/>
                <a:cs typeface="Comic Sans MS"/>
              </a:rPr>
              <a:t>,</a:t>
            </a:r>
            <a:r>
              <a:rPr sz="1100" i="1" spc="-150" dirty="0">
                <a:latin typeface="Comic Sans MS"/>
                <a:cs typeface="Comic Sans MS"/>
              </a:rPr>
              <a:t> </a:t>
            </a:r>
            <a:r>
              <a:rPr sz="1100" i="1" spc="-95" dirty="0">
                <a:latin typeface="Arial"/>
                <a:cs typeface="Arial"/>
              </a:rPr>
              <a:t>E</a:t>
            </a:r>
            <a:r>
              <a:rPr sz="1100" i="1" spc="-175" dirty="0">
                <a:latin typeface="Arial"/>
                <a:cs typeface="Arial"/>
              </a:rPr>
              <a:t> </a:t>
            </a:r>
            <a:r>
              <a:rPr sz="1200" baseline="27777" dirty="0">
                <a:latin typeface="Lucida Sans Unicode"/>
                <a:cs typeface="Lucida Sans Unicode"/>
              </a:rPr>
              <a:t>r</a:t>
            </a:r>
            <a:r>
              <a:rPr sz="1100" dirty="0"/>
              <a:t>)</a:t>
            </a:r>
            <a:r>
              <a:rPr sz="1100" spc="-15" dirty="0"/>
              <a:t> </a:t>
            </a:r>
            <a:r>
              <a:rPr sz="1100" dirty="0"/>
              <a:t>is</a:t>
            </a:r>
            <a:r>
              <a:rPr sz="1100" spc="-15" dirty="0"/>
              <a:t> </a:t>
            </a:r>
            <a:r>
              <a:rPr sz="1100" dirty="0"/>
              <a:t>an</a:t>
            </a:r>
            <a:r>
              <a:rPr sz="1100" spc="-15" dirty="0"/>
              <a:t> </a:t>
            </a:r>
            <a:r>
              <a:rPr sz="1100" b="1" spc="-50" dirty="0">
                <a:latin typeface="Arial"/>
                <a:cs typeface="Arial"/>
              </a:rPr>
              <a:t>induced</a:t>
            </a:r>
            <a:r>
              <a:rPr sz="1100" b="1" spc="50" dirty="0">
                <a:latin typeface="Arial"/>
                <a:cs typeface="Arial"/>
              </a:rPr>
              <a:t> </a:t>
            </a:r>
            <a:r>
              <a:rPr sz="1100" b="1" spc="-70" dirty="0">
                <a:latin typeface="Arial"/>
                <a:cs typeface="Arial"/>
              </a:rPr>
              <a:t>subgraph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dirty="0"/>
              <a:t>of</a:t>
            </a:r>
            <a:r>
              <a:rPr sz="1100" spc="-20" dirty="0"/>
              <a:t> </a:t>
            </a:r>
            <a:r>
              <a:rPr sz="1100" i="1" dirty="0">
                <a:latin typeface="Arial"/>
                <a:cs typeface="Arial"/>
              </a:rPr>
              <a:t>G</a:t>
            </a:r>
            <a:r>
              <a:rPr sz="1100" i="1" spc="85" dirty="0">
                <a:latin typeface="Arial"/>
                <a:cs typeface="Arial"/>
              </a:rPr>
              <a:t> </a:t>
            </a:r>
            <a:r>
              <a:rPr sz="1100" dirty="0"/>
              <a:t>=</a:t>
            </a:r>
            <a:r>
              <a:rPr sz="1100" spc="-70" dirty="0"/>
              <a:t> </a:t>
            </a:r>
            <a:r>
              <a:rPr sz="1100" spc="-10" dirty="0"/>
              <a:t>(</a:t>
            </a:r>
            <a:r>
              <a:rPr sz="1100" i="1" spc="-10" dirty="0">
                <a:latin typeface="Arial"/>
                <a:cs typeface="Arial"/>
              </a:rPr>
              <a:t>V</a:t>
            </a:r>
            <a:r>
              <a:rPr sz="1100" i="1" spc="-130" dirty="0">
                <a:latin typeface="Arial"/>
                <a:cs typeface="Arial"/>
              </a:rPr>
              <a:t> </a:t>
            </a:r>
            <a:r>
              <a:rPr sz="1100" i="1" dirty="0">
                <a:latin typeface="Comic Sans MS"/>
                <a:cs typeface="Comic Sans MS"/>
              </a:rPr>
              <a:t>,</a:t>
            </a:r>
            <a:r>
              <a:rPr sz="1100" i="1" spc="-150" dirty="0">
                <a:latin typeface="Comic Sans MS"/>
                <a:cs typeface="Comic Sans MS"/>
              </a:rPr>
              <a:t> </a:t>
            </a:r>
            <a:r>
              <a:rPr sz="1100" i="1" spc="-95" dirty="0">
                <a:latin typeface="Arial"/>
                <a:cs typeface="Arial"/>
              </a:rPr>
              <a:t>E</a:t>
            </a:r>
            <a:r>
              <a:rPr sz="1100" i="1" spc="-175" dirty="0">
                <a:latin typeface="Arial"/>
                <a:cs typeface="Arial"/>
              </a:rPr>
              <a:t> </a:t>
            </a:r>
            <a:r>
              <a:rPr sz="1100" dirty="0"/>
              <a:t>)</a:t>
            </a:r>
            <a:r>
              <a:rPr sz="1100" spc="-15" dirty="0"/>
              <a:t> </a:t>
            </a:r>
            <a:r>
              <a:rPr sz="1100" spc="-10" dirty="0"/>
              <a:t>provided</a:t>
            </a:r>
            <a:endParaRPr sz="1100" dirty="0">
              <a:latin typeface="Arial"/>
              <a:cs typeface="Arial"/>
            </a:endParaRPr>
          </a:p>
          <a:p>
            <a:pPr marL="38100" marR="30480">
              <a:lnSpc>
                <a:spcPct val="102600"/>
              </a:lnSpc>
            </a:pPr>
            <a:r>
              <a:rPr i="1" spc="-20" dirty="0">
                <a:latin typeface="Arial"/>
                <a:cs typeface="Arial"/>
              </a:rPr>
              <a:t>V</a:t>
            </a:r>
            <a:r>
              <a:rPr i="1" spc="-140" dirty="0">
                <a:latin typeface="Arial"/>
                <a:cs typeface="Arial"/>
              </a:rPr>
              <a:t> </a:t>
            </a:r>
            <a:r>
              <a:rPr sz="1200" baseline="27777" dirty="0">
                <a:latin typeface="Lucida Sans Unicode"/>
                <a:cs typeface="Lucida Sans Unicode"/>
              </a:rPr>
              <a:t>r</a:t>
            </a:r>
            <a:r>
              <a:rPr sz="1200" spc="22" baseline="27777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Cambria"/>
                <a:cs typeface="Cambria"/>
              </a:rPr>
              <a:t>⊆</a:t>
            </a:r>
            <a:r>
              <a:rPr sz="1100" spc="25" dirty="0">
                <a:latin typeface="Cambria"/>
                <a:cs typeface="Cambria"/>
              </a:rPr>
              <a:t> </a:t>
            </a:r>
            <a:r>
              <a:rPr sz="1100" i="1" dirty="0">
                <a:latin typeface="Arial"/>
                <a:cs typeface="Arial"/>
              </a:rPr>
              <a:t>V</a:t>
            </a:r>
            <a:r>
              <a:rPr sz="1100" i="1" spc="170" dirty="0">
                <a:latin typeface="Arial"/>
                <a:cs typeface="Arial"/>
              </a:rPr>
              <a:t> </a:t>
            </a:r>
            <a:r>
              <a:rPr sz="1100" spc="-35" dirty="0"/>
              <a:t>and</a:t>
            </a:r>
            <a:r>
              <a:rPr sz="1100" spc="-20" dirty="0"/>
              <a:t> </a:t>
            </a:r>
            <a:r>
              <a:rPr sz="1100" spc="-60" dirty="0"/>
              <a:t>every</a:t>
            </a:r>
            <a:r>
              <a:rPr sz="1100" spc="-25" dirty="0"/>
              <a:t> </a:t>
            </a:r>
            <a:r>
              <a:rPr sz="1100" spc="-70" dirty="0"/>
              <a:t>edge</a:t>
            </a:r>
            <a:r>
              <a:rPr sz="1100" spc="-15" dirty="0"/>
              <a:t> </a:t>
            </a:r>
            <a:r>
              <a:rPr sz="1100" dirty="0"/>
              <a:t>in</a:t>
            </a:r>
            <a:r>
              <a:rPr sz="1100" spc="-20" dirty="0"/>
              <a:t> </a:t>
            </a:r>
            <a:r>
              <a:rPr sz="1100" i="1" dirty="0">
                <a:latin typeface="Arial"/>
                <a:cs typeface="Arial"/>
              </a:rPr>
              <a:t>E</a:t>
            </a:r>
            <a:r>
              <a:rPr sz="1100" i="1" spc="125" dirty="0">
                <a:latin typeface="Arial"/>
                <a:cs typeface="Arial"/>
              </a:rPr>
              <a:t> </a:t>
            </a:r>
            <a:r>
              <a:rPr sz="1100" spc="-65" dirty="0"/>
              <a:t>whose</a:t>
            </a:r>
            <a:r>
              <a:rPr sz="1100" spc="-20" dirty="0"/>
              <a:t> </a:t>
            </a:r>
            <a:r>
              <a:rPr sz="1100" spc="-35" dirty="0"/>
              <a:t>vertices</a:t>
            </a:r>
            <a:r>
              <a:rPr sz="1100" spc="-25" dirty="0"/>
              <a:t> </a:t>
            </a:r>
            <a:r>
              <a:rPr sz="1100" spc="-60" dirty="0"/>
              <a:t>are</a:t>
            </a:r>
            <a:r>
              <a:rPr sz="1100" spc="-20" dirty="0"/>
              <a:t> </a:t>
            </a:r>
            <a:r>
              <a:rPr sz="1100" dirty="0"/>
              <a:t>still</a:t>
            </a:r>
            <a:r>
              <a:rPr sz="1100" spc="-20" dirty="0"/>
              <a:t> </a:t>
            </a:r>
            <a:r>
              <a:rPr sz="1100" dirty="0"/>
              <a:t>in</a:t>
            </a:r>
            <a:r>
              <a:rPr sz="1100" spc="-25" dirty="0"/>
              <a:t> </a:t>
            </a:r>
            <a:r>
              <a:rPr sz="1100" i="1" spc="-20" dirty="0">
                <a:latin typeface="Arial"/>
                <a:cs typeface="Arial"/>
              </a:rPr>
              <a:t>V</a:t>
            </a:r>
            <a:r>
              <a:rPr sz="1100" i="1" spc="-130" dirty="0">
                <a:latin typeface="Arial"/>
                <a:cs typeface="Arial"/>
              </a:rPr>
              <a:t> </a:t>
            </a:r>
            <a:r>
              <a:rPr sz="1200" baseline="27777" dirty="0">
                <a:latin typeface="Lucida Sans Unicode"/>
                <a:cs typeface="Lucida Sans Unicode"/>
              </a:rPr>
              <a:t>r</a:t>
            </a:r>
            <a:r>
              <a:rPr sz="1200" spc="165" baseline="27777" dirty="0">
                <a:latin typeface="Lucida Sans Unicode"/>
                <a:cs typeface="Lucida Sans Unicode"/>
              </a:rPr>
              <a:t> </a:t>
            </a:r>
            <a:r>
              <a:rPr sz="1100" dirty="0"/>
              <a:t>is</a:t>
            </a:r>
            <a:r>
              <a:rPr sz="1100" spc="-25" dirty="0"/>
              <a:t> also</a:t>
            </a:r>
            <a:r>
              <a:rPr sz="1100" spc="-20" dirty="0"/>
              <a:t> </a:t>
            </a:r>
            <a:r>
              <a:rPr sz="1100" spc="-25" dirty="0"/>
              <a:t>an </a:t>
            </a:r>
            <a:r>
              <a:rPr sz="1100" spc="-70" dirty="0"/>
              <a:t>edge</a:t>
            </a:r>
            <a:r>
              <a:rPr sz="1100" spc="-20" dirty="0"/>
              <a:t> </a:t>
            </a:r>
            <a:r>
              <a:rPr sz="1100" dirty="0"/>
              <a:t>in</a:t>
            </a:r>
            <a:r>
              <a:rPr sz="1100" spc="-10" dirty="0"/>
              <a:t> </a:t>
            </a:r>
            <a:r>
              <a:rPr sz="1100" i="1" spc="-95" dirty="0">
                <a:latin typeface="Arial"/>
                <a:cs typeface="Arial"/>
              </a:rPr>
              <a:t>E</a:t>
            </a:r>
            <a:r>
              <a:rPr sz="1100" i="1" spc="-175" dirty="0">
                <a:latin typeface="Arial"/>
                <a:cs typeface="Arial"/>
              </a:rPr>
              <a:t> </a:t>
            </a:r>
            <a:r>
              <a:rPr sz="1200" spc="-75" baseline="27777" dirty="0">
                <a:latin typeface="Lucida Sans Unicode"/>
                <a:cs typeface="Lucida Sans Unicode"/>
              </a:rPr>
              <a:t>r</a:t>
            </a:r>
            <a:endParaRPr sz="1200" baseline="27777" dirty="0">
              <a:latin typeface="Lucida Sans Unicode"/>
              <a:cs typeface="Lucida Sans Unicode"/>
            </a:endParaRPr>
          </a:p>
          <a:p>
            <a:pPr marL="38100" marR="405765">
              <a:lnSpc>
                <a:spcPct val="102600"/>
              </a:lnSpc>
              <a:spcBef>
                <a:spcPts val="300"/>
              </a:spcBef>
            </a:pPr>
            <a:r>
              <a:rPr spc="-25" dirty="0"/>
              <a:t>Every</a:t>
            </a:r>
            <a:r>
              <a:rPr spc="-65" dirty="0"/>
              <a:t> </a:t>
            </a:r>
            <a:r>
              <a:rPr spc="-40" dirty="0"/>
              <a:t>induced</a:t>
            </a:r>
            <a:r>
              <a:rPr spc="-45" dirty="0"/>
              <a:t> </a:t>
            </a:r>
            <a:r>
              <a:rPr spc="-50" dirty="0"/>
              <a:t>subgraph</a:t>
            </a:r>
            <a:r>
              <a:rPr spc="-40" dirty="0"/>
              <a:t> </a:t>
            </a:r>
            <a:r>
              <a:rPr dirty="0"/>
              <a:t>is</a:t>
            </a:r>
            <a:r>
              <a:rPr spc="-55" dirty="0"/>
              <a:t> </a:t>
            </a:r>
            <a:r>
              <a:rPr spc="-25" dirty="0"/>
              <a:t>also</a:t>
            </a:r>
            <a:r>
              <a:rPr spc="-45" dirty="0"/>
              <a:t> </a:t>
            </a:r>
            <a:r>
              <a:rPr dirty="0"/>
              <a:t>an</a:t>
            </a:r>
            <a:r>
              <a:rPr spc="-45" dirty="0"/>
              <a:t> </a:t>
            </a:r>
            <a:r>
              <a:rPr spc="-40" dirty="0"/>
              <a:t>ordinary</a:t>
            </a:r>
            <a:r>
              <a:rPr spc="-50" dirty="0"/>
              <a:t> subgraph,</a:t>
            </a:r>
            <a:r>
              <a:rPr spc="-35" dirty="0"/>
              <a:t> </a:t>
            </a:r>
            <a:r>
              <a:rPr dirty="0"/>
              <a:t>but</a:t>
            </a:r>
            <a:r>
              <a:rPr spc="-50" dirty="0"/>
              <a:t> </a:t>
            </a:r>
            <a:r>
              <a:rPr spc="-25" dirty="0"/>
              <a:t>not </a:t>
            </a:r>
            <a:r>
              <a:rPr spc="-10" dirty="0"/>
              <a:t>conversely</a:t>
            </a:r>
          </a:p>
          <a:p>
            <a:pPr marL="38100">
              <a:lnSpc>
                <a:spcPct val="100000"/>
              </a:lnSpc>
              <a:spcBef>
                <a:spcPts val="330"/>
              </a:spcBef>
            </a:pPr>
            <a:r>
              <a:rPr spc="-45" dirty="0"/>
              <a:t>See</a:t>
            </a:r>
            <a:r>
              <a:rPr spc="-35" dirty="0"/>
              <a:t> Example</a:t>
            </a:r>
            <a:r>
              <a:rPr spc="-30" dirty="0"/>
              <a:t> </a:t>
            </a:r>
            <a:r>
              <a:rPr spc="-10" dirty="0"/>
              <a:t>4.1.4</a:t>
            </a:r>
          </a:p>
        </p:txBody>
      </p:sp>
      <p:pic>
        <p:nvPic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407" y="964629"/>
            <a:ext cx="65265" cy="65265"/>
          </a:xfrm>
          <a:prstGeom prst="rect">
            <a:avLst/>
          </a:prstGeom>
        </p:spPr>
      </p:pic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407" y="1518807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7407" y="1900911"/>
            <a:ext cx="65265" cy="6526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BDEBD0B-E094-B49E-EE41-75719635FE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" y="2190561"/>
            <a:ext cx="2635470" cy="116692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More</a:t>
            </a:r>
            <a:r>
              <a:rPr spc="-65" dirty="0"/>
              <a:t> </a:t>
            </a:r>
            <a:r>
              <a:rPr spc="-35" dirty="0"/>
              <a:t>Complex</a:t>
            </a:r>
            <a:r>
              <a:rPr spc="-65" dirty="0"/>
              <a:t> </a:t>
            </a:r>
            <a:r>
              <a:rPr spc="-35" dirty="0"/>
              <a:t>Graphs</a:t>
            </a:r>
          </a:p>
        </p:txBody>
      </p:sp>
      <p:pic>
        <p:nvPic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607" y="594616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0050" y="511175"/>
            <a:ext cx="4076700" cy="111543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237490">
              <a:lnSpc>
                <a:spcPct val="102600"/>
              </a:lnSpc>
              <a:spcBef>
                <a:spcPts val="55"/>
              </a:spcBef>
            </a:pPr>
            <a:r>
              <a:rPr sz="1100" spc="-20" dirty="0">
                <a:latin typeface="Tahoma"/>
                <a:cs typeface="Tahoma"/>
              </a:rPr>
              <a:t>When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including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more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edges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connecting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pair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vertices,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45" dirty="0">
                <a:latin typeface="Tahoma"/>
                <a:cs typeface="Tahoma"/>
              </a:rPr>
              <a:t>graph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known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Arial"/>
                <a:cs typeface="Arial"/>
              </a:rPr>
              <a:t>multigraph</a:t>
            </a:r>
            <a:endParaRPr sz="1100" dirty="0">
              <a:latin typeface="Arial"/>
              <a:cs typeface="Arial"/>
            </a:endParaRPr>
          </a:p>
          <a:p>
            <a:pPr marL="38100" marR="233679">
              <a:lnSpc>
                <a:spcPct val="102600"/>
              </a:lnSpc>
              <a:spcBef>
                <a:spcPts val="300"/>
              </a:spcBef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graph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b="1" spc="-50" dirty="0">
                <a:latin typeface="Arial"/>
                <a:cs typeface="Arial"/>
              </a:rPr>
              <a:t>connected</a:t>
            </a:r>
            <a:r>
              <a:rPr sz="1100" b="1" spc="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get</a:t>
            </a:r>
            <a:r>
              <a:rPr sz="1100" spc="-25" dirty="0">
                <a:latin typeface="Tahoma"/>
                <a:cs typeface="Tahoma"/>
              </a:rPr>
              <a:t> from </a:t>
            </a:r>
            <a:r>
              <a:rPr sz="1100" spc="-35" dirty="0">
                <a:latin typeface="Tahoma"/>
                <a:cs typeface="Tahoma"/>
              </a:rPr>
              <a:t>any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vertex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other </a:t>
            </a:r>
            <a:r>
              <a:rPr sz="1100" spc="-40" dirty="0">
                <a:latin typeface="Tahoma"/>
                <a:cs typeface="Tahoma"/>
              </a:rPr>
              <a:t>vertex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by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following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some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path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edges</a:t>
            </a:r>
            <a:endParaRPr sz="1100" dirty="0">
              <a:latin typeface="Tahoma"/>
              <a:cs typeface="Tahoma"/>
            </a:endParaRPr>
          </a:p>
          <a:p>
            <a:pPr marL="38100" marR="30480">
              <a:lnSpc>
                <a:spcPct val="102600"/>
              </a:lnSpc>
              <a:spcBef>
                <a:spcPts val="300"/>
              </a:spcBef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graph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b="1" spc="-35" dirty="0">
                <a:latin typeface="Arial"/>
                <a:cs typeface="Arial"/>
              </a:rPr>
              <a:t>complete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has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edge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every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pair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vertices,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possible</a:t>
            </a:r>
            <a:r>
              <a:rPr sz="1100" spc="-10" dirty="0">
                <a:latin typeface="Tahoma"/>
                <a:cs typeface="Tahoma"/>
              </a:rPr>
              <a:t> edges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3607" y="976733"/>
            <a:ext cx="65265" cy="65265"/>
          </a:xfrm>
          <a:prstGeom prst="rect">
            <a:avLst/>
          </a:prstGeom>
        </p:spPr>
      </p:pic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3607" y="1358838"/>
            <a:ext cx="65265" cy="6526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BBADD19-629D-EB4B-A55F-237623305D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392" y="2276176"/>
            <a:ext cx="2209800" cy="75296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A431E87-B9BE-E1FB-3851-AD62E18DD1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2359" y="2339975"/>
            <a:ext cx="2076450" cy="99308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7F4F1-4080-9869-4419-D3FDD4E67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1BD397D-5434-2084-E2AC-23ECA268A7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More</a:t>
            </a:r>
            <a:r>
              <a:rPr spc="-65" dirty="0"/>
              <a:t> </a:t>
            </a:r>
            <a:r>
              <a:rPr spc="-35" dirty="0"/>
              <a:t>Complex</a:t>
            </a:r>
            <a:r>
              <a:rPr spc="-65" dirty="0"/>
              <a:t> </a:t>
            </a:r>
            <a:r>
              <a:rPr spc="-35" dirty="0"/>
              <a:t>Graphs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8F6DB343-4037-209D-EA75-B69A1E6594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607" y="594616"/>
            <a:ext cx="65265" cy="65265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FAC2EE62-5CC0-FD94-5FA4-647DBAB15A43}"/>
              </a:ext>
            </a:extLst>
          </p:cNvPr>
          <p:cNvSpPr txBox="1"/>
          <p:nvPr/>
        </p:nvSpPr>
        <p:spPr>
          <a:xfrm>
            <a:off x="400050" y="511175"/>
            <a:ext cx="4076700" cy="343748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179070">
              <a:lnSpc>
                <a:spcPct val="102600"/>
              </a:lnSpc>
              <a:spcBef>
                <a:spcPts val="300"/>
              </a:spcBef>
            </a:pPr>
            <a:r>
              <a:rPr sz="1100" spc="-20" dirty="0">
                <a:latin typeface="Tahoma"/>
                <a:cs typeface="Tahoma"/>
              </a:rPr>
              <a:t>There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only</a:t>
            </a:r>
            <a:r>
              <a:rPr sz="1100" spc="-45" dirty="0">
                <a:latin typeface="Tahoma"/>
                <a:cs typeface="Tahoma"/>
              </a:rPr>
              <a:t> one</a:t>
            </a:r>
            <a:r>
              <a:rPr sz="1100" spc="-40" dirty="0">
                <a:latin typeface="Tahoma"/>
                <a:cs typeface="Tahoma"/>
              </a:rPr>
              <a:t> complete </a:t>
            </a:r>
            <a:r>
              <a:rPr sz="1100" spc="-45" dirty="0">
                <a:latin typeface="Tahoma"/>
                <a:cs typeface="Tahoma"/>
              </a:rPr>
              <a:t>graph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given </a:t>
            </a:r>
            <a:r>
              <a:rPr sz="1100" spc="-45" dirty="0">
                <a:latin typeface="Tahoma"/>
                <a:cs typeface="Tahoma"/>
              </a:rPr>
              <a:t>number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vertices. </a:t>
            </a:r>
            <a:r>
              <a:rPr sz="1100" spc="-35" dirty="0">
                <a:latin typeface="Tahoma"/>
                <a:cs typeface="Tahoma"/>
              </a:rPr>
              <a:t>Denoted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by </a:t>
            </a:r>
            <a:r>
              <a:rPr sz="1100" i="1" dirty="0">
                <a:latin typeface="Arial"/>
                <a:cs typeface="Arial"/>
              </a:rPr>
              <a:t>K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i="1" spc="217" baseline="-10416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complete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graph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25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vertices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4098" name="Picture 2" descr="Mathematics | Graph Theory Basics - Set 2 - GeeksforGeeks">
            <a:extLst>
              <a:ext uri="{FF2B5EF4-FFF2-40B4-BE49-F238E27FC236}">
                <a16:creationId xmlns:a16="http://schemas.microsoft.com/office/drawing/2014/main" id="{2742E6D6-CD9D-5E1D-A6CB-F51507A10A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046" y="1079861"/>
            <a:ext cx="2698007" cy="203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9848517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3023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Complete</a:t>
            </a:r>
            <a:r>
              <a:rPr spc="-40" dirty="0"/>
              <a:t> </a:t>
            </a:r>
            <a:r>
              <a:rPr spc="-35" dirty="0"/>
              <a:t>Graphs</a:t>
            </a:r>
          </a:p>
        </p:txBody>
      </p:sp>
      <p:pic>
        <p:nvPic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527164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443711"/>
            <a:ext cx="407352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ahoma"/>
                <a:cs typeface="Tahoma"/>
              </a:rPr>
              <a:t>Each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vertex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K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i="1" spc="225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adjacent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Arial"/>
                <a:cs typeface="Arial"/>
              </a:rPr>
              <a:t>n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spc="-35" dirty="0">
                <a:latin typeface="Cambria"/>
                <a:cs typeface="Cambria"/>
              </a:rPr>
              <a:t> </a:t>
            </a:r>
            <a:r>
              <a:rPr sz="1100" dirty="0">
                <a:latin typeface="Tahoma"/>
                <a:cs typeface="Tahoma"/>
              </a:rPr>
              <a:t>1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other</a:t>
            </a:r>
            <a:r>
              <a:rPr sz="1100" spc="-30" dirty="0">
                <a:latin typeface="Tahoma"/>
                <a:cs typeface="Tahoma"/>
              </a:rPr>
              <a:t> vertices.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b="1" spc="-40" dirty="0">
                <a:latin typeface="Arial"/>
                <a:cs typeface="Arial"/>
              </a:rPr>
              <a:t>degree</a:t>
            </a:r>
            <a:r>
              <a:rPr sz="1100" b="1" spc="10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of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vertex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number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edges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emanating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from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vertex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909269"/>
            <a:ext cx="65265" cy="6526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292857" y="883931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25026" y="801673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26741" y="910919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Tahoma"/>
                <a:cs typeface="Tahoma"/>
              </a:rPr>
              <a:t>2</a:t>
            </a:r>
            <a:endParaRPr sz="800">
              <a:latin typeface="Tahoma"/>
              <a:cs typeface="Tahoma"/>
            </a:endParaRPr>
          </a:p>
        </p:txBody>
      </p:sp>
      <p:sp>
        <p:nvSpPr>
          <p:cNvPr id="9" name="object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561526" y="713599"/>
            <a:ext cx="210185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1100" dirty="0">
                <a:latin typeface="Lucida Sans Unicode"/>
                <a:cs typeface="Lucida Sans Unicode"/>
              </a:rPr>
              <a:t> 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2932" y="825816"/>
            <a:ext cx="27317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401570" algn="l"/>
              </a:tabLst>
            </a:pPr>
            <a:r>
              <a:rPr sz="1100" spc="-20" dirty="0">
                <a:latin typeface="Tahoma"/>
                <a:cs typeface="Tahoma"/>
              </a:rPr>
              <a:t>There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are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i="1" spc="-40" dirty="0">
                <a:latin typeface="Arial"/>
                <a:cs typeface="Arial"/>
              </a:rPr>
              <a:t>n</a:t>
            </a:r>
            <a:r>
              <a:rPr sz="1100" spc="-40" dirty="0">
                <a:latin typeface="Tahoma"/>
                <a:cs typeface="Tahoma"/>
              </a:rPr>
              <a:t>(</a:t>
            </a:r>
            <a:r>
              <a:rPr sz="1100" i="1" spc="-40" dirty="0">
                <a:latin typeface="Arial"/>
                <a:cs typeface="Arial"/>
              </a:rPr>
              <a:t>n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spc="-15" dirty="0">
                <a:latin typeface="Cambria"/>
                <a:cs typeface="Cambria"/>
              </a:rPr>
              <a:t> </a:t>
            </a:r>
            <a:r>
              <a:rPr sz="1100" spc="-20" dirty="0">
                <a:latin typeface="Tahoma"/>
                <a:cs typeface="Tahoma"/>
              </a:rPr>
              <a:t>1)</a:t>
            </a:r>
            <a:r>
              <a:rPr sz="1100" i="1" spc="-20" dirty="0">
                <a:latin typeface="Comic Sans MS"/>
                <a:cs typeface="Comic Sans MS"/>
              </a:rPr>
              <a:t>/</a:t>
            </a:r>
            <a:r>
              <a:rPr sz="1100" spc="-20" dirty="0">
                <a:latin typeface="Tahoma"/>
                <a:cs typeface="Tahoma"/>
              </a:rPr>
              <a:t>2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edges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 </a:t>
            </a:r>
            <a:r>
              <a:rPr sz="1100" i="1" dirty="0">
                <a:latin typeface="Arial"/>
                <a:cs typeface="Arial"/>
              </a:rPr>
              <a:t>K</a:t>
            </a:r>
            <a:r>
              <a:rPr sz="1100" i="1" spc="484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or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spc="-70" dirty="0">
                <a:latin typeface="Tahoma"/>
                <a:cs typeface="Tahoma"/>
              </a:rPr>
              <a:t>edges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74AC9A9-BA91-BBDF-1C63-07ADBB353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50" y="1143107"/>
            <a:ext cx="2514600" cy="2226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5F1B2-22F7-9FEF-ACF5-BD0CFE74F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914602F-C6C5-7EF2-7662-A71F881775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3023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Complete</a:t>
            </a:r>
            <a:r>
              <a:rPr spc="-40" dirty="0"/>
              <a:t> </a:t>
            </a:r>
            <a:r>
              <a:rPr spc="-35" dirty="0"/>
              <a:t>Graphs</a:t>
            </a:r>
          </a:p>
        </p:txBody>
      </p:sp>
      <p:pic>
        <p:nvPicPr>
          <p:cNvPr id="11" name="object 11">
            <a:extLst>
              <a:ext uri="{FF2B5EF4-FFF2-40B4-BE49-F238E27FC236}">
                <a16:creationId xmlns:a16="http://schemas.microsoft.com/office/drawing/2014/main" id="{4ED8B9FF-65D6-E630-9FDE-C58951510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107" y="518428"/>
            <a:ext cx="65265" cy="65265"/>
          </a:xfrm>
          <a:prstGeom prst="rect">
            <a:avLst/>
          </a:prstGeom>
        </p:spPr>
      </p:pic>
      <p:sp>
        <p:nvSpPr>
          <p:cNvPr id="12" name="object 12">
            <a:extLst>
              <a:ext uri="{FF2B5EF4-FFF2-40B4-BE49-F238E27FC236}">
                <a16:creationId xmlns:a16="http://schemas.microsoft.com/office/drawing/2014/main" id="{44C9D3B2-249B-3AB5-F4AF-B69822FFF7F9}"/>
              </a:ext>
            </a:extLst>
          </p:cNvPr>
          <p:cNvSpPr txBox="1"/>
          <p:nvPr/>
        </p:nvSpPr>
        <p:spPr>
          <a:xfrm>
            <a:off x="323850" y="434975"/>
            <a:ext cx="4156075" cy="22352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50800" marR="431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sum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degrees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40" dirty="0">
                <a:latin typeface="Tahoma"/>
                <a:cs typeface="Tahoma"/>
              </a:rPr>
              <a:t> vertices </a:t>
            </a:r>
            <a:r>
              <a:rPr sz="1100" dirty="0">
                <a:latin typeface="Tahoma"/>
                <a:cs typeface="Tahoma"/>
              </a:rPr>
              <a:t>will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always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be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spc="-20" dirty="0">
                <a:latin typeface="Arial"/>
                <a:cs typeface="Arial"/>
              </a:rPr>
              <a:t>twice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number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edges,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since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each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edge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adds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degree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vertices.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This </a:t>
            </a:r>
            <a:r>
              <a:rPr sz="1100" spc="-30" dirty="0">
                <a:latin typeface="Tahoma"/>
                <a:cs typeface="Tahoma"/>
              </a:rPr>
              <a:t>implies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sum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degrees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35" dirty="0">
                <a:latin typeface="Tahoma"/>
                <a:cs typeface="Tahoma"/>
              </a:rPr>
              <a:t> vertices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5" dirty="0">
                <a:latin typeface="Tahoma"/>
                <a:cs typeface="Tahoma"/>
              </a:rPr>
              <a:t> any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graph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must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even</a:t>
            </a:r>
            <a:endParaRPr sz="1100" dirty="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last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bullet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b="1" spc="-50" dirty="0">
                <a:latin typeface="Arial"/>
                <a:cs typeface="Arial"/>
              </a:rPr>
              <a:t>Handshake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b="1" spc="-30" dirty="0">
                <a:latin typeface="Arial"/>
                <a:cs typeface="Arial"/>
              </a:rPr>
              <a:t>Lemma</a:t>
            </a:r>
            <a:r>
              <a:rPr sz="1100" b="1" dirty="0">
                <a:latin typeface="Arial"/>
                <a:cs typeface="Arial"/>
              </a:rPr>
              <a:t> </a:t>
            </a:r>
            <a:r>
              <a:rPr sz="1100" spc="-60" dirty="0">
                <a:latin typeface="Tahoma"/>
                <a:cs typeface="Tahoma"/>
              </a:rPr>
              <a:t>(see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page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240)</a:t>
            </a: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100" dirty="0">
              <a:latin typeface="Tahoma"/>
              <a:cs typeface="Tahoma"/>
            </a:endParaRPr>
          </a:p>
          <a:p>
            <a:pPr marL="1667510">
              <a:lnSpc>
                <a:spcPct val="100000"/>
              </a:lnSpc>
            </a:pPr>
            <a:r>
              <a:rPr sz="1650" spc="1380" baseline="53030" dirty="0">
                <a:latin typeface="Lucida Sans Unicode"/>
                <a:cs typeface="Lucida Sans Unicode"/>
              </a:rPr>
              <a:t>Σ</a:t>
            </a:r>
            <a:r>
              <a:rPr sz="1650" spc="-112" baseline="53030" dirty="0">
                <a:latin typeface="Lucida Sans Unicode"/>
                <a:cs typeface="Lucida Sans Unicode"/>
              </a:rPr>
              <a:t> </a:t>
            </a:r>
            <a:r>
              <a:rPr sz="1100" i="1" spc="-65" dirty="0">
                <a:latin typeface="Arial"/>
                <a:cs typeface="Arial"/>
              </a:rPr>
              <a:t>d</a:t>
            </a:r>
            <a:r>
              <a:rPr sz="1100" i="1" spc="-200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(</a:t>
            </a:r>
            <a:r>
              <a:rPr sz="1100" i="1" spc="-35" dirty="0">
                <a:latin typeface="Arial"/>
                <a:cs typeface="Arial"/>
              </a:rPr>
              <a:t>v</a:t>
            </a:r>
            <a:r>
              <a:rPr sz="1100" i="1" spc="-18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5" dirty="0">
                <a:latin typeface="Tahoma"/>
                <a:cs typeface="Tahoma"/>
              </a:rPr>
              <a:t> 2</a:t>
            </a:r>
            <a:r>
              <a:rPr sz="1100" i="1" spc="-25" dirty="0">
                <a:latin typeface="Arial"/>
                <a:cs typeface="Arial"/>
              </a:rPr>
              <a:t>e</a:t>
            </a:r>
            <a:endParaRPr sz="1100" dirty="0">
              <a:latin typeface="Arial"/>
              <a:cs typeface="Arial"/>
            </a:endParaRPr>
          </a:p>
          <a:p>
            <a:pPr marL="1657350">
              <a:lnSpc>
                <a:spcPct val="100000"/>
              </a:lnSpc>
              <a:spcBef>
                <a:spcPts val="315"/>
              </a:spcBef>
            </a:pPr>
            <a:r>
              <a:rPr sz="800" i="1" spc="-20" dirty="0">
                <a:latin typeface="Arial"/>
                <a:cs typeface="Arial"/>
              </a:rPr>
              <a:t>v</a:t>
            </a:r>
            <a:r>
              <a:rPr sz="800" i="1" spc="-130" dirty="0">
                <a:latin typeface="Arial"/>
                <a:cs typeface="Arial"/>
              </a:rPr>
              <a:t> </a:t>
            </a:r>
            <a:r>
              <a:rPr sz="800" spc="-25" dirty="0">
                <a:latin typeface="Lucida Sans Unicode"/>
                <a:cs typeface="Lucida Sans Unicode"/>
              </a:rPr>
              <a:t>∈</a:t>
            </a:r>
            <a:r>
              <a:rPr sz="800" i="1" spc="-25" dirty="0">
                <a:latin typeface="Arial"/>
                <a:cs typeface="Arial"/>
              </a:rPr>
              <a:t>V</a:t>
            </a:r>
            <a:endParaRPr sz="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800" dirty="0">
              <a:latin typeface="Arial"/>
              <a:cs typeface="Arial"/>
            </a:endParaRPr>
          </a:p>
          <a:p>
            <a:pPr marL="50165" marR="81280">
              <a:lnSpc>
                <a:spcPct val="102600"/>
              </a:lnSpc>
            </a:pPr>
            <a:r>
              <a:rPr sz="1100" dirty="0">
                <a:latin typeface="Tahoma"/>
                <a:cs typeface="Tahoma"/>
              </a:rPr>
              <a:t>To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find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number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edges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graph,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need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Arial"/>
                <a:cs typeface="Arial"/>
              </a:rPr>
              <a:t>degree </a:t>
            </a:r>
            <a:r>
              <a:rPr sz="1100" b="1" spc="-70" dirty="0">
                <a:latin typeface="Arial"/>
                <a:cs typeface="Arial"/>
              </a:rPr>
              <a:t>sequence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graph.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list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every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degree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every</a:t>
            </a:r>
            <a:r>
              <a:rPr sz="1100" spc="-25" dirty="0">
                <a:latin typeface="Tahoma"/>
                <a:cs typeface="Tahoma"/>
              </a:rPr>
              <a:t> vertex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graph,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generally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non-</a:t>
            </a:r>
            <a:r>
              <a:rPr sz="1100" spc="-40" dirty="0">
                <a:latin typeface="Tahoma"/>
                <a:cs typeface="Tahoma"/>
              </a:rPr>
              <a:t>increasing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order.</a:t>
            </a:r>
            <a:r>
              <a:rPr sz="1100" spc="8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See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Example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4.1.6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on </a:t>
            </a:r>
            <a:r>
              <a:rPr sz="1100" spc="-55" dirty="0">
                <a:latin typeface="Tahoma"/>
                <a:cs typeface="Tahoma"/>
              </a:rPr>
              <a:t>page</a:t>
            </a:r>
            <a:r>
              <a:rPr sz="1100" spc="-25" dirty="0">
                <a:latin typeface="Tahoma"/>
                <a:cs typeface="Tahoma"/>
              </a:rPr>
              <a:t> 240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13" name="object 13">
            <a:extLst>
              <a:ext uri="{FF2B5EF4-FFF2-40B4-BE49-F238E27FC236}">
                <a16:creationId xmlns:a16="http://schemas.microsoft.com/office/drawing/2014/main" id="{1F26D114-E884-616B-3802-4AB5EBB51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0107" y="1244691"/>
            <a:ext cx="65265" cy="65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126726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Odd</a:t>
            </a:r>
            <a:r>
              <a:rPr spc="-50" dirty="0"/>
              <a:t> </a:t>
            </a:r>
            <a:r>
              <a:rPr spc="-60" dirty="0"/>
              <a:t>Degree</a:t>
            </a:r>
          </a:p>
        </p:txBody>
      </p:sp>
      <p:pic>
        <p:nvPic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407" y="594615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323850" y="511175"/>
            <a:ext cx="4108450" cy="147256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293370">
              <a:lnSpc>
                <a:spcPct val="102600"/>
              </a:lnSpc>
              <a:spcBef>
                <a:spcPts val="55"/>
              </a:spcBef>
            </a:pPr>
            <a:r>
              <a:rPr spc="-20" dirty="0"/>
              <a:t>Proposition</a:t>
            </a:r>
            <a:r>
              <a:rPr spc="-55" dirty="0"/>
              <a:t> </a:t>
            </a:r>
            <a:r>
              <a:rPr spc="-25" dirty="0"/>
              <a:t>4.1.8.</a:t>
            </a:r>
            <a:r>
              <a:rPr spc="60" dirty="0"/>
              <a:t> </a:t>
            </a:r>
            <a:r>
              <a:rPr spc="-60" dirty="0"/>
              <a:t>In</a:t>
            </a:r>
            <a:r>
              <a:rPr spc="-25" dirty="0"/>
              <a:t> </a:t>
            </a:r>
            <a:r>
              <a:rPr spc="-35" dirty="0"/>
              <a:t>any</a:t>
            </a:r>
            <a:r>
              <a:rPr spc="-45" dirty="0"/>
              <a:t> graph,</a:t>
            </a:r>
            <a:r>
              <a:rPr spc="-40" dirty="0"/>
              <a:t> </a:t>
            </a:r>
            <a:r>
              <a:rPr spc="-10" dirty="0"/>
              <a:t>the</a:t>
            </a:r>
            <a:r>
              <a:rPr spc="-40" dirty="0"/>
              <a:t> </a:t>
            </a:r>
            <a:r>
              <a:rPr spc="-45" dirty="0"/>
              <a:t>number</a:t>
            </a:r>
            <a:r>
              <a:rPr spc="-4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35" dirty="0"/>
              <a:t>vertices</a:t>
            </a:r>
            <a:r>
              <a:rPr spc="-40" dirty="0"/>
              <a:t> </a:t>
            </a:r>
            <a:r>
              <a:rPr dirty="0"/>
              <a:t>with</a:t>
            </a:r>
            <a:r>
              <a:rPr spc="-40" dirty="0"/>
              <a:t> </a:t>
            </a:r>
            <a:r>
              <a:rPr spc="-25" dirty="0"/>
              <a:t>odd </a:t>
            </a:r>
            <a:r>
              <a:rPr spc="-70" dirty="0"/>
              <a:t>degree</a:t>
            </a:r>
            <a:r>
              <a:rPr spc="-20" dirty="0"/>
              <a:t> must</a:t>
            </a:r>
            <a:r>
              <a:rPr spc="-65" dirty="0"/>
              <a:t> </a:t>
            </a:r>
            <a:r>
              <a:rPr spc="-10" dirty="0"/>
              <a:t>be</a:t>
            </a:r>
            <a:r>
              <a:rPr spc="-55" dirty="0"/>
              <a:t> </a:t>
            </a:r>
            <a:r>
              <a:rPr spc="-20" dirty="0"/>
              <a:t>even</a:t>
            </a:r>
          </a:p>
          <a:p>
            <a:pPr marL="38100" marR="165100">
              <a:lnSpc>
                <a:spcPct val="102600"/>
              </a:lnSpc>
              <a:spcBef>
                <a:spcPts val="300"/>
              </a:spcBef>
            </a:pPr>
            <a:r>
              <a:rPr spc="55" dirty="0"/>
              <a:t>A</a:t>
            </a:r>
            <a:r>
              <a:rPr spc="-40" dirty="0"/>
              <a:t> </a:t>
            </a:r>
            <a:r>
              <a:rPr spc="-45" dirty="0"/>
              <a:t>graph</a:t>
            </a:r>
            <a:r>
              <a:rPr spc="-40" dirty="0"/>
              <a:t> </a:t>
            </a:r>
            <a:r>
              <a:rPr dirty="0"/>
              <a:t>is</a:t>
            </a:r>
            <a:r>
              <a:rPr spc="-45" dirty="0"/>
              <a:t> </a:t>
            </a:r>
            <a:r>
              <a:rPr b="1" spc="-10" dirty="0">
                <a:latin typeface="Arial"/>
                <a:cs typeface="Arial"/>
              </a:rPr>
              <a:t>bipartite</a:t>
            </a:r>
            <a:r>
              <a:rPr b="1" dirty="0">
                <a:latin typeface="Arial"/>
                <a:cs typeface="Arial"/>
              </a:rPr>
              <a:t> </a:t>
            </a:r>
            <a:r>
              <a:rPr dirty="0"/>
              <a:t>if</a:t>
            </a:r>
            <a:r>
              <a:rPr spc="-40" dirty="0"/>
              <a:t> </a:t>
            </a:r>
            <a:r>
              <a:rPr spc="-10" dirty="0"/>
              <a:t>the</a:t>
            </a:r>
            <a:r>
              <a:rPr spc="-35" dirty="0"/>
              <a:t> vertices</a:t>
            </a:r>
            <a:r>
              <a:rPr spc="-45" dirty="0"/>
              <a:t> </a:t>
            </a:r>
            <a:r>
              <a:rPr spc="-20" dirty="0"/>
              <a:t>can</a:t>
            </a:r>
            <a:r>
              <a:rPr spc="-40" dirty="0"/>
              <a:t> </a:t>
            </a:r>
            <a:r>
              <a:rPr spc="-10" dirty="0"/>
              <a:t>be</a:t>
            </a:r>
            <a:r>
              <a:rPr spc="-40" dirty="0"/>
              <a:t> </a:t>
            </a:r>
            <a:r>
              <a:rPr spc="-35" dirty="0"/>
              <a:t>divided</a:t>
            </a:r>
            <a:r>
              <a:rPr spc="-40" dirty="0"/>
              <a:t> </a:t>
            </a:r>
            <a:r>
              <a:rPr dirty="0"/>
              <a:t>into</a:t>
            </a:r>
            <a:r>
              <a:rPr spc="-45" dirty="0"/>
              <a:t> </a:t>
            </a:r>
            <a:r>
              <a:rPr spc="-40" dirty="0"/>
              <a:t>two </a:t>
            </a:r>
            <a:r>
              <a:rPr spc="-35" dirty="0"/>
              <a:t>sets,</a:t>
            </a:r>
            <a:r>
              <a:rPr spc="-40" dirty="0"/>
              <a:t> </a:t>
            </a:r>
            <a:r>
              <a:rPr i="1" spc="-50" dirty="0">
                <a:latin typeface="Arial"/>
                <a:cs typeface="Arial"/>
              </a:rPr>
              <a:t>A </a:t>
            </a:r>
            <a:r>
              <a:rPr spc="-35" dirty="0"/>
              <a:t>and</a:t>
            </a:r>
            <a:r>
              <a:rPr spc="-30" dirty="0"/>
              <a:t> </a:t>
            </a:r>
            <a:r>
              <a:rPr i="1" dirty="0">
                <a:latin typeface="Arial"/>
                <a:cs typeface="Arial"/>
              </a:rPr>
              <a:t>B</a:t>
            </a:r>
            <a:r>
              <a:rPr dirty="0"/>
              <a:t>,</a:t>
            </a:r>
            <a:r>
              <a:rPr spc="-30" dirty="0"/>
              <a:t> </a:t>
            </a:r>
            <a:r>
              <a:rPr dirty="0"/>
              <a:t>with</a:t>
            </a:r>
            <a:r>
              <a:rPr spc="-30" dirty="0"/>
              <a:t> </a:t>
            </a:r>
            <a:r>
              <a:rPr spc="-10" dirty="0"/>
              <a:t>no</a:t>
            </a:r>
            <a:r>
              <a:rPr spc="-35" dirty="0"/>
              <a:t> </a:t>
            </a:r>
            <a:r>
              <a:rPr spc="-40" dirty="0"/>
              <a:t>two</a:t>
            </a:r>
            <a:r>
              <a:rPr spc="-30" dirty="0"/>
              <a:t> </a:t>
            </a:r>
            <a:r>
              <a:rPr spc="-35" dirty="0"/>
              <a:t>vertices </a:t>
            </a:r>
            <a:r>
              <a:rPr dirty="0"/>
              <a:t>in</a:t>
            </a:r>
            <a:r>
              <a:rPr spc="-30" dirty="0"/>
              <a:t> </a:t>
            </a:r>
            <a:r>
              <a:rPr i="1" dirty="0">
                <a:latin typeface="Arial"/>
                <a:cs typeface="Arial"/>
              </a:rPr>
              <a:t>A</a:t>
            </a:r>
            <a:r>
              <a:rPr i="1" spc="5" dirty="0">
                <a:latin typeface="Arial"/>
                <a:cs typeface="Arial"/>
              </a:rPr>
              <a:t> </a:t>
            </a:r>
            <a:r>
              <a:rPr spc="-35" dirty="0"/>
              <a:t>adjacent and</a:t>
            </a:r>
            <a:r>
              <a:rPr spc="-30" dirty="0"/>
              <a:t> </a:t>
            </a:r>
            <a:r>
              <a:rPr spc="-20" dirty="0"/>
              <a:t>no</a:t>
            </a:r>
            <a:r>
              <a:rPr spc="-30" dirty="0"/>
              <a:t> </a:t>
            </a:r>
            <a:r>
              <a:rPr spc="-40" dirty="0"/>
              <a:t>two</a:t>
            </a:r>
            <a:r>
              <a:rPr spc="-30" dirty="0"/>
              <a:t> </a:t>
            </a:r>
            <a:r>
              <a:rPr spc="-35" dirty="0"/>
              <a:t>vertices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i="1" spc="-50" dirty="0">
                <a:latin typeface="Arial"/>
                <a:cs typeface="Arial"/>
              </a:rPr>
              <a:t>B </a:t>
            </a:r>
            <a:r>
              <a:rPr spc="-10" dirty="0"/>
              <a:t>adjacent</a:t>
            </a:r>
          </a:p>
          <a:p>
            <a:pPr marL="38100" marR="30480">
              <a:lnSpc>
                <a:spcPct val="102600"/>
              </a:lnSpc>
              <a:spcBef>
                <a:spcPts val="300"/>
              </a:spcBef>
            </a:pPr>
            <a:r>
              <a:rPr spc="-30" dirty="0"/>
              <a:t>If</a:t>
            </a:r>
            <a:r>
              <a:rPr spc="-35" dirty="0"/>
              <a:t> </a:t>
            </a:r>
            <a:r>
              <a:rPr spc="-40" dirty="0"/>
              <a:t>each</a:t>
            </a:r>
            <a:r>
              <a:rPr spc="-30" dirty="0"/>
              <a:t> </a:t>
            </a:r>
            <a:r>
              <a:rPr spc="-40" dirty="0"/>
              <a:t>vertex</a:t>
            </a:r>
            <a:r>
              <a:rPr spc="-3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i="1" dirty="0">
                <a:latin typeface="Arial"/>
                <a:cs typeface="Arial"/>
              </a:rPr>
              <a:t>A</a:t>
            </a:r>
            <a:r>
              <a:rPr i="1" spc="5" dirty="0">
                <a:latin typeface="Arial"/>
                <a:cs typeface="Arial"/>
              </a:rPr>
              <a:t> </a:t>
            </a:r>
            <a:r>
              <a:rPr dirty="0"/>
              <a:t>is</a:t>
            </a:r>
            <a:r>
              <a:rPr spc="-35" dirty="0"/>
              <a:t> adjacent</a:t>
            </a:r>
            <a:r>
              <a:rPr spc="-30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all</a:t>
            </a:r>
            <a:r>
              <a:rPr spc="-30" dirty="0"/>
              <a:t> </a:t>
            </a:r>
            <a:r>
              <a:rPr spc="-10" dirty="0"/>
              <a:t>the</a:t>
            </a:r>
            <a:r>
              <a:rPr spc="-30" dirty="0"/>
              <a:t> </a:t>
            </a:r>
            <a:r>
              <a:rPr spc="-35" dirty="0"/>
              <a:t>vertices </a:t>
            </a:r>
            <a:r>
              <a:rPr dirty="0"/>
              <a:t>in</a:t>
            </a:r>
            <a:r>
              <a:rPr spc="-25" dirty="0"/>
              <a:t> </a:t>
            </a:r>
            <a:r>
              <a:rPr i="1" dirty="0">
                <a:latin typeface="Arial"/>
                <a:cs typeface="Arial"/>
              </a:rPr>
              <a:t>B</a:t>
            </a:r>
            <a:r>
              <a:rPr dirty="0"/>
              <a:t>,</a:t>
            </a:r>
            <a:r>
              <a:rPr spc="-30" dirty="0"/>
              <a:t> </a:t>
            </a:r>
            <a:r>
              <a:rPr spc="-25" dirty="0"/>
              <a:t>then</a:t>
            </a:r>
            <a:r>
              <a:rPr spc="-30" dirty="0"/>
              <a:t> </a:t>
            </a:r>
            <a:r>
              <a:rPr spc="-10" dirty="0"/>
              <a:t>the</a:t>
            </a:r>
            <a:r>
              <a:rPr spc="-30" dirty="0"/>
              <a:t> </a:t>
            </a:r>
            <a:r>
              <a:rPr spc="-40" dirty="0"/>
              <a:t>graph </a:t>
            </a:r>
            <a:r>
              <a:rPr dirty="0"/>
              <a:t>is</a:t>
            </a:r>
            <a:r>
              <a:rPr spc="-30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b="1" spc="-35" dirty="0">
                <a:latin typeface="Arial"/>
                <a:cs typeface="Arial"/>
              </a:rPr>
              <a:t>complete</a:t>
            </a:r>
            <a:r>
              <a:rPr b="1" spc="4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bipartite</a:t>
            </a:r>
            <a:r>
              <a:rPr b="1" spc="45" dirty="0">
                <a:latin typeface="Arial"/>
                <a:cs typeface="Arial"/>
              </a:rPr>
              <a:t> </a:t>
            </a:r>
            <a:r>
              <a:rPr b="1" spc="-50" dirty="0">
                <a:latin typeface="Arial"/>
                <a:cs typeface="Arial"/>
              </a:rPr>
              <a:t>graph</a:t>
            </a:r>
            <a:r>
              <a:rPr spc="-50" dirty="0"/>
              <a:t>,</a:t>
            </a:r>
            <a:r>
              <a:rPr spc="-20" dirty="0"/>
              <a:t> </a:t>
            </a:r>
            <a:r>
              <a:rPr spc="-50" dirty="0"/>
              <a:t>known</a:t>
            </a:r>
            <a:r>
              <a:rPr spc="-25" dirty="0"/>
              <a:t> </a:t>
            </a:r>
            <a:r>
              <a:rPr spc="-20" dirty="0"/>
              <a:t>as </a:t>
            </a:r>
            <a:r>
              <a:rPr i="1" dirty="0">
                <a:latin typeface="Arial"/>
                <a:cs typeface="Arial"/>
              </a:rPr>
              <a:t>K</a:t>
            </a:r>
            <a:r>
              <a:rPr sz="1200" i="1" baseline="-10416" dirty="0">
                <a:latin typeface="Arial"/>
                <a:cs typeface="Arial"/>
              </a:rPr>
              <a:t>m</a:t>
            </a:r>
            <a:r>
              <a:rPr sz="1200" i="1" baseline="-10416" dirty="0">
                <a:latin typeface="Sitka Text"/>
                <a:cs typeface="Sitka Text"/>
              </a:rPr>
              <a:t>,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100" dirty="0"/>
              <a:t>,</a:t>
            </a:r>
            <a:r>
              <a:rPr sz="1100" spc="-25" dirty="0"/>
              <a:t> </a:t>
            </a:r>
            <a:r>
              <a:rPr sz="1100" spc="-60" dirty="0"/>
              <a:t>where</a:t>
            </a:r>
            <a:r>
              <a:rPr sz="1100" spc="-20" dirty="0"/>
              <a:t> </a:t>
            </a:r>
            <a:r>
              <a:rPr sz="1100" spc="-10" dirty="0">
                <a:latin typeface="Cambria"/>
                <a:cs typeface="Cambria"/>
              </a:rPr>
              <a:t>|</a:t>
            </a:r>
            <a:r>
              <a:rPr sz="1100" i="1" spc="-10" dirty="0">
                <a:latin typeface="Arial"/>
                <a:cs typeface="Arial"/>
              </a:rPr>
              <a:t>A</a:t>
            </a:r>
            <a:r>
              <a:rPr sz="1100" spc="-10" dirty="0">
                <a:latin typeface="Cambria"/>
                <a:cs typeface="Cambria"/>
              </a:rPr>
              <a:t>|</a:t>
            </a:r>
            <a:r>
              <a:rPr sz="1100" spc="25" dirty="0">
                <a:latin typeface="Cambria"/>
                <a:cs typeface="Cambria"/>
              </a:rPr>
              <a:t> </a:t>
            </a:r>
            <a:r>
              <a:rPr sz="1100" dirty="0"/>
              <a:t>=</a:t>
            </a:r>
            <a:r>
              <a:rPr sz="1100" spc="-80" dirty="0"/>
              <a:t> </a:t>
            </a:r>
            <a:r>
              <a:rPr sz="1100" i="1" dirty="0">
                <a:latin typeface="Arial"/>
                <a:cs typeface="Arial"/>
              </a:rPr>
              <a:t>m</a:t>
            </a:r>
            <a:r>
              <a:rPr sz="1100" i="1" spc="35" dirty="0">
                <a:latin typeface="Arial"/>
                <a:cs typeface="Arial"/>
              </a:rPr>
              <a:t> </a:t>
            </a:r>
            <a:r>
              <a:rPr sz="1100" spc="-25" dirty="0"/>
              <a:t>and</a:t>
            </a:r>
            <a:endParaRPr sz="1100" dirty="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>
                <a:latin typeface="Cambria"/>
                <a:cs typeface="Cambria"/>
              </a:rPr>
              <a:t>|</a:t>
            </a:r>
            <a:r>
              <a:rPr i="1" dirty="0">
                <a:latin typeface="Arial"/>
                <a:cs typeface="Arial"/>
              </a:rPr>
              <a:t>B</a:t>
            </a:r>
            <a:r>
              <a:rPr dirty="0">
                <a:latin typeface="Cambria"/>
                <a:cs typeface="Cambria"/>
              </a:rPr>
              <a:t>|</a:t>
            </a:r>
            <a:r>
              <a:rPr spc="65" dirty="0">
                <a:latin typeface="Cambria"/>
                <a:cs typeface="Cambria"/>
              </a:rPr>
              <a:t> </a:t>
            </a:r>
            <a:r>
              <a:rPr dirty="0"/>
              <a:t>=</a:t>
            </a:r>
            <a:r>
              <a:rPr spc="-30" dirty="0"/>
              <a:t> </a:t>
            </a:r>
            <a:r>
              <a:rPr i="1" spc="-50" dirty="0">
                <a:latin typeface="Arial"/>
                <a:cs typeface="Arial"/>
              </a:rPr>
              <a:t>n</a:t>
            </a:r>
          </a:p>
        </p:txBody>
      </p:sp>
      <p:pic>
        <p:nvPic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407" y="976732"/>
            <a:ext cx="65265" cy="65265"/>
          </a:xfrm>
          <a:prstGeom prst="rect">
            <a:avLst/>
          </a:prstGeom>
        </p:spPr>
      </p:pic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407" y="1530910"/>
            <a:ext cx="65265" cy="65265"/>
          </a:xfrm>
          <a:prstGeom prst="rect">
            <a:avLst/>
          </a:prstGeom>
        </p:spPr>
      </p:pic>
      <p:pic>
        <p:nvPicPr>
          <p:cNvPr id="6146" name="Picture 2" descr="Bipartite Graph">
            <a:extLst>
              <a:ext uri="{FF2B5EF4-FFF2-40B4-BE49-F238E27FC236}">
                <a16:creationId xmlns:a16="http://schemas.microsoft.com/office/drawing/2014/main" id="{21190828-1630-B4F1-6B9C-D32A872C03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88" b="7597"/>
          <a:stretch>
            <a:fillRect/>
          </a:stretch>
        </p:blipFill>
        <p:spPr bwMode="auto">
          <a:xfrm>
            <a:off x="0" y="1952225"/>
            <a:ext cx="4610100" cy="1160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F4566A0-B13C-6505-EC8C-3590BAE57ED0}"/>
              </a:ext>
            </a:extLst>
          </p:cNvPr>
          <p:cNvSpPr txBox="1"/>
          <p:nvPr/>
        </p:nvSpPr>
        <p:spPr>
          <a:xfrm>
            <a:off x="2457450" y="3086203"/>
            <a:ext cx="838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spc="-35" dirty="0">
                <a:latin typeface="Arial"/>
                <a:cs typeface="Arial"/>
              </a:rPr>
              <a:t>complete</a:t>
            </a:r>
            <a:endParaRPr lang="en-US" sz="1200" dirty="0"/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Named</a:t>
            </a:r>
            <a:r>
              <a:rPr spc="-35" dirty="0"/>
              <a:t> </a:t>
            </a:r>
            <a:r>
              <a:rPr spc="-45" dirty="0"/>
              <a:t>Graphs</a:t>
            </a:r>
          </a:p>
        </p:txBody>
      </p:sp>
      <p:pic>
        <p:nvPic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862" y="867006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8305" y="739775"/>
            <a:ext cx="3793490" cy="107569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i="1" dirty="0">
                <a:latin typeface="Arial"/>
                <a:cs typeface="Arial"/>
              </a:rPr>
              <a:t>K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i="1" spc="225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complete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graph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30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vertices</a:t>
            </a:r>
            <a:endParaRPr sz="11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34"/>
              </a:spcBef>
            </a:pPr>
            <a:r>
              <a:rPr sz="1100" i="1" dirty="0">
                <a:latin typeface="Arial"/>
                <a:cs typeface="Arial"/>
              </a:rPr>
              <a:t>K</a:t>
            </a:r>
            <a:r>
              <a:rPr sz="1200" i="1" baseline="-10416" dirty="0">
                <a:latin typeface="Arial"/>
                <a:cs typeface="Arial"/>
              </a:rPr>
              <a:t>m</a:t>
            </a:r>
            <a:r>
              <a:rPr sz="1200" i="1" baseline="-10416" dirty="0">
                <a:latin typeface="Sitka Text"/>
                <a:cs typeface="Sitka Text"/>
              </a:rPr>
              <a:t>,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i="1" spc="209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complete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bipartite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graph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35" dirty="0">
                <a:latin typeface="Tahoma"/>
                <a:cs typeface="Tahoma"/>
              </a:rPr>
              <a:t> sets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m</a:t>
            </a:r>
            <a:r>
              <a:rPr sz="1100" i="1" spc="20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20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vertices</a:t>
            </a:r>
            <a:endParaRPr sz="11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30"/>
              </a:spcBef>
            </a:pPr>
            <a:r>
              <a:rPr sz="1100" i="1" dirty="0">
                <a:latin typeface="Arial"/>
                <a:cs typeface="Arial"/>
              </a:rPr>
              <a:t>C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i="1" spc="142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cycle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vertices,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just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one </a:t>
            </a:r>
            <a:r>
              <a:rPr sz="1100" spc="-10" dirty="0">
                <a:latin typeface="Tahoma"/>
                <a:cs typeface="Tahoma"/>
              </a:rPr>
              <a:t>big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loop</a:t>
            </a:r>
            <a:endParaRPr sz="1100">
              <a:latin typeface="Tahoma"/>
              <a:cs typeface="Tahoma"/>
            </a:endParaRPr>
          </a:p>
          <a:p>
            <a:pPr marL="38100" marR="171450">
              <a:lnSpc>
                <a:spcPct val="125299"/>
              </a:lnSpc>
            </a:pPr>
            <a:r>
              <a:rPr sz="1100" i="1" dirty="0">
                <a:latin typeface="Arial"/>
                <a:cs typeface="Arial"/>
              </a:rPr>
              <a:t>P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i="1" spc="75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path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Arial"/>
                <a:cs typeface="Arial"/>
              </a:rPr>
              <a:t>n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1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vertices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20" dirty="0">
                <a:latin typeface="Arial"/>
                <a:cs typeface="Arial"/>
              </a:rPr>
              <a:t> </a:t>
            </a:r>
            <a:r>
              <a:rPr sz="1100" spc="-55" dirty="0">
                <a:latin typeface="Tahoma"/>
                <a:cs typeface="Tahoma"/>
              </a:rPr>
              <a:t>edges),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just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one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long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path </a:t>
            </a:r>
            <a:r>
              <a:rPr sz="1100" spc="-45" dirty="0">
                <a:latin typeface="Tahoma"/>
                <a:cs typeface="Tahoma"/>
              </a:rPr>
              <a:t>See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graph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examples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page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241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1862" y="1077038"/>
            <a:ext cx="65265" cy="65265"/>
          </a:xfrm>
          <a:prstGeom prst="rect">
            <a:avLst/>
          </a:prstGeom>
        </p:spPr>
      </p:pic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1862" y="1287071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1862" y="1497103"/>
            <a:ext cx="65265" cy="65265"/>
          </a:xfrm>
          <a:prstGeom prst="rect">
            <a:avLst/>
          </a:prstGeom>
        </p:spPr>
      </p:pic>
      <p:pic>
        <p:nvPic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1862" y="1707136"/>
            <a:ext cx="65265" cy="6526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240B5E1-628C-B00C-50E8-43C17B7999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1862" y="1959469"/>
            <a:ext cx="4018091" cy="113802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Graph</a:t>
            </a:r>
            <a:r>
              <a:rPr spc="-70" dirty="0"/>
              <a:t> </a:t>
            </a:r>
            <a:r>
              <a:rPr spc="-20" dirty="0"/>
              <a:t>Theory</a:t>
            </a:r>
            <a:r>
              <a:rPr spc="-70" dirty="0"/>
              <a:t> </a:t>
            </a:r>
            <a:r>
              <a:rPr spc="-25" dirty="0"/>
              <a:t>Definitions</a:t>
            </a:r>
          </a:p>
        </p:txBody>
      </p:sp>
      <p:pic>
        <p:nvPic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90308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606868"/>
            <a:ext cx="4076700" cy="24466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61594">
              <a:lnSpc>
                <a:spcPct val="102600"/>
              </a:lnSpc>
              <a:spcBef>
                <a:spcPts val="55"/>
              </a:spcBef>
            </a:pPr>
            <a:r>
              <a:rPr sz="1100" b="1" spc="-30" dirty="0">
                <a:latin typeface="Arial"/>
                <a:cs typeface="Arial"/>
              </a:rPr>
              <a:t>Graph</a:t>
            </a:r>
            <a:r>
              <a:rPr sz="1100" spc="-30" dirty="0">
                <a:latin typeface="Tahoma"/>
                <a:cs typeface="Tahoma"/>
              </a:rPr>
              <a:t>.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collection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b="1" spc="-40" dirty="0">
                <a:latin typeface="Arial"/>
                <a:cs typeface="Arial"/>
              </a:rPr>
              <a:t>vertices</a:t>
            </a:r>
            <a:r>
              <a:rPr sz="1100" spc="-40" dirty="0">
                <a:latin typeface="Tahoma"/>
                <a:cs typeface="Tahoma"/>
              </a:rPr>
              <a:t>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some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which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connected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by </a:t>
            </a:r>
            <a:r>
              <a:rPr sz="1100" spc="-50" dirty="0">
                <a:latin typeface="Tahoma"/>
                <a:cs typeface="Tahoma"/>
              </a:rPr>
              <a:t>edges.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consists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pair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sets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V</a:t>
            </a:r>
            <a:r>
              <a:rPr sz="1100" i="1" spc="150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 </a:t>
            </a:r>
            <a:r>
              <a:rPr sz="1100" i="1" dirty="0">
                <a:latin typeface="Arial"/>
                <a:cs typeface="Arial"/>
              </a:rPr>
              <a:t>E</a:t>
            </a:r>
            <a:r>
              <a:rPr sz="1100" i="1" spc="110" dirty="0">
                <a:latin typeface="Arial"/>
                <a:cs typeface="Arial"/>
              </a:rPr>
              <a:t> </a:t>
            </a:r>
            <a:r>
              <a:rPr sz="1100" spc="-60" dirty="0">
                <a:latin typeface="Tahoma"/>
                <a:cs typeface="Tahoma"/>
              </a:rPr>
              <a:t>where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V</a:t>
            </a:r>
            <a:r>
              <a:rPr sz="1100" i="1" spc="15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vertices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E</a:t>
            </a:r>
            <a:r>
              <a:rPr sz="1100" i="1" spc="9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2-</a:t>
            </a:r>
            <a:r>
              <a:rPr sz="1100" spc="-50" dirty="0">
                <a:latin typeface="Tahoma"/>
                <a:cs typeface="Tahoma"/>
              </a:rPr>
              <a:t>element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subsets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-20" dirty="0">
                <a:latin typeface="Arial"/>
                <a:cs typeface="Arial"/>
              </a:rPr>
              <a:t>V</a:t>
            </a:r>
            <a:r>
              <a:rPr sz="1100" i="1" spc="-130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.</a:t>
            </a:r>
            <a:endParaRPr sz="1100" dirty="0">
              <a:latin typeface="Tahoma"/>
              <a:cs typeface="Tahoma"/>
            </a:endParaRPr>
          </a:p>
          <a:p>
            <a:pPr marL="12700" marR="287655">
              <a:lnSpc>
                <a:spcPct val="102600"/>
              </a:lnSpc>
              <a:spcBef>
                <a:spcPts val="300"/>
              </a:spcBef>
            </a:pPr>
            <a:r>
              <a:rPr sz="1100" b="1" spc="-20" dirty="0">
                <a:latin typeface="Arial"/>
                <a:cs typeface="Arial"/>
              </a:rPr>
              <a:t>Adjacent</a:t>
            </a:r>
            <a:r>
              <a:rPr sz="1100" spc="-20" dirty="0">
                <a:latin typeface="Tahoma"/>
                <a:cs typeface="Tahoma"/>
              </a:rPr>
              <a:t>.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Two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vertices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adjacent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connected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by </a:t>
            </a:r>
            <a:r>
              <a:rPr sz="1100" spc="-25" dirty="0">
                <a:latin typeface="Tahoma"/>
                <a:cs typeface="Tahoma"/>
              </a:rPr>
              <a:t>an </a:t>
            </a:r>
            <a:r>
              <a:rPr sz="1100" spc="-45" dirty="0">
                <a:latin typeface="Tahoma"/>
                <a:cs typeface="Tahoma"/>
              </a:rPr>
              <a:t>edge.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Two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edges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adjacent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share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vertex.</a:t>
            </a:r>
            <a:endParaRPr sz="1100" dirty="0">
              <a:latin typeface="Tahoma"/>
              <a:cs typeface="Tahoma"/>
            </a:endParaRPr>
          </a:p>
          <a:p>
            <a:pPr marL="12700" marR="163195">
              <a:lnSpc>
                <a:spcPct val="102600"/>
              </a:lnSpc>
              <a:spcBef>
                <a:spcPts val="300"/>
              </a:spcBef>
            </a:pPr>
            <a:r>
              <a:rPr sz="1100" b="1" dirty="0">
                <a:latin typeface="Arial"/>
                <a:cs typeface="Arial"/>
              </a:rPr>
              <a:t>Bipartite</a:t>
            </a:r>
            <a:r>
              <a:rPr sz="1100" b="1" spc="35" dirty="0">
                <a:latin typeface="Arial"/>
                <a:cs typeface="Arial"/>
              </a:rPr>
              <a:t> </a:t>
            </a:r>
            <a:r>
              <a:rPr sz="1100" b="1" spc="-30" dirty="0">
                <a:latin typeface="Arial"/>
                <a:cs typeface="Arial"/>
              </a:rPr>
              <a:t>Graph</a:t>
            </a:r>
            <a:r>
              <a:rPr sz="1100" spc="-30" dirty="0">
                <a:latin typeface="Tahoma"/>
                <a:cs typeface="Tahoma"/>
              </a:rPr>
              <a:t>.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graph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which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possible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divide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35" dirty="0">
                <a:latin typeface="Tahoma"/>
                <a:cs typeface="Tahoma"/>
              </a:rPr>
              <a:t>vertices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disjoint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sets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such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no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edges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between </a:t>
            </a:r>
            <a:r>
              <a:rPr sz="1100" spc="-35" dirty="0">
                <a:latin typeface="Tahoma"/>
                <a:cs typeface="Tahoma"/>
              </a:rPr>
              <a:t>any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 </a:t>
            </a:r>
            <a:r>
              <a:rPr sz="1100" spc="-35" dirty="0">
                <a:latin typeface="Tahoma"/>
                <a:cs typeface="Tahoma"/>
              </a:rPr>
              <a:t>vertices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same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set.</a:t>
            </a:r>
            <a:endParaRPr sz="1100" dirty="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sz="1100" b="1" spc="-30" dirty="0">
                <a:latin typeface="Arial"/>
                <a:cs typeface="Arial"/>
              </a:rPr>
              <a:t>Complete</a:t>
            </a:r>
            <a:r>
              <a:rPr sz="1100" b="1" spc="3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Bipartite</a:t>
            </a:r>
            <a:r>
              <a:rPr sz="1100" b="1" spc="40" dirty="0">
                <a:latin typeface="Arial"/>
                <a:cs typeface="Arial"/>
              </a:rPr>
              <a:t> </a:t>
            </a:r>
            <a:r>
              <a:rPr sz="1100" b="1" spc="-30" dirty="0">
                <a:latin typeface="Arial"/>
                <a:cs typeface="Arial"/>
              </a:rPr>
              <a:t>Graph</a:t>
            </a:r>
            <a:r>
              <a:rPr sz="1100" spc="-30" dirty="0">
                <a:latin typeface="Tahoma"/>
                <a:cs typeface="Tahoma"/>
              </a:rPr>
              <a:t>.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bipartite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graph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which </a:t>
            </a:r>
            <a:r>
              <a:rPr sz="1100" spc="-60" dirty="0">
                <a:latin typeface="Tahoma"/>
                <a:cs typeface="Tahoma"/>
              </a:rPr>
              <a:t>every</a:t>
            </a:r>
            <a:r>
              <a:rPr sz="1100" spc="-30" dirty="0">
                <a:latin typeface="Tahoma"/>
                <a:cs typeface="Tahoma"/>
              </a:rPr>
              <a:t> vertex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first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adjacent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every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vertex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second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set.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100" b="1" spc="-30" dirty="0">
                <a:latin typeface="Arial"/>
                <a:cs typeface="Arial"/>
              </a:rPr>
              <a:t>Complete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b="1" spc="-30" dirty="0">
                <a:latin typeface="Arial"/>
                <a:cs typeface="Arial"/>
              </a:rPr>
              <a:t>Graph</a:t>
            </a:r>
            <a:r>
              <a:rPr sz="1100" spc="-30" dirty="0">
                <a:latin typeface="Tahoma"/>
                <a:cs typeface="Tahoma"/>
              </a:rPr>
              <a:t>.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graph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which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every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pair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vertices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adjacent</a:t>
            </a:r>
            <a:endParaRPr sz="1100" dirty="0">
              <a:latin typeface="Tahoma"/>
              <a:cs typeface="Tahoma"/>
            </a:endParaRPr>
          </a:p>
          <a:p>
            <a:pPr marL="12700" marR="247015">
              <a:lnSpc>
                <a:spcPct val="102600"/>
              </a:lnSpc>
              <a:spcBef>
                <a:spcPts val="300"/>
              </a:spcBef>
            </a:pPr>
            <a:r>
              <a:rPr sz="1100" b="1" spc="-45" dirty="0">
                <a:latin typeface="Arial"/>
                <a:cs typeface="Arial"/>
              </a:rPr>
              <a:t>Connected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b="1" spc="-30" dirty="0">
                <a:latin typeface="Arial"/>
                <a:cs typeface="Arial"/>
              </a:rPr>
              <a:t>Graph</a:t>
            </a:r>
            <a:r>
              <a:rPr sz="1100" spc="-30" dirty="0">
                <a:latin typeface="Tahoma"/>
                <a:cs typeface="Tahoma"/>
              </a:rPr>
              <a:t>.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There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path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from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any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vertex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any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other </a:t>
            </a:r>
            <a:r>
              <a:rPr sz="1100" spc="-10" dirty="0">
                <a:latin typeface="Tahoma"/>
                <a:cs typeface="Tahoma"/>
              </a:rPr>
              <a:t>vertex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244498"/>
            <a:ext cx="65265" cy="65265"/>
          </a:xfrm>
          <a:prstGeom prst="rect">
            <a:avLst/>
          </a:prstGeom>
        </p:spPr>
      </p:pic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626603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180780"/>
            <a:ext cx="65265" cy="65265"/>
          </a:xfrm>
          <a:prstGeom prst="rect">
            <a:avLst/>
          </a:prstGeom>
        </p:spPr>
      </p:pic>
      <p:pic>
        <p:nvPic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562898"/>
            <a:ext cx="65265" cy="65265"/>
          </a:xfrm>
          <a:prstGeom prst="rect">
            <a:avLst/>
          </a:prstGeom>
        </p:spPr>
      </p:pic>
      <p:pic>
        <p:nvPicPr>
          <p:cNvPr id="9" name="object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2772918"/>
            <a:ext cx="65265" cy="6526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More</a:t>
            </a:r>
            <a:r>
              <a:rPr spc="-85" dirty="0"/>
              <a:t> </a:t>
            </a:r>
            <a:r>
              <a:rPr spc="-25" dirty="0"/>
              <a:t>Definitions</a:t>
            </a:r>
          </a:p>
        </p:txBody>
      </p:sp>
      <p:pic>
        <p:nvPic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580339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496886"/>
            <a:ext cx="4050665" cy="2694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106045">
              <a:lnSpc>
                <a:spcPct val="102699"/>
              </a:lnSpc>
              <a:spcBef>
                <a:spcPts val="55"/>
              </a:spcBef>
            </a:pPr>
            <a:r>
              <a:rPr sz="1100" b="1" spc="-30" dirty="0">
                <a:latin typeface="Arial"/>
                <a:cs typeface="Arial"/>
              </a:rPr>
              <a:t>Chromatic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Number</a:t>
            </a:r>
            <a:r>
              <a:rPr sz="1100" spc="-10" dirty="0">
                <a:latin typeface="Tahoma"/>
                <a:cs typeface="Tahoma"/>
              </a:rPr>
              <a:t>.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minimum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number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colors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required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 </a:t>
            </a:r>
            <a:r>
              <a:rPr sz="1100" spc="-45" dirty="0">
                <a:latin typeface="Tahoma"/>
                <a:cs typeface="Tahoma"/>
              </a:rPr>
              <a:t>proper </a:t>
            </a:r>
            <a:r>
              <a:rPr sz="1100" spc="-40" dirty="0">
                <a:latin typeface="Tahoma"/>
                <a:cs typeface="Tahoma"/>
              </a:rPr>
              <a:t>vertex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coloring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graph</a:t>
            </a:r>
            <a:endParaRPr sz="1100" dirty="0">
              <a:latin typeface="Tahoma"/>
              <a:cs typeface="Tahoma"/>
            </a:endParaRPr>
          </a:p>
          <a:p>
            <a:pPr marL="12700" marR="20955">
              <a:lnSpc>
                <a:spcPct val="102600"/>
              </a:lnSpc>
              <a:spcBef>
                <a:spcPts val="300"/>
              </a:spcBef>
            </a:pPr>
            <a:r>
              <a:rPr sz="1100" b="1" spc="-30" dirty="0">
                <a:latin typeface="Arial"/>
                <a:cs typeface="Arial"/>
              </a:rPr>
              <a:t>Cycle</a:t>
            </a:r>
            <a:r>
              <a:rPr sz="1100" spc="-30" dirty="0">
                <a:latin typeface="Tahoma"/>
                <a:cs typeface="Tahoma"/>
              </a:rPr>
              <a:t>.</a:t>
            </a:r>
            <a:r>
              <a:rPr sz="1100" spc="45" dirty="0">
                <a:latin typeface="Tahoma"/>
                <a:cs typeface="Tahoma"/>
              </a:rPr>
              <a:t> </a:t>
            </a: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path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starts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stops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same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vertex, </a:t>
            </a:r>
            <a:r>
              <a:rPr sz="1100" dirty="0">
                <a:latin typeface="Tahoma"/>
                <a:cs typeface="Tahoma"/>
              </a:rPr>
              <a:t>but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contains </a:t>
            </a:r>
            <a:r>
              <a:rPr sz="1100" spc="-10" dirty="0">
                <a:latin typeface="Tahoma"/>
                <a:cs typeface="Tahoma"/>
              </a:rPr>
              <a:t>no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other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repeated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vertices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100" b="1" spc="-20" dirty="0">
                <a:latin typeface="Arial"/>
                <a:cs typeface="Arial"/>
              </a:rPr>
              <a:t>Degree</a:t>
            </a:r>
            <a:r>
              <a:rPr sz="1100" b="1" spc="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of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Vertex</a:t>
            </a:r>
            <a:r>
              <a:rPr sz="1100" dirty="0">
                <a:latin typeface="Tahoma"/>
                <a:cs typeface="Tahoma"/>
              </a:rPr>
              <a:t>.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number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edges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incident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vertex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b="1" spc="-25" dirty="0">
                <a:latin typeface="Arial"/>
                <a:cs typeface="Arial"/>
              </a:rPr>
              <a:t>Euler</a:t>
            </a:r>
            <a:r>
              <a:rPr sz="1100" b="1" spc="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Path</a:t>
            </a:r>
            <a:r>
              <a:rPr sz="1100" dirty="0">
                <a:latin typeface="Tahoma"/>
                <a:cs typeface="Tahoma"/>
              </a:rPr>
              <a:t>.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walk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uses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each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edge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exactly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once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b="1" spc="-25" dirty="0">
                <a:latin typeface="Arial"/>
                <a:cs typeface="Arial"/>
              </a:rPr>
              <a:t>Euler</a:t>
            </a:r>
            <a:r>
              <a:rPr sz="1100" b="1" spc="1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Circuit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Euler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path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starts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stops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same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vertex</a:t>
            </a:r>
            <a:endParaRPr sz="1100" dirty="0">
              <a:latin typeface="Tahoma"/>
              <a:cs typeface="Tahoma"/>
            </a:endParaRPr>
          </a:p>
          <a:p>
            <a:pPr marL="12700" marR="127635">
              <a:lnSpc>
                <a:spcPct val="102600"/>
              </a:lnSpc>
              <a:spcBef>
                <a:spcPts val="300"/>
              </a:spcBef>
            </a:pPr>
            <a:r>
              <a:rPr sz="1100" b="1" spc="-10" dirty="0">
                <a:latin typeface="Arial"/>
                <a:cs typeface="Arial"/>
              </a:rPr>
              <a:t>Multigraph</a:t>
            </a:r>
            <a:r>
              <a:rPr sz="1100" spc="-10" dirty="0">
                <a:latin typeface="Tahoma"/>
                <a:cs typeface="Tahoma"/>
              </a:rPr>
              <a:t>.</a:t>
            </a:r>
            <a:r>
              <a:rPr sz="1100" spc="90" dirty="0">
                <a:latin typeface="Tahoma"/>
                <a:cs typeface="Tahoma"/>
              </a:rPr>
              <a:t> </a:t>
            </a: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graph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20" dirty="0">
                <a:latin typeface="Tahoma"/>
                <a:cs typeface="Tahoma"/>
              </a:rPr>
              <a:t> can </a:t>
            </a:r>
            <a:r>
              <a:rPr sz="1100" spc="-25" dirty="0">
                <a:latin typeface="Tahoma"/>
                <a:cs typeface="Tahoma"/>
              </a:rPr>
              <a:t>contain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multiple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edges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two </a:t>
            </a:r>
            <a:r>
              <a:rPr sz="1100" spc="-35" dirty="0">
                <a:latin typeface="Tahoma"/>
                <a:cs typeface="Tahoma"/>
              </a:rPr>
              <a:t>vertices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well </a:t>
            </a:r>
            <a:r>
              <a:rPr sz="1100" spc="-20" dirty="0">
                <a:latin typeface="Tahoma"/>
                <a:cs typeface="Tahoma"/>
              </a:rPr>
              <a:t>as</a:t>
            </a:r>
            <a:r>
              <a:rPr sz="1100" spc="-35" dirty="0">
                <a:latin typeface="Tahoma"/>
                <a:cs typeface="Tahoma"/>
              </a:rPr>
              <a:t> single </a:t>
            </a:r>
            <a:r>
              <a:rPr sz="1100" spc="-70" dirty="0">
                <a:latin typeface="Tahoma"/>
                <a:cs typeface="Tahoma"/>
              </a:rPr>
              <a:t>edge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loops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(an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edge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itself)</a:t>
            </a:r>
            <a:endParaRPr sz="1100" dirty="0">
              <a:latin typeface="Tahoma"/>
              <a:cs typeface="Tahoma"/>
            </a:endParaRPr>
          </a:p>
          <a:p>
            <a:pPr marL="12700" marR="302260" algn="just">
              <a:lnSpc>
                <a:spcPct val="102600"/>
              </a:lnSpc>
              <a:spcBef>
                <a:spcPts val="300"/>
              </a:spcBef>
            </a:pPr>
            <a:r>
              <a:rPr sz="1100" b="1" dirty="0">
                <a:latin typeface="Arial"/>
                <a:cs typeface="Arial"/>
              </a:rPr>
              <a:t>Path</a:t>
            </a:r>
            <a:r>
              <a:rPr sz="1100" dirty="0">
                <a:latin typeface="Tahoma"/>
                <a:cs typeface="Tahoma"/>
              </a:rPr>
              <a:t>.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walk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doesn’t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repeat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any vertices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(or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edges)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except </a:t>
            </a:r>
            <a:r>
              <a:rPr sz="1100" spc="-50" dirty="0">
                <a:latin typeface="Tahoma"/>
                <a:cs typeface="Tahoma"/>
              </a:rPr>
              <a:t>perhaps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first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last.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path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starts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ends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same </a:t>
            </a:r>
            <a:r>
              <a:rPr sz="1100" spc="-40" dirty="0">
                <a:latin typeface="Tahoma"/>
                <a:cs typeface="Tahoma"/>
              </a:rPr>
              <a:t>vertex,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known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as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Arial"/>
                <a:cs typeface="Arial"/>
              </a:rPr>
              <a:t>cycle</a:t>
            </a:r>
            <a:endParaRPr sz="1100" dirty="0">
              <a:latin typeface="Arial"/>
              <a:cs typeface="Arial"/>
            </a:endParaRPr>
          </a:p>
          <a:p>
            <a:pPr marL="12700" marR="17780" algn="just">
              <a:lnSpc>
                <a:spcPct val="102699"/>
              </a:lnSpc>
              <a:spcBef>
                <a:spcPts val="295"/>
              </a:spcBef>
            </a:pPr>
            <a:r>
              <a:rPr sz="1100" b="1" spc="-10" dirty="0">
                <a:latin typeface="Arial"/>
                <a:cs typeface="Arial"/>
              </a:rPr>
              <a:t>Planar</a:t>
            </a:r>
            <a:r>
              <a:rPr sz="1100" spc="-10" dirty="0">
                <a:latin typeface="Tahoma"/>
                <a:cs typeface="Tahoma"/>
              </a:rPr>
              <a:t>.</a:t>
            </a:r>
            <a:r>
              <a:rPr sz="1100" spc="40" dirty="0">
                <a:latin typeface="Tahoma"/>
                <a:cs typeface="Tahoma"/>
              </a:rPr>
              <a:t> </a:t>
            </a: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graph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drawn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(in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plane)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without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any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edges </a:t>
            </a:r>
            <a:r>
              <a:rPr sz="1100" spc="-10" dirty="0">
                <a:latin typeface="Tahoma"/>
                <a:cs typeface="Tahoma"/>
              </a:rPr>
              <a:t>crossing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962444"/>
            <a:ext cx="65265" cy="65265"/>
          </a:xfrm>
          <a:prstGeom prst="rect">
            <a:avLst/>
          </a:prstGeom>
        </p:spPr>
      </p:pic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344561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554594"/>
            <a:ext cx="65265" cy="65265"/>
          </a:xfrm>
          <a:prstGeom prst="rect">
            <a:avLst/>
          </a:prstGeom>
        </p:spPr>
      </p:pic>
      <p:pic>
        <p:nvPic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1764626"/>
            <a:ext cx="65265" cy="65265"/>
          </a:xfrm>
          <a:prstGeom prst="rect">
            <a:avLst/>
          </a:prstGeom>
        </p:spPr>
      </p:pic>
      <p:pic>
        <p:nvPicPr>
          <p:cNvPr id="9" name="object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1974659"/>
            <a:ext cx="65265" cy="65265"/>
          </a:xfrm>
          <a:prstGeom prst="rect">
            <a:avLst/>
          </a:prstGeom>
        </p:spPr>
      </p:pic>
      <p:pic>
        <p:nvPicPr>
          <p:cNvPr id="10" name="object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1089" y="2356764"/>
            <a:ext cx="65265" cy="65265"/>
          </a:xfrm>
          <a:prstGeom prst="rect">
            <a:avLst/>
          </a:prstGeom>
        </p:spPr>
      </p:pic>
      <p:pic>
        <p:nvPicPr>
          <p:cNvPr id="11" name="object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81089" y="2910941"/>
            <a:ext cx="65265" cy="6526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More</a:t>
            </a:r>
            <a:r>
              <a:rPr spc="-55" dirty="0"/>
              <a:t> </a:t>
            </a:r>
            <a:r>
              <a:rPr spc="-25" dirty="0"/>
              <a:t>Definitions</a:t>
            </a:r>
            <a:r>
              <a:rPr spc="-55" dirty="0"/>
              <a:t> </a:t>
            </a:r>
            <a:r>
              <a:rPr spc="-50" dirty="0"/>
              <a:t>2</a:t>
            </a:r>
          </a:p>
        </p:txBody>
      </p:sp>
      <p:pic>
        <p:nvPic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25894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542441"/>
            <a:ext cx="4079240" cy="25806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b="1" spc="-45" dirty="0">
                <a:latin typeface="Arial"/>
                <a:cs typeface="Arial"/>
              </a:rPr>
              <a:t>Subgraph</a:t>
            </a:r>
            <a:r>
              <a:rPr sz="1100" spc="-45" dirty="0">
                <a:latin typeface="Tahoma"/>
                <a:cs typeface="Tahoma"/>
              </a:rPr>
              <a:t>.</a:t>
            </a:r>
            <a:r>
              <a:rPr sz="1100" spc="4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H</a:t>
            </a:r>
            <a:r>
              <a:rPr sz="1100" i="1" spc="8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subgraph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G</a:t>
            </a:r>
            <a:r>
              <a:rPr sz="1100" i="1" spc="114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every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vertex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edge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H</a:t>
            </a:r>
            <a:r>
              <a:rPr sz="1100" i="1" spc="8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also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vertex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edge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-135" dirty="0">
                <a:latin typeface="Arial"/>
                <a:cs typeface="Arial"/>
              </a:rPr>
              <a:t>G</a:t>
            </a:r>
            <a:r>
              <a:rPr sz="1100" i="1" spc="-180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sz="1100" b="1" spc="-35" dirty="0">
                <a:latin typeface="Arial"/>
                <a:cs typeface="Arial"/>
              </a:rPr>
              <a:t>Induced</a:t>
            </a:r>
            <a:r>
              <a:rPr sz="1100" b="1" dirty="0">
                <a:latin typeface="Arial"/>
                <a:cs typeface="Arial"/>
              </a:rPr>
              <a:t> </a:t>
            </a:r>
            <a:r>
              <a:rPr sz="1100" b="1" spc="-45" dirty="0">
                <a:latin typeface="Arial"/>
                <a:cs typeface="Arial"/>
              </a:rPr>
              <a:t>Subgraph</a:t>
            </a:r>
            <a:r>
              <a:rPr sz="1100" spc="-45" dirty="0">
                <a:latin typeface="Tahoma"/>
                <a:cs typeface="Tahoma"/>
              </a:rPr>
              <a:t>.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H</a:t>
            </a:r>
            <a:r>
              <a:rPr sz="1100" i="1" spc="7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induced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subgraph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G</a:t>
            </a:r>
            <a:r>
              <a:rPr sz="1100" i="1" spc="10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every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vertex </a:t>
            </a:r>
            <a:r>
              <a:rPr sz="1100" spc="-25" dirty="0">
                <a:latin typeface="Tahoma"/>
                <a:cs typeface="Tahoma"/>
              </a:rPr>
              <a:t>of </a:t>
            </a:r>
            <a:r>
              <a:rPr sz="1100" i="1" dirty="0">
                <a:latin typeface="Arial"/>
                <a:cs typeface="Arial"/>
              </a:rPr>
              <a:t>H</a:t>
            </a:r>
            <a:r>
              <a:rPr sz="1100" i="1" spc="6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vertex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G</a:t>
            </a:r>
            <a:r>
              <a:rPr sz="1100" i="1" spc="10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 </a:t>
            </a:r>
            <a:r>
              <a:rPr sz="1100" spc="-40" dirty="0">
                <a:latin typeface="Tahoma"/>
                <a:cs typeface="Tahoma"/>
              </a:rPr>
              <a:t>each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pair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vertices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H</a:t>
            </a:r>
            <a:r>
              <a:rPr sz="1100" i="1" spc="75" dirty="0">
                <a:latin typeface="Arial"/>
                <a:cs typeface="Arial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adjacent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H</a:t>
            </a:r>
            <a:r>
              <a:rPr sz="1100" i="1" spc="80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if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only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adjacent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G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sz="1100" b="1" dirty="0">
                <a:latin typeface="Arial"/>
                <a:cs typeface="Arial"/>
              </a:rPr>
              <a:t>Tree</a:t>
            </a:r>
            <a:r>
              <a:rPr sz="1100" dirty="0">
                <a:latin typeface="Tahoma"/>
                <a:cs typeface="Tahoma"/>
              </a:rPr>
              <a:t>.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connected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graph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no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cycles.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remove</a:t>
            </a:r>
            <a:r>
              <a:rPr sz="1100" spc="-25" dirty="0">
                <a:latin typeface="Tahoma"/>
                <a:cs typeface="Tahoma"/>
              </a:rPr>
              <a:t> the </a:t>
            </a:r>
            <a:r>
              <a:rPr sz="1100" spc="-45" dirty="0">
                <a:latin typeface="Tahoma"/>
                <a:cs typeface="Tahoma"/>
              </a:rPr>
              <a:t>requirement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graph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connected,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graph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becomes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b="1" spc="-35" dirty="0">
                <a:latin typeface="Arial"/>
                <a:cs typeface="Arial"/>
              </a:rPr>
              <a:t>forest</a:t>
            </a:r>
            <a:r>
              <a:rPr sz="1100" spc="-35" dirty="0">
                <a:latin typeface="Tahoma"/>
                <a:cs typeface="Tahoma"/>
              </a:rPr>
              <a:t>.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vertices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tree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degree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1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known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Arial"/>
                <a:cs typeface="Arial"/>
              </a:rPr>
              <a:t>leaves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sz="1100" b="1" dirty="0">
                <a:latin typeface="Arial"/>
                <a:cs typeface="Arial"/>
              </a:rPr>
              <a:t>Vertex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b="1" spc="-40" dirty="0">
                <a:latin typeface="Arial"/>
                <a:cs typeface="Arial"/>
              </a:rPr>
              <a:t>Coloring</a:t>
            </a:r>
            <a:r>
              <a:rPr sz="1100" spc="-40" dirty="0">
                <a:latin typeface="Tahoma"/>
                <a:cs typeface="Tahoma"/>
              </a:rPr>
              <a:t>.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assignment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colors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each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vertices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0" dirty="0">
                <a:latin typeface="Tahoma"/>
                <a:cs typeface="Tahoma"/>
              </a:rPr>
              <a:t> a </a:t>
            </a:r>
            <a:r>
              <a:rPr sz="1100" spc="-25" dirty="0">
                <a:latin typeface="Tahoma"/>
                <a:cs typeface="Tahoma"/>
              </a:rPr>
              <a:t>graph.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vertex </a:t>
            </a:r>
            <a:r>
              <a:rPr sz="1100" spc="-35" dirty="0">
                <a:latin typeface="Tahoma"/>
                <a:cs typeface="Tahoma"/>
              </a:rPr>
              <a:t>coloring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b="1" spc="-40" dirty="0">
                <a:latin typeface="Arial"/>
                <a:cs typeface="Arial"/>
              </a:rPr>
              <a:t>proper</a:t>
            </a:r>
            <a:r>
              <a:rPr sz="1100" b="1" spc="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adjacent vertices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always </a:t>
            </a:r>
            <a:r>
              <a:rPr sz="1100" spc="-40" dirty="0">
                <a:latin typeface="Tahoma"/>
                <a:cs typeface="Tahoma"/>
              </a:rPr>
              <a:t>colored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differently</a:t>
            </a:r>
            <a:endParaRPr sz="1100">
              <a:latin typeface="Tahoma"/>
              <a:cs typeface="Tahoma"/>
            </a:endParaRPr>
          </a:p>
          <a:p>
            <a:pPr marL="12700" marR="70485">
              <a:lnSpc>
                <a:spcPct val="102600"/>
              </a:lnSpc>
              <a:spcBef>
                <a:spcPts val="300"/>
              </a:spcBef>
            </a:pPr>
            <a:r>
              <a:rPr sz="1100" b="1" dirty="0">
                <a:latin typeface="Arial"/>
                <a:cs typeface="Arial"/>
              </a:rPr>
              <a:t>Walk</a:t>
            </a:r>
            <a:r>
              <a:rPr sz="1100" dirty="0">
                <a:latin typeface="Tahoma"/>
                <a:cs typeface="Tahoma"/>
              </a:rPr>
              <a:t>.</a:t>
            </a:r>
            <a:r>
              <a:rPr sz="1100" spc="80" dirty="0">
                <a:latin typeface="Tahoma"/>
                <a:cs typeface="Tahoma"/>
              </a:rPr>
              <a:t> </a:t>
            </a: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sequence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vertices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such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consecutive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vertices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are </a:t>
            </a:r>
            <a:r>
              <a:rPr sz="1100" spc="-30" dirty="0">
                <a:latin typeface="Tahoma"/>
                <a:cs typeface="Tahoma"/>
              </a:rPr>
              <a:t>adjacent.</a:t>
            </a:r>
            <a:r>
              <a:rPr sz="1100" spc="45" dirty="0">
                <a:latin typeface="Tahoma"/>
                <a:cs typeface="Tahoma"/>
              </a:rPr>
              <a:t> </a:t>
            </a: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walk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which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no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edge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repeated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known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trail,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trail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which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no</a:t>
            </a:r>
            <a:r>
              <a:rPr sz="1100" spc="-40" dirty="0">
                <a:latin typeface="Tahoma"/>
                <a:cs typeface="Tahoma"/>
              </a:rPr>
              <a:t> vertex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repeated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known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b="1" spc="-20" dirty="0">
                <a:latin typeface="Arial"/>
                <a:cs typeface="Arial"/>
              </a:rPr>
              <a:t>path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007999"/>
            <a:ext cx="65265" cy="65265"/>
          </a:xfrm>
          <a:prstGeom prst="rect">
            <a:avLst/>
          </a:prstGeom>
        </p:spPr>
      </p:pic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562176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116366"/>
            <a:ext cx="65265" cy="65265"/>
          </a:xfrm>
          <a:prstGeom prst="rect">
            <a:avLst/>
          </a:prstGeom>
        </p:spPr>
      </p:pic>
      <p:pic>
        <p:nvPic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670543"/>
            <a:ext cx="65265" cy="6526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43573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Properties</a:t>
            </a:r>
            <a:r>
              <a:rPr spc="-4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50" dirty="0"/>
              <a:t>Trees</a:t>
            </a:r>
          </a:p>
        </p:txBody>
      </p:sp>
      <p:pic>
        <p:nvPic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207" y="594616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0050" y="511175"/>
            <a:ext cx="4079875" cy="1118063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b="1" dirty="0">
                <a:latin typeface="Arial"/>
                <a:cs typeface="Arial"/>
              </a:rPr>
              <a:t>tree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connected</a:t>
            </a:r>
            <a:r>
              <a:rPr sz="1100" spc="-40" dirty="0">
                <a:latin typeface="Tahoma"/>
                <a:cs typeface="Tahoma"/>
              </a:rPr>
              <a:t> graph </a:t>
            </a:r>
            <a:r>
              <a:rPr sz="1100" spc="-25" dirty="0">
                <a:latin typeface="Tahoma"/>
                <a:cs typeface="Tahoma"/>
              </a:rPr>
              <a:t>containing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no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cycles.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b="1" spc="-30" dirty="0">
                <a:latin typeface="Arial"/>
                <a:cs typeface="Arial"/>
              </a:rPr>
              <a:t>forest</a:t>
            </a:r>
            <a:r>
              <a:rPr sz="1100" b="1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graph </a:t>
            </a:r>
            <a:r>
              <a:rPr sz="1100" spc="-25" dirty="0">
                <a:latin typeface="Tahoma"/>
                <a:cs typeface="Tahoma"/>
              </a:rPr>
              <a:t>containing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no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cycles</a:t>
            </a:r>
            <a:endParaRPr sz="1100" dirty="0">
              <a:latin typeface="Tahoma"/>
              <a:cs typeface="Tahoma"/>
            </a:endParaRPr>
          </a:p>
          <a:p>
            <a:pPr marL="12700" marR="93980">
              <a:lnSpc>
                <a:spcPct val="102600"/>
              </a:lnSpc>
              <a:spcBef>
                <a:spcPts val="300"/>
              </a:spcBef>
            </a:pPr>
            <a:r>
              <a:rPr sz="1100" b="1" spc="-40" dirty="0">
                <a:latin typeface="Arial"/>
                <a:cs typeface="Arial"/>
              </a:rPr>
              <a:t>Proposition</a:t>
            </a:r>
            <a:r>
              <a:rPr sz="1100" b="1" spc="5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4.2.1</a:t>
            </a:r>
            <a:r>
              <a:rPr sz="1100" dirty="0">
                <a:latin typeface="Tahoma"/>
                <a:cs typeface="Tahoma"/>
              </a:rPr>
              <a:t>.</a:t>
            </a:r>
            <a:r>
              <a:rPr sz="1100" spc="95" dirty="0">
                <a:latin typeface="Tahoma"/>
                <a:cs typeface="Tahoma"/>
              </a:rPr>
              <a:t> </a:t>
            </a: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graph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spc="60" dirty="0">
                <a:latin typeface="Arial"/>
                <a:cs typeface="Arial"/>
              </a:rPr>
              <a:t>T</a:t>
            </a:r>
            <a:r>
              <a:rPr sz="1100" i="1" spc="15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tree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only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every </a:t>
            </a:r>
            <a:r>
              <a:rPr sz="1100" spc="-10" dirty="0">
                <a:latin typeface="Tahoma"/>
                <a:cs typeface="Tahoma"/>
              </a:rPr>
              <a:t>pair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distinct</a:t>
            </a:r>
            <a:r>
              <a:rPr sz="1100" spc="-35" dirty="0">
                <a:latin typeface="Tahoma"/>
                <a:cs typeface="Tahoma"/>
              </a:rPr>
              <a:t> vertices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60" dirty="0">
                <a:latin typeface="Arial"/>
                <a:cs typeface="Arial"/>
              </a:rPr>
              <a:t>T</a:t>
            </a:r>
            <a:r>
              <a:rPr sz="1100" i="1" spc="125" dirty="0">
                <a:latin typeface="Arial"/>
                <a:cs typeface="Arial"/>
              </a:rPr>
              <a:t> </a:t>
            </a:r>
            <a:r>
              <a:rPr sz="1100" spc="-45" dirty="0">
                <a:latin typeface="Tahoma"/>
                <a:cs typeface="Tahoma"/>
              </a:rPr>
              <a:t>there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unique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path</a:t>
            </a:r>
            <a:endParaRPr sz="1100" dirty="0">
              <a:latin typeface="Tahoma"/>
              <a:cs typeface="Tahoma"/>
            </a:endParaRPr>
          </a:p>
          <a:p>
            <a:pPr marL="12700" marR="6985">
              <a:lnSpc>
                <a:spcPct val="102600"/>
              </a:lnSpc>
              <a:spcBef>
                <a:spcPts val="300"/>
              </a:spcBef>
            </a:pPr>
            <a:r>
              <a:rPr sz="1100" b="1" spc="-45" dirty="0">
                <a:latin typeface="Arial"/>
                <a:cs typeface="Arial"/>
              </a:rPr>
              <a:t>Corollary</a:t>
            </a:r>
            <a:r>
              <a:rPr sz="1100" b="1" spc="4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4.2.2</a:t>
            </a:r>
            <a:r>
              <a:rPr sz="1100" dirty="0">
                <a:latin typeface="Tahoma"/>
                <a:cs typeface="Tahoma"/>
              </a:rPr>
              <a:t>.</a:t>
            </a:r>
            <a:r>
              <a:rPr sz="1100" spc="85" dirty="0">
                <a:latin typeface="Tahoma"/>
                <a:cs typeface="Tahoma"/>
              </a:rPr>
              <a:t> </a:t>
            </a: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graph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14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forest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only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pair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vertices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120" dirty="0">
                <a:latin typeface="Arial"/>
                <a:cs typeface="Arial"/>
              </a:rPr>
              <a:t> </a:t>
            </a:r>
            <a:r>
              <a:rPr sz="1100" spc="-45" dirty="0">
                <a:latin typeface="Tahoma"/>
                <a:cs typeface="Tahoma"/>
              </a:rPr>
              <a:t>there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most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path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8207" y="976721"/>
            <a:ext cx="65265" cy="65265"/>
          </a:xfrm>
          <a:prstGeom prst="rect">
            <a:avLst/>
          </a:prstGeom>
        </p:spPr>
      </p:pic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8207" y="1358838"/>
            <a:ext cx="65265" cy="65265"/>
          </a:xfrm>
          <a:prstGeom prst="rect">
            <a:avLst/>
          </a:prstGeom>
        </p:spPr>
      </p:pic>
      <p:pic>
        <p:nvPicPr>
          <p:cNvPr id="1026" name="Picture 2" descr="Trees">
            <a:extLst>
              <a:ext uri="{FF2B5EF4-FFF2-40B4-BE49-F238E27FC236}">
                <a16:creationId xmlns:a16="http://schemas.microsoft.com/office/drawing/2014/main" id="{E71F33F4-2BBF-AC1A-871D-A0714EE553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207" y="1831513"/>
            <a:ext cx="4079876" cy="1236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59048-2EAA-21EC-EE49-1FF027875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6D58813-1289-CF33-B64E-0A69DA707E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43573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Properties</a:t>
            </a:r>
            <a:r>
              <a:rPr spc="-4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50" dirty="0"/>
              <a:t>Trees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675958DA-F194-C1C3-1AC7-419486CEA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907364"/>
            <a:ext cx="65265" cy="65265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788C366F-4094-DA4B-F6C0-B6D3C8FEB2E6}"/>
              </a:ext>
            </a:extLst>
          </p:cNvPr>
          <p:cNvSpPr txBox="1"/>
          <p:nvPr/>
        </p:nvSpPr>
        <p:spPr>
          <a:xfrm>
            <a:off x="402932" y="823923"/>
            <a:ext cx="4079875" cy="73090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167640">
              <a:lnSpc>
                <a:spcPct val="102600"/>
              </a:lnSpc>
              <a:spcBef>
                <a:spcPts val="300"/>
              </a:spcBef>
            </a:pPr>
            <a:r>
              <a:rPr sz="1100" b="1" spc="-40" dirty="0">
                <a:latin typeface="Arial"/>
                <a:cs typeface="Arial"/>
              </a:rPr>
              <a:t>Proposition</a:t>
            </a:r>
            <a:r>
              <a:rPr sz="1100" b="1" spc="4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4.2.3</a:t>
            </a:r>
            <a:r>
              <a:rPr sz="1100" dirty="0">
                <a:latin typeface="Tahoma"/>
                <a:cs typeface="Tahoma"/>
              </a:rPr>
              <a:t>.</a:t>
            </a:r>
            <a:r>
              <a:rPr sz="1100" spc="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tree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at</a:t>
            </a:r>
            <a:r>
              <a:rPr sz="1100" spc="-25" dirty="0">
                <a:latin typeface="Tahoma"/>
                <a:cs typeface="Tahoma"/>
              </a:rPr>
              <a:t> least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vertices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has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least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vertices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degree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one</a:t>
            </a:r>
            <a:endParaRPr sz="1100" dirty="0">
              <a:latin typeface="Tahoma"/>
              <a:cs typeface="Tahoma"/>
            </a:endParaRPr>
          </a:p>
          <a:p>
            <a:pPr marL="12700" marR="289560">
              <a:lnSpc>
                <a:spcPct val="102600"/>
              </a:lnSpc>
              <a:spcBef>
                <a:spcPts val="300"/>
              </a:spcBef>
            </a:pPr>
            <a:r>
              <a:rPr sz="1100" b="1" spc="-40" dirty="0">
                <a:latin typeface="Arial"/>
                <a:cs typeface="Arial"/>
              </a:rPr>
              <a:t>Proposition</a:t>
            </a:r>
            <a:r>
              <a:rPr sz="1100" b="1" spc="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4.2.4</a:t>
            </a:r>
            <a:r>
              <a:rPr sz="1100" dirty="0">
                <a:latin typeface="Tahoma"/>
                <a:cs typeface="Tahoma"/>
              </a:rPr>
              <a:t>.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Let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spc="60" dirty="0">
                <a:latin typeface="Arial"/>
                <a:cs typeface="Arial"/>
              </a:rPr>
              <a:t>T</a:t>
            </a:r>
            <a:r>
              <a:rPr sz="1100" i="1" spc="125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tree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v</a:t>
            </a:r>
            <a:r>
              <a:rPr sz="1100" i="1" spc="10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vertices and </a:t>
            </a:r>
            <a:r>
              <a:rPr sz="1100" i="1" dirty="0">
                <a:latin typeface="Arial"/>
                <a:cs typeface="Arial"/>
              </a:rPr>
              <a:t>e</a:t>
            </a:r>
            <a:r>
              <a:rPr sz="1100" i="1" spc="75" dirty="0">
                <a:latin typeface="Arial"/>
                <a:cs typeface="Arial"/>
              </a:rPr>
              <a:t> </a:t>
            </a:r>
            <a:r>
              <a:rPr sz="1100" spc="-55" dirty="0">
                <a:latin typeface="Tahoma"/>
                <a:cs typeface="Tahoma"/>
              </a:rPr>
              <a:t>edges. </a:t>
            </a:r>
            <a:r>
              <a:rPr sz="1100" dirty="0">
                <a:latin typeface="Tahoma"/>
                <a:cs typeface="Tahoma"/>
              </a:rPr>
              <a:t>Then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e</a:t>
            </a:r>
            <a:r>
              <a:rPr sz="1100" i="1" spc="2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v</a:t>
            </a:r>
            <a:r>
              <a:rPr sz="1100" i="1" spc="5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spc="-35" dirty="0">
                <a:latin typeface="Cambria"/>
                <a:cs typeface="Cambria"/>
              </a:rPr>
              <a:t> </a:t>
            </a:r>
            <a:r>
              <a:rPr sz="1100" spc="-50" dirty="0">
                <a:latin typeface="Tahoma"/>
                <a:cs typeface="Tahoma"/>
              </a:rPr>
              <a:t>1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64C93B82-B4EE-A476-AEAE-CA761A0A14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289469"/>
            <a:ext cx="65265" cy="65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614065"/>
      </p:ext>
    </p:extLst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0128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Rooted</a:t>
            </a:r>
            <a:r>
              <a:rPr spc="-100" dirty="0"/>
              <a:t> </a:t>
            </a:r>
            <a:r>
              <a:rPr spc="-55" dirty="0"/>
              <a:t>Trees</a:t>
            </a:r>
          </a:p>
        </p:txBody>
      </p:sp>
      <p:pic>
        <p:nvPic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207" y="518415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0050" y="434975"/>
            <a:ext cx="4008754" cy="202628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latin typeface="Tahoma"/>
                <a:cs typeface="Tahoma"/>
              </a:rPr>
              <a:t>One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vertex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tree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designated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Arial"/>
                <a:cs typeface="Arial"/>
              </a:rPr>
              <a:t>root</a:t>
            </a:r>
            <a:r>
              <a:rPr sz="1100" spc="-10" dirty="0">
                <a:latin typeface="Tahoma"/>
                <a:cs typeface="Tahoma"/>
              </a:rPr>
              <a:t>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every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other </a:t>
            </a:r>
            <a:r>
              <a:rPr sz="1100" spc="-40" dirty="0">
                <a:latin typeface="Tahoma"/>
                <a:cs typeface="Tahoma"/>
              </a:rPr>
              <a:t>vertex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tree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characterized </a:t>
            </a:r>
            <a:r>
              <a:rPr sz="1100" spc="-35" dirty="0">
                <a:latin typeface="Tahoma"/>
                <a:cs typeface="Tahoma"/>
              </a:rPr>
              <a:t>by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position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relative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20" dirty="0">
                <a:latin typeface="Tahoma"/>
                <a:cs typeface="Tahoma"/>
              </a:rPr>
              <a:t>root</a:t>
            </a:r>
            <a:endParaRPr sz="1100" dirty="0">
              <a:latin typeface="Tahoma"/>
              <a:cs typeface="Tahoma"/>
            </a:endParaRPr>
          </a:p>
          <a:p>
            <a:pPr marL="12700" marR="53340" algn="just">
              <a:lnSpc>
                <a:spcPct val="102600"/>
              </a:lnSpc>
              <a:spcBef>
                <a:spcPts val="300"/>
              </a:spcBef>
            </a:pPr>
            <a:r>
              <a:rPr sz="1100" spc="-20" dirty="0">
                <a:latin typeface="Tahoma"/>
                <a:cs typeface="Tahoma"/>
              </a:rPr>
              <a:t>From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any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vertex,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90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travel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back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root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exactly</a:t>
            </a:r>
            <a:r>
              <a:rPr sz="1100" spc="-45" dirty="0">
                <a:latin typeface="Tahoma"/>
                <a:cs typeface="Tahoma"/>
              </a:rPr>
              <a:t> one </a:t>
            </a:r>
            <a:r>
              <a:rPr sz="1100" spc="-65" dirty="0">
                <a:latin typeface="Tahoma"/>
                <a:cs typeface="Tahoma"/>
              </a:rPr>
              <a:t>way.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also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allows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us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describe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how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distinct</a:t>
            </a:r>
            <a:r>
              <a:rPr sz="1100" spc="-35" dirty="0">
                <a:latin typeface="Tahoma"/>
                <a:cs typeface="Tahoma"/>
              </a:rPr>
              <a:t> vertices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rooted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tree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10" dirty="0">
                <a:latin typeface="Tahoma"/>
                <a:cs typeface="Tahoma"/>
              </a:rPr>
              <a:t> related</a:t>
            </a:r>
            <a:endParaRPr sz="1100" dirty="0">
              <a:latin typeface="Tahoma"/>
              <a:cs typeface="Tahoma"/>
            </a:endParaRPr>
          </a:p>
          <a:p>
            <a:pPr marL="12700" marR="142875">
              <a:lnSpc>
                <a:spcPct val="102600"/>
              </a:lnSpc>
              <a:spcBef>
                <a:spcPts val="300"/>
              </a:spcBef>
            </a:pP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vertices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adjacent,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then</a:t>
            </a:r>
            <a:r>
              <a:rPr sz="1100" spc="-45" dirty="0">
                <a:latin typeface="Tahoma"/>
                <a:cs typeface="Tahoma"/>
              </a:rPr>
              <a:t> one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them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b="1" spc="-20" dirty="0">
                <a:latin typeface="Arial"/>
                <a:cs typeface="Arial"/>
              </a:rPr>
              <a:t>parent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30" dirty="0">
                <a:latin typeface="Tahoma"/>
                <a:cs typeface="Tahoma"/>
              </a:rPr>
              <a:t>other,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which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known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b="1" spc="-35" dirty="0">
                <a:latin typeface="Arial"/>
                <a:cs typeface="Arial"/>
              </a:rPr>
              <a:t>child</a:t>
            </a:r>
            <a:r>
              <a:rPr sz="1100" b="1" spc="-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parent</a:t>
            </a:r>
            <a:endParaRPr sz="1100" dirty="0">
              <a:latin typeface="Tahoma"/>
              <a:cs typeface="Tahoma"/>
            </a:endParaRPr>
          </a:p>
          <a:p>
            <a:pPr marL="12700" marR="3810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parent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vertex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closer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root.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root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tree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a </a:t>
            </a:r>
            <a:r>
              <a:rPr sz="1100" spc="-40" dirty="0">
                <a:latin typeface="Tahoma"/>
                <a:cs typeface="Tahoma"/>
              </a:rPr>
              <a:t>parent, </a:t>
            </a:r>
            <a:r>
              <a:rPr sz="1100" dirty="0">
                <a:latin typeface="Tahoma"/>
                <a:cs typeface="Tahoma"/>
              </a:rPr>
              <a:t>but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child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vertex.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non-</a:t>
            </a:r>
            <a:r>
              <a:rPr sz="1100" dirty="0">
                <a:latin typeface="Tahoma"/>
                <a:cs typeface="Tahoma"/>
              </a:rPr>
              <a:t>root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vertices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have </a:t>
            </a:r>
            <a:r>
              <a:rPr sz="1100" i="1" spc="-30" dirty="0">
                <a:latin typeface="Arial"/>
                <a:cs typeface="Arial"/>
              </a:rPr>
              <a:t>exactly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i="1" spc="-70" dirty="0">
                <a:latin typeface="Arial"/>
                <a:cs typeface="Arial"/>
              </a:rPr>
              <a:t>one</a:t>
            </a:r>
            <a:r>
              <a:rPr sz="1100" i="1" spc="5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parent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8207" y="1072606"/>
            <a:ext cx="65265" cy="65265"/>
          </a:xfrm>
          <a:prstGeom prst="rect">
            <a:avLst/>
          </a:prstGeom>
        </p:spPr>
      </p:pic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8207" y="1626783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8207" y="2008887"/>
            <a:ext cx="65265" cy="65265"/>
          </a:xfrm>
          <a:prstGeom prst="rect">
            <a:avLst/>
          </a:prstGeom>
        </p:spPr>
      </p:pic>
      <p:pic>
        <p:nvPicPr>
          <p:cNvPr id="2050" name="Picture 2" descr="Graph Theory | Rooting a Tree. Today, we are going to see how we can… | by  Kelvin Jose | TDS Archive | Medium">
            <a:extLst>
              <a:ext uri="{FF2B5EF4-FFF2-40B4-BE49-F238E27FC236}">
                <a16:creationId xmlns:a16="http://schemas.microsoft.com/office/drawing/2014/main" id="{5B479150-C8E1-51CC-6D95-0D3B408BC9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6450" y="2347099"/>
            <a:ext cx="2076450" cy="1059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69100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More</a:t>
            </a:r>
            <a:r>
              <a:rPr spc="-95" dirty="0"/>
              <a:t> </a:t>
            </a:r>
            <a:r>
              <a:rPr dirty="0"/>
              <a:t>on</a:t>
            </a:r>
            <a:r>
              <a:rPr spc="-90" dirty="0"/>
              <a:t> </a:t>
            </a:r>
            <a:r>
              <a:rPr spc="-10" dirty="0"/>
              <a:t>Rooted</a:t>
            </a:r>
            <a:r>
              <a:rPr spc="-90" dirty="0"/>
              <a:t> </a:t>
            </a:r>
            <a:r>
              <a:rPr spc="-50" dirty="0"/>
              <a:t>Trees</a:t>
            </a:r>
          </a:p>
        </p:txBody>
      </p:sp>
      <p:pic>
        <p:nvPic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207" y="670828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0050" y="587375"/>
            <a:ext cx="4007485" cy="154813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104775">
              <a:lnSpc>
                <a:spcPct val="102600"/>
              </a:lnSpc>
              <a:spcBef>
                <a:spcPts val="55"/>
              </a:spcBef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vertex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v</a:t>
            </a:r>
            <a:r>
              <a:rPr sz="1100" i="1" spc="10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b="1" spc="-55" dirty="0">
                <a:latin typeface="Arial"/>
                <a:cs typeface="Arial"/>
              </a:rPr>
              <a:t>descendant</a:t>
            </a:r>
            <a:r>
              <a:rPr sz="1100" b="1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vertex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u</a:t>
            </a:r>
            <a:r>
              <a:rPr sz="1100" i="1" spc="40" dirty="0">
                <a:latin typeface="Arial"/>
                <a:cs typeface="Arial"/>
              </a:rPr>
              <a:t> </a:t>
            </a:r>
            <a:r>
              <a:rPr sz="1100" spc="-45" dirty="0">
                <a:latin typeface="Tahoma"/>
                <a:cs typeface="Tahoma"/>
              </a:rPr>
              <a:t>provided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u</a:t>
            </a:r>
            <a:r>
              <a:rPr sz="1100" i="1" spc="4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vertex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on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path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from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v</a:t>
            </a:r>
            <a:r>
              <a:rPr sz="1100" i="1" spc="8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root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6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case,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vertex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u</a:t>
            </a:r>
            <a:r>
              <a:rPr sz="1100" i="1" spc="2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b="1" spc="-50" dirty="0">
                <a:latin typeface="Arial"/>
                <a:cs typeface="Arial"/>
              </a:rPr>
              <a:t>ancestor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vertex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v</a:t>
            </a:r>
            <a:endParaRPr sz="1100" dirty="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sz="1100" spc="-20" dirty="0">
                <a:latin typeface="Tahoma"/>
                <a:cs typeface="Tahoma"/>
              </a:rPr>
              <a:t>When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there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pairs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vertices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neither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which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b="1" spc="-55" dirty="0">
                <a:latin typeface="Arial"/>
                <a:cs typeface="Arial"/>
              </a:rPr>
              <a:t>descendant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of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other,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they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known </a:t>
            </a:r>
            <a:r>
              <a:rPr sz="1100" spc="-20" dirty="0">
                <a:latin typeface="Tahoma"/>
                <a:cs typeface="Tahoma"/>
              </a:rPr>
              <a:t>as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Arial"/>
                <a:cs typeface="Arial"/>
              </a:rPr>
              <a:t>siblings</a:t>
            </a:r>
            <a:endParaRPr sz="1100" dirty="0">
              <a:latin typeface="Arial"/>
              <a:cs typeface="Arial"/>
            </a:endParaRPr>
          </a:p>
          <a:p>
            <a:pPr marL="12700" marR="191135">
              <a:lnSpc>
                <a:spcPct val="102699"/>
              </a:lnSpc>
              <a:spcBef>
                <a:spcPts val="295"/>
              </a:spcBef>
            </a:pPr>
            <a:r>
              <a:rPr sz="1100" spc="-25" dirty="0">
                <a:latin typeface="Tahoma"/>
                <a:cs typeface="Tahoma"/>
              </a:rPr>
              <a:t>Vertices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u</a:t>
            </a:r>
            <a:r>
              <a:rPr sz="1100" i="1" spc="4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v</a:t>
            </a:r>
            <a:r>
              <a:rPr sz="1100" i="1" spc="105" dirty="0">
                <a:latin typeface="Arial"/>
                <a:cs typeface="Arial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siblings </a:t>
            </a:r>
            <a:r>
              <a:rPr sz="1100" spc="-45" dirty="0">
                <a:latin typeface="Tahoma"/>
                <a:cs typeface="Tahoma"/>
              </a:rPr>
              <a:t>provided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same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parent. </a:t>
            </a:r>
            <a:r>
              <a:rPr sz="1100" dirty="0">
                <a:latin typeface="Tahoma"/>
                <a:cs typeface="Tahoma"/>
              </a:rPr>
              <a:t>Note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these</a:t>
            </a:r>
            <a:r>
              <a:rPr sz="1100" spc="-35" dirty="0">
                <a:latin typeface="Tahoma"/>
                <a:cs typeface="Tahoma"/>
              </a:rPr>
              <a:t> vertices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never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adjacent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45" dirty="0">
                <a:latin typeface="Tahoma"/>
                <a:cs typeface="Tahoma"/>
              </a:rPr>
              <a:t>See</a:t>
            </a:r>
            <a:r>
              <a:rPr sz="1100" spc="-35" dirty="0">
                <a:latin typeface="Tahoma"/>
                <a:cs typeface="Tahoma"/>
              </a:rPr>
              <a:t> Example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4.2.5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8207" y="1052933"/>
            <a:ext cx="65265" cy="65265"/>
          </a:xfrm>
          <a:prstGeom prst="rect">
            <a:avLst/>
          </a:prstGeom>
        </p:spPr>
      </p:pic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8207" y="1262966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8207" y="1645071"/>
            <a:ext cx="65265" cy="65265"/>
          </a:xfrm>
          <a:prstGeom prst="rect">
            <a:avLst/>
          </a:prstGeom>
        </p:spPr>
      </p:pic>
      <p:pic>
        <p:nvPic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8207" y="2027176"/>
            <a:ext cx="65265" cy="652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625001-2A8D-3EE0-C8F3-D6BEB18A30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0650" y="2263775"/>
            <a:ext cx="1892300" cy="1052119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35191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Navigating</a:t>
            </a:r>
            <a:r>
              <a:rPr spc="-45" dirty="0"/>
              <a:t> </a:t>
            </a:r>
            <a:r>
              <a:rPr dirty="0"/>
              <a:t>a</a:t>
            </a:r>
            <a:r>
              <a:rPr spc="-40" dirty="0"/>
              <a:t> Tree</a:t>
            </a:r>
          </a:p>
        </p:txBody>
      </p:sp>
      <p:pic>
        <p:nvPic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847559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764119"/>
            <a:ext cx="4034154" cy="202628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13462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navigate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through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tree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traversing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tree,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starting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root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visiting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each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vertex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some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order</a:t>
            </a:r>
            <a:endParaRPr sz="1100" dirty="0">
              <a:latin typeface="Tahoma"/>
              <a:cs typeface="Tahoma"/>
            </a:endParaRPr>
          </a:p>
          <a:p>
            <a:pPr marL="12700" marR="75565">
              <a:lnSpc>
                <a:spcPct val="102600"/>
              </a:lnSpc>
              <a:spcBef>
                <a:spcPts val="300"/>
              </a:spcBef>
            </a:pPr>
            <a:r>
              <a:rPr sz="1100" spc="-20" dirty="0">
                <a:latin typeface="Tahoma"/>
                <a:cs typeface="Tahoma"/>
              </a:rPr>
              <a:t>When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visiting</a:t>
            </a:r>
            <a:r>
              <a:rPr sz="1100" spc="-35" dirty="0">
                <a:latin typeface="Tahoma"/>
                <a:cs typeface="Tahoma"/>
              </a:rPr>
              <a:t> vertices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same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generation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before</a:t>
            </a:r>
            <a:r>
              <a:rPr sz="1100" spc="-35" dirty="0">
                <a:latin typeface="Tahoma"/>
                <a:cs typeface="Tahoma"/>
              </a:rPr>
              <a:t> any vertices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next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generation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known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b="1" spc="-20" dirty="0">
                <a:solidFill>
                  <a:srgbClr val="FF0000"/>
                </a:solidFill>
                <a:latin typeface="Arial"/>
                <a:cs typeface="Arial"/>
              </a:rPr>
              <a:t>breath</a:t>
            </a:r>
            <a:r>
              <a:rPr sz="1100" b="1" spc="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F0000"/>
                </a:solidFill>
                <a:latin typeface="Arial"/>
                <a:cs typeface="Arial"/>
              </a:rPr>
              <a:t>first</a:t>
            </a:r>
            <a:r>
              <a:rPr sz="1100" b="1" spc="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FF0000"/>
                </a:solidFill>
                <a:latin typeface="Arial"/>
                <a:cs typeface="Arial"/>
              </a:rPr>
              <a:t>search</a:t>
            </a:r>
            <a:endParaRPr sz="1100" dirty="0">
              <a:solidFill>
                <a:srgbClr val="FF0000"/>
              </a:solidFill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sz="1100" b="1" dirty="0">
                <a:solidFill>
                  <a:srgbClr val="FF0000"/>
                </a:solidFill>
                <a:latin typeface="Arial"/>
                <a:cs typeface="Arial"/>
              </a:rPr>
              <a:t>Depth</a:t>
            </a:r>
            <a:r>
              <a:rPr sz="1100" b="1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F0000"/>
                </a:solidFill>
                <a:latin typeface="Arial"/>
                <a:cs typeface="Arial"/>
              </a:rPr>
              <a:t>first</a:t>
            </a:r>
            <a:r>
              <a:rPr sz="1100" b="1" spc="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b="1" spc="-75" dirty="0">
                <a:solidFill>
                  <a:srgbClr val="FF0000"/>
                </a:solidFill>
                <a:latin typeface="Arial"/>
                <a:cs typeface="Arial"/>
              </a:rPr>
              <a:t>search</a:t>
            </a:r>
            <a:r>
              <a:rPr sz="1100" b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visiting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one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child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root,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visit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child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vertex,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visit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child.</a:t>
            </a:r>
            <a:r>
              <a:rPr sz="1100" spc="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When</a:t>
            </a:r>
            <a:r>
              <a:rPr sz="1100" spc="-45" dirty="0">
                <a:latin typeface="Tahoma"/>
                <a:cs typeface="Tahoma"/>
              </a:rPr>
              <a:t> you </a:t>
            </a:r>
            <a:r>
              <a:rPr sz="1100" spc="-20" dirty="0">
                <a:latin typeface="Tahoma"/>
                <a:cs typeface="Tahoma"/>
              </a:rPr>
              <a:t>get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vertex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no </a:t>
            </a:r>
            <a:r>
              <a:rPr sz="1100" spc="-35" dirty="0">
                <a:latin typeface="Tahoma"/>
                <a:cs typeface="Tahoma"/>
              </a:rPr>
              <a:t>children,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retreat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parent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85" dirty="0">
                <a:latin typeface="Tahoma"/>
                <a:cs typeface="Tahoma"/>
              </a:rPr>
              <a:t>see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parent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has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other children.</a:t>
            </a:r>
            <a:endParaRPr sz="1100" dirty="0">
              <a:latin typeface="Tahoma"/>
              <a:cs typeface="Tahoma"/>
            </a:endParaRPr>
          </a:p>
          <a:p>
            <a:pPr marL="12700" marR="6350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parent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vertex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closer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root.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root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tree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a </a:t>
            </a:r>
            <a:r>
              <a:rPr sz="1100" spc="-40" dirty="0">
                <a:latin typeface="Tahoma"/>
                <a:cs typeface="Tahoma"/>
              </a:rPr>
              <a:t>parent, </a:t>
            </a:r>
            <a:r>
              <a:rPr sz="1100" dirty="0">
                <a:latin typeface="Tahoma"/>
                <a:cs typeface="Tahoma"/>
              </a:rPr>
              <a:t>but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child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vertex.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non-</a:t>
            </a:r>
            <a:r>
              <a:rPr sz="1100" dirty="0">
                <a:latin typeface="Tahoma"/>
                <a:cs typeface="Tahoma"/>
              </a:rPr>
              <a:t>root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vertices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have </a:t>
            </a:r>
            <a:r>
              <a:rPr sz="1100" i="1" spc="-30" dirty="0">
                <a:latin typeface="Arial"/>
                <a:cs typeface="Arial"/>
              </a:rPr>
              <a:t>exactly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i="1" spc="-70" dirty="0">
                <a:latin typeface="Arial"/>
                <a:cs typeface="Arial"/>
              </a:rPr>
              <a:t>one</a:t>
            </a:r>
            <a:r>
              <a:rPr sz="1100" i="1" spc="5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parent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229664"/>
            <a:ext cx="65265" cy="65265"/>
          </a:xfrm>
          <a:prstGeom prst="rect">
            <a:avLst/>
          </a:prstGeom>
        </p:spPr>
      </p:pic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611782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338031"/>
            <a:ext cx="65265" cy="6526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16141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Spanning</a:t>
            </a:r>
            <a:r>
              <a:rPr spc="-50" dirty="0"/>
              <a:t> </a:t>
            </a:r>
            <a:r>
              <a:rPr spc="-45" dirty="0"/>
              <a:t>Trees</a:t>
            </a:r>
          </a:p>
        </p:txBody>
      </p:sp>
      <p:pic>
        <p:nvPic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407" y="666535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323850" y="511175"/>
            <a:ext cx="4108450" cy="1472564"/>
          </a:xfrm>
          <a:prstGeom prst="rect">
            <a:avLst/>
          </a:prstGeom>
        </p:spPr>
        <p:txBody>
          <a:bodyPr vert="horz" wrap="square" lIns="0" tIns="78892" rIns="0" bIns="0" rtlCol="0">
            <a:spAutoFit/>
          </a:bodyPr>
          <a:lstStyle/>
          <a:p>
            <a:pPr marL="38100" marR="52069">
              <a:lnSpc>
                <a:spcPct val="102600"/>
              </a:lnSpc>
              <a:spcBef>
                <a:spcPts val="55"/>
              </a:spcBef>
            </a:pPr>
            <a:r>
              <a:rPr spc="-30" dirty="0"/>
              <a:t>If</a:t>
            </a:r>
            <a:r>
              <a:rPr spc="-60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spc="-45" dirty="0"/>
              <a:t>connected</a:t>
            </a:r>
            <a:r>
              <a:rPr spc="-35" dirty="0"/>
              <a:t> </a:t>
            </a:r>
            <a:r>
              <a:rPr spc="-45" dirty="0"/>
              <a:t>graph</a:t>
            </a:r>
            <a:r>
              <a:rPr spc="-30" dirty="0"/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dirty="0"/>
              <a:t>not</a:t>
            </a:r>
            <a:r>
              <a:rPr spc="-40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spc="-30" dirty="0"/>
              <a:t>tree, </a:t>
            </a:r>
            <a:r>
              <a:rPr spc="-25" dirty="0"/>
              <a:t>then</a:t>
            </a:r>
            <a:r>
              <a:rPr spc="-35" dirty="0"/>
              <a:t> </a:t>
            </a:r>
            <a:r>
              <a:rPr spc="-95" dirty="0"/>
              <a:t>we</a:t>
            </a:r>
            <a:r>
              <a:rPr spc="5" dirty="0"/>
              <a:t> </a:t>
            </a:r>
            <a:r>
              <a:rPr spc="-20" dirty="0"/>
              <a:t>can</a:t>
            </a:r>
            <a:r>
              <a:rPr spc="-35" dirty="0"/>
              <a:t> </a:t>
            </a:r>
            <a:r>
              <a:rPr dirty="0"/>
              <a:t>still</a:t>
            </a:r>
            <a:r>
              <a:rPr spc="-30" dirty="0"/>
              <a:t> </a:t>
            </a:r>
            <a:r>
              <a:rPr spc="-65" dirty="0"/>
              <a:t>use</a:t>
            </a:r>
            <a:r>
              <a:rPr spc="-25" dirty="0"/>
              <a:t> </a:t>
            </a:r>
            <a:r>
              <a:rPr spc="-10" dirty="0"/>
              <a:t>the</a:t>
            </a:r>
            <a:r>
              <a:rPr spc="-35" dirty="0"/>
              <a:t> </a:t>
            </a:r>
            <a:r>
              <a:rPr spc="-40" dirty="0"/>
              <a:t>traversal </a:t>
            </a:r>
            <a:r>
              <a:rPr spc="-35" dirty="0"/>
              <a:t>algorithms</a:t>
            </a:r>
            <a:r>
              <a:rPr spc="-55" dirty="0"/>
              <a:t> </a:t>
            </a:r>
            <a:r>
              <a:rPr dirty="0"/>
              <a:t>if</a:t>
            </a:r>
            <a:r>
              <a:rPr spc="-30" dirty="0"/>
              <a:t> </a:t>
            </a:r>
            <a:r>
              <a:rPr spc="-95" dirty="0"/>
              <a:t>we</a:t>
            </a:r>
            <a:r>
              <a:rPr spc="5" dirty="0"/>
              <a:t> </a:t>
            </a:r>
            <a:r>
              <a:rPr spc="-20" dirty="0"/>
              <a:t>identify</a:t>
            </a:r>
            <a:r>
              <a:rPr spc="-25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spc="-50" dirty="0"/>
              <a:t>subgraph</a:t>
            </a:r>
            <a:r>
              <a:rPr spc="-25" dirty="0"/>
              <a:t> </a:t>
            </a:r>
            <a:r>
              <a:rPr dirty="0"/>
              <a:t>that</a:t>
            </a:r>
            <a:r>
              <a:rPr spc="-3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spc="-20" dirty="0"/>
              <a:t>tree</a:t>
            </a:r>
          </a:p>
          <a:p>
            <a:pPr marL="38100" marR="26034">
              <a:lnSpc>
                <a:spcPct val="102600"/>
              </a:lnSpc>
              <a:spcBef>
                <a:spcPts val="300"/>
              </a:spcBef>
            </a:pPr>
            <a:r>
              <a:rPr dirty="0"/>
              <a:t>We</a:t>
            </a:r>
            <a:r>
              <a:rPr spc="-90" dirty="0"/>
              <a:t> </a:t>
            </a:r>
            <a:r>
              <a:rPr spc="-20" dirty="0"/>
              <a:t>can</a:t>
            </a:r>
            <a:r>
              <a:rPr spc="-55" dirty="0"/>
              <a:t> </a:t>
            </a:r>
            <a:r>
              <a:rPr spc="-20" dirty="0"/>
              <a:t>take</a:t>
            </a:r>
            <a:r>
              <a:rPr spc="-3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spc="-35" dirty="0"/>
              <a:t>single </a:t>
            </a:r>
            <a:r>
              <a:rPr spc="-70" dirty="0"/>
              <a:t>edge</a:t>
            </a:r>
            <a:r>
              <a:rPr spc="-2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spc="-45" dirty="0"/>
              <a:t>connected</a:t>
            </a:r>
            <a:r>
              <a:rPr spc="-35" dirty="0"/>
              <a:t> </a:t>
            </a:r>
            <a:r>
              <a:rPr spc="-40" dirty="0"/>
              <a:t>graph </a:t>
            </a:r>
            <a:r>
              <a:rPr i="1" spc="-135" dirty="0">
                <a:latin typeface="Arial"/>
                <a:cs typeface="Arial"/>
              </a:rPr>
              <a:t>G</a:t>
            </a:r>
            <a:r>
              <a:rPr i="1" spc="-180" dirty="0">
                <a:latin typeface="Arial"/>
                <a:cs typeface="Arial"/>
              </a:rPr>
              <a:t> </a:t>
            </a:r>
            <a:r>
              <a:rPr dirty="0"/>
              <a:t>,</a:t>
            </a:r>
            <a:r>
              <a:rPr spc="-30" dirty="0"/>
              <a:t> </a:t>
            </a:r>
            <a:r>
              <a:rPr spc="-90" dirty="0"/>
              <a:t>we</a:t>
            </a:r>
            <a:r>
              <a:rPr dirty="0"/>
              <a:t> </a:t>
            </a:r>
            <a:r>
              <a:rPr spc="-60" dirty="0"/>
              <a:t>need</a:t>
            </a:r>
            <a:r>
              <a:rPr spc="-25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visit</a:t>
            </a:r>
            <a:r>
              <a:rPr spc="-40" dirty="0"/>
              <a:t> </a:t>
            </a:r>
            <a:r>
              <a:rPr spc="-25" dirty="0"/>
              <a:t>all </a:t>
            </a:r>
            <a:r>
              <a:rPr spc="-35" dirty="0"/>
              <a:t>vertices,</a:t>
            </a:r>
            <a:r>
              <a:rPr spc="-45" dirty="0"/>
              <a:t> such</a:t>
            </a:r>
            <a:r>
              <a:rPr spc="-40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30" dirty="0"/>
              <a:t>tree</a:t>
            </a:r>
            <a:r>
              <a:rPr spc="-40" dirty="0"/>
              <a:t> </a:t>
            </a:r>
            <a:r>
              <a:rPr dirty="0"/>
              <a:t>is</a:t>
            </a:r>
            <a:r>
              <a:rPr spc="-50" dirty="0"/>
              <a:t> </a:t>
            </a:r>
            <a:r>
              <a:rPr spc="-45" dirty="0"/>
              <a:t>known</a:t>
            </a:r>
            <a:r>
              <a:rPr spc="-40" dirty="0"/>
              <a:t> </a:t>
            </a:r>
            <a:r>
              <a:rPr spc="-20" dirty="0"/>
              <a:t>as</a:t>
            </a:r>
            <a:r>
              <a:rPr spc="-40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b="1" spc="-65" dirty="0">
                <a:latin typeface="Arial"/>
                <a:cs typeface="Arial"/>
              </a:rPr>
              <a:t>spanning</a:t>
            </a:r>
            <a:r>
              <a:rPr b="1" spc="2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tree</a:t>
            </a:r>
            <a:r>
              <a:rPr dirty="0"/>
              <a:t>.</a:t>
            </a:r>
            <a:r>
              <a:rPr spc="60" dirty="0"/>
              <a:t> </a:t>
            </a:r>
            <a:r>
              <a:rPr spc="-25" dirty="0"/>
              <a:t>Every</a:t>
            </a:r>
            <a:r>
              <a:rPr spc="-45" dirty="0"/>
              <a:t> </a:t>
            </a:r>
            <a:r>
              <a:rPr spc="-10" dirty="0"/>
              <a:t>connected </a:t>
            </a:r>
            <a:r>
              <a:rPr spc="-45" dirty="0"/>
              <a:t>graph</a:t>
            </a:r>
            <a:r>
              <a:rPr spc="-25" dirty="0"/>
              <a:t> </a:t>
            </a:r>
            <a:r>
              <a:rPr spc="-45" dirty="0"/>
              <a:t>has</a:t>
            </a:r>
            <a:r>
              <a:rPr spc="-20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spc="-45" dirty="0"/>
              <a:t>spanning</a:t>
            </a:r>
            <a:r>
              <a:rPr spc="-25" dirty="0"/>
              <a:t> </a:t>
            </a:r>
            <a:r>
              <a:rPr spc="-20" dirty="0"/>
              <a:t>tree</a:t>
            </a:r>
          </a:p>
          <a:p>
            <a:pPr marL="38100" marR="5080">
              <a:lnSpc>
                <a:spcPct val="102699"/>
              </a:lnSpc>
              <a:spcBef>
                <a:spcPts val="300"/>
              </a:spcBef>
            </a:pPr>
            <a:r>
              <a:rPr b="1" spc="-55" dirty="0">
                <a:latin typeface="Arial"/>
                <a:cs typeface="Arial"/>
              </a:rPr>
              <a:t>Spanning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Tree</a:t>
            </a:r>
            <a:r>
              <a:rPr dirty="0"/>
              <a:t>.</a:t>
            </a:r>
            <a:r>
              <a:rPr spc="55" dirty="0"/>
              <a:t> </a:t>
            </a:r>
            <a:r>
              <a:rPr spc="-25" dirty="0"/>
              <a:t>Given</a:t>
            </a:r>
            <a:r>
              <a:rPr spc="-45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spc="-45" dirty="0"/>
              <a:t>connected </a:t>
            </a:r>
            <a:r>
              <a:rPr spc="-40" dirty="0"/>
              <a:t>graph</a:t>
            </a:r>
            <a:r>
              <a:rPr spc="-45" dirty="0"/>
              <a:t> </a:t>
            </a:r>
            <a:r>
              <a:rPr i="1" spc="-135" dirty="0">
                <a:latin typeface="Arial"/>
                <a:cs typeface="Arial"/>
              </a:rPr>
              <a:t>G</a:t>
            </a:r>
            <a:r>
              <a:rPr i="1" spc="-180" dirty="0">
                <a:latin typeface="Arial"/>
                <a:cs typeface="Arial"/>
              </a:rPr>
              <a:t> </a:t>
            </a:r>
            <a:r>
              <a:rPr dirty="0"/>
              <a:t>,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spanning</a:t>
            </a:r>
            <a:r>
              <a:rPr spc="-40" dirty="0"/>
              <a:t> </a:t>
            </a:r>
            <a:r>
              <a:rPr spc="-30" dirty="0"/>
              <a:t>tree</a:t>
            </a:r>
            <a:r>
              <a:rPr spc="-4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i="1" dirty="0">
                <a:latin typeface="Arial"/>
                <a:cs typeface="Arial"/>
              </a:rPr>
              <a:t>G</a:t>
            </a:r>
            <a:r>
              <a:rPr i="1" spc="95" dirty="0">
                <a:latin typeface="Arial"/>
                <a:cs typeface="Arial"/>
              </a:rPr>
              <a:t> </a:t>
            </a:r>
            <a:r>
              <a:rPr spc="-25" dirty="0"/>
              <a:t>is </a:t>
            </a:r>
            <a:r>
              <a:rPr dirty="0"/>
              <a:t>a</a:t>
            </a:r>
            <a:r>
              <a:rPr spc="-55" dirty="0"/>
              <a:t> </a:t>
            </a:r>
            <a:r>
              <a:rPr spc="-50" dirty="0"/>
              <a:t>subgraph</a:t>
            </a:r>
            <a:r>
              <a:rPr spc="-3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i="1" dirty="0">
                <a:latin typeface="Arial"/>
                <a:cs typeface="Arial"/>
              </a:rPr>
              <a:t>G</a:t>
            </a:r>
            <a:r>
              <a:rPr i="1" spc="95" dirty="0">
                <a:latin typeface="Arial"/>
                <a:cs typeface="Arial"/>
              </a:rPr>
              <a:t> </a:t>
            </a:r>
            <a:r>
              <a:rPr dirty="0"/>
              <a:t>hat</a:t>
            </a:r>
            <a:r>
              <a:rPr spc="-50" dirty="0"/>
              <a:t> </a:t>
            </a:r>
            <a:r>
              <a:rPr dirty="0"/>
              <a:t>is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30" dirty="0"/>
              <a:t>tree</a:t>
            </a:r>
            <a:r>
              <a:rPr spc="-45" dirty="0"/>
              <a:t> </a:t>
            </a:r>
            <a:r>
              <a:rPr spc="-35" dirty="0"/>
              <a:t>and</a:t>
            </a:r>
            <a:r>
              <a:rPr spc="-40" dirty="0"/>
              <a:t> </a:t>
            </a:r>
            <a:r>
              <a:rPr spc="-35" dirty="0"/>
              <a:t>includes</a:t>
            </a:r>
            <a:r>
              <a:rPr spc="-45" dirty="0"/>
              <a:t> </a:t>
            </a:r>
            <a:r>
              <a:rPr dirty="0"/>
              <a:t>all</a:t>
            </a:r>
            <a:r>
              <a:rPr spc="-45" dirty="0"/>
              <a:t> </a:t>
            </a:r>
            <a:r>
              <a:rPr spc="-35" dirty="0"/>
              <a:t>vertices</a:t>
            </a:r>
            <a:r>
              <a:rPr spc="-4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i="1" spc="-50" dirty="0">
                <a:latin typeface="Arial"/>
                <a:cs typeface="Arial"/>
              </a:rPr>
              <a:t>G</a:t>
            </a:r>
          </a:p>
        </p:txBody>
      </p:sp>
      <p:pic>
        <p:nvPic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407" y="1048640"/>
            <a:ext cx="65265" cy="65265"/>
          </a:xfrm>
          <a:prstGeom prst="rect">
            <a:avLst/>
          </a:prstGeom>
        </p:spPr>
      </p:pic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407" y="1602817"/>
            <a:ext cx="65265" cy="65265"/>
          </a:xfrm>
          <a:prstGeom prst="rect">
            <a:avLst/>
          </a:prstGeom>
        </p:spPr>
      </p:pic>
      <p:pic>
        <p:nvPicPr>
          <p:cNvPr id="3074" name="Picture 2" descr="Spanning Tree">
            <a:extLst>
              <a:ext uri="{FF2B5EF4-FFF2-40B4-BE49-F238E27FC236}">
                <a16:creationId xmlns:a16="http://schemas.microsoft.com/office/drawing/2014/main" id="{71126211-D5A7-1EAC-8B12-9C9CF816A1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930" y="1958975"/>
            <a:ext cx="2084924" cy="145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Spanning</a:t>
            </a:r>
            <a:r>
              <a:rPr spc="-35" dirty="0"/>
              <a:t> </a:t>
            </a:r>
            <a:r>
              <a:rPr spc="-55" dirty="0"/>
              <a:t>Trees</a:t>
            </a:r>
            <a:r>
              <a:rPr spc="-35" dirty="0"/>
              <a:t> </a:t>
            </a:r>
            <a:r>
              <a:rPr spc="-10" dirty="0"/>
              <a:t>Algorithm</a:t>
            </a:r>
          </a:p>
        </p:txBody>
      </p:sp>
      <p:pic>
        <p:nvPic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549581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441046"/>
            <a:ext cx="4114165" cy="1670329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85"/>
              </a:spcBef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define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algorithm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i="1" spc="-10" dirty="0">
                <a:latin typeface="Arial"/>
                <a:cs typeface="Arial"/>
              </a:rPr>
              <a:t>finding</a:t>
            </a:r>
            <a:r>
              <a:rPr sz="1100" i="1" spc="-1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spanning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tree.</a:t>
            </a:r>
            <a:endParaRPr sz="1100" dirty="0">
              <a:latin typeface="Tahoma"/>
              <a:cs typeface="Tahoma"/>
            </a:endParaRPr>
          </a:p>
          <a:p>
            <a:pPr marL="349250" indent="-171450">
              <a:lnSpc>
                <a:spcPts val="1200"/>
              </a:lnSpc>
              <a:spcBef>
                <a:spcPts val="175"/>
              </a:spcBef>
              <a:buFont typeface="Arial" panose="020B0604020202020204" pitchFamily="34" charset="0"/>
              <a:buChar char="•"/>
            </a:pPr>
            <a:r>
              <a:rPr sz="1000" dirty="0">
                <a:latin typeface="Tahoma"/>
                <a:cs typeface="Tahoma"/>
              </a:rPr>
              <a:t>Start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connected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graph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i="1" spc="-50" dirty="0">
                <a:latin typeface="Arial"/>
                <a:cs typeface="Arial"/>
              </a:rPr>
              <a:t>G</a:t>
            </a:r>
            <a:endParaRPr sz="1000" dirty="0">
              <a:latin typeface="Arial"/>
              <a:cs typeface="Arial"/>
            </a:endParaRPr>
          </a:p>
          <a:p>
            <a:pPr marL="349250" indent="-171450">
              <a:lnSpc>
                <a:spcPts val="1195"/>
              </a:lnSpc>
              <a:buFont typeface="Arial" panose="020B0604020202020204" pitchFamily="34" charset="0"/>
              <a:buChar char="•"/>
            </a:pPr>
            <a:r>
              <a:rPr sz="1000" spc="-20" dirty="0">
                <a:latin typeface="Tahoma"/>
                <a:cs typeface="Tahoma"/>
              </a:rPr>
              <a:t>If</a:t>
            </a:r>
            <a:r>
              <a:rPr sz="1000" spc="-35" dirty="0">
                <a:latin typeface="Tahoma"/>
                <a:cs typeface="Tahoma"/>
              </a:rPr>
              <a:t> there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is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no</a:t>
            </a:r>
            <a:r>
              <a:rPr sz="1000" spc="-35" dirty="0">
                <a:latin typeface="Tahoma"/>
                <a:cs typeface="Tahoma"/>
              </a:rPr>
              <a:t> cycle,then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G</a:t>
            </a:r>
            <a:r>
              <a:rPr sz="1000" i="1" spc="105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is</a:t>
            </a:r>
            <a:r>
              <a:rPr sz="1000" spc="-35" dirty="0">
                <a:latin typeface="Tahoma"/>
                <a:cs typeface="Tahoma"/>
              </a:rPr>
              <a:t> already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spenning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tree</a:t>
            </a:r>
            <a:endParaRPr sz="1000" dirty="0">
              <a:latin typeface="Tahoma"/>
              <a:cs typeface="Tahoma"/>
            </a:endParaRPr>
          </a:p>
          <a:p>
            <a:pPr marL="349250" marR="30480" indent="-171450">
              <a:lnSpc>
                <a:spcPts val="1200"/>
              </a:lnSpc>
              <a:spcBef>
                <a:spcPts val="40"/>
              </a:spcBef>
              <a:buFont typeface="Arial" panose="020B0604020202020204" pitchFamily="34" charset="0"/>
              <a:buChar char="•"/>
            </a:pPr>
            <a:r>
              <a:rPr sz="1000" spc="-20" dirty="0">
                <a:latin typeface="Tahoma"/>
                <a:cs typeface="Tahoma"/>
              </a:rPr>
              <a:t>If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there </a:t>
            </a:r>
            <a:r>
              <a:rPr sz="1000" dirty="0">
                <a:latin typeface="Tahoma"/>
                <a:cs typeface="Tahoma"/>
              </a:rPr>
              <a:t>is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cycle,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let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e</a:t>
            </a:r>
            <a:r>
              <a:rPr sz="1000" i="1" spc="60" dirty="0">
                <a:latin typeface="Arial"/>
                <a:cs typeface="Arial"/>
              </a:rPr>
              <a:t> </a:t>
            </a:r>
            <a:r>
              <a:rPr sz="1000" spc="-10" dirty="0">
                <a:latin typeface="Tahoma"/>
                <a:cs typeface="Tahoma"/>
              </a:rPr>
              <a:t>be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any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edge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in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that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cycle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35" dirty="0">
                <a:latin typeface="Tahoma"/>
                <a:cs typeface="Tahoma"/>
              </a:rPr>
              <a:t> consider </a:t>
            </a:r>
            <a:r>
              <a:rPr sz="1000" spc="-10" dirty="0">
                <a:latin typeface="Tahoma"/>
                <a:cs typeface="Tahoma"/>
              </a:rPr>
              <a:t>the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new </a:t>
            </a:r>
            <a:r>
              <a:rPr sz="1000" spc="-35" dirty="0">
                <a:latin typeface="Tahoma"/>
                <a:cs typeface="Tahoma"/>
              </a:rPr>
              <a:t>graph </a:t>
            </a:r>
            <a:r>
              <a:rPr sz="1000" i="1" spc="-20" dirty="0">
                <a:latin typeface="Arial"/>
                <a:cs typeface="Arial"/>
              </a:rPr>
              <a:t>G</a:t>
            </a:r>
            <a:r>
              <a:rPr sz="1050" spc="-30" baseline="-11904" dirty="0">
                <a:latin typeface="Tahoma"/>
                <a:cs typeface="Tahoma"/>
              </a:rPr>
              <a:t>1</a:t>
            </a:r>
            <a:r>
              <a:rPr sz="1050" spc="89" baseline="-11904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75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G</a:t>
            </a:r>
            <a:r>
              <a:rPr sz="1000" i="1" spc="10" dirty="0">
                <a:latin typeface="Arial"/>
                <a:cs typeface="Arial"/>
              </a:rPr>
              <a:t> </a:t>
            </a:r>
            <a:r>
              <a:rPr sz="1000" spc="220" dirty="0">
                <a:latin typeface="Cambria"/>
                <a:cs typeface="Cambria"/>
              </a:rPr>
              <a:t>−</a:t>
            </a:r>
            <a:r>
              <a:rPr sz="1000" spc="-30" dirty="0">
                <a:latin typeface="Cambria"/>
                <a:cs typeface="Cambria"/>
              </a:rPr>
              <a:t> </a:t>
            </a:r>
            <a:r>
              <a:rPr sz="1000" i="1" dirty="0">
                <a:latin typeface="Arial"/>
                <a:cs typeface="Arial"/>
              </a:rPr>
              <a:t>e</a:t>
            </a:r>
            <a:r>
              <a:rPr sz="1000" dirty="0">
                <a:latin typeface="Tahoma"/>
                <a:cs typeface="Tahoma"/>
              </a:rPr>
              <a:t>.</a:t>
            </a:r>
            <a:r>
              <a:rPr sz="1000" spc="6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This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graph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is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still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connected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since </a:t>
            </a:r>
            <a:r>
              <a:rPr sz="1000" i="1" dirty="0">
                <a:latin typeface="Arial"/>
                <a:cs typeface="Arial"/>
              </a:rPr>
              <a:t>e</a:t>
            </a:r>
            <a:r>
              <a:rPr sz="1000" i="1" spc="65" dirty="0">
                <a:latin typeface="Arial"/>
                <a:cs typeface="Arial"/>
              </a:rPr>
              <a:t> </a:t>
            </a:r>
            <a:r>
              <a:rPr sz="1000" spc="-40" dirty="0">
                <a:latin typeface="Tahoma"/>
                <a:cs typeface="Tahoma"/>
              </a:rPr>
              <a:t>belonged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a </a:t>
            </a:r>
            <a:r>
              <a:rPr sz="1000" spc="-10" dirty="0">
                <a:latin typeface="Tahoma"/>
                <a:cs typeface="Tahoma"/>
              </a:rPr>
              <a:t>cycle</a:t>
            </a:r>
            <a:endParaRPr sz="1000" dirty="0">
              <a:latin typeface="Tahoma"/>
              <a:cs typeface="Tahoma"/>
            </a:endParaRPr>
          </a:p>
          <a:p>
            <a:pPr marL="349250" indent="-171450">
              <a:lnSpc>
                <a:spcPts val="1145"/>
              </a:lnSpc>
              <a:buFont typeface="Arial" panose="020B0604020202020204" pitchFamily="34" charset="0"/>
              <a:buChar char="•"/>
            </a:pPr>
            <a:r>
              <a:rPr sz="1000" spc="-25" dirty="0">
                <a:latin typeface="Tahoma"/>
                <a:cs typeface="Tahoma"/>
              </a:rPr>
              <a:t>Repeat:</a:t>
            </a:r>
            <a:r>
              <a:rPr sz="1000" spc="7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if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i="1" spc="-10" dirty="0">
                <a:latin typeface="Arial"/>
                <a:cs typeface="Arial"/>
              </a:rPr>
              <a:t>G</a:t>
            </a:r>
            <a:r>
              <a:rPr sz="1050" spc="-15" baseline="-11904" dirty="0">
                <a:latin typeface="Tahoma"/>
                <a:cs typeface="Tahoma"/>
              </a:rPr>
              <a:t>1</a:t>
            </a:r>
            <a:r>
              <a:rPr sz="1050" spc="172" baseline="-11904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has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no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cycles,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80" dirty="0">
                <a:latin typeface="Tahoma"/>
                <a:cs typeface="Tahoma"/>
              </a:rPr>
              <a:t>we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are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done.</a:t>
            </a:r>
            <a:endParaRPr sz="1000" dirty="0">
              <a:latin typeface="Tahoma"/>
              <a:cs typeface="Tahoma"/>
            </a:endParaRPr>
          </a:p>
          <a:p>
            <a:pPr marL="349250" indent="-171450">
              <a:lnSpc>
                <a:spcPts val="1195"/>
              </a:lnSpc>
              <a:buFont typeface="Arial" panose="020B0604020202020204" pitchFamily="34" charset="0"/>
              <a:buChar char="•"/>
            </a:pPr>
            <a:r>
              <a:rPr sz="1000" spc="-20" dirty="0">
                <a:latin typeface="Tahoma"/>
                <a:cs typeface="Tahoma"/>
              </a:rPr>
              <a:t>If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there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is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cycle, </a:t>
            </a:r>
            <a:r>
              <a:rPr sz="1000" spc="-45" dirty="0">
                <a:latin typeface="Tahoma"/>
                <a:cs typeface="Tahoma"/>
              </a:rPr>
              <a:t>define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i="1" spc="-20" dirty="0">
                <a:latin typeface="Arial"/>
                <a:cs typeface="Arial"/>
              </a:rPr>
              <a:t>G</a:t>
            </a:r>
            <a:r>
              <a:rPr sz="1050" spc="-30" baseline="-11904" dirty="0">
                <a:latin typeface="Tahoma"/>
                <a:cs typeface="Tahoma"/>
              </a:rPr>
              <a:t>2</a:t>
            </a:r>
            <a:r>
              <a:rPr sz="1050" spc="89" baseline="-11904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70" dirty="0">
                <a:latin typeface="Tahoma"/>
                <a:cs typeface="Tahoma"/>
              </a:rPr>
              <a:t> </a:t>
            </a:r>
            <a:r>
              <a:rPr sz="1000" i="1" spc="-40" dirty="0">
                <a:latin typeface="Arial"/>
                <a:cs typeface="Arial"/>
              </a:rPr>
              <a:t>G</a:t>
            </a:r>
            <a:r>
              <a:rPr sz="1050" spc="-60" baseline="-11904" dirty="0">
                <a:latin typeface="Tahoma"/>
                <a:cs typeface="Tahoma"/>
              </a:rPr>
              <a:t>1</a:t>
            </a:r>
            <a:r>
              <a:rPr sz="1050" spc="15" baseline="-11904" dirty="0">
                <a:latin typeface="Tahoma"/>
                <a:cs typeface="Tahoma"/>
              </a:rPr>
              <a:t> </a:t>
            </a:r>
            <a:r>
              <a:rPr sz="1000" spc="220" dirty="0">
                <a:latin typeface="Cambria"/>
                <a:cs typeface="Cambria"/>
              </a:rPr>
              <a:t>−</a:t>
            </a:r>
            <a:r>
              <a:rPr sz="1000" spc="-30" dirty="0">
                <a:latin typeface="Cambria"/>
                <a:cs typeface="Cambria"/>
              </a:rPr>
              <a:t> </a:t>
            </a:r>
            <a:r>
              <a:rPr sz="1000" i="1" spc="-10" dirty="0">
                <a:latin typeface="Arial"/>
                <a:cs typeface="Arial"/>
              </a:rPr>
              <a:t>e</a:t>
            </a:r>
            <a:r>
              <a:rPr sz="1050" spc="-15" baseline="-11904" dirty="0">
                <a:latin typeface="Tahoma"/>
                <a:cs typeface="Tahoma"/>
              </a:rPr>
              <a:t>1</a:t>
            </a:r>
            <a:r>
              <a:rPr sz="1000" spc="-10" dirty="0">
                <a:latin typeface="Tahoma"/>
                <a:cs typeface="Tahoma"/>
              </a:rPr>
              <a:t>,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where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e</a:t>
            </a:r>
            <a:r>
              <a:rPr sz="1050" baseline="-11904" dirty="0">
                <a:latin typeface="Tahoma"/>
                <a:cs typeface="Tahoma"/>
              </a:rPr>
              <a:t>1</a:t>
            </a:r>
            <a:r>
              <a:rPr sz="1050" spc="172" baseline="-11904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is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an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edge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in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i="1" spc="-25" dirty="0">
                <a:latin typeface="Arial"/>
                <a:cs typeface="Arial"/>
              </a:rPr>
              <a:t>G</a:t>
            </a:r>
            <a:r>
              <a:rPr sz="1050" spc="-37" baseline="-11904" dirty="0">
                <a:latin typeface="Tahoma"/>
                <a:cs typeface="Tahoma"/>
              </a:rPr>
              <a:t>1</a:t>
            </a:r>
            <a:endParaRPr sz="1050" baseline="-11904" dirty="0">
              <a:latin typeface="Tahoma"/>
              <a:cs typeface="Tahoma"/>
            </a:endParaRPr>
          </a:p>
          <a:p>
            <a:pPr marL="349250" indent="-171450">
              <a:lnSpc>
                <a:spcPts val="1200"/>
              </a:lnSpc>
              <a:buFont typeface="Arial" panose="020B0604020202020204" pitchFamily="34" charset="0"/>
              <a:buChar char="•"/>
            </a:pPr>
            <a:r>
              <a:rPr sz="1000" spc="-25" dirty="0">
                <a:latin typeface="Tahoma"/>
                <a:cs typeface="Tahoma"/>
              </a:rPr>
              <a:t>Continue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until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tree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is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found.</a:t>
            </a:r>
            <a:endParaRPr sz="1000" dirty="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55"/>
              </a:spcBef>
            </a:pPr>
            <a:r>
              <a:rPr sz="1100" spc="-45" dirty="0">
                <a:latin typeface="Tahoma"/>
                <a:cs typeface="Tahoma"/>
              </a:rPr>
              <a:t>See</a:t>
            </a:r>
            <a:r>
              <a:rPr sz="1100" spc="-35" dirty="0">
                <a:latin typeface="Tahoma"/>
                <a:cs typeface="Tahoma"/>
              </a:rPr>
              <a:t> Example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4.2.7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999565"/>
            <a:ext cx="65265" cy="652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40404FF-4A7A-25A1-6FBC-EE6C5B7DCA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5118" y="2023153"/>
            <a:ext cx="2457450" cy="132264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F8A37-E16C-1ABA-B673-296C75910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FE78E6D-2C4E-34E1-53DB-ACA1681904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Spanning</a:t>
            </a:r>
            <a:r>
              <a:rPr spc="-35" dirty="0"/>
              <a:t> </a:t>
            </a:r>
            <a:r>
              <a:rPr spc="-55" dirty="0"/>
              <a:t>Trees</a:t>
            </a:r>
            <a:r>
              <a:rPr spc="-35" dirty="0"/>
              <a:t> </a:t>
            </a:r>
            <a:r>
              <a:rPr spc="-10" dirty="0"/>
              <a:t>Algorithm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002BA062-77B8-9CFE-EB9F-90EC1ECBF2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83590"/>
            <a:ext cx="65265" cy="65265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B3C78266-9952-60E3-A20D-6EC0D70B473A}"/>
              </a:ext>
            </a:extLst>
          </p:cNvPr>
          <p:cNvSpPr txBox="1"/>
          <p:nvPr/>
        </p:nvSpPr>
        <p:spPr>
          <a:xfrm>
            <a:off x="377532" y="575055"/>
            <a:ext cx="4114165" cy="760401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38100" marR="123825">
              <a:lnSpc>
                <a:spcPct val="102600"/>
              </a:lnSpc>
              <a:spcBef>
                <a:spcPts val="300"/>
              </a:spcBef>
            </a:pPr>
            <a:r>
              <a:rPr sz="1100" spc="-6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practice, </a:t>
            </a:r>
            <a:r>
              <a:rPr sz="1100" spc="-45" dirty="0">
                <a:latin typeface="Tahoma"/>
                <a:cs typeface="Tahoma"/>
              </a:rPr>
              <a:t>these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type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algorithms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applied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spc="-45" dirty="0">
                <a:latin typeface="Arial"/>
                <a:cs typeface="Arial"/>
              </a:rPr>
              <a:t>weighted</a:t>
            </a:r>
            <a:r>
              <a:rPr sz="1100" i="1" spc="5" dirty="0">
                <a:latin typeface="Arial"/>
                <a:cs typeface="Arial"/>
              </a:rPr>
              <a:t> </a:t>
            </a:r>
            <a:r>
              <a:rPr sz="1100" spc="-45" dirty="0">
                <a:latin typeface="Tahoma"/>
                <a:cs typeface="Tahoma"/>
              </a:rPr>
              <a:t>graphs, </a:t>
            </a:r>
            <a:r>
              <a:rPr sz="1100" spc="-25" dirty="0">
                <a:latin typeface="Tahoma"/>
                <a:cs typeface="Tahoma"/>
              </a:rPr>
              <a:t>which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values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associated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each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edge.</a:t>
            </a:r>
            <a:endParaRPr sz="1100" dirty="0">
              <a:latin typeface="Tahoma"/>
              <a:cs typeface="Tahoma"/>
            </a:endParaRPr>
          </a:p>
          <a:p>
            <a:pPr marL="38100" marR="450215">
              <a:lnSpc>
                <a:spcPct val="102600"/>
              </a:lnSpc>
              <a:spcBef>
                <a:spcPts val="295"/>
              </a:spcBef>
            </a:pP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goal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find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5" dirty="0">
                <a:latin typeface="Tahoma"/>
                <a:cs typeface="Tahoma"/>
              </a:rPr>
              <a:t> spanning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tree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smallest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possible combined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weight,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tree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b="1" spc="-30" dirty="0">
                <a:latin typeface="Arial"/>
                <a:cs typeface="Arial"/>
              </a:rPr>
              <a:t>minimum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b="1" spc="-65" dirty="0">
                <a:latin typeface="Arial"/>
                <a:cs typeface="Arial"/>
              </a:rPr>
              <a:t>spanning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tree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807FDC93-4C08-683A-9303-2DFB1780D7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055147"/>
            <a:ext cx="65265" cy="65265"/>
          </a:xfrm>
          <a:prstGeom prst="rect">
            <a:avLst/>
          </a:prstGeom>
        </p:spPr>
      </p:pic>
      <p:pic>
        <p:nvPicPr>
          <p:cNvPr id="4098" name="Picture 2" descr="Minimum Spanning Trees">
            <a:extLst>
              <a:ext uri="{FF2B5EF4-FFF2-40B4-BE49-F238E27FC236}">
                <a16:creationId xmlns:a16="http://schemas.microsoft.com/office/drawing/2014/main" id="{9C97F4FF-F755-54D2-320B-BFEBBF50FD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2859"/>
            <a:ext cx="4610100" cy="1878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6104909"/>
      </p:ext>
    </p:extLst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Planar</a:t>
            </a:r>
            <a:r>
              <a:rPr spc="-105" dirty="0"/>
              <a:t> </a:t>
            </a:r>
            <a:r>
              <a:rPr spc="-45" dirty="0"/>
              <a:t>Graphs</a:t>
            </a:r>
          </a:p>
        </p:txBody>
      </p:sp>
      <p:pic>
        <p:nvPic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407" y="518416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23850" y="434975"/>
            <a:ext cx="4046220" cy="15336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87630">
              <a:lnSpc>
                <a:spcPct val="102600"/>
              </a:lnSpc>
              <a:spcBef>
                <a:spcPts val="55"/>
              </a:spcBef>
            </a:pPr>
            <a:r>
              <a:rPr sz="1100" spc="-20" dirty="0">
                <a:latin typeface="Tahoma"/>
                <a:cs typeface="Tahoma"/>
              </a:rPr>
              <a:t>When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connected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graph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drawn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without</a:t>
            </a:r>
            <a:r>
              <a:rPr sz="1100" spc="-35" dirty="0">
                <a:latin typeface="Tahoma"/>
                <a:cs typeface="Tahoma"/>
              </a:rPr>
              <a:t> any </a:t>
            </a:r>
            <a:r>
              <a:rPr sz="1100" spc="-70" dirty="0">
                <a:latin typeface="Tahoma"/>
                <a:cs typeface="Tahoma"/>
              </a:rPr>
              <a:t>edges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crossing,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graph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known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Arial"/>
                <a:cs typeface="Arial"/>
              </a:rPr>
              <a:t>planar</a:t>
            </a:r>
            <a:endParaRPr sz="1100" dirty="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latin typeface="Tahoma"/>
                <a:cs typeface="Tahoma"/>
              </a:rPr>
              <a:t>This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planar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graph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divides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plane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regions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known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Arial"/>
                <a:cs typeface="Arial"/>
              </a:rPr>
              <a:t>faces</a:t>
            </a:r>
            <a:endParaRPr sz="1100" dirty="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34"/>
              </a:spcBef>
            </a:pPr>
            <a:r>
              <a:rPr sz="1100" spc="-10" dirty="0">
                <a:latin typeface="Tahoma"/>
                <a:cs typeface="Tahoma"/>
              </a:rPr>
              <a:t>For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any</a:t>
            </a:r>
            <a:r>
              <a:rPr sz="1100" spc="-40" dirty="0">
                <a:latin typeface="Tahoma"/>
                <a:cs typeface="Tahoma"/>
              </a:rPr>
              <a:t> (connected)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planar </a:t>
            </a:r>
            <a:r>
              <a:rPr sz="1100" spc="-45" dirty="0">
                <a:latin typeface="Tahoma"/>
                <a:cs typeface="Tahoma"/>
              </a:rPr>
              <a:t>graph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v</a:t>
            </a:r>
            <a:r>
              <a:rPr sz="1100" i="1" spc="100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vertices, </a:t>
            </a:r>
            <a:r>
              <a:rPr sz="1100" i="1" dirty="0">
                <a:latin typeface="Arial"/>
                <a:cs typeface="Arial"/>
              </a:rPr>
              <a:t>e</a:t>
            </a:r>
            <a:r>
              <a:rPr sz="1100" i="1" spc="65" dirty="0">
                <a:latin typeface="Arial"/>
                <a:cs typeface="Arial"/>
              </a:rPr>
              <a:t> </a:t>
            </a:r>
            <a:r>
              <a:rPr sz="1100" spc="-70" dirty="0">
                <a:latin typeface="Tahoma"/>
                <a:cs typeface="Tahoma"/>
              </a:rPr>
              <a:t>edges,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 </a:t>
            </a:r>
            <a:r>
              <a:rPr sz="1100" i="1" spc="-50" dirty="0">
                <a:latin typeface="Arial"/>
                <a:cs typeface="Arial"/>
              </a:rPr>
              <a:t>f</a:t>
            </a:r>
            <a:endParaRPr sz="1100" dirty="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latin typeface="Tahoma"/>
                <a:cs typeface="Tahoma"/>
              </a:rPr>
              <a:t>faces:</a:t>
            </a:r>
            <a:endParaRPr sz="1100" dirty="0">
              <a:latin typeface="Tahoma"/>
              <a:cs typeface="Tahoma"/>
            </a:endParaRPr>
          </a:p>
          <a:p>
            <a:pPr marL="84455" algn="ctr">
              <a:lnSpc>
                <a:spcPct val="100000"/>
              </a:lnSpc>
              <a:spcBef>
                <a:spcPts val="30"/>
              </a:spcBef>
            </a:pPr>
            <a:r>
              <a:rPr sz="1100" i="1" dirty="0">
                <a:latin typeface="Arial"/>
                <a:cs typeface="Arial"/>
              </a:rPr>
              <a:t>v</a:t>
            </a:r>
            <a:r>
              <a:rPr sz="1100" i="1" spc="65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−</a:t>
            </a:r>
            <a:r>
              <a:rPr sz="1100" spc="5" dirty="0">
                <a:latin typeface="Cambria"/>
                <a:cs typeface="Cambria"/>
              </a:rPr>
              <a:t> </a:t>
            </a:r>
            <a:r>
              <a:rPr sz="1100" i="1" spc="-130" dirty="0">
                <a:latin typeface="Arial"/>
                <a:cs typeface="Arial"/>
              </a:rPr>
              <a:t>e</a:t>
            </a:r>
            <a:r>
              <a:rPr sz="1100" i="1" spc="2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24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2</a:t>
            </a:r>
            <a:endParaRPr sz="1100" dirty="0">
              <a:latin typeface="Tahoma"/>
              <a:cs typeface="Tahoma"/>
            </a:endParaRPr>
          </a:p>
          <a:p>
            <a:pPr marL="38100" marR="30480">
              <a:lnSpc>
                <a:spcPct val="102600"/>
              </a:lnSpc>
              <a:spcBef>
                <a:spcPts val="650"/>
              </a:spcBef>
            </a:pPr>
            <a:r>
              <a:rPr sz="1100" dirty="0">
                <a:latin typeface="Tahoma"/>
                <a:cs typeface="Tahoma"/>
              </a:rPr>
              <a:t>Not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graphs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planar.</a:t>
            </a:r>
            <a:r>
              <a:rPr sz="1100" spc="8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many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edges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feww </a:t>
            </a:r>
            <a:r>
              <a:rPr sz="1100" spc="-35" dirty="0">
                <a:latin typeface="Tahoma"/>
                <a:cs typeface="Tahoma"/>
              </a:rPr>
              <a:t>vertices, </a:t>
            </a:r>
            <a:r>
              <a:rPr sz="1100" spc="-25" dirty="0">
                <a:latin typeface="Tahoma"/>
                <a:cs typeface="Tahoma"/>
              </a:rPr>
              <a:t>then </a:t>
            </a:r>
            <a:r>
              <a:rPr sz="1100" spc="-60" dirty="0">
                <a:latin typeface="Tahoma"/>
                <a:cs typeface="Tahoma"/>
              </a:rPr>
              <a:t>some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edges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will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need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intersect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407" y="900521"/>
            <a:ext cx="65265" cy="65265"/>
          </a:xfrm>
          <a:prstGeom prst="rect">
            <a:avLst/>
          </a:prstGeom>
        </p:spPr>
      </p:pic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407" y="1110553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7407" y="1709028"/>
            <a:ext cx="65265" cy="65265"/>
          </a:xfrm>
          <a:prstGeom prst="rect">
            <a:avLst/>
          </a:prstGeom>
        </p:spPr>
      </p:pic>
      <p:pic>
        <p:nvPicPr>
          <p:cNvPr id="5122" name="Picture 2" descr="Planar Graphs and Graph Coloring - GeeksforGeeks">
            <a:extLst>
              <a:ext uri="{FF2B5EF4-FFF2-40B4-BE49-F238E27FC236}">
                <a16:creationId xmlns:a16="http://schemas.microsoft.com/office/drawing/2014/main" id="{23918A34-DBCB-FE50-6481-5E5A887027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39" y="1968600"/>
            <a:ext cx="2571550" cy="128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FB614B4-F5C2-0CF9-B914-49A792350F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62250" y="2187575"/>
            <a:ext cx="1664401" cy="76095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8A368-3693-A197-FBAA-A59DA620A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2763734-AA8F-DCA6-7A2A-40173E6A8A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Planar</a:t>
            </a:r>
            <a:r>
              <a:rPr spc="-105" dirty="0"/>
              <a:t> </a:t>
            </a:r>
            <a:r>
              <a:rPr spc="-45" dirty="0"/>
              <a:t>Graphs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4B56D65-79E3-71A5-59AC-C944DC31B536}"/>
              </a:ext>
            </a:extLst>
          </p:cNvPr>
          <p:cNvSpPr txBox="1"/>
          <p:nvPr/>
        </p:nvSpPr>
        <p:spPr>
          <a:xfrm>
            <a:off x="377532" y="666328"/>
            <a:ext cx="4046220" cy="759247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35"/>
              </a:spcBef>
            </a:pPr>
            <a:r>
              <a:rPr sz="1100" b="1" spc="-20" dirty="0">
                <a:latin typeface="Arial"/>
                <a:cs typeface="Arial"/>
              </a:rPr>
              <a:t>Theorem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4.3.1</a:t>
            </a:r>
            <a:r>
              <a:rPr sz="1100" dirty="0">
                <a:latin typeface="Tahoma"/>
                <a:cs typeface="Tahoma"/>
              </a:rPr>
              <a:t>.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K</a:t>
            </a:r>
            <a:r>
              <a:rPr sz="1200" baseline="-10416" dirty="0">
                <a:latin typeface="Tahoma"/>
                <a:cs typeface="Tahoma"/>
              </a:rPr>
              <a:t>5</a:t>
            </a:r>
            <a:r>
              <a:rPr sz="1200" spc="150" baseline="-10416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planar.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See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proof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page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260</a:t>
            </a:r>
            <a:endParaRPr sz="1100" dirty="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34"/>
              </a:spcBef>
            </a:pPr>
            <a:r>
              <a:rPr sz="1100" b="1" spc="-20" dirty="0">
                <a:latin typeface="Arial"/>
                <a:cs typeface="Arial"/>
              </a:rPr>
              <a:t>Theorem</a:t>
            </a:r>
            <a:r>
              <a:rPr sz="1100" b="1" spc="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4.3.2</a:t>
            </a:r>
            <a:r>
              <a:rPr sz="1100" dirty="0">
                <a:latin typeface="Tahoma"/>
                <a:cs typeface="Tahoma"/>
              </a:rPr>
              <a:t>.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K</a:t>
            </a:r>
            <a:r>
              <a:rPr sz="1200" baseline="-10416" dirty="0">
                <a:latin typeface="Tahoma"/>
                <a:cs typeface="Tahoma"/>
              </a:rPr>
              <a:t>3</a:t>
            </a:r>
            <a:r>
              <a:rPr sz="1200" i="1" baseline="-10416" dirty="0">
                <a:latin typeface="Sitka Text"/>
                <a:cs typeface="Sitka Text"/>
              </a:rPr>
              <a:t>,</a:t>
            </a:r>
            <a:r>
              <a:rPr sz="1200" baseline="-10416" dirty="0">
                <a:latin typeface="Tahoma"/>
                <a:cs typeface="Tahoma"/>
              </a:rPr>
              <a:t>3</a:t>
            </a:r>
            <a:r>
              <a:rPr sz="1200" spc="157" baseline="-10416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planar</a:t>
            </a:r>
            <a:endParaRPr sz="1100" dirty="0">
              <a:latin typeface="Tahoma"/>
              <a:cs typeface="Tahoma"/>
            </a:endParaRPr>
          </a:p>
          <a:p>
            <a:pPr marL="38100" marR="127635">
              <a:lnSpc>
                <a:spcPct val="102600"/>
              </a:lnSpc>
              <a:spcBef>
                <a:spcPts val="300"/>
              </a:spcBef>
            </a:pPr>
            <a:r>
              <a:rPr sz="1100" spc="-6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general,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g</a:t>
            </a:r>
            <a:r>
              <a:rPr sz="1100" i="1" spc="10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size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smallest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cycle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graph,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for </a:t>
            </a:r>
            <a:r>
              <a:rPr sz="1100" spc="-35" dirty="0">
                <a:latin typeface="Tahoma"/>
                <a:cs typeface="Tahoma"/>
              </a:rPr>
              <a:t>any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planar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graph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g</a:t>
            </a:r>
            <a:r>
              <a:rPr sz="1100" i="1" spc="25" dirty="0">
                <a:latin typeface="Arial"/>
                <a:cs typeface="Arial"/>
              </a:rPr>
              <a:t> </a:t>
            </a:r>
            <a:r>
              <a:rPr sz="1100" dirty="0">
                <a:latin typeface="Cambria"/>
                <a:cs typeface="Cambria"/>
              </a:rPr>
              <a:t>·</a:t>
            </a:r>
            <a:r>
              <a:rPr sz="1100" spc="-15" dirty="0">
                <a:latin typeface="Cambria"/>
                <a:cs typeface="Cambri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185" dirty="0">
                <a:latin typeface="Arial"/>
                <a:cs typeface="Arial"/>
              </a:rPr>
              <a:t> </a:t>
            </a:r>
            <a:r>
              <a:rPr sz="1100" spc="229" dirty="0">
                <a:latin typeface="Cambria"/>
                <a:cs typeface="Cambria"/>
              </a:rPr>
              <a:t>≤</a:t>
            </a:r>
            <a:r>
              <a:rPr sz="1100" spc="40" dirty="0">
                <a:latin typeface="Cambria"/>
                <a:cs typeface="Cambria"/>
              </a:rPr>
              <a:t> </a:t>
            </a:r>
            <a:r>
              <a:rPr sz="1100" spc="-25" dirty="0">
                <a:latin typeface="Tahoma"/>
                <a:cs typeface="Tahoma"/>
              </a:rPr>
              <a:t>2</a:t>
            </a:r>
            <a:r>
              <a:rPr sz="1100" i="1" spc="-25" dirty="0">
                <a:latin typeface="Arial"/>
                <a:cs typeface="Arial"/>
              </a:rPr>
              <a:t>e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8" name="object 8">
            <a:extLst>
              <a:ext uri="{FF2B5EF4-FFF2-40B4-BE49-F238E27FC236}">
                <a16:creationId xmlns:a16="http://schemas.microsoft.com/office/drawing/2014/main" id="{913A9696-2076-3F5E-EE24-4E3101053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711645"/>
            <a:ext cx="65265" cy="65265"/>
          </a:xfrm>
          <a:prstGeom prst="rect">
            <a:avLst/>
          </a:prstGeom>
        </p:spPr>
      </p:pic>
      <p:pic>
        <p:nvPicPr>
          <p:cNvPr id="9" name="object 9">
            <a:extLst>
              <a:ext uri="{FF2B5EF4-FFF2-40B4-BE49-F238E27FC236}">
                <a16:creationId xmlns:a16="http://schemas.microsoft.com/office/drawing/2014/main" id="{59837C6B-AD23-8C4D-665E-C99D456E3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921678"/>
            <a:ext cx="65265" cy="65265"/>
          </a:xfrm>
          <a:prstGeom prst="rect">
            <a:avLst/>
          </a:prstGeom>
        </p:spPr>
      </p:pic>
      <p:pic>
        <p:nvPicPr>
          <p:cNvPr id="10" name="object 10">
            <a:extLst>
              <a:ext uri="{FF2B5EF4-FFF2-40B4-BE49-F238E27FC236}">
                <a16:creationId xmlns:a16="http://schemas.microsoft.com/office/drawing/2014/main" id="{B70182A4-F350-DEB3-78E9-5A00A0397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131710"/>
            <a:ext cx="65265" cy="652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9E5BB10-9498-BE0D-A2D7-6B66872290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920" y="1790862"/>
            <a:ext cx="1438291" cy="11506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AE0FDEB-887C-638D-8B09-342CF5CBFB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0642" y="1878958"/>
            <a:ext cx="1639809" cy="102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214912"/>
      </p:ext>
    </p:extLst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C06C5-C491-E4CB-F608-2EDE08136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FB8F375-2379-367B-EF80-2395148D6C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Polyhedra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AB9539EF-13F1-9773-95AF-6275E544A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541883"/>
            <a:ext cx="65265" cy="65265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D2A0D125-970D-EADC-189A-DFDCB3241E5A}"/>
              </a:ext>
            </a:extLst>
          </p:cNvPr>
          <p:cNvSpPr txBox="1"/>
          <p:nvPr/>
        </p:nvSpPr>
        <p:spPr>
          <a:xfrm>
            <a:off x="402932" y="458430"/>
            <a:ext cx="4008754" cy="1464119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123189">
              <a:lnSpc>
                <a:spcPct val="102600"/>
              </a:lnSpc>
              <a:spcBef>
                <a:spcPts val="55"/>
              </a:spcBef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b="1" spc="-50" dirty="0">
                <a:latin typeface="Arial"/>
                <a:cs typeface="Arial"/>
              </a:rPr>
              <a:t>polyhedron</a:t>
            </a:r>
            <a:r>
              <a:rPr sz="1100" b="1" spc="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geometric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solid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made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up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flat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polygonal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faces </a:t>
            </a:r>
            <a:r>
              <a:rPr sz="1100" spc="-35" dirty="0">
                <a:latin typeface="Tahoma"/>
                <a:cs typeface="Tahoma"/>
              </a:rPr>
              <a:t>joined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edges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vertices</a:t>
            </a:r>
            <a:endParaRPr sz="1100" dirty="0">
              <a:latin typeface="Tahoma"/>
              <a:cs typeface="Tahoma"/>
            </a:endParaRPr>
          </a:p>
          <a:p>
            <a:pPr marL="12700" marR="29209">
              <a:lnSpc>
                <a:spcPct val="102600"/>
              </a:lnSpc>
              <a:spcBef>
                <a:spcPts val="300"/>
              </a:spcBef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b="1" spc="-65" dirty="0">
                <a:latin typeface="Arial"/>
                <a:cs typeface="Arial"/>
              </a:rPr>
              <a:t>convex</a:t>
            </a:r>
            <a:r>
              <a:rPr sz="1100" b="1" spc="10" dirty="0">
                <a:latin typeface="Arial"/>
                <a:cs typeface="Arial"/>
              </a:rPr>
              <a:t> </a:t>
            </a:r>
            <a:r>
              <a:rPr sz="1100" spc="-45" dirty="0">
                <a:latin typeface="Tahoma"/>
                <a:cs typeface="Tahoma"/>
              </a:rPr>
              <a:t>polyhedron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geometric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solid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which </a:t>
            </a:r>
            <a:r>
              <a:rPr sz="1100" spc="-35" dirty="0">
                <a:latin typeface="Tahoma"/>
                <a:cs typeface="Tahoma"/>
              </a:rPr>
              <a:t>any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line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segment </a:t>
            </a:r>
            <a:r>
              <a:rPr sz="1100" spc="-40" dirty="0">
                <a:latin typeface="Tahoma"/>
                <a:cs typeface="Tahoma"/>
              </a:rPr>
              <a:t>connecting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points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interior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polyhedron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must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be </a:t>
            </a:r>
            <a:r>
              <a:rPr sz="1100" spc="-30" dirty="0">
                <a:latin typeface="Tahoma"/>
                <a:cs typeface="Tahoma"/>
              </a:rPr>
              <a:t>entirely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contained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inside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polyhedron</a:t>
            </a:r>
            <a:endParaRPr sz="1100" dirty="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cube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b="1" spc="-40" dirty="0">
                <a:latin typeface="Arial"/>
                <a:cs typeface="Arial"/>
              </a:rPr>
              <a:t>regular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b="1" spc="-50" dirty="0">
                <a:latin typeface="Arial"/>
                <a:cs typeface="Arial"/>
              </a:rPr>
              <a:t>polyhedron</a:t>
            </a:r>
            <a:r>
              <a:rPr sz="1100" b="1" spc="-10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(also</a:t>
            </a:r>
            <a:r>
              <a:rPr sz="1100" spc="-45" dirty="0">
                <a:latin typeface="Tahoma"/>
                <a:cs typeface="Tahoma"/>
              </a:rPr>
              <a:t> known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Arial"/>
                <a:cs typeface="Arial"/>
              </a:rPr>
              <a:t>Platonic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b="1" spc="-45" dirty="0">
                <a:latin typeface="Arial"/>
                <a:cs typeface="Arial"/>
              </a:rPr>
              <a:t>solid</a:t>
            </a:r>
            <a:r>
              <a:rPr sz="1100" spc="-45" dirty="0">
                <a:latin typeface="Tahoma"/>
                <a:cs typeface="Tahoma"/>
              </a:rPr>
              <a:t>) </a:t>
            </a:r>
            <a:r>
              <a:rPr sz="1100" spc="-55" dirty="0">
                <a:latin typeface="Tahoma"/>
                <a:cs typeface="Tahoma"/>
              </a:rPr>
              <a:t>because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each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face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identical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regular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polygon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40" dirty="0">
                <a:latin typeface="Tahoma"/>
                <a:cs typeface="Tahoma"/>
              </a:rPr>
              <a:t> each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vertex </a:t>
            </a:r>
            <a:r>
              <a:rPr sz="1100" spc="-30" dirty="0">
                <a:latin typeface="Tahoma"/>
                <a:cs typeface="Tahoma"/>
              </a:rPr>
              <a:t>joins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equal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number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faces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0B4B92CC-99EE-D0E1-B72D-E9547C1ED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923988"/>
            <a:ext cx="65265" cy="65265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C18018B7-B26F-CC16-7BFC-E72BCF9EE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478165"/>
            <a:ext cx="65265" cy="652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D206426-AA7A-4E6F-B986-A2714F5571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450" y="2088478"/>
            <a:ext cx="1447800" cy="1330037"/>
          </a:xfrm>
          <a:prstGeom prst="rect">
            <a:avLst/>
          </a:prstGeom>
        </p:spPr>
      </p:pic>
      <p:pic>
        <p:nvPicPr>
          <p:cNvPr id="6146" name="Picture 2" descr="Area of Nets; Nets to Prisms | CK-12 Foundation">
            <a:extLst>
              <a:ext uri="{FF2B5EF4-FFF2-40B4-BE49-F238E27FC236}">
                <a16:creationId xmlns:a16="http://schemas.microsoft.com/office/drawing/2014/main" id="{76F82032-1D8E-38BC-9AE0-679B1990CD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712" b="14982"/>
          <a:stretch>
            <a:fillRect/>
          </a:stretch>
        </p:blipFill>
        <p:spPr bwMode="auto">
          <a:xfrm>
            <a:off x="2686050" y="1806575"/>
            <a:ext cx="1331908" cy="725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FD749E7-A3C3-E451-79EC-CAB027812A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49195" y="2571802"/>
            <a:ext cx="2228850" cy="86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294500"/>
      </p:ext>
    </p:extLst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Polyhedra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2932" y="458430"/>
            <a:ext cx="4008754" cy="1289777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173990">
              <a:lnSpc>
                <a:spcPct val="102600"/>
              </a:lnSpc>
              <a:spcBef>
                <a:spcPts val="300"/>
              </a:spcBef>
            </a:pPr>
            <a:r>
              <a:rPr sz="1100" spc="-20" dirty="0">
                <a:latin typeface="Tahoma"/>
                <a:cs typeface="Tahoma"/>
              </a:rPr>
              <a:t>There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are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exactly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four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other</a:t>
            </a:r>
            <a:r>
              <a:rPr sz="1100" spc="-45" dirty="0">
                <a:latin typeface="Tahoma"/>
                <a:cs typeface="Tahoma"/>
              </a:rPr>
              <a:t> regular </a:t>
            </a:r>
            <a:r>
              <a:rPr sz="1100" spc="-40" dirty="0">
                <a:latin typeface="Tahoma"/>
                <a:cs typeface="Tahoma"/>
              </a:rPr>
              <a:t>polyhedra: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tetrahedron, </a:t>
            </a:r>
            <a:r>
              <a:rPr sz="1100" spc="-40" dirty="0">
                <a:latin typeface="Tahoma"/>
                <a:cs typeface="Tahoma"/>
              </a:rPr>
              <a:t>octahedron,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dodecahedron,</a:t>
            </a:r>
            <a:r>
              <a:rPr sz="1100" spc="-35" dirty="0">
                <a:latin typeface="Tahoma"/>
                <a:cs typeface="Tahoma"/>
              </a:rPr>
              <a:t> and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icosahedron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4,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8,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12,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 </a:t>
            </a:r>
            <a:r>
              <a:rPr sz="1100" spc="-40" dirty="0">
                <a:latin typeface="Tahoma"/>
                <a:cs typeface="Tahoma"/>
              </a:rPr>
              <a:t>20 </a:t>
            </a:r>
            <a:r>
              <a:rPr sz="1100" spc="-50" dirty="0">
                <a:latin typeface="Tahoma"/>
                <a:cs typeface="Tahoma"/>
              </a:rPr>
              <a:t>faces</a:t>
            </a:r>
            <a:r>
              <a:rPr sz="1100" spc="-10" dirty="0">
                <a:latin typeface="Tahoma"/>
                <a:cs typeface="Tahoma"/>
              </a:rPr>
              <a:t> respectively</a:t>
            </a:r>
            <a:endParaRPr sz="1100" dirty="0">
              <a:latin typeface="Tahoma"/>
              <a:cs typeface="Tahoma"/>
            </a:endParaRPr>
          </a:p>
          <a:p>
            <a:pPr marL="12700" marR="174625">
              <a:lnSpc>
                <a:spcPct val="102600"/>
              </a:lnSpc>
              <a:spcBef>
                <a:spcPts val="300"/>
              </a:spcBef>
            </a:pPr>
            <a:r>
              <a:rPr sz="1100" spc="-25" dirty="0">
                <a:latin typeface="Tahoma"/>
                <a:cs typeface="Tahoma"/>
              </a:rPr>
              <a:t>Every</a:t>
            </a:r>
            <a:r>
              <a:rPr sz="1100" spc="-55" dirty="0">
                <a:latin typeface="Tahoma"/>
                <a:cs typeface="Tahoma"/>
              </a:rPr>
              <a:t> convex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polyhedron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projected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onto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plane </a:t>
            </a:r>
            <a:r>
              <a:rPr sz="1100" spc="-10" dirty="0">
                <a:latin typeface="Tahoma"/>
                <a:cs typeface="Tahoma"/>
              </a:rPr>
              <a:t>without </a:t>
            </a:r>
            <a:r>
              <a:rPr sz="1100" spc="-70" dirty="0">
                <a:latin typeface="Tahoma"/>
                <a:cs typeface="Tahoma"/>
              </a:rPr>
              <a:t>edges</a:t>
            </a:r>
            <a:r>
              <a:rPr sz="1100" spc="-10" dirty="0">
                <a:latin typeface="Tahoma"/>
                <a:cs typeface="Tahoma"/>
              </a:rPr>
              <a:t> crossing</a:t>
            </a:r>
            <a:endParaRPr sz="1100" dirty="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295"/>
              </a:spcBef>
            </a:pPr>
            <a:r>
              <a:rPr sz="1100" spc="-20" dirty="0">
                <a:latin typeface="Tahoma"/>
                <a:cs typeface="Tahoma"/>
              </a:rPr>
              <a:t>Since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every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polyhedron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represented</a:t>
            </a:r>
            <a:r>
              <a:rPr sz="1100" spc="-30" dirty="0">
                <a:latin typeface="Tahoma"/>
                <a:cs typeface="Tahoma"/>
              </a:rPr>
              <a:t> as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planar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graph,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Euler’s </a:t>
            </a:r>
            <a:r>
              <a:rPr sz="1100" spc="-35" dirty="0">
                <a:latin typeface="Tahoma"/>
                <a:cs typeface="Tahoma"/>
              </a:rPr>
              <a:t>formula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5" dirty="0">
                <a:latin typeface="Tahoma"/>
                <a:cs typeface="Tahoma"/>
              </a:rPr>
              <a:t> planar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graphs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holds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convex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polyhedra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511175"/>
            <a:ext cx="65265" cy="65265"/>
          </a:xfrm>
          <a:prstGeom prst="rect">
            <a:avLst/>
          </a:prstGeom>
        </p:spPr>
      </p:pic>
      <p:pic>
        <p:nvPic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065364"/>
            <a:ext cx="65265" cy="65265"/>
          </a:xfrm>
          <a:prstGeom prst="rect">
            <a:avLst/>
          </a:prstGeom>
        </p:spPr>
      </p:pic>
      <p:pic>
        <p:nvPicPr>
          <p:cNvPr id="9" name="object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447469"/>
            <a:ext cx="65265" cy="65265"/>
          </a:xfrm>
          <a:prstGeom prst="rect">
            <a:avLst/>
          </a:prstGeom>
        </p:spPr>
      </p:pic>
      <p:pic>
        <p:nvPicPr>
          <p:cNvPr id="7170" name="Picture 2" descr="Geometry - The Platonic Solids">
            <a:extLst>
              <a:ext uri="{FF2B5EF4-FFF2-40B4-BE49-F238E27FC236}">
                <a16:creationId xmlns:a16="http://schemas.microsoft.com/office/drawing/2014/main" id="{CCD8DC55-ACF7-7777-3C24-324FF564C9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67915"/>
            <a:ext cx="4610100" cy="1185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Coloring</a:t>
            </a:r>
          </a:p>
        </p:txBody>
      </p:sp>
      <p:pic>
        <p:nvPic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51637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568184"/>
            <a:ext cx="4091940" cy="1337802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45085">
              <a:lnSpc>
                <a:spcPct val="102600"/>
              </a:lnSpc>
              <a:spcBef>
                <a:spcPts val="55"/>
              </a:spcBef>
            </a:pP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90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place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vertex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center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each region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map)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then </a:t>
            </a:r>
            <a:r>
              <a:rPr sz="1100" spc="-35" dirty="0">
                <a:latin typeface="Tahoma"/>
                <a:cs typeface="Tahoma"/>
              </a:rPr>
              <a:t>connect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vertices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their</a:t>
            </a:r>
            <a:r>
              <a:rPr sz="1100" spc="-30" dirty="0">
                <a:latin typeface="Tahoma"/>
                <a:cs typeface="Tahoma"/>
              </a:rPr>
              <a:t> states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share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border,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get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graph</a:t>
            </a:r>
            <a:endParaRPr sz="1100" dirty="0">
              <a:latin typeface="Tahoma"/>
              <a:cs typeface="Tahoma"/>
            </a:endParaRPr>
          </a:p>
          <a:p>
            <a:pPr marL="38100" marR="155575">
              <a:lnSpc>
                <a:spcPct val="102600"/>
              </a:lnSpc>
              <a:spcBef>
                <a:spcPts val="300"/>
              </a:spcBef>
            </a:pPr>
            <a:r>
              <a:rPr sz="1100" spc="-30" dirty="0">
                <a:latin typeface="Tahoma"/>
                <a:cs typeface="Tahoma"/>
              </a:rPr>
              <a:t>Coloring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regions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map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corresponds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coloring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vertices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of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graph</a:t>
            </a:r>
            <a:endParaRPr sz="1100" dirty="0">
              <a:latin typeface="Tahoma"/>
              <a:cs typeface="Tahoma"/>
            </a:endParaRPr>
          </a:p>
          <a:p>
            <a:pPr marL="38100" marR="30480">
              <a:lnSpc>
                <a:spcPct val="102699"/>
              </a:lnSpc>
              <a:spcBef>
                <a:spcPts val="30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graph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cannot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35" dirty="0">
                <a:latin typeface="Tahoma"/>
                <a:cs typeface="Tahoma"/>
              </a:rPr>
              <a:t> vertices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colored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same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when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these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vertices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10" dirty="0">
                <a:latin typeface="Tahoma"/>
                <a:cs typeface="Tahoma"/>
              </a:rPr>
              <a:t> adjacent</a:t>
            </a:r>
            <a:endParaRPr sz="1100" dirty="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30"/>
              </a:spcBef>
            </a:pPr>
            <a:endParaRPr sz="1100" dirty="0">
              <a:latin typeface="Arial"/>
              <a:cs typeface="Arial"/>
            </a:endParaRPr>
          </a:p>
        </p:txBody>
      </p:sp>
      <p:pic>
        <p:nvPic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033741"/>
            <a:ext cx="65265" cy="65265"/>
          </a:xfrm>
          <a:prstGeom prst="rect">
            <a:avLst/>
          </a:prstGeom>
        </p:spPr>
      </p:pic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415847"/>
            <a:ext cx="65265" cy="65265"/>
          </a:xfrm>
          <a:prstGeom prst="rect">
            <a:avLst/>
          </a:prstGeom>
        </p:spPr>
      </p:pic>
      <p:pic>
        <p:nvPicPr>
          <p:cNvPr id="12" name="Picture 4" descr="4 colour theorem: an elegant proof?">
            <a:extLst>
              <a:ext uri="{FF2B5EF4-FFF2-40B4-BE49-F238E27FC236}">
                <a16:creationId xmlns:a16="http://schemas.microsoft.com/office/drawing/2014/main" id="{19A8455F-DFF3-B41B-B0EB-48A52F3548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905" y="1888967"/>
            <a:ext cx="3504697" cy="1094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9D919-2028-FA9F-0929-BAD596387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A50D5E6-7C9D-2B6D-F541-63BEB5C1A1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Coloring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00A54123-13B0-DF50-9AB5-E65E34F7A77F}"/>
                  </a:ext>
                </a:extLst>
              </p:cNvPr>
              <p:cNvSpPr txBox="1"/>
              <p:nvPr/>
            </p:nvSpPr>
            <p:spPr>
              <a:xfrm>
                <a:off x="377532" y="568184"/>
                <a:ext cx="4091940" cy="1366143"/>
              </a:xfrm>
              <a:prstGeom prst="rect">
                <a:avLst/>
              </a:prstGeom>
            </p:spPr>
            <p:txBody>
              <a:bodyPr vert="horz" wrap="square" lIns="0" tIns="698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330"/>
                  </a:spcBef>
                </a:pPr>
                <a:r>
                  <a:rPr sz="1100" spc="-10" dirty="0">
                    <a:latin typeface="Tahoma"/>
                    <a:cs typeface="Tahoma"/>
                  </a:rPr>
                  <a:t>For</a:t>
                </a:r>
                <a:r>
                  <a:rPr sz="1100" spc="-70" dirty="0">
                    <a:latin typeface="Tahoma"/>
                    <a:cs typeface="Tahoma"/>
                  </a:rPr>
                  <a:t> </a:t>
                </a:r>
                <a:r>
                  <a:rPr sz="1100" dirty="0">
                    <a:latin typeface="Tahoma"/>
                    <a:cs typeface="Tahoma"/>
                  </a:rPr>
                  <a:t>a</a:t>
                </a:r>
                <a:r>
                  <a:rPr sz="1100" spc="-45" dirty="0">
                    <a:latin typeface="Tahoma"/>
                    <a:cs typeface="Tahoma"/>
                  </a:rPr>
                  <a:t> </a:t>
                </a:r>
                <a:r>
                  <a:rPr sz="1100" spc="-40" dirty="0">
                    <a:latin typeface="Tahoma"/>
                    <a:cs typeface="Tahoma"/>
                  </a:rPr>
                  <a:t>graph</a:t>
                </a:r>
                <a:r>
                  <a:rPr sz="1100" spc="-45" dirty="0">
                    <a:latin typeface="Tahoma"/>
                    <a:cs typeface="Tahoma"/>
                  </a:rPr>
                  <a:t> </a:t>
                </a:r>
                <a:r>
                  <a:rPr sz="1100" i="1" spc="-135" dirty="0">
                    <a:latin typeface="Arial"/>
                    <a:cs typeface="Arial"/>
                  </a:rPr>
                  <a:t>G</a:t>
                </a:r>
                <a:r>
                  <a:rPr sz="1100" i="1" spc="-180" dirty="0">
                    <a:latin typeface="Arial"/>
                    <a:cs typeface="Arial"/>
                  </a:rPr>
                  <a:t> </a:t>
                </a:r>
                <a:r>
                  <a:rPr sz="1100" dirty="0">
                    <a:latin typeface="Tahoma"/>
                    <a:cs typeface="Tahoma"/>
                  </a:rPr>
                  <a:t>,</a:t>
                </a:r>
                <a:r>
                  <a:rPr sz="1100" spc="-45" dirty="0">
                    <a:latin typeface="Tahoma"/>
                    <a:cs typeface="Tahoma"/>
                  </a:rPr>
                  <a:t> </a:t>
                </a:r>
                <a:r>
                  <a:rPr sz="1100" dirty="0">
                    <a:latin typeface="Tahoma"/>
                    <a:cs typeface="Tahoma"/>
                  </a:rPr>
                  <a:t>a</a:t>
                </a:r>
                <a:r>
                  <a:rPr sz="1100" spc="-45" dirty="0">
                    <a:latin typeface="Tahoma"/>
                    <a:cs typeface="Tahoma"/>
                  </a:rPr>
                  <a:t> </a:t>
                </a:r>
                <a:r>
                  <a:rPr sz="1100" spc="-35" dirty="0">
                    <a:latin typeface="Tahoma"/>
                    <a:cs typeface="Tahoma"/>
                  </a:rPr>
                  <a:t>coloring</a:t>
                </a:r>
                <a:r>
                  <a:rPr sz="1100" spc="-50" dirty="0">
                    <a:latin typeface="Tahoma"/>
                    <a:cs typeface="Tahoma"/>
                  </a:rPr>
                  <a:t> </a:t>
                </a:r>
                <a:r>
                  <a:rPr sz="1100" dirty="0">
                    <a:latin typeface="Tahoma"/>
                    <a:cs typeface="Tahoma"/>
                  </a:rPr>
                  <a:t>of</a:t>
                </a:r>
                <a:r>
                  <a:rPr sz="1100" spc="-45" dirty="0">
                    <a:latin typeface="Tahoma"/>
                    <a:cs typeface="Tahoma"/>
                  </a:rPr>
                  <a:t> </a:t>
                </a:r>
                <a:r>
                  <a:rPr sz="1100" spc="-10" dirty="0">
                    <a:latin typeface="Tahoma"/>
                    <a:cs typeface="Tahoma"/>
                  </a:rPr>
                  <a:t>the</a:t>
                </a:r>
                <a:r>
                  <a:rPr sz="1100" spc="-40" dirty="0">
                    <a:latin typeface="Tahoma"/>
                    <a:cs typeface="Tahoma"/>
                  </a:rPr>
                  <a:t> </a:t>
                </a:r>
                <a:r>
                  <a:rPr sz="1100" spc="-35" dirty="0">
                    <a:latin typeface="Tahoma"/>
                    <a:cs typeface="Tahoma"/>
                  </a:rPr>
                  <a:t>vertices</a:t>
                </a:r>
                <a:r>
                  <a:rPr sz="1100" spc="-50" dirty="0">
                    <a:latin typeface="Tahoma"/>
                    <a:cs typeface="Tahoma"/>
                  </a:rPr>
                  <a:t> </a:t>
                </a:r>
                <a:r>
                  <a:rPr sz="1100" dirty="0">
                    <a:latin typeface="Tahoma"/>
                    <a:cs typeface="Tahoma"/>
                  </a:rPr>
                  <a:t>is</a:t>
                </a:r>
                <a:r>
                  <a:rPr sz="1100" spc="-45" dirty="0">
                    <a:latin typeface="Tahoma"/>
                    <a:cs typeface="Tahoma"/>
                  </a:rPr>
                  <a:t> </a:t>
                </a:r>
                <a:r>
                  <a:rPr sz="1100" spc="-25" dirty="0">
                    <a:latin typeface="Tahoma"/>
                    <a:cs typeface="Tahoma"/>
                  </a:rPr>
                  <a:t>called</a:t>
                </a:r>
                <a:r>
                  <a:rPr sz="1100" spc="-45" dirty="0">
                    <a:latin typeface="Tahoma"/>
                    <a:cs typeface="Tahoma"/>
                  </a:rPr>
                  <a:t> </a:t>
                </a:r>
                <a:r>
                  <a:rPr sz="1100" dirty="0">
                    <a:latin typeface="Tahoma"/>
                    <a:cs typeface="Tahoma"/>
                  </a:rPr>
                  <a:t>a</a:t>
                </a:r>
                <a:r>
                  <a:rPr sz="1100" spc="-45" dirty="0">
                    <a:latin typeface="Tahoma"/>
                    <a:cs typeface="Tahoma"/>
                  </a:rPr>
                  <a:t> </a:t>
                </a:r>
                <a:r>
                  <a:rPr sz="1100" b="1" spc="-10" dirty="0">
                    <a:latin typeface="Arial"/>
                    <a:cs typeface="Arial"/>
                  </a:rPr>
                  <a:t>vertex</a:t>
                </a:r>
                <a:r>
                  <a:rPr sz="1100" b="1" spc="25" dirty="0">
                    <a:latin typeface="Arial"/>
                    <a:cs typeface="Arial"/>
                  </a:rPr>
                  <a:t> </a:t>
                </a:r>
                <a:r>
                  <a:rPr sz="1100" b="1" spc="-10" dirty="0">
                    <a:latin typeface="Arial"/>
                    <a:cs typeface="Arial"/>
                  </a:rPr>
                  <a:t>coloring</a:t>
                </a:r>
                <a:endParaRPr sz="1100" dirty="0">
                  <a:latin typeface="Arial"/>
                  <a:cs typeface="Arial"/>
                </a:endParaRPr>
              </a:p>
              <a:p>
                <a:pPr marL="38100" marR="340995">
                  <a:lnSpc>
                    <a:spcPct val="102600"/>
                  </a:lnSpc>
                  <a:spcBef>
                    <a:spcPts val="300"/>
                  </a:spcBef>
                </a:pPr>
                <a:r>
                  <a:rPr sz="1100" spc="-30" dirty="0">
                    <a:latin typeface="Tahoma"/>
                    <a:cs typeface="Tahoma"/>
                  </a:rPr>
                  <a:t>If</a:t>
                </a:r>
                <a:r>
                  <a:rPr sz="1100" spc="-50" dirty="0">
                    <a:latin typeface="Tahoma"/>
                    <a:cs typeface="Tahoma"/>
                  </a:rPr>
                  <a:t> </a:t>
                </a:r>
                <a:r>
                  <a:rPr sz="1100" spc="-10" dirty="0">
                    <a:latin typeface="Tahoma"/>
                    <a:cs typeface="Tahoma"/>
                  </a:rPr>
                  <a:t>the</a:t>
                </a:r>
                <a:r>
                  <a:rPr sz="1100" spc="-45" dirty="0">
                    <a:latin typeface="Tahoma"/>
                    <a:cs typeface="Tahoma"/>
                  </a:rPr>
                  <a:t> </a:t>
                </a:r>
                <a:r>
                  <a:rPr sz="1100" spc="-40" dirty="0">
                    <a:latin typeface="Tahoma"/>
                    <a:cs typeface="Tahoma"/>
                  </a:rPr>
                  <a:t>vertex</a:t>
                </a:r>
                <a:r>
                  <a:rPr sz="1100" spc="-45" dirty="0">
                    <a:latin typeface="Tahoma"/>
                    <a:cs typeface="Tahoma"/>
                  </a:rPr>
                  <a:t> </a:t>
                </a:r>
                <a:r>
                  <a:rPr sz="1100" spc="-35" dirty="0">
                    <a:latin typeface="Tahoma"/>
                    <a:cs typeface="Tahoma"/>
                  </a:rPr>
                  <a:t>coloring</a:t>
                </a:r>
                <a:r>
                  <a:rPr sz="1100" spc="-45" dirty="0">
                    <a:latin typeface="Tahoma"/>
                    <a:cs typeface="Tahoma"/>
                  </a:rPr>
                  <a:t> has </a:t>
                </a:r>
                <a:r>
                  <a:rPr sz="1100" spc="-10" dirty="0">
                    <a:latin typeface="Tahoma"/>
                    <a:cs typeface="Tahoma"/>
                  </a:rPr>
                  <a:t>the</a:t>
                </a:r>
                <a:r>
                  <a:rPr sz="1100" spc="-40" dirty="0">
                    <a:latin typeface="Tahoma"/>
                    <a:cs typeface="Tahoma"/>
                  </a:rPr>
                  <a:t> property</a:t>
                </a:r>
                <a:r>
                  <a:rPr sz="1100" spc="-45" dirty="0">
                    <a:latin typeface="Tahoma"/>
                    <a:cs typeface="Tahoma"/>
                  </a:rPr>
                  <a:t> </a:t>
                </a:r>
                <a:r>
                  <a:rPr sz="1100" dirty="0">
                    <a:latin typeface="Tahoma"/>
                    <a:cs typeface="Tahoma"/>
                  </a:rPr>
                  <a:t>that</a:t>
                </a:r>
                <a:r>
                  <a:rPr sz="1100" spc="-50" dirty="0">
                    <a:latin typeface="Tahoma"/>
                    <a:cs typeface="Tahoma"/>
                  </a:rPr>
                  <a:t> </a:t>
                </a:r>
                <a:r>
                  <a:rPr sz="1100" spc="-35" dirty="0">
                    <a:latin typeface="Tahoma"/>
                    <a:cs typeface="Tahoma"/>
                  </a:rPr>
                  <a:t>adjacent</a:t>
                </a:r>
                <a:r>
                  <a:rPr sz="1100" spc="-45" dirty="0">
                    <a:latin typeface="Tahoma"/>
                    <a:cs typeface="Tahoma"/>
                  </a:rPr>
                  <a:t> </a:t>
                </a:r>
                <a:r>
                  <a:rPr sz="1100" spc="-35" dirty="0">
                    <a:latin typeface="Tahoma"/>
                    <a:cs typeface="Tahoma"/>
                  </a:rPr>
                  <a:t>vertices</a:t>
                </a:r>
                <a:r>
                  <a:rPr sz="1100" spc="-45" dirty="0">
                    <a:latin typeface="Tahoma"/>
                    <a:cs typeface="Tahoma"/>
                  </a:rPr>
                  <a:t> </a:t>
                </a:r>
                <a:r>
                  <a:rPr sz="1100" spc="-30" dirty="0">
                    <a:latin typeface="Tahoma"/>
                    <a:cs typeface="Tahoma"/>
                  </a:rPr>
                  <a:t>are </a:t>
                </a:r>
                <a:r>
                  <a:rPr sz="1100" spc="-40" dirty="0">
                    <a:latin typeface="Tahoma"/>
                    <a:cs typeface="Tahoma"/>
                  </a:rPr>
                  <a:t>colored</a:t>
                </a:r>
                <a:r>
                  <a:rPr sz="1100" spc="-50" dirty="0">
                    <a:latin typeface="Tahoma"/>
                    <a:cs typeface="Tahoma"/>
                  </a:rPr>
                  <a:t> </a:t>
                </a:r>
                <a:r>
                  <a:rPr sz="1100" spc="-40" dirty="0">
                    <a:latin typeface="Tahoma"/>
                    <a:cs typeface="Tahoma"/>
                  </a:rPr>
                  <a:t>differently,</a:t>
                </a:r>
                <a:r>
                  <a:rPr sz="1100" spc="-45" dirty="0">
                    <a:latin typeface="Tahoma"/>
                    <a:cs typeface="Tahoma"/>
                  </a:rPr>
                  <a:t> </a:t>
                </a:r>
                <a:r>
                  <a:rPr sz="1100" spc="-25" dirty="0">
                    <a:latin typeface="Tahoma"/>
                    <a:cs typeface="Tahoma"/>
                  </a:rPr>
                  <a:t>then</a:t>
                </a:r>
                <a:r>
                  <a:rPr sz="1100" spc="-50" dirty="0">
                    <a:latin typeface="Tahoma"/>
                    <a:cs typeface="Tahoma"/>
                  </a:rPr>
                  <a:t> </a:t>
                </a:r>
                <a:r>
                  <a:rPr sz="1100" spc="-10" dirty="0">
                    <a:latin typeface="Tahoma"/>
                    <a:cs typeface="Tahoma"/>
                  </a:rPr>
                  <a:t>the</a:t>
                </a:r>
                <a:r>
                  <a:rPr sz="1100" spc="-45" dirty="0">
                    <a:latin typeface="Tahoma"/>
                    <a:cs typeface="Tahoma"/>
                  </a:rPr>
                  <a:t> </a:t>
                </a:r>
                <a:r>
                  <a:rPr sz="1100" spc="-35" dirty="0">
                    <a:latin typeface="Tahoma"/>
                    <a:cs typeface="Tahoma"/>
                  </a:rPr>
                  <a:t>coloring</a:t>
                </a:r>
                <a:r>
                  <a:rPr sz="1100" spc="-45" dirty="0">
                    <a:latin typeface="Tahoma"/>
                    <a:cs typeface="Tahoma"/>
                  </a:rPr>
                  <a:t> </a:t>
                </a:r>
                <a:r>
                  <a:rPr sz="1100" dirty="0">
                    <a:latin typeface="Tahoma"/>
                    <a:cs typeface="Tahoma"/>
                  </a:rPr>
                  <a:t>is</a:t>
                </a:r>
                <a:r>
                  <a:rPr sz="1100" spc="-50" dirty="0">
                    <a:latin typeface="Tahoma"/>
                    <a:cs typeface="Tahoma"/>
                  </a:rPr>
                  <a:t> </a:t>
                </a:r>
                <a:r>
                  <a:rPr sz="1100" spc="-45" dirty="0">
                    <a:latin typeface="Tahoma"/>
                    <a:cs typeface="Tahoma"/>
                  </a:rPr>
                  <a:t>known </a:t>
                </a:r>
                <a:r>
                  <a:rPr sz="1100" spc="-20" dirty="0">
                    <a:latin typeface="Tahoma"/>
                    <a:cs typeface="Tahoma"/>
                  </a:rPr>
                  <a:t>as</a:t>
                </a:r>
                <a:r>
                  <a:rPr sz="1100" spc="-40" dirty="0">
                    <a:latin typeface="Tahoma"/>
                    <a:cs typeface="Tahoma"/>
                  </a:rPr>
                  <a:t> </a:t>
                </a:r>
                <a:r>
                  <a:rPr sz="1100" b="1" spc="-10" dirty="0">
                    <a:latin typeface="Arial"/>
                    <a:cs typeface="Arial"/>
                  </a:rPr>
                  <a:t>proper</a:t>
                </a:r>
                <a:endParaRPr sz="1100" dirty="0">
                  <a:latin typeface="Arial"/>
                  <a:cs typeface="Arial"/>
                </a:endParaRPr>
              </a:p>
              <a:p>
                <a:pPr marL="38100" marR="38100">
                  <a:lnSpc>
                    <a:spcPct val="102600"/>
                  </a:lnSpc>
                  <a:spcBef>
                    <a:spcPts val="300"/>
                  </a:spcBef>
                </a:pPr>
                <a:r>
                  <a:rPr sz="1100" dirty="0">
                    <a:latin typeface="Tahoma"/>
                    <a:cs typeface="Tahoma"/>
                  </a:rPr>
                  <a:t>The</a:t>
                </a:r>
                <a:r>
                  <a:rPr sz="1100" spc="-45" dirty="0">
                    <a:latin typeface="Tahoma"/>
                    <a:cs typeface="Tahoma"/>
                  </a:rPr>
                  <a:t> </a:t>
                </a:r>
                <a:r>
                  <a:rPr sz="1100" spc="-35" dirty="0">
                    <a:latin typeface="Tahoma"/>
                    <a:cs typeface="Tahoma"/>
                  </a:rPr>
                  <a:t>smallest</a:t>
                </a:r>
                <a:r>
                  <a:rPr sz="1100" spc="-30" dirty="0">
                    <a:latin typeface="Tahoma"/>
                    <a:cs typeface="Tahoma"/>
                  </a:rPr>
                  <a:t> </a:t>
                </a:r>
                <a:r>
                  <a:rPr sz="1100" spc="-45" dirty="0">
                    <a:latin typeface="Tahoma"/>
                    <a:cs typeface="Tahoma"/>
                  </a:rPr>
                  <a:t>number</a:t>
                </a:r>
                <a:r>
                  <a:rPr sz="1100" spc="-30" dirty="0">
                    <a:latin typeface="Tahoma"/>
                    <a:cs typeface="Tahoma"/>
                  </a:rPr>
                  <a:t> </a:t>
                </a:r>
                <a:r>
                  <a:rPr sz="1100" dirty="0">
                    <a:latin typeface="Tahoma"/>
                    <a:cs typeface="Tahoma"/>
                  </a:rPr>
                  <a:t>of</a:t>
                </a:r>
                <a:r>
                  <a:rPr sz="1100" spc="-30" dirty="0">
                    <a:latin typeface="Tahoma"/>
                    <a:cs typeface="Tahoma"/>
                  </a:rPr>
                  <a:t> </a:t>
                </a:r>
                <a:r>
                  <a:rPr sz="1100" spc="-35" dirty="0">
                    <a:latin typeface="Tahoma"/>
                    <a:cs typeface="Tahoma"/>
                  </a:rPr>
                  <a:t>colors</a:t>
                </a:r>
                <a:r>
                  <a:rPr sz="1100" spc="-30" dirty="0">
                    <a:latin typeface="Tahoma"/>
                    <a:cs typeface="Tahoma"/>
                  </a:rPr>
                  <a:t> </a:t>
                </a:r>
                <a:r>
                  <a:rPr sz="1100" spc="-70" dirty="0">
                    <a:latin typeface="Tahoma"/>
                    <a:cs typeface="Tahoma"/>
                  </a:rPr>
                  <a:t>needed</a:t>
                </a:r>
                <a:r>
                  <a:rPr sz="1100" spc="-15" dirty="0">
                    <a:latin typeface="Tahoma"/>
                    <a:cs typeface="Tahoma"/>
                  </a:rPr>
                  <a:t> </a:t>
                </a:r>
                <a:r>
                  <a:rPr sz="1100" dirty="0">
                    <a:latin typeface="Tahoma"/>
                    <a:cs typeface="Tahoma"/>
                  </a:rPr>
                  <a:t>to</a:t>
                </a:r>
                <a:r>
                  <a:rPr sz="1100" spc="-35" dirty="0">
                    <a:latin typeface="Tahoma"/>
                    <a:cs typeface="Tahoma"/>
                  </a:rPr>
                  <a:t> </a:t>
                </a:r>
                <a:r>
                  <a:rPr sz="1100" spc="-20" dirty="0">
                    <a:latin typeface="Tahoma"/>
                    <a:cs typeface="Tahoma"/>
                  </a:rPr>
                  <a:t>get</a:t>
                </a:r>
                <a:r>
                  <a:rPr sz="1100" spc="-30" dirty="0">
                    <a:latin typeface="Tahoma"/>
                    <a:cs typeface="Tahoma"/>
                  </a:rPr>
                  <a:t> </a:t>
                </a:r>
                <a:r>
                  <a:rPr sz="1100" dirty="0">
                    <a:latin typeface="Tahoma"/>
                    <a:cs typeface="Tahoma"/>
                  </a:rPr>
                  <a:t>a</a:t>
                </a:r>
                <a:r>
                  <a:rPr sz="1100" spc="-30" dirty="0">
                    <a:latin typeface="Tahoma"/>
                    <a:cs typeface="Tahoma"/>
                  </a:rPr>
                  <a:t> </a:t>
                </a:r>
                <a:r>
                  <a:rPr sz="1100" spc="-45" dirty="0">
                    <a:latin typeface="Tahoma"/>
                    <a:cs typeface="Tahoma"/>
                  </a:rPr>
                  <a:t>proper</a:t>
                </a:r>
                <a:r>
                  <a:rPr sz="1100" spc="-30" dirty="0">
                    <a:latin typeface="Tahoma"/>
                    <a:cs typeface="Tahoma"/>
                  </a:rPr>
                  <a:t> </a:t>
                </a:r>
                <a:r>
                  <a:rPr sz="1100" spc="-40" dirty="0">
                    <a:latin typeface="Tahoma"/>
                    <a:cs typeface="Tahoma"/>
                  </a:rPr>
                  <a:t>vertex</a:t>
                </a:r>
                <a:r>
                  <a:rPr sz="1100" spc="-30" dirty="0">
                    <a:latin typeface="Tahoma"/>
                    <a:cs typeface="Tahoma"/>
                  </a:rPr>
                  <a:t> </a:t>
                </a:r>
                <a:r>
                  <a:rPr sz="1100" spc="-35" dirty="0">
                    <a:latin typeface="Tahoma"/>
                    <a:cs typeface="Tahoma"/>
                  </a:rPr>
                  <a:t>coloring </a:t>
                </a:r>
                <a:r>
                  <a:rPr sz="1100" dirty="0">
                    <a:latin typeface="Tahoma"/>
                    <a:cs typeface="Tahoma"/>
                  </a:rPr>
                  <a:t>is</a:t>
                </a:r>
                <a:r>
                  <a:rPr sz="1100" spc="-80" dirty="0">
                    <a:latin typeface="Tahoma"/>
                    <a:cs typeface="Tahoma"/>
                  </a:rPr>
                  <a:t> </a:t>
                </a:r>
                <a:r>
                  <a:rPr sz="1100" spc="-25" dirty="0">
                    <a:latin typeface="Tahoma"/>
                    <a:cs typeface="Tahoma"/>
                  </a:rPr>
                  <a:t>called</a:t>
                </a:r>
                <a:r>
                  <a:rPr sz="1100" spc="-45" dirty="0">
                    <a:latin typeface="Tahoma"/>
                    <a:cs typeface="Tahoma"/>
                  </a:rPr>
                  <a:t> </a:t>
                </a:r>
                <a:r>
                  <a:rPr sz="1100" spc="-10" dirty="0">
                    <a:latin typeface="Tahoma"/>
                    <a:cs typeface="Tahoma"/>
                  </a:rPr>
                  <a:t>the</a:t>
                </a:r>
                <a:r>
                  <a:rPr sz="1100" spc="-45" dirty="0">
                    <a:latin typeface="Tahoma"/>
                    <a:cs typeface="Tahoma"/>
                  </a:rPr>
                  <a:t> </a:t>
                </a:r>
                <a:r>
                  <a:rPr sz="1100" b="1" spc="-35" dirty="0">
                    <a:latin typeface="Arial"/>
                    <a:cs typeface="Arial"/>
                  </a:rPr>
                  <a:t>chromatic</a:t>
                </a:r>
                <a:r>
                  <a:rPr sz="1100" b="1" spc="25" dirty="0">
                    <a:latin typeface="Arial"/>
                    <a:cs typeface="Arial"/>
                  </a:rPr>
                  <a:t> </a:t>
                </a:r>
                <a:r>
                  <a:rPr sz="1100" b="1" spc="-35" dirty="0">
                    <a:latin typeface="Arial"/>
                    <a:cs typeface="Arial"/>
                  </a:rPr>
                  <a:t>number</a:t>
                </a:r>
                <a:r>
                  <a:rPr sz="1100" b="1" spc="-15" dirty="0">
                    <a:latin typeface="Arial"/>
                    <a:cs typeface="Arial"/>
                  </a:rPr>
                  <a:t> </a:t>
                </a:r>
                <a:r>
                  <a:rPr sz="1100" dirty="0">
                    <a:latin typeface="Tahoma"/>
                    <a:cs typeface="Tahoma"/>
                  </a:rPr>
                  <a:t>of</a:t>
                </a:r>
                <a:r>
                  <a:rPr sz="1100" spc="-45" dirty="0">
                    <a:latin typeface="Tahoma"/>
                    <a:cs typeface="Tahoma"/>
                  </a:rPr>
                  <a:t> </a:t>
                </a:r>
                <a:r>
                  <a:rPr sz="1100" spc="-10" dirty="0">
                    <a:latin typeface="Tahoma"/>
                    <a:cs typeface="Tahoma"/>
                  </a:rPr>
                  <a:t>the</a:t>
                </a:r>
                <a:r>
                  <a:rPr sz="1100" spc="-45" dirty="0">
                    <a:latin typeface="Tahoma"/>
                    <a:cs typeface="Tahoma"/>
                  </a:rPr>
                  <a:t> </a:t>
                </a:r>
                <a:r>
                  <a:rPr sz="1100" spc="-40" dirty="0">
                    <a:latin typeface="Tahoma"/>
                    <a:cs typeface="Tahoma"/>
                  </a:rPr>
                  <a:t>graph,</a:t>
                </a:r>
                <a:r>
                  <a:rPr sz="1100" spc="-50" dirty="0">
                    <a:latin typeface="Tahoma"/>
                    <a:cs typeface="Tahoma"/>
                  </a:rPr>
                  <a:t> </a:t>
                </a:r>
                <a:r>
                  <a:rPr sz="1100" i="1" spc="-45" dirty="0">
                    <a:latin typeface="Comic Sans MS"/>
                    <a:cs typeface="Comic Sans MS"/>
                  </a:rPr>
                  <a:t>χ</a:t>
                </a:r>
                <a:r>
                  <a:rPr sz="1100" spc="-45" dirty="0">
                    <a:latin typeface="Tahoma"/>
                    <a:cs typeface="Tahoma"/>
                  </a:rPr>
                  <a:t>(</a:t>
                </a:r>
                <a:r>
                  <a:rPr sz="1100" i="1" spc="-45" dirty="0">
                    <a:latin typeface="Arial"/>
                    <a:cs typeface="Arial"/>
                  </a:rPr>
                  <a:t>G</a:t>
                </a:r>
                <a:r>
                  <a:rPr sz="1100" i="1" spc="-180" dirty="0">
                    <a:latin typeface="Arial"/>
                    <a:cs typeface="Arial"/>
                  </a:rPr>
                  <a:t> </a:t>
                </a:r>
                <a:r>
                  <a:rPr sz="1100" spc="-50" dirty="0">
                    <a:latin typeface="Tahoma"/>
                    <a:cs typeface="Tahoma"/>
                  </a:rPr>
                  <a:t>)</a:t>
                </a:r>
                <a:r>
                  <a:rPr lang="en-US" sz="1100" spc="-50" dirty="0">
                    <a:latin typeface="Tahoma"/>
                    <a:cs typeface="Tahoma"/>
                  </a:rPr>
                  <a:t> or </a:t>
                </a:r>
                <a14:m>
                  <m:oMath xmlns:m="http://schemas.openxmlformats.org/officeDocument/2006/math">
                    <m:r>
                      <a:rPr lang="en-US" sz="110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ahoma"/>
                      </a:rPr>
                      <m:t>𝛾</m:t>
                    </m:r>
                  </m:oMath>
                </a14:m>
                <a:r>
                  <a:rPr lang="en-US" sz="1100" dirty="0">
                    <a:latin typeface="Tahoma"/>
                    <a:cs typeface="Tahoma"/>
                  </a:rPr>
                  <a:t>(G)</a:t>
                </a:r>
                <a:endParaRPr sz="1100" dirty="0">
                  <a:latin typeface="Tahoma"/>
                  <a:cs typeface="Tahoma"/>
                </a:endParaRPr>
              </a:p>
              <a:p>
                <a:pPr marL="38100">
                  <a:lnSpc>
                    <a:spcPct val="100000"/>
                  </a:lnSpc>
                  <a:spcBef>
                    <a:spcPts val="335"/>
                  </a:spcBef>
                </a:pPr>
                <a:r>
                  <a:rPr sz="1100" spc="-45" dirty="0">
                    <a:latin typeface="Tahoma"/>
                    <a:cs typeface="Tahoma"/>
                  </a:rPr>
                  <a:t>See</a:t>
                </a:r>
                <a:r>
                  <a:rPr sz="1100" spc="-35" dirty="0">
                    <a:latin typeface="Tahoma"/>
                    <a:cs typeface="Tahoma"/>
                  </a:rPr>
                  <a:t> Example</a:t>
                </a:r>
                <a:r>
                  <a:rPr sz="1100" spc="-30" dirty="0">
                    <a:latin typeface="Tahoma"/>
                    <a:cs typeface="Tahoma"/>
                  </a:rPr>
                  <a:t> </a:t>
                </a:r>
                <a:r>
                  <a:rPr sz="1100" spc="-10" dirty="0">
                    <a:latin typeface="Tahoma"/>
                    <a:cs typeface="Tahoma"/>
                  </a:rPr>
                  <a:t>4.4.1</a:t>
                </a:r>
                <a:endParaRPr sz="1100" dirty="0">
                  <a:latin typeface="Tahoma"/>
                  <a:cs typeface="Tahoma"/>
                </a:endParaRPr>
              </a:p>
              <a:p>
                <a:pPr marL="38100">
                  <a:lnSpc>
                    <a:spcPct val="100000"/>
                  </a:lnSpc>
                  <a:spcBef>
                    <a:spcPts val="334"/>
                  </a:spcBef>
                </a:pPr>
                <a:r>
                  <a:rPr sz="1100" i="1" dirty="0">
                    <a:latin typeface="Arial"/>
                    <a:cs typeface="Arial"/>
                  </a:rPr>
                  <a:t>K</a:t>
                </a:r>
                <a:r>
                  <a:rPr sz="1200" i="1" baseline="-10416" dirty="0">
                    <a:latin typeface="Arial"/>
                    <a:cs typeface="Arial"/>
                  </a:rPr>
                  <a:t>n</a:t>
                </a:r>
                <a:r>
                  <a:rPr sz="1200" i="1" spc="240" baseline="-10416" dirty="0">
                    <a:latin typeface="Arial"/>
                    <a:cs typeface="Arial"/>
                  </a:rPr>
                  <a:t> </a:t>
                </a:r>
                <a:r>
                  <a:rPr sz="1100" spc="-45" dirty="0">
                    <a:latin typeface="Tahoma"/>
                    <a:cs typeface="Tahoma"/>
                  </a:rPr>
                  <a:t>has</a:t>
                </a:r>
                <a:r>
                  <a:rPr sz="1100" spc="-25" dirty="0">
                    <a:latin typeface="Tahoma"/>
                    <a:cs typeface="Tahoma"/>
                  </a:rPr>
                  <a:t> chromatic</a:t>
                </a:r>
                <a:r>
                  <a:rPr sz="1100" spc="-15" dirty="0">
                    <a:latin typeface="Tahoma"/>
                    <a:cs typeface="Tahoma"/>
                  </a:rPr>
                  <a:t> </a:t>
                </a:r>
                <a:r>
                  <a:rPr sz="1100" spc="-45" dirty="0">
                    <a:latin typeface="Tahoma"/>
                    <a:cs typeface="Tahoma"/>
                  </a:rPr>
                  <a:t>number</a:t>
                </a:r>
                <a:r>
                  <a:rPr sz="1100" spc="-20" dirty="0">
                    <a:latin typeface="Tahoma"/>
                    <a:cs typeface="Tahoma"/>
                  </a:rPr>
                  <a:t> </a:t>
                </a:r>
                <a:r>
                  <a:rPr sz="1100" i="1" spc="-50" dirty="0">
                    <a:latin typeface="Arial"/>
                    <a:cs typeface="Arial"/>
                  </a:rPr>
                  <a:t>n</a:t>
                </a:r>
                <a:endParaRPr sz="1100" dirty="0">
                  <a:latin typeface="Arial"/>
                  <a:cs typeface="Arial"/>
                </a:endParaRPr>
              </a:p>
            </p:txBody>
          </p:sp>
        </mc:Choice>
        <mc:Fallback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00A54123-13B0-DF50-9AB5-E65E34F7A7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532" y="568184"/>
                <a:ext cx="4091940" cy="1366143"/>
              </a:xfrm>
              <a:prstGeom prst="rect">
                <a:avLst/>
              </a:prstGeom>
              <a:blipFill>
                <a:blip r:embed="rId2"/>
                <a:stretch>
                  <a:fillRect l="-1238" t="-2752" r="-1858" b="-55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object 7">
            <a:extLst>
              <a:ext uri="{FF2B5EF4-FFF2-40B4-BE49-F238E27FC236}">
                <a16:creationId xmlns:a16="http://schemas.microsoft.com/office/drawing/2014/main" id="{FF80C275-BE5F-FD7E-1E18-BA3C6A72C1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633222"/>
            <a:ext cx="65265" cy="65265"/>
          </a:xfrm>
          <a:prstGeom prst="rect">
            <a:avLst/>
          </a:prstGeom>
        </p:spPr>
      </p:pic>
      <p:pic>
        <p:nvPicPr>
          <p:cNvPr id="8" name="object 8">
            <a:extLst>
              <a:ext uri="{FF2B5EF4-FFF2-40B4-BE49-F238E27FC236}">
                <a16:creationId xmlns:a16="http://schemas.microsoft.com/office/drawing/2014/main" id="{3D2E886A-6A82-627B-5AD7-B811914B0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843255"/>
            <a:ext cx="65265" cy="65265"/>
          </a:xfrm>
          <a:prstGeom prst="rect">
            <a:avLst/>
          </a:prstGeom>
        </p:spPr>
      </p:pic>
      <p:pic>
        <p:nvPicPr>
          <p:cNvPr id="9" name="object 9">
            <a:extLst>
              <a:ext uri="{FF2B5EF4-FFF2-40B4-BE49-F238E27FC236}">
                <a16:creationId xmlns:a16="http://schemas.microsoft.com/office/drawing/2014/main" id="{C1725558-F3EE-66D9-FD57-241C97115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225372"/>
            <a:ext cx="65265" cy="65265"/>
          </a:xfrm>
          <a:prstGeom prst="rect">
            <a:avLst/>
          </a:prstGeom>
        </p:spPr>
      </p:pic>
      <p:pic>
        <p:nvPicPr>
          <p:cNvPr id="10" name="object 10">
            <a:extLst>
              <a:ext uri="{FF2B5EF4-FFF2-40B4-BE49-F238E27FC236}">
                <a16:creationId xmlns:a16="http://schemas.microsoft.com/office/drawing/2014/main" id="{FB87E357-4D24-1237-60A1-2C13AF300D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1607477"/>
            <a:ext cx="65265" cy="65265"/>
          </a:xfrm>
          <a:prstGeom prst="rect">
            <a:avLst/>
          </a:prstGeom>
        </p:spPr>
      </p:pic>
      <p:pic>
        <p:nvPicPr>
          <p:cNvPr id="11" name="object 11">
            <a:extLst>
              <a:ext uri="{FF2B5EF4-FFF2-40B4-BE49-F238E27FC236}">
                <a16:creationId xmlns:a16="http://schemas.microsoft.com/office/drawing/2014/main" id="{F0701907-39E5-2DF5-0D96-E512CC313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1817510"/>
            <a:ext cx="65265" cy="652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BCD4781-7F6E-E7F5-9D1E-964FCD11A4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2247" y="1977553"/>
            <a:ext cx="2381250" cy="1432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356003"/>
      </p:ext>
    </p:extLst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More</a:t>
            </a:r>
            <a:r>
              <a:rPr spc="-90" dirty="0"/>
              <a:t> </a:t>
            </a:r>
            <a:r>
              <a:rPr dirty="0"/>
              <a:t>on</a:t>
            </a:r>
            <a:r>
              <a:rPr spc="-90" dirty="0"/>
              <a:t> </a:t>
            </a:r>
            <a:r>
              <a:rPr spc="-25" dirty="0"/>
              <a:t>Coloring</a:t>
            </a:r>
          </a:p>
        </p:txBody>
      </p:sp>
      <p:pic>
        <p:nvPic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407" y="594628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23850" y="511175"/>
            <a:ext cx="4089400" cy="1289777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>
              <a:lnSpc>
                <a:spcPct val="102600"/>
              </a:lnSpc>
              <a:spcBef>
                <a:spcPts val="55"/>
              </a:spcBef>
            </a:pPr>
            <a:r>
              <a:rPr sz="1100" b="1" spc="-20" dirty="0">
                <a:latin typeface="Arial"/>
                <a:cs typeface="Arial"/>
              </a:rPr>
              <a:t>Theorem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4.4.2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The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b="1" spc="-25" dirty="0">
                <a:latin typeface="Arial"/>
                <a:cs typeface="Arial"/>
              </a:rPr>
              <a:t>Four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b="1" spc="-35" dirty="0">
                <a:latin typeface="Arial"/>
                <a:cs typeface="Arial"/>
              </a:rPr>
              <a:t>Color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Theorem</a:t>
            </a:r>
            <a:r>
              <a:rPr sz="1100" spc="-20" dirty="0">
                <a:latin typeface="Tahoma"/>
                <a:cs typeface="Tahoma"/>
              </a:rPr>
              <a:t>.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G</a:t>
            </a:r>
            <a:r>
              <a:rPr sz="1100" i="1" spc="10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planar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graph, </a:t>
            </a:r>
            <a:r>
              <a:rPr sz="1100" spc="-25" dirty="0">
                <a:latin typeface="Tahoma"/>
                <a:cs typeface="Tahoma"/>
              </a:rPr>
              <a:t>then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chromatic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number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G</a:t>
            </a:r>
            <a:r>
              <a:rPr sz="1100" i="1" spc="9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less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than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equal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4.</a:t>
            </a:r>
            <a:r>
              <a:rPr sz="1100" spc="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Thus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any </a:t>
            </a:r>
            <a:r>
              <a:rPr sz="1100" spc="-40" dirty="0">
                <a:latin typeface="Tahoma"/>
                <a:cs typeface="Tahoma"/>
              </a:rPr>
              <a:t>map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properly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colored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4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fewer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colors</a:t>
            </a:r>
            <a:endParaRPr sz="1100" dirty="0">
              <a:latin typeface="Tahoma"/>
              <a:cs typeface="Tahoma"/>
            </a:endParaRPr>
          </a:p>
          <a:p>
            <a:pPr marL="38100" marR="152400">
              <a:lnSpc>
                <a:spcPct val="102600"/>
              </a:lnSpc>
              <a:spcBef>
                <a:spcPts val="300"/>
              </a:spcBef>
            </a:pPr>
            <a:r>
              <a:rPr sz="1100" spc="-30" dirty="0">
                <a:latin typeface="Tahoma"/>
                <a:cs typeface="Tahoma"/>
              </a:rPr>
              <a:t>Coloring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regions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map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corresponds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coloring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vertices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of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graph</a:t>
            </a:r>
            <a:endParaRPr sz="1100" dirty="0">
              <a:latin typeface="Tahoma"/>
              <a:cs typeface="Tahoma"/>
            </a:endParaRPr>
          </a:p>
          <a:p>
            <a:pPr marL="38100" marR="59055">
              <a:lnSpc>
                <a:spcPct val="102600"/>
              </a:lnSpc>
              <a:spcBef>
                <a:spcPts val="300"/>
              </a:spcBef>
            </a:pPr>
            <a:r>
              <a:rPr sz="1100" spc="-20" dirty="0">
                <a:latin typeface="Tahoma"/>
                <a:cs typeface="Tahoma"/>
              </a:rPr>
              <a:t>There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are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many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applications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graph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coloring.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See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Example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4.4.3 </a:t>
            </a:r>
            <a:r>
              <a:rPr sz="1100" spc="-25" dirty="0">
                <a:latin typeface="Tahoma"/>
                <a:cs typeface="Tahoma"/>
              </a:rPr>
              <a:t>in </a:t>
            </a:r>
            <a:r>
              <a:rPr sz="1100" spc="-55" dirty="0">
                <a:latin typeface="Tahoma"/>
                <a:cs typeface="Tahoma"/>
              </a:rPr>
              <a:t>page</a:t>
            </a:r>
            <a:r>
              <a:rPr sz="1100" spc="-25" dirty="0">
                <a:latin typeface="Tahoma"/>
                <a:cs typeface="Tahoma"/>
              </a:rPr>
              <a:t> 270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407" y="1148805"/>
            <a:ext cx="65265" cy="65265"/>
          </a:xfrm>
          <a:prstGeom prst="rect">
            <a:avLst/>
          </a:prstGeom>
        </p:spPr>
      </p:pic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407" y="1530923"/>
            <a:ext cx="65265" cy="65265"/>
          </a:xfrm>
          <a:prstGeom prst="rect">
            <a:avLst/>
          </a:prstGeom>
        </p:spPr>
      </p:pic>
      <p:pic>
        <p:nvPicPr>
          <p:cNvPr id="9" name="Picture 2" descr="The Four Color Theorem">
            <a:extLst>
              <a:ext uri="{FF2B5EF4-FFF2-40B4-BE49-F238E27FC236}">
                <a16:creationId xmlns:a16="http://schemas.microsoft.com/office/drawing/2014/main" id="{3CBF4BD6-C528-3894-9F45-42F8F9A268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25" y="2008267"/>
            <a:ext cx="2990850" cy="1267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F7CC0-0B95-821E-E914-2C68A5067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BE27810-ECE5-4788-E624-D9BEEDD4CC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More</a:t>
            </a:r>
            <a:r>
              <a:rPr spc="-90" dirty="0"/>
              <a:t> </a:t>
            </a:r>
            <a:r>
              <a:rPr dirty="0"/>
              <a:t>on</a:t>
            </a:r>
            <a:r>
              <a:rPr spc="-90" dirty="0"/>
              <a:t> </a:t>
            </a:r>
            <a:r>
              <a:rPr spc="-25" dirty="0"/>
              <a:t>Coloring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C148B04-02BB-0345-6E3F-C4B3BEC83959}"/>
              </a:ext>
            </a:extLst>
          </p:cNvPr>
          <p:cNvSpPr txBox="1"/>
          <p:nvPr/>
        </p:nvSpPr>
        <p:spPr>
          <a:xfrm>
            <a:off x="377532" y="680096"/>
            <a:ext cx="4089400" cy="905248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65125" algn="just">
              <a:lnSpc>
                <a:spcPct val="102600"/>
              </a:lnSpc>
              <a:spcBef>
                <a:spcPts val="300"/>
              </a:spcBef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b="1" spc="-40" dirty="0">
                <a:latin typeface="Arial"/>
                <a:cs typeface="Arial"/>
              </a:rPr>
              <a:t>clique</a:t>
            </a:r>
            <a:r>
              <a:rPr sz="1100" b="1" spc="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graph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vertices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which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pairwise </a:t>
            </a:r>
            <a:r>
              <a:rPr sz="1100" spc="-20" dirty="0">
                <a:latin typeface="Tahoma"/>
                <a:cs typeface="Tahoma"/>
              </a:rPr>
              <a:t>adjacent.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other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words,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clique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size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just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5" dirty="0">
                <a:latin typeface="Tahoma"/>
                <a:cs typeface="Tahoma"/>
              </a:rPr>
              <a:t> copy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40" dirty="0">
                <a:latin typeface="Tahoma"/>
                <a:cs typeface="Tahoma"/>
              </a:rPr>
              <a:t>complete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graph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K</a:t>
            </a:r>
            <a:r>
              <a:rPr sz="1200" i="1" spc="-37" baseline="-10416" dirty="0">
                <a:latin typeface="Arial"/>
                <a:cs typeface="Arial"/>
              </a:rPr>
              <a:t>n</a:t>
            </a:r>
            <a:endParaRPr sz="1200" baseline="-10416" dirty="0">
              <a:latin typeface="Arial"/>
              <a:cs typeface="Arial"/>
            </a:endParaRPr>
          </a:p>
          <a:p>
            <a:pPr marL="38100" marR="143510" algn="just">
              <a:lnSpc>
                <a:spcPct val="102699"/>
              </a:lnSpc>
              <a:spcBef>
                <a:spcPts val="295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b="1" spc="-35" dirty="0">
                <a:latin typeface="Arial"/>
                <a:cs typeface="Arial"/>
              </a:rPr>
              <a:t>clique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b="1" spc="-35" dirty="0">
                <a:latin typeface="Arial"/>
                <a:cs typeface="Arial"/>
              </a:rPr>
              <a:t>number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50" dirty="0">
                <a:latin typeface="Tahoma"/>
                <a:cs typeface="Tahoma"/>
              </a:rPr>
              <a:t> graph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largest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5" dirty="0">
                <a:latin typeface="Arial"/>
                <a:cs typeface="Arial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which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graph contains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clique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size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n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D7CD0EB3-D938-5C4F-DF8C-1DCA93B87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739775"/>
            <a:ext cx="65265" cy="65265"/>
          </a:xfrm>
          <a:prstGeom prst="rect">
            <a:avLst/>
          </a:prstGeom>
        </p:spPr>
      </p:pic>
      <p:pic>
        <p:nvPicPr>
          <p:cNvPr id="8" name="object 8">
            <a:extLst>
              <a:ext uri="{FF2B5EF4-FFF2-40B4-BE49-F238E27FC236}">
                <a16:creationId xmlns:a16="http://schemas.microsoft.com/office/drawing/2014/main" id="{20FA9336-FF45-48A3-6B43-2A026279B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293952"/>
            <a:ext cx="65265" cy="652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E7D99F6-8067-A1C9-F84F-A48EE71EDE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250" y="1730375"/>
            <a:ext cx="2010969" cy="1628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999488"/>
      </p:ext>
    </p:extLst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95389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More</a:t>
            </a:r>
            <a:r>
              <a:rPr spc="-90" dirty="0"/>
              <a:t> </a:t>
            </a:r>
            <a:r>
              <a:t>on</a:t>
            </a:r>
            <a:r>
              <a:rPr spc="-90"/>
              <a:t> </a:t>
            </a:r>
            <a:r>
              <a:rPr spc="-25"/>
              <a:t>Coloring</a:t>
            </a:r>
            <a:r>
              <a:rPr lang="en-US" spc="-25"/>
              <a:t>..</a:t>
            </a:r>
            <a:endParaRPr spc="-25" dirty="0"/>
          </a:p>
        </p:txBody>
      </p:sp>
      <p:pic>
        <p:nvPic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898131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814678"/>
            <a:ext cx="4012565" cy="18923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122555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ahoma"/>
                <a:cs typeface="Tahoma"/>
              </a:rPr>
              <a:t>Any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clique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size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10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cannot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40" dirty="0">
                <a:latin typeface="Tahoma"/>
                <a:cs typeface="Tahoma"/>
              </a:rPr>
              <a:t> colored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fewer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than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10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colors,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so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lower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bound</a:t>
            </a:r>
            <a:endParaRPr sz="1100" dirty="0">
              <a:latin typeface="Tahoma"/>
              <a:cs typeface="Tahoma"/>
            </a:endParaRPr>
          </a:p>
          <a:p>
            <a:pPr marL="12700" marR="55880">
              <a:lnSpc>
                <a:spcPct val="102699"/>
              </a:lnSpc>
              <a:spcBef>
                <a:spcPts val="300"/>
              </a:spcBef>
            </a:pPr>
            <a:r>
              <a:rPr sz="1100" b="1" spc="-20" dirty="0">
                <a:latin typeface="Arial"/>
                <a:cs typeface="Arial"/>
              </a:rPr>
              <a:t>Theorem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4.4.4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chromatic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number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graph </a:t>
            </a:r>
            <a:r>
              <a:rPr sz="1100" i="1" dirty="0">
                <a:latin typeface="Arial"/>
                <a:cs typeface="Arial"/>
              </a:rPr>
              <a:t>G</a:t>
            </a:r>
            <a:r>
              <a:rPr sz="1100" i="1" spc="1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least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clique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number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G</a:t>
            </a:r>
            <a:endParaRPr sz="1100" dirty="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sz="1100" spc="-20" dirty="0">
                <a:latin typeface="Tahoma"/>
                <a:cs typeface="Tahoma"/>
              </a:rPr>
              <a:t>When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chromatic</a:t>
            </a:r>
            <a:r>
              <a:rPr sz="1100" spc="-45" dirty="0">
                <a:latin typeface="Tahoma"/>
                <a:cs typeface="Tahoma"/>
              </a:rPr>
              <a:t> number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G</a:t>
            </a:r>
            <a:r>
              <a:rPr sz="1100" i="1" spc="9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equal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clique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number,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45" dirty="0">
                <a:latin typeface="Tahoma"/>
                <a:cs typeface="Tahoma"/>
              </a:rPr>
              <a:t>graph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known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Arial"/>
                <a:cs typeface="Arial"/>
              </a:rPr>
              <a:t>perfect</a:t>
            </a:r>
            <a:endParaRPr sz="1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100" dirty="0">
                <a:latin typeface="Tahoma"/>
                <a:cs typeface="Tahoma"/>
              </a:rPr>
              <a:t>Let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∆(</a:t>
            </a:r>
            <a:r>
              <a:rPr sz="1100" i="1" dirty="0">
                <a:latin typeface="Arial"/>
                <a:cs typeface="Arial"/>
              </a:rPr>
              <a:t>G</a:t>
            </a:r>
            <a:r>
              <a:rPr sz="1100" i="1" spc="-18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largest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degree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vertex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graph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spc="-135" dirty="0">
                <a:latin typeface="Arial"/>
                <a:cs typeface="Arial"/>
              </a:rPr>
              <a:t>G</a:t>
            </a:r>
            <a:r>
              <a:rPr sz="1100" i="1" spc="-180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.</a:t>
            </a:r>
            <a:endParaRPr sz="1100" dirty="0">
              <a:latin typeface="Tahoma"/>
              <a:cs typeface="Tahoma"/>
            </a:endParaRPr>
          </a:p>
          <a:p>
            <a:pPr marL="12700" marR="281940">
              <a:lnSpc>
                <a:spcPct val="102600"/>
              </a:lnSpc>
              <a:spcBef>
                <a:spcPts val="300"/>
              </a:spcBef>
            </a:pPr>
            <a:r>
              <a:rPr sz="1100" b="1" spc="-20" dirty="0">
                <a:latin typeface="Arial"/>
                <a:cs typeface="Arial"/>
              </a:rPr>
              <a:t>Theorem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4.4.5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b="1" spc="-30" dirty="0">
                <a:latin typeface="Arial"/>
                <a:cs typeface="Arial"/>
              </a:rPr>
              <a:t>Brooks’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Theorem</a:t>
            </a:r>
            <a:r>
              <a:rPr sz="1100" spc="-20" dirty="0">
                <a:latin typeface="Tahoma"/>
                <a:cs typeface="Tahoma"/>
              </a:rPr>
              <a:t>.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graph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G</a:t>
            </a:r>
            <a:r>
              <a:rPr sz="1100" i="1" spc="100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satisfies</a:t>
            </a:r>
            <a:r>
              <a:rPr sz="1100" spc="500" dirty="0">
                <a:latin typeface="Tahoma"/>
                <a:cs typeface="Tahoma"/>
              </a:rPr>
              <a:t> </a:t>
            </a:r>
            <a:r>
              <a:rPr sz="1100" i="1" spc="-45" dirty="0">
                <a:latin typeface="Comic Sans MS"/>
                <a:cs typeface="Comic Sans MS"/>
              </a:rPr>
              <a:t>χ</a:t>
            </a:r>
            <a:r>
              <a:rPr sz="1100" spc="-45" dirty="0">
                <a:latin typeface="Tahoma"/>
                <a:cs typeface="Tahoma"/>
              </a:rPr>
              <a:t>(</a:t>
            </a:r>
            <a:r>
              <a:rPr sz="1100" i="1" spc="-45" dirty="0">
                <a:latin typeface="Arial"/>
                <a:cs typeface="Arial"/>
              </a:rPr>
              <a:t>G</a:t>
            </a:r>
            <a:r>
              <a:rPr sz="1100" i="1" spc="-18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229" dirty="0">
                <a:latin typeface="Cambria"/>
                <a:cs typeface="Cambria"/>
              </a:rPr>
              <a:t>≤</a:t>
            </a:r>
            <a:r>
              <a:rPr sz="1100" spc="15" dirty="0">
                <a:latin typeface="Cambria"/>
                <a:cs typeface="Cambria"/>
              </a:rPr>
              <a:t> </a:t>
            </a:r>
            <a:r>
              <a:rPr sz="1100" dirty="0">
                <a:latin typeface="Tahoma"/>
                <a:cs typeface="Tahoma"/>
              </a:rPr>
              <a:t>∆(</a:t>
            </a:r>
            <a:r>
              <a:rPr sz="1100" i="1" dirty="0">
                <a:latin typeface="Arial"/>
                <a:cs typeface="Arial"/>
              </a:rPr>
              <a:t>G</a:t>
            </a:r>
            <a:r>
              <a:rPr sz="1100" i="1" spc="-18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unless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G</a:t>
            </a:r>
            <a:r>
              <a:rPr sz="1100" i="1" spc="12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complete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graph</a:t>
            </a:r>
            <a:r>
              <a:rPr sz="1100" spc="-20" dirty="0">
                <a:latin typeface="Tahoma"/>
                <a:cs typeface="Tahoma"/>
              </a:rPr>
              <a:t> or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20" dirty="0">
                <a:latin typeface="Tahoma"/>
                <a:cs typeface="Tahoma"/>
              </a:rPr>
              <a:t> odd </a:t>
            </a:r>
            <a:r>
              <a:rPr sz="1100" spc="-30" dirty="0">
                <a:latin typeface="Tahoma"/>
                <a:cs typeface="Tahoma"/>
              </a:rPr>
              <a:t>cycle,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 which</a:t>
            </a:r>
            <a:r>
              <a:rPr sz="1100" spc="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case</a:t>
            </a:r>
            <a:r>
              <a:rPr sz="1100" spc="40" dirty="0">
                <a:latin typeface="Tahoma"/>
                <a:cs typeface="Tahoma"/>
              </a:rPr>
              <a:t> </a:t>
            </a:r>
            <a:r>
              <a:rPr sz="1100" i="1" spc="-45" dirty="0">
                <a:latin typeface="Comic Sans MS"/>
                <a:cs typeface="Comic Sans MS"/>
              </a:rPr>
              <a:t>χ</a:t>
            </a:r>
            <a:r>
              <a:rPr sz="1100" spc="-45" dirty="0">
                <a:latin typeface="Tahoma"/>
                <a:cs typeface="Tahoma"/>
              </a:rPr>
              <a:t>(</a:t>
            </a:r>
            <a:r>
              <a:rPr sz="1100" i="1" spc="-45" dirty="0">
                <a:latin typeface="Arial"/>
                <a:cs typeface="Arial"/>
              </a:rPr>
              <a:t>G</a:t>
            </a:r>
            <a:r>
              <a:rPr sz="1100" i="1" spc="-17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∆(</a:t>
            </a:r>
            <a:r>
              <a:rPr sz="1100" i="1" dirty="0">
                <a:latin typeface="Arial"/>
                <a:cs typeface="Arial"/>
              </a:rPr>
              <a:t>G</a:t>
            </a:r>
            <a:r>
              <a:rPr sz="1100" i="1" spc="-175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)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1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280236"/>
            <a:ext cx="65265" cy="65265"/>
          </a:xfrm>
          <a:prstGeom prst="rect">
            <a:avLst/>
          </a:prstGeom>
        </p:spPr>
      </p:pic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662341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044458"/>
            <a:ext cx="65265" cy="65265"/>
          </a:xfrm>
          <a:prstGeom prst="rect">
            <a:avLst/>
          </a:prstGeom>
        </p:spPr>
      </p:pic>
      <p:pic>
        <p:nvPic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254491"/>
            <a:ext cx="65265" cy="6526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1328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Coloring</a:t>
            </a:r>
            <a:r>
              <a:rPr spc="-60" dirty="0"/>
              <a:t> </a:t>
            </a:r>
            <a:r>
              <a:rPr spc="-40" dirty="0"/>
              <a:t>Edges</a:t>
            </a:r>
          </a:p>
        </p:txBody>
      </p:sp>
      <p:pic>
        <p:nvPic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407" y="640894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323850" y="434975"/>
            <a:ext cx="4108450" cy="1472564"/>
          </a:xfrm>
          <a:prstGeom prst="rect">
            <a:avLst/>
          </a:prstGeom>
        </p:spPr>
        <p:txBody>
          <a:bodyPr vert="horz" wrap="square" lIns="0" tIns="133958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dirty="0"/>
              <a:t>Two</a:t>
            </a:r>
            <a:r>
              <a:rPr spc="-35" dirty="0"/>
              <a:t> </a:t>
            </a:r>
            <a:r>
              <a:rPr spc="-70" dirty="0"/>
              <a:t>edges</a:t>
            </a:r>
            <a:r>
              <a:rPr spc="-20" dirty="0"/>
              <a:t> </a:t>
            </a:r>
            <a:r>
              <a:rPr spc="-60" dirty="0"/>
              <a:t>are</a:t>
            </a:r>
            <a:r>
              <a:rPr spc="-25" dirty="0"/>
              <a:t> </a:t>
            </a:r>
            <a:r>
              <a:rPr spc="-35" dirty="0"/>
              <a:t>adjacent</a:t>
            </a:r>
            <a:r>
              <a:rPr spc="-20" dirty="0"/>
              <a:t> </a:t>
            </a:r>
            <a:r>
              <a:rPr dirty="0"/>
              <a:t>if</a:t>
            </a:r>
            <a:r>
              <a:rPr spc="-25" dirty="0"/>
              <a:t> they</a:t>
            </a:r>
            <a:r>
              <a:rPr spc="-30" dirty="0"/>
              <a:t> </a:t>
            </a:r>
            <a:r>
              <a:rPr spc="-60" dirty="0"/>
              <a:t>are</a:t>
            </a:r>
            <a:r>
              <a:rPr spc="-20" dirty="0"/>
              <a:t> </a:t>
            </a:r>
            <a:r>
              <a:rPr spc="-25" dirty="0"/>
              <a:t>incident</a:t>
            </a:r>
            <a:r>
              <a:rPr spc="-30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spc="-10" dirty="0"/>
              <a:t>the</a:t>
            </a:r>
            <a:r>
              <a:rPr spc="-25" dirty="0"/>
              <a:t> </a:t>
            </a:r>
            <a:r>
              <a:rPr spc="-60" dirty="0"/>
              <a:t>same</a:t>
            </a:r>
            <a:r>
              <a:rPr spc="-20" dirty="0"/>
              <a:t> </a:t>
            </a:r>
            <a:r>
              <a:rPr spc="-10" dirty="0"/>
              <a:t>vertex</a:t>
            </a:r>
          </a:p>
          <a:p>
            <a:pPr marL="38100" marR="111760">
              <a:lnSpc>
                <a:spcPct val="102699"/>
              </a:lnSpc>
              <a:spcBef>
                <a:spcPts val="295"/>
              </a:spcBef>
            </a:pPr>
            <a:r>
              <a:rPr dirty="0"/>
              <a:t>The</a:t>
            </a:r>
            <a:r>
              <a:rPr spc="-60" dirty="0"/>
              <a:t> </a:t>
            </a:r>
            <a:r>
              <a:rPr spc="-20" dirty="0"/>
              <a:t>least</a:t>
            </a:r>
            <a:r>
              <a:rPr spc="-35" dirty="0"/>
              <a:t> </a:t>
            </a:r>
            <a:r>
              <a:rPr spc="-45" dirty="0"/>
              <a:t>number</a:t>
            </a:r>
            <a:r>
              <a:rPr spc="-40" dirty="0"/>
              <a:t> </a:t>
            </a:r>
            <a:r>
              <a:rPr dirty="0"/>
              <a:t>of</a:t>
            </a:r>
            <a:r>
              <a:rPr spc="-35" dirty="0"/>
              <a:t> colors</a:t>
            </a:r>
            <a:r>
              <a:rPr spc="-40" dirty="0"/>
              <a:t> </a:t>
            </a:r>
            <a:r>
              <a:rPr spc="-45" dirty="0"/>
              <a:t>required</a:t>
            </a:r>
            <a:r>
              <a:rPr spc="-35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spc="-40" dirty="0"/>
              <a:t>properly</a:t>
            </a:r>
            <a:r>
              <a:rPr spc="-35" dirty="0"/>
              <a:t> </a:t>
            </a:r>
            <a:r>
              <a:rPr spc="-25" dirty="0"/>
              <a:t>color</a:t>
            </a:r>
            <a:r>
              <a:rPr spc="-40" dirty="0"/>
              <a:t> </a:t>
            </a:r>
            <a:r>
              <a:rPr spc="-10" dirty="0"/>
              <a:t>the</a:t>
            </a:r>
            <a:r>
              <a:rPr spc="-35" dirty="0"/>
              <a:t> </a:t>
            </a:r>
            <a:r>
              <a:rPr spc="-70" dirty="0"/>
              <a:t>edges</a:t>
            </a:r>
            <a:r>
              <a:rPr spc="-2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50" dirty="0"/>
              <a:t>a </a:t>
            </a:r>
            <a:r>
              <a:rPr spc="-40" dirty="0"/>
              <a:t>graph</a:t>
            </a:r>
            <a:r>
              <a:rPr spc="-50" dirty="0"/>
              <a:t> </a:t>
            </a:r>
            <a:r>
              <a:rPr i="1" dirty="0">
                <a:latin typeface="Arial"/>
                <a:cs typeface="Arial"/>
              </a:rPr>
              <a:t>G</a:t>
            </a:r>
            <a:r>
              <a:rPr i="1" spc="75" dirty="0">
                <a:latin typeface="Arial"/>
                <a:cs typeface="Arial"/>
              </a:rPr>
              <a:t> </a:t>
            </a:r>
            <a:r>
              <a:rPr dirty="0"/>
              <a:t>is</a:t>
            </a:r>
            <a:r>
              <a:rPr spc="-45" dirty="0"/>
              <a:t> </a:t>
            </a:r>
            <a:r>
              <a:rPr spc="-25" dirty="0"/>
              <a:t>called</a:t>
            </a:r>
            <a:r>
              <a:rPr spc="-45" dirty="0"/>
              <a:t> </a:t>
            </a:r>
            <a:r>
              <a:rPr spc="-10" dirty="0"/>
              <a:t>the</a:t>
            </a:r>
            <a:r>
              <a:rPr spc="-45" dirty="0"/>
              <a:t> </a:t>
            </a:r>
            <a:r>
              <a:rPr b="1" spc="-35" dirty="0">
                <a:latin typeface="Arial"/>
                <a:cs typeface="Arial"/>
              </a:rPr>
              <a:t>chromatic</a:t>
            </a:r>
            <a:r>
              <a:rPr b="1" spc="30" dirty="0">
                <a:latin typeface="Arial"/>
                <a:cs typeface="Arial"/>
              </a:rPr>
              <a:t> </a:t>
            </a:r>
            <a:r>
              <a:rPr b="1" spc="-50" dirty="0">
                <a:latin typeface="Arial"/>
                <a:cs typeface="Arial"/>
              </a:rPr>
              <a:t>index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i="1" dirty="0">
                <a:latin typeface="Arial"/>
                <a:cs typeface="Arial"/>
              </a:rPr>
              <a:t>G</a:t>
            </a:r>
            <a:r>
              <a:rPr i="1" spc="100" dirty="0">
                <a:latin typeface="Arial"/>
                <a:cs typeface="Arial"/>
              </a:rPr>
              <a:t> </a:t>
            </a:r>
            <a:r>
              <a:rPr spc="-35" dirty="0"/>
              <a:t>and</a:t>
            </a:r>
            <a:r>
              <a:rPr spc="-45" dirty="0"/>
              <a:t> </a:t>
            </a:r>
            <a:r>
              <a:rPr spc="-20" dirty="0"/>
              <a:t>written</a:t>
            </a:r>
            <a:r>
              <a:rPr spc="-45" dirty="0"/>
              <a:t> </a:t>
            </a:r>
            <a:r>
              <a:rPr i="1" spc="-20" dirty="0">
                <a:latin typeface="Comic Sans MS"/>
                <a:cs typeface="Comic Sans MS"/>
              </a:rPr>
              <a:t>χ</a:t>
            </a:r>
            <a:r>
              <a:rPr spc="-20" dirty="0"/>
              <a:t>‘(</a:t>
            </a:r>
            <a:r>
              <a:rPr i="1" spc="-20" dirty="0">
                <a:latin typeface="Arial"/>
                <a:cs typeface="Arial"/>
              </a:rPr>
              <a:t>G</a:t>
            </a:r>
            <a:r>
              <a:rPr i="1" spc="-180" dirty="0">
                <a:latin typeface="Arial"/>
                <a:cs typeface="Arial"/>
              </a:rPr>
              <a:t> </a:t>
            </a:r>
            <a:r>
              <a:rPr spc="-50" dirty="0"/>
              <a:t>)</a:t>
            </a:r>
          </a:p>
          <a:p>
            <a:pPr marL="38100">
              <a:lnSpc>
                <a:spcPct val="100000"/>
              </a:lnSpc>
              <a:spcBef>
                <a:spcPts val="335"/>
              </a:spcBef>
            </a:pPr>
            <a:r>
              <a:rPr spc="-45" dirty="0"/>
              <a:t>See</a:t>
            </a:r>
            <a:r>
              <a:rPr spc="-35" dirty="0"/>
              <a:t> Example</a:t>
            </a:r>
            <a:r>
              <a:rPr spc="-30" dirty="0"/>
              <a:t> </a:t>
            </a:r>
            <a:r>
              <a:rPr spc="-10" dirty="0"/>
              <a:t>4.4.6</a:t>
            </a:r>
          </a:p>
          <a:p>
            <a:pPr marL="38100" marR="5080">
              <a:lnSpc>
                <a:spcPct val="102600"/>
              </a:lnSpc>
              <a:spcBef>
                <a:spcPts val="300"/>
              </a:spcBef>
            </a:pPr>
            <a:r>
              <a:rPr b="1" spc="-20" dirty="0">
                <a:latin typeface="Arial"/>
                <a:cs typeface="Arial"/>
              </a:rPr>
              <a:t>Theorem</a:t>
            </a:r>
            <a:r>
              <a:rPr b="1" spc="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4.4.7</a:t>
            </a:r>
            <a:r>
              <a:rPr b="1" spc="30" dirty="0">
                <a:latin typeface="Arial"/>
                <a:cs typeface="Arial"/>
              </a:rPr>
              <a:t> </a:t>
            </a:r>
            <a:r>
              <a:rPr b="1" spc="-25" dirty="0">
                <a:latin typeface="Arial"/>
                <a:cs typeface="Arial"/>
              </a:rPr>
              <a:t>Vizing’s</a:t>
            </a:r>
            <a:r>
              <a:rPr b="1" spc="25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Theorem</a:t>
            </a:r>
            <a:r>
              <a:rPr spc="-20" dirty="0"/>
              <a:t>.</a:t>
            </a:r>
            <a:r>
              <a:rPr spc="65" dirty="0"/>
              <a:t> </a:t>
            </a:r>
            <a:r>
              <a:rPr spc="-10" dirty="0"/>
              <a:t>For</a:t>
            </a:r>
            <a:r>
              <a:rPr spc="-35" dirty="0"/>
              <a:t> any</a:t>
            </a:r>
            <a:r>
              <a:rPr spc="-45" dirty="0"/>
              <a:t> graph</a:t>
            </a:r>
            <a:r>
              <a:rPr spc="-35" dirty="0"/>
              <a:t> </a:t>
            </a:r>
            <a:r>
              <a:rPr i="1" spc="-135" dirty="0">
                <a:latin typeface="Arial"/>
                <a:cs typeface="Arial"/>
              </a:rPr>
              <a:t>G</a:t>
            </a:r>
            <a:r>
              <a:rPr i="1" spc="-180" dirty="0">
                <a:latin typeface="Arial"/>
                <a:cs typeface="Arial"/>
              </a:rPr>
              <a:t> </a:t>
            </a:r>
            <a:r>
              <a:rPr dirty="0"/>
              <a:t>,</a:t>
            </a:r>
            <a:r>
              <a:rPr spc="-40" dirty="0"/>
              <a:t> </a:t>
            </a:r>
            <a:r>
              <a:rPr spc="-10" dirty="0"/>
              <a:t>the</a:t>
            </a:r>
            <a:r>
              <a:rPr spc="-35" dirty="0"/>
              <a:t> </a:t>
            </a:r>
            <a:r>
              <a:rPr spc="-20" dirty="0"/>
              <a:t>chromatic </a:t>
            </a:r>
            <a:r>
              <a:rPr spc="-35" dirty="0"/>
              <a:t>index</a:t>
            </a:r>
            <a:r>
              <a:rPr spc="20" dirty="0"/>
              <a:t> </a:t>
            </a:r>
            <a:r>
              <a:rPr i="1" spc="-20" dirty="0">
                <a:latin typeface="Comic Sans MS"/>
                <a:cs typeface="Comic Sans MS"/>
              </a:rPr>
              <a:t>χ</a:t>
            </a:r>
            <a:r>
              <a:rPr spc="-20" dirty="0"/>
              <a:t>‘(</a:t>
            </a:r>
            <a:r>
              <a:rPr i="1" spc="-20" dirty="0">
                <a:latin typeface="Arial"/>
                <a:cs typeface="Arial"/>
              </a:rPr>
              <a:t>G</a:t>
            </a:r>
            <a:r>
              <a:rPr i="1" spc="-180" dirty="0">
                <a:latin typeface="Arial"/>
                <a:cs typeface="Arial"/>
              </a:rPr>
              <a:t> </a:t>
            </a:r>
            <a:r>
              <a:rPr dirty="0"/>
              <a:t>)</a:t>
            </a:r>
            <a:r>
              <a:rPr spc="20" dirty="0"/>
              <a:t> </a:t>
            </a:r>
            <a:r>
              <a:rPr dirty="0"/>
              <a:t>is</a:t>
            </a:r>
            <a:r>
              <a:rPr spc="20" dirty="0"/>
              <a:t> </a:t>
            </a:r>
            <a:r>
              <a:rPr spc="-25" dirty="0"/>
              <a:t>either</a:t>
            </a:r>
            <a:r>
              <a:rPr spc="20" dirty="0"/>
              <a:t> </a:t>
            </a:r>
            <a:r>
              <a:rPr dirty="0"/>
              <a:t>∆(</a:t>
            </a:r>
            <a:r>
              <a:rPr i="1" dirty="0">
                <a:latin typeface="Arial"/>
                <a:cs typeface="Arial"/>
              </a:rPr>
              <a:t>G</a:t>
            </a:r>
            <a:r>
              <a:rPr i="1" spc="-180" dirty="0">
                <a:latin typeface="Arial"/>
                <a:cs typeface="Arial"/>
              </a:rPr>
              <a:t> </a:t>
            </a:r>
            <a:r>
              <a:rPr dirty="0"/>
              <a:t>)</a:t>
            </a:r>
            <a:r>
              <a:rPr spc="20" dirty="0"/>
              <a:t> </a:t>
            </a:r>
            <a:r>
              <a:rPr spc="-20" dirty="0"/>
              <a:t>or</a:t>
            </a:r>
            <a:r>
              <a:rPr spc="25" dirty="0"/>
              <a:t> </a:t>
            </a:r>
            <a:r>
              <a:rPr dirty="0"/>
              <a:t>∆(</a:t>
            </a:r>
            <a:r>
              <a:rPr i="1" dirty="0">
                <a:latin typeface="Arial"/>
                <a:cs typeface="Arial"/>
              </a:rPr>
              <a:t>G</a:t>
            </a:r>
            <a:r>
              <a:rPr i="1" spc="-180" dirty="0">
                <a:latin typeface="Arial"/>
                <a:cs typeface="Arial"/>
              </a:rPr>
              <a:t> </a:t>
            </a:r>
            <a:r>
              <a:rPr spc="-10" dirty="0"/>
              <a:t>)</a:t>
            </a:r>
            <a:r>
              <a:rPr spc="-105" dirty="0"/>
              <a:t> </a:t>
            </a:r>
            <a:r>
              <a:rPr dirty="0"/>
              <a:t>+</a:t>
            </a:r>
            <a:r>
              <a:rPr spc="-105" dirty="0"/>
              <a:t> </a:t>
            </a:r>
            <a:r>
              <a:rPr spc="-50" dirty="0"/>
              <a:t>1</a:t>
            </a:r>
          </a:p>
        </p:txBody>
      </p:sp>
      <p:pic>
        <p:nvPic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407" y="850926"/>
            <a:ext cx="65265" cy="65265"/>
          </a:xfrm>
          <a:prstGeom prst="rect">
            <a:avLst/>
          </a:prstGeom>
        </p:spPr>
      </p:pic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407" y="1233031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7407" y="1443064"/>
            <a:ext cx="65265" cy="65265"/>
          </a:xfrm>
          <a:prstGeom prst="rect">
            <a:avLst/>
          </a:prstGeom>
        </p:spPr>
      </p:pic>
      <p:pic>
        <p:nvPicPr>
          <p:cNvPr id="12290" name="Picture 2" descr="Edge Coloring -- from Wolfram MathWorld">
            <a:extLst>
              <a:ext uri="{FF2B5EF4-FFF2-40B4-BE49-F238E27FC236}">
                <a16:creationId xmlns:a16="http://schemas.microsoft.com/office/drawing/2014/main" id="{D466E6FC-70BD-EDB0-3C26-F7D4F53D76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33" y="2076044"/>
            <a:ext cx="3457634" cy="819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Euler</a:t>
            </a:r>
            <a:r>
              <a:rPr spc="-85" dirty="0"/>
              <a:t> </a:t>
            </a:r>
            <a:r>
              <a:rPr dirty="0"/>
              <a:t>Paths</a:t>
            </a:r>
            <a:r>
              <a:rPr spc="-70" dirty="0"/>
              <a:t> </a:t>
            </a:r>
            <a:r>
              <a:rPr spc="-30" dirty="0"/>
              <a:t>and</a:t>
            </a:r>
            <a:r>
              <a:rPr spc="-70" dirty="0"/>
              <a:t> </a:t>
            </a:r>
            <a:r>
              <a:rPr spc="-10" dirty="0"/>
              <a:t>Circuits</a:t>
            </a:r>
          </a:p>
        </p:txBody>
      </p:sp>
      <p:pic>
        <p:nvPic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8207" y="594628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0050" y="511175"/>
            <a:ext cx="2058578" cy="2161489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8419">
              <a:lnSpc>
                <a:spcPct val="102600"/>
              </a:lnSpc>
              <a:spcBef>
                <a:spcPts val="55"/>
              </a:spcBef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b="1" spc="-20" dirty="0">
                <a:latin typeface="Arial"/>
                <a:cs typeface="Arial"/>
              </a:rPr>
              <a:t>walk</a:t>
            </a:r>
            <a:r>
              <a:rPr sz="1100" b="1" spc="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graph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sequence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vertices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such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every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vertex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sequence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adjacent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vertices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before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after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10" dirty="0">
                <a:latin typeface="Tahoma"/>
                <a:cs typeface="Tahoma"/>
              </a:rPr>
              <a:t>sequence</a:t>
            </a:r>
            <a:endParaRPr sz="1100" dirty="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Tahoma"/>
                <a:cs typeface="Tahoma"/>
              </a:rPr>
              <a:t>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b="1" spc="-25" dirty="0">
                <a:latin typeface="Arial"/>
                <a:cs typeface="Arial"/>
              </a:rPr>
              <a:t>Euler</a:t>
            </a:r>
            <a:r>
              <a:rPr sz="1100" b="1" spc="3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path</a:t>
            </a:r>
            <a:r>
              <a:rPr sz="1100" spc="-10" dirty="0">
                <a:latin typeface="Tahoma"/>
                <a:cs typeface="Tahoma"/>
              </a:rPr>
              <a:t>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graph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35" dirty="0">
                <a:latin typeface="Tahoma"/>
                <a:cs typeface="Tahoma"/>
              </a:rPr>
              <a:t> mutigraph,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walk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through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graph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uses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FF0000"/>
                </a:solidFill>
                <a:latin typeface="Tahoma"/>
                <a:cs typeface="Tahoma"/>
              </a:rPr>
              <a:t>every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70" dirty="0">
                <a:solidFill>
                  <a:srgbClr val="FF0000"/>
                </a:solidFill>
                <a:latin typeface="Tahoma"/>
                <a:cs typeface="Tahoma"/>
              </a:rPr>
              <a:t>edge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exactly 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once</a:t>
            </a:r>
            <a:endParaRPr sz="1100" dirty="0">
              <a:solidFill>
                <a:srgbClr val="FF0000"/>
              </a:solidFill>
              <a:latin typeface="Tahoma"/>
              <a:cs typeface="Tahoma"/>
            </a:endParaRPr>
          </a:p>
          <a:p>
            <a:pPr marL="12700" marR="114935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Tahoma"/>
                <a:cs typeface="Tahoma"/>
              </a:rPr>
              <a:t>An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b="1" spc="-25" dirty="0">
                <a:latin typeface="Arial"/>
                <a:cs typeface="Arial"/>
              </a:rPr>
              <a:t>Euler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circuit</a:t>
            </a:r>
            <a:r>
              <a:rPr sz="1100" b="1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Euler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path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starts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40" dirty="0">
                <a:latin typeface="Tahoma"/>
                <a:cs typeface="Tahoma"/>
              </a:rPr>
              <a:t> stops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same </a:t>
            </a:r>
            <a:r>
              <a:rPr sz="1100" spc="-10" dirty="0">
                <a:latin typeface="Tahoma"/>
                <a:cs typeface="Tahoma"/>
              </a:rPr>
              <a:t>vertex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8207" y="1511605"/>
            <a:ext cx="65265" cy="65265"/>
          </a:xfrm>
          <a:prstGeom prst="rect">
            <a:avLst/>
          </a:prstGeom>
        </p:spPr>
      </p:pic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8207" y="2198510"/>
            <a:ext cx="65265" cy="65265"/>
          </a:xfrm>
          <a:prstGeom prst="rect">
            <a:avLst/>
          </a:prstGeom>
        </p:spPr>
      </p:pic>
      <p:pic>
        <p:nvPicPr>
          <p:cNvPr id="13314" name="Picture 2" descr="Euler Graph | Euler Path | Euler Circuit | Gate Vidyalay">
            <a:extLst>
              <a:ext uri="{FF2B5EF4-FFF2-40B4-BE49-F238E27FC236}">
                <a16:creationId xmlns:a16="http://schemas.microsoft.com/office/drawing/2014/main" id="{056852F8-E2AA-442D-3D1E-E1D6D0FCE9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1522" y="434975"/>
            <a:ext cx="2058578" cy="2952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BE426-D270-92F2-7337-E501B1D81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47235C5-2F1E-BCD2-808D-90364C101D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Euler</a:t>
            </a:r>
            <a:r>
              <a:rPr spc="-85" dirty="0"/>
              <a:t> </a:t>
            </a:r>
            <a:r>
              <a:rPr dirty="0"/>
              <a:t>Paths</a:t>
            </a:r>
            <a:r>
              <a:rPr spc="-70" dirty="0"/>
              <a:t> </a:t>
            </a:r>
            <a:r>
              <a:rPr spc="-30" dirty="0"/>
              <a:t>and</a:t>
            </a:r>
            <a:r>
              <a:rPr spc="-70" dirty="0"/>
              <a:t> </a:t>
            </a:r>
            <a:r>
              <a:rPr spc="-10" dirty="0"/>
              <a:t>Circuits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BC4B1F0-5386-8DDC-F0A2-7E2CEC7DF3E4}"/>
              </a:ext>
            </a:extLst>
          </p:cNvPr>
          <p:cNvSpPr txBox="1"/>
          <p:nvPr/>
        </p:nvSpPr>
        <p:spPr>
          <a:xfrm>
            <a:off x="402932" y="596085"/>
            <a:ext cx="4053840" cy="111543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74930">
              <a:lnSpc>
                <a:spcPct val="102600"/>
              </a:lnSpc>
              <a:spcBef>
                <a:spcPts val="300"/>
              </a:spcBef>
            </a:pPr>
            <a:r>
              <a:rPr sz="1100" spc="-10" dirty="0">
                <a:latin typeface="Tahoma"/>
                <a:cs typeface="Tahoma"/>
              </a:rPr>
              <a:t>One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way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guarantee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graph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does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Euler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circuit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is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include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spc="-65" dirty="0">
                <a:latin typeface="Arial"/>
                <a:cs typeface="Arial"/>
              </a:rPr>
              <a:t>spike</a:t>
            </a:r>
            <a:r>
              <a:rPr sz="1100" spc="-65" dirty="0">
                <a:latin typeface="Tahoma"/>
                <a:cs typeface="Tahoma"/>
              </a:rPr>
              <a:t>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which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vertex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degree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1</a:t>
            </a:r>
            <a:endParaRPr sz="1100" dirty="0">
              <a:latin typeface="Tahoma"/>
              <a:cs typeface="Tahoma"/>
            </a:endParaRPr>
          </a:p>
          <a:p>
            <a:pPr marL="12700" marR="71755">
              <a:lnSpc>
                <a:spcPct val="102600"/>
              </a:lnSpc>
              <a:spcBef>
                <a:spcPts val="300"/>
              </a:spcBef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graph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has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Euler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circuit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only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degree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every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vertex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even</a:t>
            </a:r>
            <a:endParaRPr sz="1100" dirty="0">
              <a:latin typeface="Tahoma"/>
              <a:cs typeface="Tahoma"/>
            </a:endParaRPr>
          </a:p>
          <a:p>
            <a:pPr marL="12700" marR="414655">
              <a:lnSpc>
                <a:spcPct val="102600"/>
              </a:lnSpc>
              <a:spcBef>
                <a:spcPts val="295"/>
              </a:spcBef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graph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has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Euler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path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only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most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 </a:t>
            </a:r>
            <a:r>
              <a:rPr sz="1100" spc="-35" dirty="0">
                <a:latin typeface="Tahoma"/>
                <a:cs typeface="Tahoma"/>
              </a:rPr>
              <a:t>vertices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odd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degree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247FF152-3394-15D3-DD91-0F30C1D62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63575"/>
            <a:ext cx="65265" cy="65265"/>
          </a:xfrm>
          <a:prstGeom prst="rect">
            <a:avLst/>
          </a:prstGeom>
        </p:spPr>
      </p:pic>
      <p:pic>
        <p:nvPicPr>
          <p:cNvPr id="8" name="object 8">
            <a:extLst>
              <a:ext uri="{FF2B5EF4-FFF2-40B4-BE49-F238E27FC236}">
                <a16:creationId xmlns:a16="http://schemas.microsoft.com/office/drawing/2014/main" id="{9098AF74-BFDE-D88D-2014-5252CFAEB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045680"/>
            <a:ext cx="65265" cy="65265"/>
          </a:xfrm>
          <a:prstGeom prst="rect">
            <a:avLst/>
          </a:prstGeom>
        </p:spPr>
      </p:pic>
      <p:pic>
        <p:nvPicPr>
          <p:cNvPr id="9" name="object 9">
            <a:extLst>
              <a:ext uri="{FF2B5EF4-FFF2-40B4-BE49-F238E27FC236}">
                <a16:creationId xmlns:a16="http://schemas.microsoft.com/office/drawing/2014/main" id="{7E60C0ED-D610-4033-DF3A-1E2FCC0C1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427785"/>
            <a:ext cx="65265" cy="65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153036"/>
      </p:ext>
    </p:extLst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Hamilton</a:t>
            </a:r>
            <a:r>
              <a:rPr spc="-60" dirty="0"/>
              <a:t> </a:t>
            </a:r>
            <a:r>
              <a:rPr spc="-20" dirty="0"/>
              <a:t>Paths</a:t>
            </a:r>
          </a:p>
        </p:txBody>
      </p:sp>
      <p:pic>
        <p:nvPic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207" y="518428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0050" y="434975"/>
            <a:ext cx="4055745" cy="2235997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246379">
              <a:lnSpc>
                <a:spcPct val="102600"/>
              </a:lnSpc>
              <a:spcBef>
                <a:spcPts val="55"/>
              </a:spcBef>
            </a:pP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there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path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visits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every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vertex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exactly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once,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path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is </a:t>
            </a:r>
            <a:r>
              <a:rPr sz="1100" spc="-45" dirty="0">
                <a:latin typeface="Tahoma"/>
                <a:cs typeface="Tahoma"/>
              </a:rPr>
              <a:t>known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Arial"/>
                <a:cs typeface="Arial"/>
              </a:rPr>
              <a:t>Hamilton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path</a:t>
            </a:r>
            <a:endParaRPr sz="1100" dirty="0">
              <a:latin typeface="Arial"/>
              <a:cs typeface="Arial"/>
            </a:endParaRPr>
          </a:p>
          <a:p>
            <a:pPr marL="12700" marR="183515">
              <a:lnSpc>
                <a:spcPct val="102600"/>
              </a:lnSpc>
              <a:spcBef>
                <a:spcPts val="300"/>
              </a:spcBef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Arial"/>
                <a:cs typeface="Arial"/>
              </a:rPr>
              <a:t>Hamilton</a:t>
            </a:r>
            <a:r>
              <a:rPr sz="1100" b="1" spc="35" dirty="0">
                <a:latin typeface="Arial"/>
                <a:cs typeface="Arial"/>
              </a:rPr>
              <a:t> </a:t>
            </a:r>
            <a:r>
              <a:rPr sz="1100" b="1" spc="-50" dirty="0">
                <a:latin typeface="Arial"/>
                <a:cs typeface="Arial"/>
              </a:rPr>
              <a:t>cycle</a:t>
            </a:r>
            <a:r>
              <a:rPr sz="1100" b="1" spc="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Hamilton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path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starts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stops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60" dirty="0">
                <a:latin typeface="Tahoma"/>
                <a:cs typeface="Tahoma"/>
              </a:rPr>
              <a:t>same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vertex</a:t>
            </a:r>
            <a:endParaRPr sz="1100" dirty="0">
              <a:latin typeface="Tahoma"/>
              <a:cs typeface="Tahoma"/>
            </a:endParaRPr>
          </a:p>
          <a:p>
            <a:pPr marL="12700" marR="315595">
              <a:lnSpc>
                <a:spcPct val="102600"/>
              </a:lnSpc>
              <a:spcBef>
                <a:spcPts val="300"/>
              </a:spcBef>
            </a:pPr>
            <a:r>
              <a:rPr sz="1100" spc="-25" dirty="0">
                <a:latin typeface="Tahoma"/>
                <a:cs typeface="Tahoma"/>
              </a:rPr>
              <a:t>Given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bipartite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graph,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b="1" spc="-35" dirty="0">
                <a:latin typeface="Arial"/>
                <a:cs typeface="Arial"/>
              </a:rPr>
              <a:t>matching</a:t>
            </a:r>
            <a:r>
              <a:rPr sz="1100" b="1" spc="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subset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edges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for </a:t>
            </a:r>
            <a:r>
              <a:rPr sz="1100" spc="-25" dirty="0">
                <a:latin typeface="Tahoma"/>
                <a:cs typeface="Tahoma"/>
              </a:rPr>
              <a:t>which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every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vertex</a:t>
            </a:r>
            <a:r>
              <a:rPr sz="1100" spc="-45" dirty="0">
                <a:latin typeface="Tahoma"/>
                <a:cs typeface="Tahoma"/>
              </a:rPr>
              <a:t> belongs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exactly</a:t>
            </a:r>
            <a:r>
              <a:rPr sz="1100" spc="-45" dirty="0">
                <a:latin typeface="Tahoma"/>
                <a:cs typeface="Tahoma"/>
              </a:rPr>
              <a:t> one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edges</a:t>
            </a:r>
            <a:endParaRPr sz="1100" dirty="0">
              <a:latin typeface="Tahoma"/>
              <a:cs typeface="Tahoma"/>
            </a:endParaRPr>
          </a:p>
          <a:p>
            <a:pPr marL="12700" marR="33655">
              <a:lnSpc>
                <a:spcPct val="102699"/>
              </a:lnSpc>
              <a:spcBef>
                <a:spcPts val="295"/>
              </a:spcBef>
            </a:pPr>
            <a:r>
              <a:rPr sz="1100" b="1" spc="-10" dirty="0">
                <a:latin typeface="Arial"/>
                <a:cs typeface="Arial"/>
              </a:rPr>
              <a:t>Matching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b="1" spc="-30" dirty="0">
                <a:latin typeface="Arial"/>
                <a:cs typeface="Arial"/>
              </a:rPr>
              <a:t>Condition</a:t>
            </a:r>
            <a:r>
              <a:rPr sz="1100" spc="-30" dirty="0">
                <a:latin typeface="Tahoma"/>
                <a:cs typeface="Tahoma"/>
              </a:rPr>
              <a:t>.</a:t>
            </a:r>
            <a:r>
              <a:rPr sz="1100" spc="9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bipartite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graph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G</a:t>
            </a:r>
            <a:r>
              <a:rPr sz="1100" i="1" spc="8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dirty="0">
                <a:latin typeface="Cambria"/>
                <a:cs typeface="Cambria"/>
              </a:rPr>
              <a:t>{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100" i="1" dirty="0">
                <a:latin typeface="Comic Sans MS"/>
                <a:cs typeface="Comic Sans MS"/>
              </a:rPr>
              <a:t>,</a:t>
            </a:r>
            <a:r>
              <a:rPr sz="1100" i="1" spc="-150" dirty="0">
                <a:latin typeface="Comic Sans MS"/>
                <a:cs typeface="Comic Sans MS"/>
              </a:rPr>
              <a:t> </a:t>
            </a:r>
            <a:r>
              <a:rPr sz="1100" i="1" spc="95" dirty="0">
                <a:latin typeface="Arial"/>
                <a:cs typeface="Arial"/>
              </a:rPr>
              <a:t>B</a:t>
            </a:r>
            <a:r>
              <a:rPr sz="1100" spc="95" dirty="0">
                <a:latin typeface="Cambria"/>
                <a:cs typeface="Cambria"/>
              </a:rPr>
              <a:t>}</a:t>
            </a:r>
            <a:r>
              <a:rPr sz="1100" spc="75" dirty="0">
                <a:latin typeface="Cambria"/>
                <a:cs typeface="Cambri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sets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vertices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100" i="1" spc="1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has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matching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then</a:t>
            </a:r>
            <a:endParaRPr sz="1100" dirty="0">
              <a:latin typeface="Tahoma"/>
              <a:cs typeface="Tahoma"/>
            </a:endParaRPr>
          </a:p>
          <a:p>
            <a:pPr marL="151130">
              <a:lnSpc>
                <a:spcPct val="100000"/>
              </a:lnSpc>
              <a:spcBef>
                <a:spcPts val="35"/>
              </a:spcBef>
              <a:tabLst>
                <a:tab pos="1109345" algn="l"/>
              </a:tabLst>
            </a:pPr>
            <a:r>
              <a:rPr sz="1100" spc="-40" dirty="0">
                <a:latin typeface="Cambria"/>
                <a:cs typeface="Cambria"/>
              </a:rPr>
              <a:t>|</a:t>
            </a:r>
            <a:r>
              <a:rPr sz="1100" i="1" spc="-40" dirty="0">
                <a:latin typeface="Arial"/>
                <a:cs typeface="Arial"/>
              </a:rPr>
              <a:t>N</a:t>
            </a:r>
            <a:r>
              <a:rPr sz="1100" spc="-40" dirty="0">
                <a:latin typeface="Tahoma"/>
                <a:cs typeface="Tahoma"/>
              </a:rPr>
              <a:t>(</a:t>
            </a:r>
            <a:r>
              <a:rPr sz="1100" i="1" spc="-40" dirty="0">
                <a:latin typeface="Arial"/>
                <a:cs typeface="Arial"/>
              </a:rPr>
              <a:t>S</a:t>
            </a:r>
            <a:r>
              <a:rPr sz="1100" i="1" spc="-204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dirty="0">
                <a:latin typeface="Cambria"/>
                <a:cs typeface="Cambria"/>
              </a:rPr>
              <a:t>|</a:t>
            </a:r>
            <a:r>
              <a:rPr sz="1100" spc="55" dirty="0">
                <a:latin typeface="Cambria"/>
                <a:cs typeface="Cambria"/>
              </a:rPr>
              <a:t> </a:t>
            </a:r>
            <a:r>
              <a:rPr sz="1100" spc="229" dirty="0">
                <a:latin typeface="Cambria"/>
                <a:cs typeface="Cambria"/>
              </a:rPr>
              <a:t>≥</a:t>
            </a:r>
            <a:r>
              <a:rPr sz="1100" spc="55" dirty="0">
                <a:latin typeface="Cambria"/>
                <a:cs typeface="Cambria"/>
              </a:rPr>
              <a:t> </a:t>
            </a:r>
            <a:r>
              <a:rPr sz="1100" spc="-100" dirty="0">
                <a:latin typeface="Cambria"/>
                <a:cs typeface="Cambria"/>
              </a:rPr>
              <a:t>|</a:t>
            </a:r>
            <a:r>
              <a:rPr sz="1100" i="1" spc="-100" dirty="0">
                <a:latin typeface="Arial"/>
                <a:cs typeface="Arial"/>
              </a:rPr>
              <a:t>S</a:t>
            </a:r>
            <a:r>
              <a:rPr sz="1100" i="1" spc="-204" dirty="0">
                <a:latin typeface="Arial"/>
                <a:cs typeface="Arial"/>
              </a:rPr>
              <a:t> </a:t>
            </a:r>
            <a:r>
              <a:rPr sz="1100" spc="-25" dirty="0">
                <a:latin typeface="Cambria"/>
                <a:cs typeface="Cambria"/>
              </a:rPr>
              <a:t>|</a:t>
            </a:r>
            <a:r>
              <a:rPr sz="1100" spc="-25" dirty="0">
                <a:latin typeface="Tahoma"/>
                <a:cs typeface="Tahoma"/>
              </a:rPr>
              <a:t>,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S</a:t>
            </a:r>
            <a:r>
              <a:rPr sz="1100" i="1" spc="30" dirty="0">
                <a:latin typeface="Arial"/>
                <a:cs typeface="Arial"/>
              </a:rPr>
              <a:t> </a:t>
            </a:r>
            <a:r>
              <a:rPr sz="1100" dirty="0">
                <a:latin typeface="Cambria"/>
                <a:cs typeface="Cambria"/>
              </a:rPr>
              <a:t>⊆</a:t>
            </a:r>
            <a:r>
              <a:rPr sz="1100" spc="15" dirty="0">
                <a:latin typeface="Cambria"/>
                <a:cs typeface="Cambria"/>
              </a:rPr>
              <a:t> </a:t>
            </a:r>
            <a:r>
              <a:rPr sz="1100" i="1" spc="-50" dirty="0">
                <a:latin typeface="Arial"/>
                <a:cs typeface="Arial"/>
              </a:rPr>
              <a:t>A</a:t>
            </a:r>
            <a:endParaRPr sz="1100" dirty="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sz="1100" spc="-25" dirty="0">
                <a:latin typeface="Tahoma"/>
                <a:cs typeface="Tahoma"/>
              </a:rPr>
              <a:t>Define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i="1" spc="-35" dirty="0">
                <a:latin typeface="Arial"/>
                <a:cs typeface="Arial"/>
              </a:rPr>
              <a:t>N</a:t>
            </a:r>
            <a:r>
              <a:rPr sz="1100" spc="-35" dirty="0">
                <a:latin typeface="Tahoma"/>
                <a:cs typeface="Tahoma"/>
              </a:rPr>
              <a:t>(</a:t>
            </a:r>
            <a:r>
              <a:rPr sz="1100" i="1" spc="-35" dirty="0">
                <a:latin typeface="Arial"/>
                <a:cs typeface="Arial"/>
              </a:rPr>
              <a:t>S</a:t>
            </a:r>
            <a:r>
              <a:rPr sz="1100" i="1" spc="-204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b="1" spc="-65" dirty="0">
                <a:latin typeface="Arial"/>
                <a:cs typeface="Arial"/>
              </a:rPr>
              <a:t>neighbors</a:t>
            </a:r>
            <a:r>
              <a:rPr sz="1100" b="1" spc="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vertices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-140" dirty="0">
                <a:latin typeface="Arial"/>
                <a:cs typeface="Arial"/>
              </a:rPr>
              <a:t>S</a:t>
            </a:r>
            <a:r>
              <a:rPr sz="1100" i="1" spc="-204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.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That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spc="-35" dirty="0">
                <a:latin typeface="Arial"/>
                <a:cs typeface="Arial"/>
              </a:rPr>
              <a:t>N</a:t>
            </a:r>
            <a:r>
              <a:rPr sz="1100" spc="-35" dirty="0">
                <a:latin typeface="Tahoma"/>
                <a:cs typeface="Tahoma"/>
              </a:rPr>
              <a:t>(</a:t>
            </a:r>
            <a:r>
              <a:rPr sz="1100" i="1" spc="-35" dirty="0">
                <a:latin typeface="Arial"/>
                <a:cs typeface="Arial"/>
              </a:rPr>
              <a:t>S</a:t>
            </a:r>
            <a:r>
              <a:rPr sz="1100" i="1" spc="-204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contains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vertices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(in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adjacent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least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one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vertices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S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8207" y="900533"/>
            <a:ext cx="65265" cy="65265"/>
          </a:xfrm>
          <a:prstGeom prst="rect">
            <a:avLst/>
          </a:prstGeom>
        </p:spPr>
      </p:pic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8207" y="1282638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8207" y="1664743"/>
            <a:ext cx="65265" cy="65265"/>
          </a:xfrm>
          <a:prstGeom prst="rect">
            <a:avLst/>
          </a:prstGeom>
        </p:spPr>
      </p:pic>
      <p:pic>
        <p:nvPic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8207" y="2218920"/>
            <a:ext cx="65265" cy="652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770481-6BD5-CB1A-0A2C-85784B26BF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0958" y="2686610"/>
            <a:ext cx="709689" cy="7652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E26EDAC-EEC7-9128-2927-F3CD7334835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96560" y="2573787"/>
            <a:ext cx="1123950" cy="83850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2FB60B4-4AD9-502F-7588-521276146484}"/>
              </a:ext>
            </a:extLst>
          </p:cNvPr>
          <p:cNvSpPr txBox="1"/>
          <p:nvPr/>
        </p:nvSpPr>
        <p:spPr>
          <a:xfrm>
            <a:off x="284792" y="2993038"/>
            <a:ext cx="1036166" cy="244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spc="-10" dirty="0">
                <a:latin typeface="Arial"/>
                <a:cs typeface="Arial"/>
              </a:rPr>
              <a:t>Hamilton</a:t>
            </a:r>
            <a:r>
              <a:rPr lang="en-US" sz="1000" b="1" spc="25" dirty="0">
                <a:latin typeface="Arial"/>
                <a:cs typeface="Arial"/>
              </a:rPr>
              <a:t> </a:t>
            </a:r>
            <a:r>
              <a:rPr lang="en-US" sz="1000" b="1" spc="-20" dirty="0">
                <a:latin typeface="Arial"/>
                <a:cs typeface="Arial"/>
              </a:rPr>
              <a:t>path</a:t>
            </a:r>
            <a:endParaRPr lang="en-US" sz="1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0FDA7-6BDF-4AD6-F73E-6EA62FDEFBAC}"/>
              </a:ext>
            </a:extLst>
          </p:cNvPr>
          <p:cNvSpPr txBox="1"/>
          <p:nvPr/>
        </p:nvSpPr>
        <p:spPr>
          <a:xfrm>
            <a:off x="2085756" y="2993038"/>
            <a:ext cx="12098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spc="-10" dirty="0">
                <a:latin typeface="Arial"/>
                <a:cs typeface="Arial"/>
              </a:rPr>
              <a:t>Hamilton</a:t>
            </a:r>
            <a:r>
              <a:rPr lang="en-US" sz="1000" b="1" spc="25" dirty="0">
                <a:latin typeface="Arial"/>
                <a:cs typeface="Arial"/>
              </a:rPr>
              <a:t> </a:t>
            </a:r>
            <a:r>
              <a:rPr lang="en-US" sz="1000" b="1" spc="-50" dirty="0">
                <a:latin typeface="Arial"/>
                <a:cs typeface="Arial"/>
              </a:rPr>
              <a:t>cycle</a:t>
            </a:r>
            <a:endParaRPr lang="en-US" sz="1000" dirty="0"/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</TotalTime>
  <Words>3067</Words>
  <Application>Microsoft Macintosh PowerPoint</Application>
  <PresentationFormat>Custom</PresentationFormat>
  <Paragraphs>198</Paragraphs>
  <Slides>36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7" baseType="lpstr">
      <vt:lpstr>Aptos</vt:lpstr>
      <vt:lpstr>Arial</vt:lpstr>
      <vt:lpstr>Cambria</vt:lpstr>
      <vt:lpstr>Cambria Math</vt:lpstr>
      <vt:lpstr>Comic Sans MS</vt:lpstr>
      <vt:lpstr>Georgia</vt:lpstr>
      <vt:lpstr>Lucida Sans Unicode</vt:lpstr>
      <vt:lpstr>Sitka Text</vt:lpstr>
      <vt:lpstr>Tahoma</vt:lpstr>
      <vt:lpstr>Trebuchet MS</vt:lpstr>
      <vt:lpstr>Office Theme</vt:lpstr>
      <vt:lpstr>CS5070 Mathematical Structures for Computer Science - Graph</vt:lpstr>
      <vt:lpstr>Graphs (Chapter 4)</vt:lpstr>
      <vt:lpstr>Graphs (Chapter 4)</vt:lpstr>
      <vt:lpstr>Isomorphic Graphs</vt:lpstr>
      <vt:lpstr>Isomorphic Graphs</vt:lpstr>
      <vt:lpstr>Subgraphs</vt:lpstr>
      <vt:lpstr>More Complex Graphs</vt:lpstr>
      <vt:lpstr>More Complex Graphs</vt:lpstr>
      <vt:lpstr>Complete Graphs</vt:lpstr>
      <vt:lpstr>Complete Graphs</vt:lpstr>
      <vt:lpstr>Odd Degree</vt:lpstr>
      <vt:lpstr>Named Graphs</vt:lpstr>
      <vt:lpstr>Graph Theory Definitions</vt:lpstr>
      <vt:lpstr>More Definitions</vt:lpstr>
      <vt:lpstr>More Definitions 2</vt:lpstr>
      <vt:lpstr>Properties of Trees</vt:lpstr>
      <vt:lpstr>Properties of Trees</vt:lpstr>
      <vt:lpstr>Rooted Trees</vt:lpstr>
      <vt:lpstr>More on Rooted Trees</vt:lpstr>
      <vt:lpstr>Navigating a Tree</vt:lpstr>
      <vt:lpstr>Spanning Trees</vt:lpstr>
      <vt:lpstr>Spanning Trees Algorithm</vt:lpstr>
      <vt:lpstr>Spanning Trees Algorithm</vt:lpstr>
      <vt:lpstr>Planar Graphs</vt:lpstr>
      <vt:lpstr>Planar Graphs</vt:lpstr>
      <vt:lpstr>Polyhedra</vt:lpstr>
      <vt:lpstr>Polyhedra</vt:lpstr>
      <vt:lpstr>Coloring</vt:lpstr>
      <vt:lpstr>Coloring</vt:lpstr>
      <vt:lpstr>More on Coloring</vt:lpstr>
      <vt:lpstr>More on Coloring</vt:lpstr>
      <vt:lpstr>More on Coloring..</vt:lpstr>
      <vt:lpstr>Coloring Edges</vt:lpstr>
      <vt:lpstr>Euler Paths and Circuits</vt:lpstr>
      <vt:lpstr>Euler Paths and Circuits</vt:lpstr>
      <vt:lpstr>Hamilton Paths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CS5070 Mathematical Structures for Computer Science - Notes 6</dc:title>
  <dc:creator>José Garrido</dc:creator>
  <cp:lastModifiedBy>Kun Suo</cp:lastModifiedBy>
  <cp:revision>39</cp:revision>
  <dcterms:created xsi:type="dcterms:W3CDTF">2026-04-21T18:13:41Z</dcterms:created>
  <dcterms:modified xsi:type="dcterms:W3CDTF">2026-05-24T21:28:16Z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2021-11-02T00:00:00Z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2026-04-21T00:00:00Z</vt:filetime>
  </property>
  <property fmtid="{D5CDD505-2E9C-101B-9397-08002B2CF9AE}" pid="5" name="PTEX.Fullbanner">
    <vt:lpwstr>This is MiKTeX-pdfTeX 2.9.6870 (1.40.19)</vt:lpwstr>
  </property>
  <property fmtid="{D5CDD505-2E9C-101B-9397-08002B2CF9AE}" pid="6" name="Producer">
    <vt:lpwstr>pdfTeX-1.40.19</vt:lpwstr>
  </property>
  <property fmtid="{D5CDD505-2E9C-101B-9397-08002B2CF9AE}" pid="7" name="data-panorama-remediation-history">
    <vt:lpwstr>[{"pageNumber":0,"geomIndex":0,"lastGeomIndex":6,"textElement":"CS5070","tableIndex":-1,"rowIndex":-1,"cellIndex":-1,"fontColor":"#b30000","identifiers":{"PARAGRAPH_ID":"0","RUN_ID":"0","SLIDE_ID":"0"},"issueDetails":{"luminance25":"0.6866853124353136","isHeader":"false","luminance75":"0.6866853124353136","textColor":"cc0000"},"issueTypeId":"LowContrastIssue:PPTX","dismiss":false,"pageNumbers":[1],"coordinatesList":[[18.552000045776367,59.92999267578125,325.92471504211426,6.823440074920654]]},{"pageNumber":0,"geomIndex":46,"lastGeomIndex":47,"textElement":"-","tableIndex":-1,"rowIndex":-1,"cellIndex":-1,"fontColor":"#b30000","identifiers":{"PARAGRAPH_ID":"1","RUN_ID":"0","SLIDE_ID":"0"},"issueDetails":{"luminance25":"0.6866853124353136","isHeader":"false","luminance75":"0.6866853124353136","textColor":"cc0000"},"issueTypeId":"LowContrastIssue:PPTX","dismiss":false,"pageNumbers":[1],"coordinatesList":[[154.05999755859375,77.68998718261719,55.205841064453125,6.823440074920654]]},{"languageSet":"default","pageNumber":0,"geomIndex":-1,"identifiers":{},"issueTypeId":"MissingLanguageSetIssue:PPTX","dismiss":false,"pageNumbers":[1],"coordinatesList":[[10.0,10.0,2.0,2.0]]},{"isReadingOrderVerified":"true","pageNumber":0,"geomIndex":-1,"issueTypeId":"ReadingOrderIssue:PPTX","dismiss":false,"pageNumbers":[6],"coordinatesList":[[10.0,10.0,2.0,2.0]]}]</vt:lpwstr>
  </property>
  <property fmtid="{D5CDD505-2E9C-101B-9397-08002B2CF9AE}" pid="8" name="ReadingOrderVerifiedPages">
    <vt:lpwstr>6</vt:lpwstr>
  </property>
</Properties>
</file>