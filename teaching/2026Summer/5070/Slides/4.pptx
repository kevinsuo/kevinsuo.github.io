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6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4610100" cy="3460750"/>
  <p:notesSz cx="4610100" cy="3460750"/>
  <p:defaultTextStyle>
    <a:defPPr>
      <a:defRPr lang="en"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88"/>
    <p:restoredTop sz="94651"/>
  </p:normalViewPr>
  <p:slideViewPr>
    <p:cSldViewPr>
      <p:cViewPr varScale="1">
        <p:scale>
          <a:sx n="284" d="100"/>
          <a:sy n="284" d="100"/>
        </p:scale>
        <p:origin x="512" y="17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45757" y="1072832"/>
            <a:ext cx="3918585" cy="72675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rgbClr val="CC0000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691515" y="1938020"/>
            <a:ext cx="3227070" cy="8651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chemeClr val="tx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7A0000"/>
                </a:solidFill>
                <a:latin typeface="Tahoma"/>
                <a:cs typeface="Tahoma"/>
              </a:defRPr>
            </a:lvl1pPr>
          </a:lstStyle>
          <a:p>
            <a:pPr marL="52705">
              <a:lnSpc>
                <a:spcPts val="675"/>
              </a:lnSpc>
            </a:pPr>
            <a:r>
              <a:rPr spc="-10" dirty="0"/>
              <a:t>February</a:t>
            </a:r>
            <a:r>
              <a:rPr spc="5" dirty="0"/>
              <a:t> </a:t>
            </a:r>
            <a:r>
              <a:rPr dirty="0"/>
              <a:t>24,</a:t>
            </a:r>
            <a:r>
              <a:rPr spc="5" dirty="0"/>
              <a:t> </a:t>
            </a:r>
            <a:r>
              <a:rPr spc="-20" dirty="0"/>
              <a:t>2022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F2F2F2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ts val="675"/>
              </a:lnSpc>
            </a:pPr>
            <a:r>
              <a:rPr spc="-75" dirty="0"/>
              <a:t>Jos´e</a:t>
            </a:r>
            <a:r>
              <a:rPr spc="25" dirty="0"/>
              <a:t> </a:t>
            </a:r>
            <a:r>
              <a:rPr dirty="0"/>
              <a:t>Garrido</a:t>
            </a:r>
            <a:r>
              <a:rPr spc="245" dirty="0"/>
              <a:t> </a:t>
            </a:r>
            <a:r>
              <a:rPr spc="-10" dirty="0"/>
              <a:t>(KSU)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7A0000"/>
                </a:solidFill>
                <a:latin typeface="Tahoma"/>
                <a:cs typeface="Tahoma"/>
              </a:defRPr>
            </a:lvl1pPr>
          </a:lstStyle>
          <a:p>
            <a:pPr marL="52705">
              <a:lnSpc>
                <a:spcPts val="675"/>
              </a:lnSpc>
            </a:pPr>
            <a:fld id="{81D60167-4931-47E6-BA6A-407CBD079E47}" type="slidenum">
              <a:rPr spc="-10" dirty="0"/>
              <a:t>‹#›</a:t>
            </a:fld>
            <a:r>
              <a:rPr spc="-85" dirty="0"/>
              <a:t> </a:t>
            </a:r>
            <a:r>
              <a:rPr spc="90" dirty="0"/>
              <a:t>/</a:t>
            </a:r>
            <a:r>
              <a:rPr spc="-85" dirty="0"/>
              <a:t> </a:t>
            </a:r>
            <a:r>
              <a:rPr spc="-25" dirty="0"/>
              <a:t>12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rgbClr val="CC0000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7A0000"/>
                </a:solidFill>
                <a:latin typeface="Tahoma"/>
                <a:cs typeface="Tahoma"/>
              </a:defRPr>
            </a:lvl1pPr>
          </a:lstStyle>
          <a:p>
            <a:pPr marL="52705">
              <a:lnSpc>
                <a:spcPts val="675"/>
              </a:lnSpc>
            </a:pPr>
            <a:r>
              <a:rPr spc="-10" dirty="0"/>
              <a:t>February</a:t>
            </a:r>
            <a:r>
              <a:rPr spc="5" dirty="0"/>
              <a:t> </a:t>
            </a:r>
            <a:r>
              <a:rPr dirty="0"/>
              <a:t>24,</a:t>
            </a:r>
            <a:r>
              <a:rPr spc="5" dirty="0"/>
              <a:t> </a:t>
            </a:r>
            <a:r>
              <a:rPr spc="-20" dirty="0"/>
              <a:t>2022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F2F2F2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ts val="675"/>
              </a:lnSpc>
            </a:pPr>
            <a:r>
              <a:rPr spc="-75" dirty="0"/>
              <a:t>Jos´e</a:t>
            </a:r>
            <a:r>
              <a:rPr spc="25" dirty="0"/>
              <a:t> </a:t>
            </a:r>
            <a:r>
              <a:rPr dirty="0"/>
              <a:t>Garrido</a:t>
            </a:r>
            <a:r>
              <a:rPr spc="245" dirty="0"/>
              <a:t> </a:t>
            </a:r>
            <a:r>
              <a:rPr spc="-10" dirty="0"/>
              <a:t>(KSU)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7A0000"/>
                </a:solidFill>
                <a:latin typeface="Tahoma"/>
                <a:cs typeface="Tahoma"/>
              </a:defRPr>
            </a:lvl1pPr>
          </a:lstStyle>
          <a:p>
            <a:pPr marL="52705">
              <a:lnSpc>
                <a:spcPts val="675"/>
              </a:lnSpc>
            </a:pPr>
            <a:fld id="{81D60167-4931-47E6-BA6A-407CBD079E47}" type="slidenum">
              <a:rPr spc="-10" dirty="0"/>
              <a:t>‹#›</a:t>
            </a:fld>
            <a:r>
              <a:rPr spc="-85" dirty="0"/>
              <a:t> </a:t>
            </a:r>
            <a:r>
              <a:rPr spc="90" dirty="0"/>
              <a:t>/</a:t>
            </a:r>
            <a:r>
              <a:rPr spc="-85" dirty="0"/>
              <a:t> </a:t>
            </a:r>
            <a:r>
              <a:rPr spc="-25" dirty="0"/>
              <a:t>12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rgbClr val="CC0000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30505" y="795972"/>
            <a:ext cx="2005393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374201" y="795972"/>
            <a:ext cx="2005393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7A0000"/>
                </a:solidFill>
                <a:latin typeface="Tahoma"/>
                <a:cs typeface="Tahoma"/>
              </a:defRPr>
            </a:lvl1pPr>
          </a:lstStyle>
          <a:p>
            <a:pPr marL="52705">
              <a:lnSpc>
                <a:spcPts val="675"/>
              </a:lnSpc>
            </a:pPr>
            <a:r>
              <a:rPr spc="-10" dirty="0"/>
              <a:t>February</a:t>
            </a:r>
            <a:r>
              <a:rPr spc="5" dirty="0"/>
              <a:t> </a:t>
            </a:r>
            <a:r>
              <a:rPr dirty="0"/>
              <a:t>24,</a:t>
            </a:r>
            <a:r>
              <a:rPr spc="5" dirty="0"/>
              <a:t> </a:t>
            </a:r>
            <a:r>
              <a:rPr spc="-20" dirty="0"/>
              <a:t>2022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F2F2F2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ts val="675"/>
              </a:lnSpc>
            </a:pPr>
            <a:r>
              <a:rPr spc="-75" dirty="0"/>
              <a:t>Jos´e</a:t>
            </a:r>
            <a:r>
              <a:rPr spc="25" dirty="0"/>
              <a:t> </a:t>
            </a:r>
            <a:r>
              <a:rPr dirty="0"/>
              <a:t>Garrido</a:t>
            </a:r>
            <a:r>
              <a:rPr spc="245" dirty="0"/>
              <a:t> </a:t>
            </a:r>
            <a:r>
              <a:rPr spc="-10" dirty="0"/>
              <a:t>(KSU)</a:t>
            </a: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7A0000"/>
                </a:solidFill>
                <a:latin typeface="Tahoma"/>
                <a:cs typeface="Tahoma"/>
              </a:defRPr>
            </a:lvl1pPr>
          </a:lstStyle>
          <a:p>
            <a:pPr marL="52705">
              <a:lnSpc>
                <a:spcPts val="675"/>
              </a:lnSpc>
            </a:pPr>
            <a:fld id="{81D60167-4931-47E6-BA6A-407CBD079E47}" type="slidenum">
              <a:rPr spc="-10" dirty="0"/>
              <a:t>‹#›</a:t>
            </a:fld>
            <a:r>
              <a:rPr spc="-85" dirty="0"/>
              <a:t> </a:t>
            </a:r>
            <a:r>
              <a:rPr spc="90" dirty="0"/>
              <a:t>/</a:t>
            </a:r>
            <a:r>
              <a:rPr spc="-85" dirty="0"/>
              <a:t> </a:t>
            </a:r>
            <a:r>
              <a:rPr spc="-25" dirty="0"/>
              <a:t>12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rgbClr val="CC0000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7A0000"/>
                </a:solidFill>
                <a:latin typeface="Tahoma"/>
                <a:cs typeface="Tahoma"/>
              </a:defRPr>
            </a:lvl1pPr>
          </a:lstStyle>
          <a:p>
            <a:pPr marL="52705">
              <a:lnSpc>
                <a:spcPts val="675"/>
              </a:lnSpc>
            </a:pPr>
            <a:r>
              <a:rPr spc="-10" dirty="0"/>
              <a:t>February</a:t>
            </a:r>
            <a:r>
              <a:rPr spc="5" dirty="0"/>
              <a:t> </a:t>
            </a:r>
            <a:r>
              <a:rPr dirty="0"/>
              <a:t>24,</a:t>
            </a:r>
            <a:r>
              <a:rPr spc="5" dirty="0"/>
              <a:t> </a:t>
            </a:r>
            <a:r>
              <a:rPr spc="-20" dirty="0"/>
              <a:t>2022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F2F2F2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ts val="675"/>
              </a:lnSpc>
            </a:pPr>
            <a:r>
              <a:rPr spc="-75" dirty="0"/>
              <a:t>Jos´e</a:t>
            </a:r>
            <a:r>
              <a:rPr spc="25" dirty="0"/>
              <a:t> </a:t>
            </a:r>
            <a:r>
              <a:rPr dirty="0"/>
              <a:t>Garrido</a:t>
            </a:r>
            <a:r>
              <a:rPr spc="245" dirty="0"/>
              <a:t> </a:t>
            </a:r>
            <a:r>
              <a:rPr spc="-10" dirty="0"/>
              <a:t>(KSU)</a:t>
            </a: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7A0000"/>
                </a:solidFill>
                <a:latin typeface="Tahoma"/>
                <a:cs typeface="Tahoma"/>
              </a:defRPr>
            </a:lvl1pPr>
          </a:lstStyle>
          <a:p>
            <a:pPr marL="52705">
              <a:lnSpc>
                <a:spcPts val="675"/>
              </a:lnSpc>
            </a:pPr>
            <a:fld id="{81D60167-4931-47E6-BA6A-407CBD079E47}" type="slidenum">
              <a:rPr spc="-10" dirty="0"/>
              <a:t>‹#›</a:t>
            </a:fld>
            <a:r>
              <a:rPr spc="-85" dirty="0"/>
              <a:t> </a:t>
            </a:r>
            <a:r>
              <a:rPr spc="90" dirty="0"/>
              <a:t>/</a:t>
            </a:r>
            <a:r>
              <a:rPr spc="-85" dirty="0"/>
              <a:t> </a:t>
            </a:r>
            <a:r>
              <a:rPr spc="-25" dirty="0"/>
              <a:t>12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7A0000"/>
                </a:solidFill>
                <a:latin typeface="Tahoma"/>
                <a:cs typeface="Tahoma"/>
              </a:defRPr>
            </a:lvl1pPr>
          </a:lstStyle>
          <a:p>
            <a:pPr marL="52705">
              <a:lnSpc>
                <a:spcPts val="675"/>
              </a:lnSpc>
            </a:pPr>
            <a:r>
              <a:rPr spc="-10" dirty="0"/>
              <a:t>February</a:t>
            </a:r>
            <a:r>
              <a:rPr spc="5" dirty="0"/>
              <a:t> </a:t>
            </a:r>
            <a:r>
              <a:rPr dirty="0"/>
              <a:t>24,</a:t>
            </a:r>
            <a:r>
              <a:rPr spc="5" dirty="0"/>
              <a:t> </a:t>
            </a:r>
            <a:r>
              <a:rPr spc="-20" dirty="0"/>
              <a:t>2022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F2F2F2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ts val="675"/>
              </a:lnSpc>
            </a:pPr>
            <a:r>
              <a:rPr spc="-75" dirty="0"/>
              <a:t>Jos´e</a:t>
            </a:r>
            <a:r>
              <a:rPr spc="25" dirty="0"/>
              <a:t> </a:t>
            </a:r>
            <a:r>
              <a:rPr dirty="0"/>
              <a:t>Garrido</a:t>
            </a:r>
            <a:r>
              <a:rPr spc="245" dirty="0"/>
              <a:t> </a:t>
            </a:r>
            <a:r>
              <a:rPr spc="-10" dirty="0"/>
              <a:t>(KSU)</a:t>
            </a: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7A0000"/>
                </a:solidFill>
                <a:latin typeface="Tahoma"/>
                <a:cs typeface="Tahoma"/>
              </a:defRPr>
            </a:lvl1pPr>
          </a:lstStyle>
          <a:p>
            <a:pPr marL="52705">
              <a:lnSpc>
                <a:spcPts val="675"/>
              </a:lnSpc>
            </a:pPr>
            <a:fld id="{81D60167-4931-47E6-BA6A-407CBD079E47}" type="slidenum">
              <a:rPr spc="-10" dirty="0"/>
              <a:t>‹#›</a:t>
            </a:fld>
            <a:r>
              <a:rPr spc="-85" dirty="0"/>
              <a:t> </a:t>
            </a:r>
            <a:r>
              <a:rPr spc="90" dirty="0"/>
              <a:t>/</a:t>
            </a:r>
            <a:r>
              <a:rPr spc="-85" dirty="0"/>
              <a:t> </a:t>
            </a:r>
            <a:r>
              <a:rPr spc="-25" dirty="0"/>
              <a:t>12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3069083" y="3261575"/>
            <a:ext cx="43180" cy="30480"/>
          </a:xfrm>
          <a:custGeom>
            <a:avLst/>
            <a:gdLst/>
            <a:ahLst/>
            <a:cxnLst/>
            <a:rect l="l" t="t" r="r" b="b"/>
            <a:pathLst>
              <a:path w="43180" h="30479">
                <a:moveTo>
                  <a:pt x="0" y="30366"/>
                </a:moveTo>
                <a:lnTo>
                  <a:pt x="43019" y="30366"/>
                </a:lnTo>
                <a:lnTo>
                  <a:pt x="43019" y="0"/>
                </a:lnTo>
                <a:lnTo>
                  <a:pt x="0" y="0"/>
                </a:lnTo>
                <a:lnTo>
                  <a:pt x="0" y="30366"/>
                </a:lnTo>
                <a:close/>
              </a:path>
            </a:pathLst>
          </a:custGeom>
          <a:ln w="5060">
            <a:solidFill>
              <a:srgbClr val="ADAD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2989465" y="3257613"/>
            <a:ext cx="25400" cy="38100"/>
          </a:xfrm>
          <a:custGeom>
            <a:avLst/>
            <a:gdLst/>
            <a:ahLst/>
            <a:cxnLst/>
            <a:rect l="l" t="t" r="r" b="b"/>
            <a:pathLst>
              <a:path w="254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</a:pathLst>
          </a:custGeom>
          <a:solidFill>
            <a:srgbClr val="D6D6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3167268" y="3257613"/>
            <a:ext cx="25400" cy="38100"/>
          </a:xfrm>
          <a:custGeom>
            <a:avLst/>
            <a:gdLst/>
            <a:ahLst/>
            <a:cxnLst/>
            <a:rect l="l" t="t" r="r" b="b"/>
            <a:pathLst>
              <a:path w="25400" h="38100">
                <a:moveTo>
                  <a:pt x="0" y="0"/>
                </a:moveTo>
                <a:lnTo>
                  <a:pt x="0" y="38100"/>
                </a:lnTo>
                <a:lnTo>
                  <a:pt x="2540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6D6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3323614" y="3251262"/>
            <a:ext cx="64135" cy="50800"/>
          </a:xfrm>
          <a:custGeom>
            <a:avLst/>
            <a:gdLst/>
            <a:ahLst/>
            <a:cxnLst/>
            <a:rect l="l" t="t" r="r" b="b"/>
            <a:pathLst>
              <a:path w="64135" h="50800">
                <a:moveTo>
                  <a:pt x="0" y="50800"/>
                </a:moveTo>
                <a:lnTo>
                  <a:pt x="43019" y="50800"/>
                </a:lnTo>
                <a:lnTo>
                  <a:pt x="43019" y="20434"/>
                </a:lnTo>
                <a:lnTo>
                  <a:pt x="0" y="20434"/>
                </a:lnTo>
                <a:lnTo>
                  <a:pt x="0" y="50800"/>
                </a:lnTo>
                <a:close/>
              </a:path>
              <a:path w="64135" h="50800">
                <a:moveTo>
                  <a:pt x="10491" y="20320"/>
                </a:moveTo>
                <a:lnTo>
                  <a:pt x="10491" y="10160"/>
                </a:lnTo>
                <a:lnTo>
                  <a:pt x="53672" y="10160"/>
                </a:lnTo>
                <a:lnTo>
                  <a:pt x="53672" y="40640"/>
                </a:lnTo>
                <a:lnTo>
                  <a:pt x="43512" y="40640"/>
                </a:lnTo>
              </a:path>
              <a:path w="64135" h="50800">
                <a:moveTo>
                  <a:pt x="20652" y="10160"/>
                </a:moveTo>
                <a:lnTo>
                  <a:pt x="20652" y="0"/>
                </a:lnTo>
                <a:lnTo>
                  <a:pt x="63832" y="0"/>
                </a:lnTo>
                <a:lnTo>
                  <a:pt x="63832" y="30480"/>
                </a:lnTo>
                <a:lnTo>
                  <a:pt x="53672" y="30480"/>
                </a:lnTo>
              </a:path>
            </a:pathLst>
          </a:custGeom>
          <a:ln w="5060">
            <a:solidFill>
              <a:srgbClr val="ADAD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3260445" y="3257613"/>
            <a:ext cx="203200" cy="38100"/>
          </a:xfrm>
          <a:custGeom>
            <a:avLst/>
            <a:gdLst/>
            <a:ahLst/>
            <a:cxnLst/>
            <a:rect l="l" t="t" r="r" b="b"/>
            <a:pathLst>
              <a:path w="2032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w="203200" h="381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6D6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3620326" y="3263963"/>
            <a:ext cx="38100" cy="0"/>
          </a:xfrm>
          <a:custGeom>
            <a:avLst/>
            <a:gdLst/>
            <a:ahLst/>
            <a:cxnLst/>
            <a:rect l="l" t="t" r="r" b="b"/>
            <a:pathLst>
              <a:path w="38100">
                <a:moveTo>
                  <a:pt x="0" y="0"/>
                </a:moveTo>
                <a:lnTo>
                  <a:pt x="38100" y="0"/>
                </a:lnTo>
              </a:path>
            </a:pathLst>
          </a:custGeom>
          <a:ln w="7591">
            <a:solidFill>
              <a:srgbClr val="ADAD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bg object 22"/>
          <p:cNvSpPr/>
          <p:nvPr/>
        </p:nvSpPr>
        <p:spPr>
          <a:xfrm>
            <a:off x="3531425" y="3257613"/>
            <a:ext cx="203200" cy="38100"/>
          </a:xfrm>
          <a:custGeom>
            <a:avLst/>
            <a:gdLst/>
            <a:ahLst/>
            <a:cxnLst/>
            <a:rect l="l" t="t" r="r" b="b"/>
            <a:pathLst>
              <a:path w="2032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w="203200" h="381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6D6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bg object 23"/>
          <p:cNvSpPr/>
          <p:nvPr/>
        </p:nvSpPr>
        <p:spPr>
          <a:xfrm>
            <a:off x="3607626" y="3251262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0" y="0"/>
                </a:moveTo>
                <a:lnTo>
                  <a:pt x="38100" y="0"/>
                </a:lnTo>
              </a:path>
              <a:path w="50800" h="50800">
                <a:moveTo>
                  <a:pt x="12700" y="25400"/>
                </a:moveTo>
                <a:lnTo>
                  <a:pt x="50800" y="25400"/>
                </a:lnTo>
              </a:path>
              <a:path w="50800" h="50800">
                <a:moveTo>
                  <a:pt x="0" y="38100"/>
                </a:moveTo>
                <a:lnTo>
                  <a:pt x="38100" y="38100"/>
                </a:lnTo>
              </a:path>
              <a:path w="50800" h="50800">
                <a:moveTo>
                  <a:pt x="12700" y="50800"/>
                </a:moveTo>
                <a:lnTo>
                  <a:pt x="50800" y="50800"/>
                </a:lnTo>
              </a:path>
            </a:pathLst>
          </a:custGeom>
          <a:ln w="7591">
            <a:solidFill>
              <a:srgbClr val="D6D6E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bg object 24"/>
          <p:cNvSpPr/>
          <p:nvPr/>
        </p:nvSpPr>
        <p:spPr>
          <a:xfrm>
            <a:off x="3878593" y="3251262"/>
            <a:ext cx="50800" cy="25400"/>
          </a:xfrm>
          <a:custGeom>
            <a:avLst/>
            <a:gdLst/>
            <a:ahLst/>
            <a:cxnLst/>
            <a:rect l="l" t="t" r="r" b="b"/>
            <a:pathLst>
              <a:path w="50800" h="25400">
                <a:moveTo>
                  <a:pt x="0" y="0"/>
                </a:moveTo>
                <a:lnTo>
                  <a:pt x="38100" y="0"/>
                </a:lnTo>
              </a:path>
              <a:path w="50800" h="25400">
                <a:moveTo>
                  <a:pt x="12700" y="12700"/>
                </a:moveTo>
                <a:lnTo>
                  <a:pt x="50800" y="12700"/>
                </a:lnTo>
              </a:path>
              <a:path w="50800" h="25400">
                <a:moveTo>
                  <a:pt x="12700" y="25400"/>
                </a:moveTo>
                <a:lnTo>
                  <a:pt x="50800" y="25400"/>
                </a:lnTo>
              </a:path>
            </a:pathLst>
          </a:custGeom>
          <a:ln w="7591">
            <a:solidFill>
              <a:srgbClr val="ADAD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bg object 25"/>
          <p:cNvSpPr/>
          <p:nvPr/>
        </p:nvSpPr>
        <p:spPr>
          <a:xfrm>
            <a:off x="3802393" y="3257613"/>
            <a:ext cx="203200" cy="38100"/>
          </a:xfrm>
          <a:custGeom>
            <a:avLst/>
            <a:gdLst/>
            <a:ahLst/>
            <a:cxnLst/>
            <a:rect l="l" t="t" r="r" b="b"/>
            <a:pathLst>
              <a:path w="2032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w="203200" h="381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6D6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bg object 26"/>
          <p:cNvSpPr/>
          <p:nvPr/>
        </p:nvSpPr>
        <p:spPr>
          <a:xfrm>
            <a:off x="3878593" y="3289363"/>
            <a:ext cx="50800" cy="12700"/>
          </a:xfrm>
          <a:custGeom>
            <a:avLst/>
            <a:gdLst/>
            <a:ahLst/>
            <a:cxnLst/>
            <a:rect l="l" t="t" r="r" b="b"/>
            <a:pathLst>
              <a:path w="50800" h="12700">
                <a:moveTo>
                  <a:pt x="0" y="0"/>
                </a:moveTo>
                <a:lnTo>
                  <a:pt x="38100" y="0"/>
                </a:lnTo>
              </a:path>
              <a:path w="50800" h="12700">
                <a:moveTo>
                  <a:pt x="12700" y="12699"/>
                </a:moveTo>
                <a:lnTo>
                  <a:pt x="50800" y="12699"/>
                </a:lnTo>
              </a:path>
            </a:pathLst>
          </a:custGeom>
          <a:ln w="7591">
            <a:solidFill>
              <a:srgbClr val="D6D6E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bg object 27"/>
          <p:cNvSpPr/>
          <p:nvPr/>
        </p:nvSpPr>
        <p:spPr>
          <a:xfrm>
            <a:off x="4149573" y="3251262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0" y="0"/>
                </a:moveTo>
                <a:lnTo>
                  <a:pt x="38100" y="0"/>
                </a:lnTo>
              </a:path>
              <a:path w="50800" h="50800">
                <a:moveTo>
                  <a:pt x="12700" y="12700"/>
                </a:moveTo>
                <a:lnTo>
                  <a:pt x="50800" y="12700"/>
                </a:lnTo>
              </a:path>
              <a:path w="50800" h="50800">
                <a:moveTo>
                  <a:pt x="12700" y="25400"/>
                </a:moveTo>
                <a:lnTo>
                  <a:pt x="50800" y="25400"/>
                </a:lnTo>
              </a:path>
              <a:path w="50800" h="50800">
                <a:moveTo>
                  <a:pt x="0" y="38100"/>
                </a:moveTo>
                <a:lnTo>
                  <a:pt x="38100" y="38100"/>
                </a:lnTo>
              </a:path>
              <a:path w="50800" h="50800">
                <a:moveTo>
                  <a:pt x="12700" y="50800"/>
                </a:moveTo>
                <a:lnTo>
                  <a:pt x="50800" y="50800"/>
                </a:lnTo>
              </a:path>
            </a:pathLst>
          </a:custGeom>
          <a:ln w="7591">
            <a:solidFill>
              <a:srgbClr val="ADAD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bg object 28"/>
          <p:cNvSpPr/>
          <p:nvPr/>
        </p:nvSpPr>
        <p:spPr>
          <a:xfrm>
            <a:off x="4451033" y="3281743"/>
            <a:ext cx="20320" cy="20320"/>
          </a:xfrm>
          <a:custGeom>
            <a:avLst/>
            <a:gdLst/>
            <a:ahLst/>
            <a:cxnLst/>
            <a:rect l="l" t="t" r="r" b="b"/>
            <a:pathLst>
              <a:path w="20320" h="20320">
                <a:moveTo>
                  <a:pt x="0" y="0"/>
                </a:moveTo>
                <a:lnTo>
                  <a:pt x="20320" y="20320"/>
                </a:lnTo>
              </a:path>
            </a:pathLst>
          </a:custGeom>
          <a:ln w="7591">
            <a:solidFill>
              <a:srgbClr val="ADAD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bg object 29"/>
          <p:cNvSpPr/>
          <p:nvPr/>
        </p:nvSpPr>
        <p:spPr>
          <a:xfrm>
            <a:off x="4423969" y="3255248"/>
            <a:ext cx="30480" cy="30480"/>
          </a:xfrm>
          <a:custGeom>
            <a:avLst/>
            <a:gdLst/>
            <a:ahLst/>
            <a:cxnLst/>
            <a:rect l="l" t="t" r="r" b="b"/>
            <a:pathLst>
              <a:path w="30479" h="30479">
                <a:moveTo>
                  <a:pt x="30366" y="15183"/>
                </a:moveTo>
                <a:lnTo>
                  <a:pt x="30366" y="6797"/>
                </a:lnTo>
                <a:lnTo>
                  <a:pt x="23568" y="0"/>
                </a:lnTo>
                <a:lnTo>
                  <a:pt x="15183" y="0"/>
                </a:lnTo>
                <a:lnTo>
                  <a:pt x="6797" y="0"/>
                </a:lnTo>
                <a:lnTo>
                  <a:pt x="0" y="6797"/>
                </a:lnTo>
                <a:lnTo>
                  <a:pt x="0" y="15183"/>
                </a:lnTo>
                <a:lnTo>
                  <a:pt x="0" y="23568"/>
                </a:lnTo>
                <a:lnTo>
                  <a:pt x="6797" y="30366"/>
                </a:lnTo>
                <a:lnTo>
                  <a:pt x="15183" y="30366"/>
                </a:lnTo>
                <a:lnTo>
                  <a:pt x="23568" y="30366"/>
                </a:lnTo>
                <a:lnTo>
                  <a:pt x="30366" y="23568"/>
                </a:lnTo>
                <a:lnTo>
                  <a:pt x="30366" y="15183"/>
                </a:lnTo>
                <a:close/>
              </a:path>
            </a:pathLst>
          </a:custGeom>
          <a:ln w="5060">
            <a:solidFill>
              <a:srgbClr val="ADAD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bg object 30"/>
          <p:cNvSpPr/>
          <p:nvPr/>
        </p:nvSpPr>
        <p:spPr>
          <a:xfrm>
            <a:off x="4329112" y="3251262"/>
            <a:ext cx="233679" cy="50800"/>
          </a:xfrm>
          <a:custGeom>
            <a:avLst/>
            <a:gdLst/>
            <a:ahLst/>
            <a:cxnLst/>
            <a:rect l="l" t="t" r="r" b="b"/>
            <a:pathLst>
              <a:path w="233679" h="50800">
                <a:moveTo>
                  <a:pt x="40640" y="50800"/>
                </a:moveTo>
                <a:lnTo>
                  <a:pt x="50400" y="48796"/>
                </a:lnTo>
                <a:lnTo>
                  <a:pt x="58488" y="43339"/>
                </a:lnTo>
                <a:lnTo>
                  <a:pt x="64002" y="35262"/>
                </a:lnTo>
                <a:lnTo>
                  <a:pt x="66040" y="25400"/>
                </a:lnTo>
                <a:lnTo>
                  <a:pt x="64036" y="15537"/>
                </a:lnTo>
                <a:lnTo>
                  <a:pt x="58579" y="7461"/>
                </a:lnTo>
                <a:lnTo>
                  <a:pt x="50502" y="2004"/>
                </a:lnTo>
                <a:lnTo>
                  <a:pt x="40640" y="0"/>
                </a:lnTo>
                <a:lnTo>
                  <a:pt x="30778" y="2004"/>
                </a:lnTo>
                <a:lnTo>
                  <a:pt x="22701" y="7461"/>
                </a:lnTo>
                <a:lnTo>
                  <a:pt x="17244" y="15537"/>
                </a:lnTo>
                <a:lnTo>
                  <a:pt x="15240" y="25400"/>
                </a:lnTo>
              </a:path>
              <a:path w="233679" h="50800">
                <a:moveTo>
                  <a:pt x="30480" y="17780"/>
                </a:moveTo>
                <a:lnTo>
                  <a:pt x="15240" y="30480"/>
                </a:lnTo>
                <a:lnTo>
                  <a:pt x="0" y="17780"/>
                </a:lnTo>
              </a:path>
              <a:path w="233679" h="50800">
                <a:moveTo>
                  <a:pt x="193042" y="50800"/>
                </a:moveTo>
                <a:lnTo>
                  <a:pt x="183179" y="48796"/>
                </a:lnTo>
                <a:lnTo>
                  <a:pt x="175103" y="43339"/>
                </a:lnTo>
                <a:lnTo>
                  <a:pt x="169646" y="35262"/>
                </a:lnTo>
                <a:lnTo>
                  <a:pt x="167642" y="25400"/>
                </a:lnTo>
                <a:lnTo>
                  <a:pt x="169646" y="15537"/>
                </a:lnTo>
                <a:lnTo>
                  <a:pt x="175103" y="7461"/>
                </a:lnTo>
                <a:lnTo>
                  <a:pt x="183179" y="2004"/>
                </a:lnTo>
                <a:lnTo>
                  <a:pt x="193042" y="0"/>
                </a:lnTo>
                <a:lnTo>
                  <a:pt x="202904" y="2004"/>
                </a:lnTo>
                <a:lnTo>
                  <a:pt x="210981" y="7461"/>
                </a:lnTo>
                <a:lnTo>
                  <a:pt x="216438" y="15537"/>
                </a:lnTo>
                <a:lnTo>
                  <a:pt x="218442" y="25400"/>
                </a:lnTo>
              </a:path>
              <a:path w="233679" h="50800">
                <a:moveTo>
                  <a:pt x="233682" y="17780"/>
                </a:moveTo>
                <a:lnTo>
                  <a:pt x="218442" y="30480"/>
                </a:lnTo>
                <a:lnTo>
                  <a:pt x="203202" y="17780"/>
                </a:lnTo>
              </a:path>
            </a:pathLst>
          </a:custGeom>
          <a:ln w="5060">
            <a:solidFill>
              <a:srgbClr val="ADAD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5300" y="59878"/>
            <a:ext cx="3430270" cy="2444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rgbClr val="CC0000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07935" y="1345043"/>
            <a:ext cx="2994228" cy="1460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chemeClr val="tx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503269" y="3351784"/>
            <a:ext cx="674065" cy="1022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rgbClr val="7A0000"/>
                </a:solidFill>
                <a:latin typeface="Tahoma"/>
                <a:cs typeface="Tahoma"/>
              </a:defRPr>
            </a:lvl1pPr>
          </a:lstStyle>
          <a:p>
            <a:pPr marL="52705">
              <a:lnSpc>
                <a:spcPts val="675"/>
              </a:lnSpc>
            </a:pPr>
            <a:r>
              <a:rPr spc="-10" dirty="0"/>
              <a:t>February</a:t>
            </a:r>
            <a:r>
              <a:rPr spc="5" dirty="0"/>
              <a:t> </a:t>
            </a:r>
            <a:r>
              <a:rPr dirty="0"/>
              <a:t>24,</a:t>
            </a:r>
            <a:r>
              <a:rPr spc="5" dirty="0"/>
              <a:t> </a:t>
            </a:r>
            <a:r>
              <a:rPr spc="-20" dirty="0"/>
              <a:t>2022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09600" y="3351784"/>
            <a:ext cx="716915" cy="1022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rgbClr val="F2F2F2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ts val="675"/>
              </a:lnSpc>
            </a:pPr>
            <a:r>
              <a:rPr spc="-75" dirty="0"/>
              <a:t>Jos´e</a:t>
            </a:r>
            <a:r>
              <a:rPr spc="25" dirty="0"/>
              <a:t> </a:t>
            </a:r>
            <a:r>
              <a:rPr dirty="0"/>
              <a:t>Garrido</a:t>
            </a:r>
            <a:r>
              <a:rPr spc="245" dirty="0"/>
              <a:t> </a:t>
            </a:r>
            <a:r>
              <a:rPr spc="-10" dirty="0"/>
              <a:t>(KSU)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299167" y="3351784"/>
            <a:ext cx="254337" cy="1022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rgbClr val="7A0000"/>
                </a:solidFill>
                <a:latin typeface="Tahoma"/>
                <a:cs typeface="Tahoma"/>
              </a:defRPr>
            </a:lvl1pPr>
          </a:lstStyle>
          <a:p>
            <a:pPr marL="52705">
              <a:lnSpc>
                <a:spcPts val="675"/>
              </a:lnSpc>
            </a:pPr>
            <a:fld id="{81D60167-4931-47E6-BA6A-407CBD079E47}" type="slidenum">
              <a:rPr spc="-10" dirty="0"/>
              <a:t>‹#›</a:t>
            </a:fld>
            <a:r>
              <a:rPr spc="-85" dirty="0"/>
              <a:t> </a:t>
            </a:r>
            <a:r>
              <a:rPr spc="90" dirty="0"/>
              <a:t>/</a:t>
            </a:r>
            <a:r>
              <a:rPr spc="-85" dirty="0"/>
              <a:t> </a:t>
            </a:r>
            <a:r>
              <a:rPr spc="-25" dirty="0"/>
              <a:t>12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hyperlink" Target="mailto:ksuo@kennesaw.edu" TargetMode="Externa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jpe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8.png"/><Relationship Id="rId7" Type="http://schemas.openxmlformats.org/officeDocument/2006/relationships/image" Target="../media/image41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3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7" Type="http://schemas.openxmlformats.org/officeDocument/2006/relationships/image" Target="../media/image39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7743" y="464095"/>
            <a:ext cx="4432935" cy="82550"/>
          </a:xfrm>
          <a:custGeom>
            <a:avLst/>
            <a:gdLst/>
            <a:ahLst/>
            <a:cxnLst/>
            <a:rect l="l" t="t" r="r" b="b"/>
            <a:pathLst>
              <a:path w="4432935" h="82550">
                <a:moveTo>
                  <a:pt x="4381765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82384"/>
                </a:lnTo>
                <a:lnTo>
                  <a:pt x="4432566" y="82384"/>
                </a:lnTo>
                <a:lnTo>
                  <a:pt x="4432566" y="50800"/>
                </a:lnTo>
                <a:lnTo>
                  <a:pt x="4428558" y="31075"/>
                </a:lnTo>
                <a:lnTo>
                  <a:pt x="4417643" y="14922"/>
                </a:lnTo>
                <a:lnTo>
                  <a:pt x="4401490" y="4008"/>
                </a:lnTo>
                <a:lnTo>
                  <a:pt x="4381765" y="0"/>
                </a:lnTo>
                <a:close/>
              </a:path>
            </a:pathLst>
          </a:custGeom>
          <a:solidFill>
            <a:srgbClr val="D8D8D8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7743" y="508509"/>
            <a:ext cx="4483735" cy="677545"/>
            <a:chOff x="87743" y="508509"/>
            <a:chExt cx="4483735" cy="67754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8544" y="1084161"/>
              <a:ext cx="101600" cy="101600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89344" y="1071460"/>
              <a:ext cx="4381765" cy="114301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520310" y="514654"/>
              <a:ext cx="50800" cy="569506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87743" y="508509"/>
              <a:ext cx="4432935" cy="626745"/>
            </a:xfrm>
            <a:custGeom>
              <a:avLst/>
              <a:gdLst/>
              <a:ahLst/>
              <a:cxnLst/>
              <a:rect l="l" t="t" r="r" b="b"/>
              <a:pathLst>
                <a:path w="4432935" h="626744">
                  <a:moveTo>
                    <a:pt x="4432566" y="0"/>
                  </a:moveTo>
                  <a:lnTo>
                    <a:pt x="0" y="0"/>
                  </a:lnTo>
                  <a:lnTo>
                    <a:pt x="0" y="575651"/>
                  </a:lnTo>
                  <a:lnTo>
                    <a:pt x="4008" y="595375"/>
                  </a:lnTo>
                  <a:lnTo>
                    <a:pt x="14922" y="611528"/>
                  </a:lnTo>
                  <a:lnTo>
                    <a:pt x="31075" y="622443"/>
                  </a:lnTo>
                  <a:lnTo>
                    <a:pt x="50800" y="626451"/>
                  </a:lnTo>
                  <a:lnTo>
                    <a:pt x="4381765" y="626451"/>
                  </a:lnTo>
                  <a:lnTo>
                    <a:pt x="4401490" y="622443"/>
                  </a:lnTo>
                  <a:lnTo>
                    <a:pt x="4417643" y="611528"/>
                  </a:lnTo>
                  <a:lnTo>
                    <a:pt x="4428558" y="595375"/>
                  </a:lnTo>
                  <a:lnTo>
                    <a:pt x="4432566" y="575651"/>
                  </a:lnTo>
                  <a:lnTo>
                    <a:pt x="4432566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520310" y="552747"/>
              <a:ext cx="0" cy="550545"/>
            </a:xfrm>
            <a:custGeom>
              <a:avLst/>
              <a:gdLst/>
              <a:ahLst/>
              <a:cxnLst/>
              <a:rect l="l" t="t" r="r" b="b"/>
              <a:pathLst>
                <a:path h="550544">
                  <a:moveTo>
                    <a:pt x="0" y="550463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4520310" y="540047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520310" y="527347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CECE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520310" y="514647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EFEFE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 descr="$PPTXTitle"/>
          <p:cNvSpPr txBox="1">
            <a:spLocks noGrp="1"/>
          </p:cNvSpPr>
          <p:nvPr>
            <p:ph type="title"/>
          </p:nvPr>
        </p:nvSpPr>
        <p:spPr>
          <a:xfrm>
            <a:off x="230250" y="566671"/>
            <a:ext cx="4147820" cy="47180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35"/>
              </a:spcBef>
            </a:pPr>
            <a:r>
              <a:rPr lang="en" spc="-10" dirty="0">
                <a:solidFill>
                  <a:srgbClr val="B30000"/>
                </a:solidFill>
              </a:rPr>
              <a:t>CS5070</a:t>
            </a:r>
            <a:r>
              <a:rPr spc="-70" dirty="0"/>
              <a:t> </a:t>
            </a:r>
            <a:r>
              <a:rPr lang="en" spc="-10" dirty="0">
                <a:solidFill>
                  <a:srgbClr val="B30000"/>
                </a:solidFill>
              </a:rPr>
              <a:t>Mathematical</a:t>
            </a:r>
            <a:r>
              <a:rPr spc="-70" dirty="0"/>
              <a:t> </a:t>
            </a:r>
            <a:r>
              <a:rPr lang="en" spc="-25" dirty="0">
                <a:solidFill>
                  <a:srgbClr val="B30000"/>
                </a:solidFill>
              </a:rPr>
              <a:t>Structures</a:t>
            </a:r>
            <a:r>
              <a:rPr spc="-70" dirty="0"/>
              <a:t> </a:t>
            </a:r>
            <a:r>
              <a:rPr lang="en" spc="-10" dirty="0">
                <a:solidFill>
                  <a:srgbClr val="B30000"/>
                </a:solidFill>
              </a:rPr>
              <a:t>for</a:t>
            </a:r>
            <a:r>
              <a:rPr spc="-70" dirty="0"/>
              <a:t> </a:t>
            </a:r>
            <a:r>
              <a:rPr lang="en" spc="-30" dirty="0">
                <a:solidFill>
                  <a:srgbClr val="B30000"/>
                </a:solidFill>
              </a:rPr>
              <a:t>Computer</a:t>
            </a:r>
            <a:r>
              <a:rPr spc="-70" dirty="0"/>
              <a:t> </a:t>
            </a:r>
            <a:r>
              <a:rPr lang="en" spc="-10" dirty="0">
                <a:solidFill>
                  <a:srgbClr val="B30000"/>
                </a:solidFill>
              </a:rPr>
              <a:t>Science</a:t>
            </a:r>
          </a:p>
          <a:p>
            <a:pPr algn="ctr">
              <a:lnSpc>
                <a:spcPct val="100000"/>
              </a:lnSpc>
              <a:spcBef>
                <a:spcPts val="110"/>
              </a:spcBef>
            </a:pPr>
            <a:r>
              <a:rPr lang="en" dirty="0">
                <a:solidFill>
                  <a:srgbClr val="B30000"/>
                </a:solidFill>
              </a:rPr>
              <a:t>-</a:t>
            </a:r>
            <a:r>
              <a:rPr spc="-60" dirty="0"/>
              <a:t> </a:t>
            </a:r>
            <a:r>
              <a:rPr lang="en" spc="-10" dirty="0">
                <a:solidFill>
                  <a:srgbClr val="B30000"/>
                </a:solidFill>
              </a:rPr>
              <a:t>Notes</a:t>
            </a:r>
            <a:r>
              <a:rPr spc="-55" dirty="0"/>
              <a:t> </a:t>
            </a:r>
            <a:r>
              <a:rPr lang="en" spc="-50" dirty="0">
                <a:solidFill>
                  <a:srgbClr val="B30000"/>
                </a:solidFill>
              </a:rPr>
              <a:t>4</a:t>
            </a:r>
          </a:p>
        </p:txBody>
      </p:sp>
      <p:sp>
        <p:nvSpPr>
          <p:cNvPr id="13" name="object 13"/>
          <p:cNvSpPr txBox="1">
            <a:spLocks noGrp="1"/>
          </p:cNvSpPr>
          <p:nvPr>
            <p:ph type="body" idx="1"/>
          </p:nvPr>
        </p:nvSpPr>
        <p:spPr>
          <a:xfrm>
            <a:off x="807935" y="1345043"/>
            <a:ext cx="2994228" cy="1134926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lang="en-US" spc="-40" dirty="0"/>
              <a:t>Kun Suo</a:t>
            </a:r>
            <a:endParaRPr lang="en-US" spc="-10" dirty="0"/>
          </a:p>
          <a:p>
            <a:pPr marL="12700" marR="5080" indent="447675">
              <a:lnSpc>
                <a:spcPts val="1390"/>
              </a:lnSpc>
              <a:spcBef>
                <a:spcPts val="1190"/>
              </a:spcBef>
            </a:pPr>
            <a:r>
              <a:rPr lang="en-US" sz="1200" spc="-50" dirty="0"/>
              <a:t>Department</a:t>
            </a:r>
            <a:r>
              <a:rPr lang="en-US" sz="1200" spc="-45" dirty="0"/>
              <a:t> </a:t>
            </a:r>
            <a:r>
              <a:rPr lang="en-US" sz="1200" dirty="0"/>
              <a:t>of</a:t>
            </a:r>
            <a:r>
              <a:rPr lang="en-US" sz="1200" spc="-60" dirty="0"/>
              <a:t> </a:t>
            </a:r>
            <a:r>
              <a:rPr lang="en-US" sz="1200" spc="-45" dirty="0"/>
              <a:t>Computer</a:t>
            </a:r>
            <a:r>
              <a:rPr lang="en-US" sz="1200" spc="-50" dirty="0"/>
              <a:t> </a:t>
            </a:r>
            <a:r>
              <a:rPr lang="en-US" sz="1200" spc="-10" dirty="0"/>
              <a:t>Science </a:t>
            </a:r>
            <a:r>
              <a:rPr lang="en-US" sz="1200" spc="-55" dirty="0"/>
              <a:t>College</a:t>
            </a:r>
            <a:r>
              <a:rPr lang="en-US" sz="1200" spc="-20" dirty="0"/>
              <a:t> </a:t>
            </a:r>
            <a:r>
              <a:rPr lang="en-US" sz="1200" dirty="0"/>
              <a:t>of</a:t>
            </a:r>
            <a:r>
              <a:rPr lang="en-US" sz="1200" spc="-20" dirty="0"/>
              <a:t> </a:t>
            </a:r>
            <a:r>
              <a:rPr lang="en-US" sz="1200" spc="-40" dirty="0"/>
              <a:t>Computing</a:t>
            </a:r>
            <a:r>
              <a:rPr lang="en-US" sz="1200" spc="-25" dirty="0"/>
              <a:t> </a:t>
            </a:r>
            <a:r>
              <a:rPr lang="en-US" sz="1200" spc="-55" dirty="0"/>
              <a:t>and</a:t>
            </a:r>
            <a:r>
              <a:rPr lang="en-US" sz="1200" spc="-20" dirty="0"/>
              <a:t> </a:t>
            </a:r>
            <a:r>
              <a:rPr lang="en-US" sz="1200" spc="-70" dirty="0"/>
              <a:t>Software</a:t>
            </a:r>
            <a:r>
              <a:rPr lang="en-US" sz="1200" spc="-20" dirty="0"/>
              <a:t> </a:t>
            </a:r>
            <a:r>
              <a:rPr lang="en-US" sz="1200" spc="-60" dirty="0"/>
              <a:t>Engineering</a:t>
            </a:r>
            <a:endParaRPr lang="en-US" sz="1200" dirty="0"/>
          </a:p>
          <a:p>
            <a:pPr marL="673100">
              <a:lnSpc>
                <a:spcPts val="1360"/>
              </a:lnSpc>
            </a:pPr>
            <a:r>
              <a:rPr lang="en" sz="1200" spc="-75" dirty="0"/>
              <a:t>Kennesaw</a:t>
            </a:r>
            <a:r>
              <a:rPr sz="1200" spc="-10" dirty="0"/>
              <a:t> </a:t>
            </a:r>
            <a:r>
              <a:rPr lang="en" sz="1200" spc="-20" dirty="0"/>
              <a:t>State</a:t>
            </a:r>
            <a:r>
              <a:rPr sz="1200" spc="-5" dirty="0"/>
              <a:t> </a:t>
            </a:r>
            <a:r>
              <a:rPr lang="en" sz="1200" spc="-10" dirty="0"/>
              <a:t>University</a:t>
            </a:r>
            <a:endParaRPr sz="1200" dirty="0"/>
          </a:p>
          <a:p>
            <a:pPr algn="ctr">
              <a:lnSpc>
                <a:spcPct val="100000"/>
              </a:lnSpc>
              <a:spcBef>
                <a:spcPts val="555"/>
              </a:spcBef>
            </a:pPr>
            <a:r>
              <a:rPr lang="en" sz="1200" i="1" spc="-50" dirty="0">
                <a:latin typeface="Trebuchet MS"/>
                <a:cs typeface="Trebuchet MS"/>
                <a:hlinkClick r:id="rId5"/>
              </a:rPr>
              <a:t>ksuo@kennesaw.edu</a:t>
            </a:r>
            <a:endParaRPr sz="1200" dirty="0">
              <a:latin typeface="Trebuchet MS"/>
              <a:cs typeface="Trebuchet MS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-12"/>
            <a:ext cx="4608195" cy="350520"/>
          </a:xfrm>
          <a:custGeom>
            <a:avLst/>
            <a:gdLst/>
            <a:ahLst/>
            <a:cxnLst/>
            <a:rect l="l" t="t" r="r" b="b"/>
            <a:pathLst>
              <a:path w="4608195" h="350520">
                <a:moveTo>
                  <a:pt x="4608004" y="0"/>
                </a:moveTo>
                <a:lnTo>
                  <a:pt x="0" y="0"/>
                </a:lnTo>
                <a:lnTo>
                  <a:pt x="0" y="350126"/>
                </a:lnTo>
                <a:lnTo>
                  <a:pt x="4608004" y="350126"/>
                </a:lnTo>
                <a:lnTo>
                  <a:pt x="4608004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65" dirty="0"/>
              <a:t>Sequences</a:t>
            </a:r>
            <a:r>
              <a:rPr spc="-35" dirty="0"/>
              <a:t> </a:t>
            </a:r>
            <a:r>
              <a:rPr spc="-20" dirty="0"/>
              <a:t>(Chapter</a:t>
            </a:r>
            <a:r>
              <a:rPr spc="-35" dirty="0"/>
              <a:t> </a:t>
            </a:r>
            <a:r>
              <a:rPr spc="-25" dirty="0"/>
              <a:t>2)</a:t>
            </a:r>
          </a:p>
        </p:txBody>
      </p:sp>
      <p:pic>
        <p:nvPic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732447"/>
            <a:ext cx="65265" cy="65265"/>
          </a:xfrm>
          <a:prstGeom prst="rect">
            <a:avLst/>
          </a:prstGeom>
        </p:spPr>
      </p:pic>
      <p:pic>
        <p:nvPicPr>
          <p:cNvPr id="5" name="object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1018387"/>
            <a:ext cx="65265" cy="65265"/>
          </a:xfrm>
          <a:prstGeom prst="rect">
            <a:avLst/>
          </a:prstGeom>
        </p:spPr>
      </p:pic>
      <p:pic>
        <p:nvPic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089" y="1476413"/>
            <a:ext cx="65265" cy="65265"/>
          </a:xfrm>
          <a:prstGeom prst="rect">
            <a:avLst/>
          </a:prstGeom>
        </p:spPr>
      </p:pic>
      <p:pic>
        <p:nvPicPr>
          <p:cNvPr id="7" name="object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81089" y="1934438"/>
            <a:ext cx="65265" cy="65265"/>
          </a:xfrm>
          <a:prstGeom prst="rect">
            <a:avLst/>
          </a:prstGeom>
        </p:spPr>
      </p:pic>
      <p:pic>
        <p:nvPicPr>
          <p:cNvPr id="8" name="object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81089" y="2392451"/>
            <a:ext cx="65265" cy="65265"/>
          </a:xfrm>
          <a:prstGeom prst="rect">
            <a:avLst/>
          </a:prstGeom>
        </p:spPr>
      </p:pic>
      <p:pic>
        <p:nvPicPr>
          <p:cNvPr id="9" name="object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281089" y="2678404"/>
            <a:ext cx="65265" cy="65265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339432" y="648994"/>
            <a:ext cx="4154170" cy="231013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76200">
              <a:lnSpc>
                <a:spcPct val="100000"/>
              </a:lnSpc>
              <a:spcBef>
                <a:spcPts val="90"/>
              </a:spcBef>
            </a:pPr>
            <a:r>
              <a:rPr sz="1100" spc="55" dirty="0">
                <a:latin typeface="Tahoma"/>
                <a:cs typeface="Tahoma"/>
              </a:rPr>
              <a:t>A</a:t>
            </a:r>
            <a:r>
              <a:rPr sz="1100" spc="-90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sequence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an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u="sng" spc="-65" dirty="0">
                <a:uFill>
                  <a:solidFill>
                    <a:srgbClr val="000000"/>
                  </a:solidFill>
                </a:uFill>
                <a:latin typeface="Tahoma"/>
                <a:cs typeface="Tahoma"/>
              </a:rPr>
              <a:t>ordered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list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numbers:</a:t>
            </a:r>
            <a:r>
              <a:rPr sz="1100" spc="100" dirty="0">
                <a:latin typeface="Tahoma"/>
                <a:cs typeface="Tahoma"/>
              </a:rPr>
              <a:t> </a:t>
            </a:r>
            <a:r>
              <a:rPr sz="1100" spc="-10" dirty="0">
                <a:latin typeface="Cambria"/>
                <a:cs typeface="Cambria"/>
              </a:rPr>
              <a:t>⟨</a:t>
            </a:r>
            <a:r>
              <a:rPr sz="1100" i="1" spc="-10" dirty="0">
                <a:latin typeface="Arial"/>
                <a:cs typeface="Arial"/>
              </a:rPr>
              <a:t>a</a:t>
            </a:r>
            <a:r>
              <a:rPr sz="1200" spc="-15" baseline="-10416" dirty="0">
                <a:latin typeface="Tahoma"/>
                <a:cs typeface="Tahoma"/>
              </a:rPr>
              <a:t>0</a:t>
            </a:r>
            <a:r>
              <a:rPr sz="1100" i="1" spc="-1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spc="-25" dirty="0">
                <a:latin typeface="Arial"/>
                <a:cs typeface="Arial"/>
              </a:rPr>
              <a:t>a</a:t>
            </a:r>
            <a:r>
              <a:rPr sz="1200" spc="-37" baseline="-10416" dirty="0">
                <a:latin typeface="Tahoma"/>
                <a:cs typeface="Tahoma"/>
              </a:rPr>
              <a:t>1</a:t>
            </a:r>
            <a:r>
              <a:rPr sz="1100" i="1" spc="-25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spc="-25" dirty="0">
                <a:latin typeface="Arial"/>
                <a:cs typeface="Arial"/>
              </a:rPr>
              <a:t>a</a:t>
            </a:r>
            <a:r>
              <a:rPr sz="1200" spc="-37" baseline="-10416" dirty="0">
                <a:latin typeface="Tahoma"/>
                <a:cs typeface="Tahoma"/>
              </a:rPr>
              <a:t>2</a:t>
            </a:r>
            <a:r>
              <a:rPr sz="1100" i="1" spc="-25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spc="-25" dirty="0">
                <a:latin typeface="Arial"/>
                <a:cs typeface="Arial"/>
              </a:rPr>
              <a:t>a</a:t>
            </a:r>
            <a:r>
              <a:rPr sz="1200" spc="-37" baseline="-10416" dirty="0">
                <a:latin typeface="Tahoma"/>
                <a:cs typeface="Tahoma"/>
              </a:rPr>
              <a:t>3</a:t>
            </a:r>
            <a:r>
              <a:rPr sz="1100" i="1" spc="-25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spc="-25" dirty="0">
                <a:latin typeface="Arial"/>
                <a:cs typeface="Arial"/>
              </a:rPr>
              <a:t>.</a:t>
            </a:r>
            <a:r>
              <a:rPr sz="1100" spc="-25" dirty="0">
                <a:latin typeface="Cambria"/>
                <a:cs typeface="Cambria"/>
              </a:rPr>
              <a:t>⟩</a:t>
            </a:r>
            <a:r>
              <a:rPr sz="1100" spc="-25" dirty="0">
                <a:latin typeface="Tahoma"/>
                <a:cs typeface="Tahoma"/>
              </a:rPr>
              <a:t>.</a:t>
            </a:r>
            <a:endParaRPr sz="1100" dirty="0">
              <a:latin typeface="Tahoma"/>
              <a:cs typeface="Tahoma"/>
            </a:endParaRPr>
          </a:p>
          <a:p>
            <a:pPr marL="76200" marR="68580">
              <a:lnSpc>
                <a:spcPct val="102699"/>
              </a:lnSpc>
              <a:spcBef>
                <a:spcPts val="894"/>
              </a:spcBef>
            </a:pPr>
            <a:r>
              <a:rPr sz="1100" spc="55" dirty="0">
                <a:latin typeface="Tahoma"/>
                <a:cs typeface="Tahoma"/>
              </a:rPr>
              <a:t>A</a:t>
            </a:r>
            <a:r>
              <a:rPr sz="1100" spc="-65" dirty="0">
                <a:latin typeface="Tahoma"/>
                <a:cs typeface="Tahoma"/>
              </a:rPr>
              <a:t> sequence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type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function.</a:t>
            </a:r>
            <a:r>
              <a:rPr sz="1100" spc="6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The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sequence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(</a:t>
            </a:r>
            <a:r>
              <a:rPr sz="1100" i="1" dirty="0">
                <a:latin typeface="Arial"/>
                <a:cs typeface="Arial"/>
              </a:rPr>
              <a:t>a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100" dirty="0">
                <a:latin typeface="Tahoma"/>
                <a:cs typeface="Tahoma"/>
              </a:rPr>
              <a:t>)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200" baseline="-10416" dirty="0">
                <a:latin typeface="Lucida Sans Unicode"/>
                <a:cs typeface="Lucida Sans Unicode"/>
              </a:rPr>
              <a:t>≥</a:t>
            </a:r>
            <a:r>
              <a:rPr sz="1200" baseline="-10416" dirty="0">
                <a:latin typeface="Tahoma"/>
                <a:cs typeface="Tahoma"/>
              </a:rPr>
              <a:t>0</a:t>
            </a:r>
            <a:r>
              <a:rPr sz="1200" spc="150" baseline="-10416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function </a:t>
            </a:r>
            <a:r>
              <a:rPr sz="1100" dirty="0">
                <a:latin typeface="Tahoma"/>
                <a:cs typeface="Tahoma"/>
              </a:rPr>
              <a:t>with</a:t>
            </a:r>
            <a:r>
              <a:rPr sz="1100" spc="-7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domain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dirty="0">
                <a:latin typeface="Times New Roman"/>
                <a:cs typeface="Times New Roman"/>
              </a:rPr>
              <a:t>N</a:t>
            </a:r>
            <a:r>
              <a:rPr sz="1100" spc="20" dirty="0">
                <a:latin typeface="Times New Roman"/>
                <a:cs typeface="Times New Roman"/>
              </a:rPr>
              <a:t> </a:t>
            </a:r>
            <a:r>
              <a:rPr sz="1100" spc="-60" dirty="0">
                <a:latin typeface="Tahoma"/>
                <a:cs typeface="Tahoma"/>
              </a:rPr>
              <a:t>where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a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200" i="1" spc="232" baseline="-10416" dirty="0">
                <a:latin typeface="Constantia"/>
                <a:cs typeface="Constanti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image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natural</a:t>
            </a:r>
            <a:r>
              <a:rPr sz="1100" spc="-45" dirty="0">
                <a:latin typeface="Tahoma"/>
                <a:cs typeface="Tahoma"/>
              </a:rPr>
              <a:t> number </a:t>
            </a:r>
            <a:r>
              <a:rPr sz="1100" i="1" spc="-25" dirty="0">
                <a:latin typeface="Arial"/>
                <a:cs typeface="Arial"/>
              </a:rPr>
              <a:t>n</a:t>
            </a:r>
            <a:r>
              <a:rPr sz="1100" spc="-25" dirty="0">
                <a:latin typeface="Tahoma"/>
                <a:cs typeface="Tahoma"/>
              </a:rPr>
              <a:t>.</a:t>
            </a:r>
            <a:endParaRPr sz="1100" dirty="0">
              <a:latin typeface="Tahoma"/>
              <a:cs typeface="Tahoma"/>
            </a:endParaRPr>
          </a:p>
          <a:p>
            <a:pPr marL="76200" marR="169545">
              <a:lnSpc>
                <a:spcPct val="102600"/>
              </a:lnSpc>
              <a:spcBef>
                <a:spcPts val="894"/>
              </a:spcBef>
            </a:pPr>
            <a:r>
              <a:rPr sz="1100" spc="55" dirty="0">
                <a:latin typeface="Tahoma"/>
                <a:cs typeface="Tahoma"/>
              </a:rPr>
              <a:t>A</a:t>
            </a:r>
            <a:r>
              <a:rPr sz="1100" spc="-65" dirty="0">
                <a:latin typeface="Tahoma"/>
                <a:cs typeface="Tahoma"/>
              </a:rPr>
              <a:t> </a:t>
            </a:r>
            <a:r>
              <a:rPr sz="1100" u="sng" spc="-40" dirty="0">
                <a:uFill>
                  <a:solidFill>
                    <a:srgbClr val="000000"/>
                  </a:solidFill>
                </a:uFill>
                <a:latin typeface="Tahoma"/>
                <a:cs typeface="Tahoma"/>
              </a:rPr>
              <a:t>closed </a:t>
            </a:r>
            <a:r>
              <a:rPr sz="1100" u="sng" spc="-35" dirty="0">
                <a:uFill>
                  <a:solidFill>
                    <a:srgbClr val="000000"/>
                  </a:solidFill>
                </a:uFill>
                <a:latin typeface="Tahoma"/>
                <a:cs typeface="Tahoma"/>
              </a:rPr>
              <a:t>formula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for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sequence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(</a:t>
            </a:r>
            <a:r>
              <a:rPr sz="1100" i="1" dirty="0">
                <a:latin typeface="Arial"/>
                <a:cs typeface="Arial"/>
              </a:rPr>
              <a:t>a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100" dirty="0">
                <a:latin typeface="Tahoma"/>
                <a:cs typeface="Tahoma"/>
              </a:rPr>
              <a:t>)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200" baseline="-10416" dirty="0">
                <a:latin typeface="Lucida Sans Unicode"/>
                <a:cs typeface="Lucida Sans Unicode"/>
              </a:rPr>
              <a:t>∈</a:t>
            </a:r>
            <a:r>
              <a:rPr sz="1200" baseline="-10416" dirty="0">
                <a:latin typeface="Times New Roman"/>
                <a:cs typeface="Times New Roman"/>
              </a:rPr>
              <a:t>N</a:t>
            </a:r>
            <a:r>
              <a:rPr sz="1200" spc="209" baseline="-10416" dirty="0">
                <a:latin typeface="Times New Roman"/>
                <a:cs typeface="Times New Roman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formula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for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a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200" i="1" spc="240" baseline="-10416" dirty="0">
                <a:latin typeface="Constantia"/>
                <a:cs typeface="Constantia"/>
              </a:rPr>
              <a:t> </a:t>
            </a:r>
            <a:r>
              <a:rPr sz="1100" spc="-35" dirty="0">
                <a:latin typeface="Tahoma"/>
                <a:cs typeface="Tahoma"/>
              </a:rPr>
              <a:t>using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a </a:t>
            </a:r>
            <a:r>
              <a:rPr sz="1100" spc="-30" dirty="0">
                <a:latin typeface="Tahoma"/>
                <a:cs typeface="Tahoma"/>
              </a:rPr>
              <a:t>fixed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finite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number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35" dirty="0">
                <a:latin typeface="Tahoma"/>
                <a:cs typeface="Tahoma"/>
              </a:rPr>
              <a:t> operations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on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i="1" spc="-25" dirty="0">
                <a:latin typeface="Arial"/>
                <a:cs typeface="Arial"/>
              </a:rPr>
              <a:t>n</a:t>
            </a:r>
            <a:r>
              <a:rPr sz="1100" spc="-25" dirty="0">
                <a:latin typeface="Tahoma"/>
                <a:cs typeface="Tahoma"/>
              </a:rPr>
              <a:t>.</a:t>
            </a:r>
            <a:endParaRPr sz="1100" dirty="0">
              <a:latin typeface="Tahoma"/>
              <a:cs typeface="Tahoma"/>
            </a:endParaRPr>
          </a:p>
          <a:p>
            <a:pPr marL="76200" marR="74295">
              <a:lnSpc>
                <a:spcPct val="102600"/>
              </a:lnSpc>
              <a:spcBef>
                <a:spcPts val="900"/>
              </a:spcBef>
            </a:pPr>
            <a:r>
              <a:rPr sz="1100" spc="55" dirty="0">
                <a:latin typeface="Tahoma"/>
                <a:cs typeface="Tahoma"/>
              </a:rPr>
              <a:t>A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recursive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definition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(or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inductive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definition)</a:t>
            </a:r>
            <a:r>
              <a:rPr sz="1100" spc="-20" dirty="0">
                <a:latin typeface="Tahoma"/>
                <a:cs typeface="Tahoma"/>
              </a:rPr>
              <a:t> for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sequence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(</a:t>
            </a:r>
            <a:r>
              <a:rPr sz="1100" i="1" spc="-10" dirty="0">
                <a:latin typeface="Arial"/>
                <a:cs typeface="Arial"/>
              </a:rPr>
              <a:t>a</a:t>
            </a:r>
            <a:r>
              <a:rPr sz="1200" i="1" spc="-15" baseline="-10416" dirty="0">
                <a:latin typeface="Constantia"/>
                <a:cs typeface="Constantia"/>
              </a:rPr>
              <a:t>n</a:t>
            </a:r>
            <a:r>
              <a:rPr sz="1100" spc="-10" dirty="0">
                <a:latin typeface="Tahoma"/>
                <a:cs typeface="Tahoma"/>
              </a:rPr>
              <a:t>)</a:t>
            </a:r>
            <a:r>
              <a:rPr sz="1200" i="1" spc="-15" baseline="-10416" dirty="0">
                <a:latin typeface="Constantia"/>
                <a:cs typeface="Constantia"/>
              </a:rPr>
              <a:t>n</a:t>
            </a:r>
            <a:r>
              <a:rPr sz="1200" spc="-15" baseline="-10416" dirty="0">
                <a:latin typeface="Lucida Sans Unicode"/>
                <a:cs typeface="Lucida Sans Unicode"/>
              </a:rPr>
              <a:t>∈</a:t>
            </a:r>
            <a:r>
              <a:rPr sz="1200" spc="-15" baseline="-10416" dirty="0">
                <a:latin typeface="Times New Roman"/>
                <a:cs typeface="Times New Roman"/>
              </a:rPr>
              <a:t>N</a:t>
            </a:r>
            <a:r>
              <a:rPr sz="1200" spc="750" baseline="-10416" dirty="0">
                <a:latin typeface="Times New Roman"/>
                <a:cs typeface="Times New Roman"/>
              </a:rPr>
              <a:t> </a:t>
            </a:r>
            <a:r>
              <a:rPr sz="1100" spc="-35" dirty="0">
                <a:latin typeface="Tahoma"/>
                <a:cs typeface="Tahoma"/>
              </a:rPr>
              <a:t>consists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recurrence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relation</a:t>
            </a:r>
            <a:r>
              <a:rPr sz="1100" spc="-35" dirty="0">
                <a:latin typeface="Tahoma"/>
                <a:cs typeface="Tahoma"/>
              </a:rPr>
              <a:t> and </a:t>
            </a:r>
            <a:r>
              <a:rPr sz="1100" dirty="0">
                <a:latin typeface="Tahoma"/>
                <a:cs typeface="Tahoma"/>
              </a:rPr>
              <a:t>an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initial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condition.</a:t>
            </a:r>
            <a:endParaRPr sz="1100" dirty="0">
              <a:latin typeface="Tahoma"/>
              <a:cs typeface="Tahoma"/>
            </a:endParaRPr>
          </a:p>
          <a:p>
            <a:pPr marL="76200" marR="1322070">
              <a:lnSpc>
                <a:spcPct val="170600"/>
              </a:lnSpc>
            </a:pPr>
            <a:r>
              <a:rPr sz="1100" dirty="0">
                <a:latin typeface="Tahoma"/>
                <a:cs typeface="Tahoma"/>
              </a:rPr>
              <a:t>An</a:t>
            </a:r>
            <a:r>
              <a:rPr sz="1100" spc="-6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example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closed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formula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is:</a:t>
            </a:r>
            <a:r>
              <a:rPr sz="1100" spc="75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a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200" i="1" spc="187" baseline="-10416" dirty="0">
                <a:latin typeface="Constantia"/>
                <a:cs typeface="Constantia"/>
              </a:rPr>
              <a:t> </a:t>
            </a:r>
            <a:r>
              <a:rPr sz="1100" dirty="0">
                <a:latin typeface="Tahoma"/>
                <a:cs typeface="Tahoma"/>
              </a:rPr>
              <a:t>=</a:t>
            </a:r>
            <a:r>
              <a:rPr sz="1100" spc="-85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n</a:t>
            </a:r>
            <a:r>
              <a:rPr sz="1200" baseline="27777" dirty="0">
                <a:latin typeface="Tahoma"/>
                <a:cs typeface="Tahoma"/>
              </a:rPr>
              <a:t>2</a:t>
            </a:r>
            <a:r>
              <a:rPr sz="1200" spc="7" baseline="27777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+</a:t>
            </a:r>
            <a:r>
              <a:rPr sz="1100" spc="-10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3 </a:t>
            </a:r>
            <a:r>
              <a:rPr sz="1100" dirty="0">
                <a:latin typeface="Tahoma"/>
                <a:cs typeface="Tahoma"/>
              </a:rPr>
              <a:t>An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example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recursive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definition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is:</a:t>
            </a:r>
            <a:endParaRPr sz="1100" dirty="0">
              <a:latin typeface="Tahoma"/>
              <a:cs typeface="Tahoma"/>
            </a:endParaRPr>
          </a:p>
          <a:p>
            <a:pPr marL="76200">
              <a:lnSpc>
                <a:spcPct val="100000"/>
              </a:lnSpc>
              <a:spcBef>
                <a:spcPts val="35"/>
              </a:spcBef>
            </a:pPr>
            <a:r>
              <a:rPr sz="1100" i="1" dirty="0">
                <a:latin typeface="Arial"/>
                <a:cs typeface="Arial"/>
              </a:rPr>
              <a:t>a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200" i="1" spc="165" baseline="-10416" dirty="0">
                <a:latin typeface="Constantia"/>
                <a:cs typeface="Constantia"/>
              </a:rPr>
              <a:t> </a:t>
            </a:r>
            <a:r>
              <a:rPr sz="1100" dirty="0">
                <a:latin typeface="Tahoma"/>
                <a:cs typeface="Tahoma"/>
              </a:rPr>
              <a:t>=</a:t>
            </a:r>
            <a:r>
              <a:rPr sz="1100" spc="-8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2</a:t>
            </a:r>
            <a:r>
              <a:rPr sz="1100" i="1" spc="-10" dirty="0">
                <a:latin typeface="Arial"/>
                <a:cs typeface="Arial"/>
              </a:rPr>
              <a:t>a</a:t>
            </a:r>
            <a:r>
              <a:rPr sz="1200" i="1" spc="-15" baseline="-10416" dirty="0">
                <a:latin typeface="Constantia"/>
                <a:cs typeface="Constantia"/>
              </a:rPr>
              <a:t>n</a:t>
            </a:r>
            <a:r>
              <a:rPr sz="1200" spc="-15" baseline="-10416" dirty="0">
                <a:latin typeface="Lucida Sans Unicode"/>
                <a:cs typeface="Lucida Sans Unicode"/>
              </a:rPr>
              <a:t>−</a:t>
            </a:r>
            <a:r>
              <a:rPr sz="1200" spc="-15" baseline="-10416" dirty="0">
                <a:latin typeface="Tahoma"/>
                <a:cs typeface="Tahoma"/>
              </a:rPr>
              <a:t>1</a:t>
            </a:r>
            <a:r>
              <a:rPr sz="1200" spc="142" baseline="-10416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with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a</a:t>
            </a:r>
            <a:r>
              <a:rPr sz="1200" baseline="-10416" dirty="0">
                <a:latin typeface="Tahoma"/>
                <a:cs typeface="Tahoma"/>
              </a:rPr>
              <a:t>0</a:t>
            </a:r>
            <a:r>
              <a:rPr sz="1200" spc="67" baseline="-10416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=</a:t>
            </a:r>
            <a:r>
              <a:rPr sz="1100" spc="-8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27</a:t>
            </a:r>
            <a:endParaRPr sz="1100" dirty="0">
              <a:latin typeface="Tahoma"/>
              <a:cs typeface="Tahoma"/>
            </a:endParaRPr>
          </a:p>
        </p:txBody>
      </p: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-12"/>
            <a:ext cx="4608195" cy="350520"/>
          </a:xfrm>
          <a:custGeom>
            <a:avLst/>
            <a:gdLst/>
            <a:ahLst/>
            <a:cxnLst/>
            <a:rect l="l" t="t" r="r" b="b"/>
            <a:pathLst>
              <a:path w="4608195" h="350520">
                <a:moveTo>
                  <a:pt x="4608004" y="0"/>
                </a:moveTo>
                <a:lnTo>
                  <a:pt x="0" y="0"/>
                </a:lnTo>
                <a:lnTo>
                  <a:pt x="0" y="350126"/>
                </a:lnTo>
                <a:lnTo>
                  <a:pt x="4608004" y="350126"/>
                </a:lnTo>
                <a:lnTo>
                  <a:pt x="4608004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0" dirty="0"/>
              <a:t>Known</a:t>
            </a:r>
            <a:r>
              <a:rPr spc="-85" dirty="0"/>
              <a:t> </a:t>
            </a:r>
            <a:r>
              <a:rPr spc="-70" dirty="0"/>
              <a:t>Sequences</a:t>
            </a:r>
          </a:p>
        </p:txBody>
      </p:sp>
      <p:pic>
        <p:nvPic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511568"/>
            <a:ext cx="65265" cy="65265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377532" y="428115"/>
            <a:ext cx="3803650" cy="108458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 marR="30480">
              <a:lnSpc>
                <a:spcPct val="102600"/>
              </a:lnSpc>
              <a:spcBef>
                <a:spcPts val="55"/>
              </a:spcBef>
            </a:pPr>
            <a:r>
              <a:rPr sz="1100" dirty="0">
                <a:latin typeface="Tahoma"/>
                <a:cs typeface="Tahoma"/>
              </a:rPr>
              <a:t>The</a:t>
            </a:r>
            <a:r>
              <a:rPr sz="1100" spc="-90" dirty="0">
                <a:latin typeface="Tahoma"/>
                <a:cs typeface="Tahoma"/>
              </a:rPr>
              <a:t> </a:t>
            </a:r>
            <a:r>
              <a:rPr sz="1100" b="1" spc="-30" dirty="0">
                <a:latin typeface="Trebuchet MS"/>
                <a:cs typeface="Trebuchet MS"/>
              </a:rPr>
              <a:t>square</a:t>
            </a:r>
            <a:r>
              <a:rPr sz="1100" b="1" spc="-35" dirty="0">
                <a:latin typeface="Trebuchet MS"/>
                <a:cs typeface="Trebuchet MS"/>
              </a:rPr>
              <a:t> </a:t>
            </a:r>
            <a:r>
              <a:rPr sz="1100" b="1" spc="-30" dirty="0">
                <a:latin typeface="Trebuchet MS"/>
                <a:cs typeface="Trebuchet MS"/>
              </a:rPr>
              <a:t>numbers</a:t>
            </a:r>
            <a:r>
              <a:rPr sz="1100" b="1" spc="-5" dirty="0">
                <a:latin typeface="Trebuchet MS"/>
                <a:cs typeface="Trebuchet MS"/>
              </a:rPr>
              <a:t> </a:t>
            </a:r>
            <a:r>
              <a:rPr sz="1100" spc="-65" dirty="0">
                <a:latin typeface="Tahoma"/>
                <a:cs typeface="Tahoma"/>
              </a:rPr>
              <a:t>sequence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1</a:t>
            </a:r>
            <a:r>
              <a:rPr sz="1100" i="1" spc="-3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30" dirty="0">
                <a:latin typeface="Tahoma"/>
                <a:cs typeface="Tahoma"/>
              </a:rPr>
              <a:t>4</a:t>
            </a:r>
            <a:r>
              <a:rPr sz="1100" i="1" spc="-3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30" dirty="0">
                <a:latin typeface="Tahoma"/>
                <a:cs typeface="Tahoma"/>
              </a:rPr>
              <a:t>9</a:t>
            </a:r>
            <a:r>
              <a:rPr sz="1100" i="1" spc="-3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16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25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20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;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this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sequence </a:t>
            </a:r>
            <a:r>
              <a:rPr sz="1100" dirty="0">
                <a:latin typeface="Tahoma"/>
                <a:cs typeface="Tahoma"/>
              </a:rPr>
              <a:t>(</a:t>
            </a:r>
            <a:r>
              <a:rPr sz="1100" i="1" dirty="0">
                <a:latin typeface="Arial"/>
                <a:cs typeface="Arial"/>
              </a:rPr>
              <a:t>s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100" dirty="0">
                <a:latin typeface="Tahoma"/>
                <a:cs typeface="Tahoma"/>
              </a:rPr>
              <a:t>)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200" baseline="-10416" dirty="0">
                <a:latin typeface="Lucida Sans Unicode"/>
                <a:cs typeface="Lucida Sans Unicode"/>
              </a:rPr>
              <a:t>≥</a:t>
            </a:r>
            <a:r>
              <a:rPr sz="1200" baseline="-10416" dirty="0">
                <a:latin typeface="Tahoma"/>
                <a:cs typeface="Tahoma"/>
              </a:rPr>
              <a:t>1</a:t>
            </a:r>
            <a:r>
              <a:rPr sz="1200" spc="120" baseline="-10416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has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closed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formula</a:t>
            </a:r>
            <a:endParaRPr sz="1100" dirty="0">
              <a:latin typeface="Tahoma"/>
              <a:cs typeface="Tahoma"/>
            </a:endParaRPr>
          </a:p>
          <a:p>
            <a:pPr marL="320040" algn="ctr">
              <a:lnSpc>
                <a:spcPct val="100000"/>
              </a:lnSpc>
              <a:spcBef>
                <a:spcPts val="840"/>
              </a:spcBef>
            </a:pPr>
            <a:r>
              <a:rPr sz="1100" i="1" spc="-20" dirty="0">
                <a:latin typeface="Arial"/>
                <a:cs typeface="Arial"/>
              </a:rPr>
              <a:t>s</a:t>
            </a:r>
            <a:r>
              <a:rPr sz="1200" i="1" spc="-30" baseline="-10416" dirty="0">
                <a:latin typeface="Constantia"/>
                <a:cs typeface="Constantia"/>
              </a:rPr>
              <a:t>n</a:t>
            </a:r>
            <a:r>
              <a:rPr sz="1200" i="1" spc="195" baseline="-10416" dirty="0">
                <a:latin typeface="Constantia"/>
                <a:cs typeface="Constantia"/>
              </a:rPr>
              <a:t> </a:t>
            </a:r>
            <a:r>
              <a:rPr sz="1100" dirty="0">
                <a:latin typeface="Tahoma"/>
                <a:cs typeface="Tahoma"/>
              </a:rPr>
              <a:t>=</a:t>
            </a:r>
            <a:r>
              <a:rPr sz="1100" spc="-75" dirty="0">
                <a:latin typeface="Tahoma"/>
                <a:cs typeface="Tahoma"/>
              </a:rPr>
              <a:t> </a:t>
            </a:r>
            <a:r>
              <a:rPr sz="1100" i="1" spc="-25" dirty="0">
                <a:latin typeface="Arial"/>
                <a:cs typeface="Arial"/>
              </a:rPr>
              <a:t>n</a:t>
            </a:r>
            <a:r>
              <a:rPr sz="1200" spc="-37" baseline="31250" dirty="0">
                <a:latin typeface="Tahoma"/>
                <a:cs typeface="Tahoma"/>
              </a:rPr>
              <a:t>2</a:t>
            </a:r>
            <a:endParaRPr sz="1200" baseline="31250" dirty="0">
              <a:latin typeface="Tahoma"/>
              <a:cs typeface="Tahoma"/>
            </a:endParaRPr>
          </a:p>
          <a:p>
            <a:pPr marL="38100" marR="238760">
              <a:lnSpc>
                <a:spcPct val="102699"/>
              </a:lnSpc>
              <a:spcBef>
                <a:spcPts val="805"/>
              </a:spcBef>
            </a:pPr>
            <a:r>
              <a:rPr sz="1100" dirty="0">
                <a:latin typeface="Tahoma"/>
                <a:cs typeface="Tahoma"/>
              </a:rPr>
              <a:t>The</a:t>
            </a:r>
            <a:r>
              <a:rPr sz="1100" spc="-90" dirty="0">
                <a:latin typeface="Tahoma"/>
                <a:cs typeface="Tahoma"/>
              </a:rPr>
              <a:t> </a:t>
            </a:r>
            <a:r>
              <a:rPr sz="1100" b="1" spc="-25" dirty="0">
                <a:latin typeface="Trebuchet MS"/>
                <a:cs typeface="Trebuchet MS"/>
              </a:rPr>
              <a:t>triangular</a:t>
            </a:r>
            <a:r>
              <a:rPr sz="1100" b="1" spc="-20" dirty="0">
                <a:latin typeface="Trebuchet MS"/>
                <a:cs typeface="Trebuchet MS"/>
              </a:rPr>
              <a:t> </a:t>
            </a:r>
            <a:r>
              <a:rPr sz="1100" b="1" spc="-30" dirty="0">
                <a:latin typeface="Trebuchet MS"/>
                <a:cs typeface="Trebuchet MS"/>
              </a:rPr>
              <a:t>numbers</a:t>
            </a:r>
            <a:r>
              <a:rPr sz="1100" b="1" dirty="0">
                <a:latin typeface="Trebuchet MS"/>
                <a:cs typeface="Trebuchet MS"/>
              </a:rPr>
              <a:t> </a:t>
            </a:r>
            <a:r>
              <a:rPr sz="1100" spc="-65" dirty="0">
                <a:latin typeface="Tahoma"/>
                <a:cs typeface="Tahoma"/>
              </a:rPr>
              <a:t>sequence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1</a:t>
            </a:r>
            <a:r>
              <a:rPr sz="1100" i="1" spc="-3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30" dirty="0">
                <a:latin typeface="Tahoma"/>
                <a:cs typeface="Tahoma"/>
              </a:rPr>
              <a:t>3</a:t>
            </a:r>
            <a:r>
              <a:rPr sz="1100" i="1" spc="-3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30" dirty="0">
                <a:latin typeface="Tahoma"/>
                <a:cs typeface="Tahoma"/>
              </a:rPr>
              <a:t>6</a:t>
            </a:r>
            <a:r>
              <a:rPr sz="1100" i="1" spc="-3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10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15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21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dirty="0">
                <a:latin typeface="Tahoma"/>
                <a:cs typeface="Tahoma"/>
              </a:rPr>
              <a:t>;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this </a:t>
            </a:r>
            <a:r>
              <a:rPr sz="1100" spc="-65" dirty="0">
                <a:latin typeface="Tahoma"/>
                <a:cs typeface="Tahoma"/>
              </a:rPr>
              <a:t>sequence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(</a:t>
            </a:r>
            <a:r>
              <a:rPr sz="1100" i="1" dirty="0">
                <a:latin typeface="Arial"/>
                <a:cs typeface="Arial"/>
              </a:rPr>
              <a:t>T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100" dirty="0">
                <a:latin typeface="Tahoma"/>
                <a:cs typeface="Tahoma"/>
              </a:rPr>
              <a:t>)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200" baseline="-10416" dirty="0">
                <a:latin typeface="Lucida Sans Unicode"/>
                <a:cs typeface="Lucida Sans Unicode"/>
              </a:rPr>
              <a:t>≥</a:t>
            </a:r>
            <a:r>
              <a:rPr sz="1200" baseline="-10416" dirty="0">
                <a:latin typeface="Tahoma"/>
                <a:cs typeface="Tahoma"/>
              </a:rPr>
              <a:t>1</a:t>
            </a:r>
            <a:r>
              <a:rPr sz="1200" spc="225" baseline="-10416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has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closed</a:t>
            </a:r>
            <a:r>
              <a:rPr sz="1100" spc="1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formula</a:t>
            </a:r>
            <a:endParaRPr sz="1100" dirty="0">
              <a:latin typeface="Tahoma"/>
              <a:cs typeface="Tahoma"/>
            </a:endParaRPr>
          </a:p>
        </p:txBody>
      </p:sp>
      <p:pic>
        <p:nvPic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1232090"/>
            <a:ext cx="65265" cy="65265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1970760" y="1671001"/>
            <a:ext cx="38036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latin typeface="Arial"/>
                <a:cs typeface="Arial"/>
              </a:rPr>
              <a:t>T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200" i="1" spc="322" baseline="-10416" dirty="0">
                <a:latin typeface="Constantia"/>
                <a:cs typeface="Constantia"/>
              </a:rPr>
              <a:t> </a:t>
            </a:r>
            <a:r>
              <a:rPr sz="1100" spc="-50" dirty="0">
                <a:latin typeface="Tahoma"/>
                <a:cs typeface="Tahoma"/>
              </a:rPr>
              <a:t>=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353894" y="1577275"/>
            <a:ext cx="52006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i="1" spc="-40" dirty="0">
                <a:latin typeface="Arial"/>
                <a:cs typeface="Arial"/>
              </a:rPr>
              <a:t>n</a:t>
            </a:r>
            <a:r>
              <a:rPr sz="1100" spc="-40" dirty="0">
                <a:latin typeface="Tahoma"/>
                <a:cs typeface="Tahoma"/>
              </a:rPr>
              <a:t>(</a:t>
            </a:r>
            <a:r>
              <a:rPr sz="1100" i="1" spc="-40" dirty="0">
                <a:latin typeface="Arial"/>
                <a:cs typeface="Arial"/>
              </a:rPr>
              <a:t>n</a:t>
            </a:r>
            <a:r>
              <a:rPr sz="1100" i="1" spc="-15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+</a:t>
            </a:r>
            <a:r>
              <a:rPr sz="1100" spc="-7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1)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9" name="object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366594" y="1787613"/>
            <a:ext cx="494665" cy="0"/>
          </a:xfrm>
          <a:custGeom>
            <a:avLst/>
            <a:gdLst/>
            <a:ahLst/>
            <a:cxnLst/>
            <a:rect l="l" t="t" r="r" b="b"/>
            <a:pathLst>
              <a:path w="494664">
                <a:moveTo>
                  <a:pt x="0" y="0"/>
                </a:moveTo>
                <a:lnTo>
                  <a:pt x="494449" y="0"/>
                </a:lnTo>
              </a:path>
            </a:pathLst>
          </a:custGeom>
          <a:ln w="553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2566492" y="1766048"/>
            <a:ext cx="9525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50" dirty="0">
                <a:latin typeface="Tahoma"/>
                <a:cs typeface="Tahoma"/>
              </a:rPr>
              <a:t>2</a:t>
            </a:r>
            <a:endParaRPr sz="1100">
              <a:latin typeface="Tahoma"/>
              <a:cs typeface="Tahoma"/>
            </a:endParaRPr>
          </a:p>
        </p:txBody>
      </p:sp>
      <p:pic>
        <p:nvPicPr>
          <p:cNvPr id="1026" name="Picture 2" descr="Triangular Numbers Sequence">
            <a:extLst>
              <a:ext uri="{FF2B5EF4-FFF2-40B4-BE49-F238E27FC236}">
                <a16:creationId xmlns:a16="http://schemas.microsoft.com/office/drawing/2014/main" id="{557948F5-05A6-F29C-193C-08AD55AA521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25"/>
          <a:stretch>
            <a:fillRect/>
          </a:stretch>
        </p:blipFill>
        <p:spPr bwMode="auto">
          <a:xfrm>
            <a:off x="2673628" y="2035175"/>
            <a:ext cx="1703883" cy="12797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quare Number: Some Tricks and Examples - Smartick">
            <a:extLst>
              <a:ext uri="{FF2B5EF4-FFF2-40B4-BE49-F238E27FC236}">
                <a16:creationId xmlns:a16="http://schemas.microsoft.com/office/drawing/2014/main" id="{4CF2BD38-8531-880A-64DF-A1DD5CAA7C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" y="2339975"/>
            <a:ext cx="2353893" cy="828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DE826-F324-4B21-4BBB-5DC758C98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786DF9B-DF4B-249C-6E21-FBD8120DC7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-12"/>
            <a:ext cx="4608195" cy="350520"/>
          </a:xfrm>
          <a:custGeom>
            <a:avLst/>
            <a:gdLst/>
            <a:ahLst/>
            <a:cxnLst/>
            <a:rect l="l" t="t" r="r" b="b"/>
            <a:pathLst>
              <a:path w="4608195" h="350520">
                <a:moveTo>
                  <a:pt x="4608004" y="0"/>
                </a:moveTo>
                <a:lnTo>
                  <a:pt x="0" y="0"/>
                </a:lnTo>
                <a:lnTo>
                  <a:pt x="0" y="350126"/>
                </a:lnTo>
                <a:lnTo>
                  <a:pt x="4608004" y="350126"/>
                </a:lnTo>
                <a:lnTo>
                  <a:pt x="4608004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>
            <a:extLst>
              <a:ext uri="{FF2B5EF4-FFF2-40B4-BE49-F238E27FC236}">
                <a16:creationId xmlns:a16="http://schemas.microsoft.com/office/drawing/2014/main" id="{A9FD6BC9-4C57-1595-19B0-504E36450C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0" dirty="0"/>
              <a:t>Known</a:t>
            </a:r>
            <a:r>
              <a:rPr spc="-85" dirty="0"/>
              <a:t> </a:t>
            </a:r>
            <a:r>
              <a:rPr spc="-70" dirty="0"/>
              <a:t>Sequences</a:t>
            </a:r>
          </a:p>
        </p:txBody>
      </p:sp>
      <p:pic>
        <p:nvPicPr>
          <p:cNvPr id="11" name="object 11">
            <a:extLst>
              <a:ext uri="{FF2B5EF4-FFF2-40B4-BE49-F238E27FC236}">
                <a16:creationId xmlns:a16="http://schemas.microsoft.com/office/drawing/2014/main" id="{290F42BD-7E5D-0FE1-104D-60F8FA28B3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7407" y="594628"/>
            <a:ext cx="65265" cy="65265"/>
          </a:xfrm>
          <a:prstGeom prst="rect">
            <a:avLst/>
          </a:prstGeom>
        </p:spPr>
      </p:pic>
      <p:sp>
        <p:nvSpPr>
          <p:cNvPr id="12" name="object 12">
            <a:extLst>
              <a:ext uri="{FF2B5EF4-FFF2-40B4-BE49-F238E27FC236}">
                <a16:creationId xmlns:a16="http://schemas.microsoft.com/office/drawing/2014/main" id="{B03E6D3B-7AD6-372E-4E06-F3791011B438}"/>
              </a:ext>
            </a:extLst>
          </p:cNvPr>
          <p:cNvSpPr txBox="1"/>
          <p:nvPr/>
        </p:nvSpPr>
        <p:spPr>
          <a:xfrm>
            <a:off x="323850" y="511175"/>
            <a:ext cx="4107815" cy="944244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 marR="30480">
              <a:lnSpc>
                <a:spcPct val="102600"/>
              </a:lnSpc>
              <a:spcBef>
                <a:spcPts val="55"/>
              </a:spcBef>
            </a:pPr>
            <a:r>
              <a:rPr sz="1100" dirty="0">
                <a:latin typeface="Tahoma"/>
                <a:cs typeface="Tahoma"/>
              </a:rPr>
              <a:t>The</a:t>
            </a:r>
            <a:r>
              <a:rPr sz="1100" spc="-90" dirty="0">
                <a:latin typeface="Tahoma"/>
                <a:cs typeface="Tahoma"/>
              </a:rPr>
              <a:t> </a:t>
            </a:r>
            <a:r>
              <a:rPr sz="1100" b="1" spc="-35" dirty="0">
                <a:latin typeface="Trebuchet MS"/>
                <a:cs typeface="Trebuchet MS"/>
              </a:rPr>
              <a:t>powers</a:t>
            </a:r>
            <a:r>
              <a:rPr sz="1100" b="1" spc="-45" dirty="0">
                <a:latin typeface="Trebuchet MS"/>
                <a:cs typeface="Trebuchet MS"/>
              </a:rPr>
              <a:t> </a:t>
            </a:r>
            <a:r>
              <a:rPr sz="1100" b="1" dirty="0">
                <a:latin typeface="Trebuchet MS"/>
                <a:cs typeface="Trebuchet MS"/>
              </a:rPr>
              <a:t>of</a:t>
            </a:r>
            <a:r>
              <a:rPr sz="1100" b="1" spc="25" dirty="0">
                <a:latin typeface="Trebuchet MS"/>
                <a:cs typeface="Trebuchet MS"/>
              </a:rPr>
              <a:t> </a:t>
            </a:r>
            <a:r>
              <a:rPr sz="1100" b="1" dirty="0">
                <a:latin typeface="Trebuchet MS"/>
                <a:cs typeface="Trebuchet MS"/>
              </a:rPr>
              <a:t>2</a:t>
            </a:r>
            <a:r>
              <a:rPr sz="1100" b="1" spc="-10" dirty="0">
                <a:latin typeface="Trebuchet MS"/>
                <a:cs typeface="Trebuchet MS"/>
              </a:rPr>
              <a:t> </a:t>
            </a:r>
            <a:r>
              <a:rPr sz="1100" spc="-65" dirty="0">
                <a:latin typeface="Tahoma"/>
                <a:cs typeface="Tahoma"/>
              </a:rPr>
              <a:t>sequence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1</a:t>
            </a:r>
            <a:r>
              <a:rPr sz="1100" i="1" spc="-3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2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4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8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16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32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dirty="0">
                <a:latin typeface="Tahoma"/>
                <a:cs typeface="Tahoma"/>
              </a:rPr>
              <a:t>;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this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sequence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(</a:t>
            </a:r>
            <a:r>
              <a:rPr sz="1100" i="1" spc="-10" dirty="0">
                <a:latin typeface="Arial"/>
                <a:cs typeface="Arial"/>
              </a:rPr>
              <a:t>a</a:t>
            </a:r>
            <a:r>
              <a:rPr sz="1200" i="1" spc="-15" baseline="-10416" dirty="0">
                <a:latin typeface="Constantia"/>
                <a:cs typeface="Constantia"/>
              </a:rPr>
              <a:t>n</a:t>
            </a:r>
            <a:r>
              <a:rPr sz="1100" spc="-10" dirty="0">
                <a:latin typeface="Tahoma"/>
                <a:cs typeface="Tahoma"/>
              </a:rPr>
              <a:t>)</a:t>
            </a:r>
            <a:r>
              <a:rPr sz="1200" i="1" spc="-15" baseline="-10416" dirty="0">
                <a:latin typeface="Constantia"/>
                <a:cs typeface="Constantia"/>
              </a:rPr>
              <a:t>n</a:t>
            </a:r>
            <a:r>
              <a:rPr sz="1200" spc="-15" baseline="-10416" dirty="0">
                <a:latin typeface="Lucida Sans Unicode"/>
                <a:cs typeface="Lucida Sans Unicode"/>
              </a:rPr>
              <a:t>≥</a:t>
            </a:r>
            <a:r>
              <a:rPr sz="1200" spc="-15" baseline="-10416" dirty="0">
                <a:latin typeface="Tahoma"/>
                <a:cs typeface="Tahoma"/>
              </a:rPr>
              <a:t>0 </a:t>
            </a:r>
            <a:r>
              <a:rPr sz="1100" spc="-45" dirty="0">
                <a:latin typeface="Tahoma"/>
                <a:cs typeface="Tahoma"/>
              </a:rPr>
              <a:t>has </a:t>
            </a:r>
            <a:r>
              <a:rPr sz="1100" spc="-40" dirty="0">
                <a:latin typeface="Tahoma"/>
                <a:cs typeface="Tahoma"/>
              </a:rPr>
              <a:t>closed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formula</a:t>
            </a:r>
            <a:endParaRPr sz="1100" dirty="0">
              <a:latin typeface="Tahoma"/>
              <a:cs typeface="Tahoma"/>
            </a:endParaRPr>
          </a:p>
          <a:p>
            <a:pPr marL="14604" algn="ctr">
              <a:lnSpc>
                <a:spcPct val="100000"/>
              </a:lnSpc>
              <a:spcBef>
                <a:spcPts val="35"/>
              </a:spcBef>
            </a:pPr>
            <a:r>
              <a:rPr sz="1100" i="1" dirty="0">
                <a:latin typeface="Arial"/>
                <a:cs typeface="Arial"/>
              </a:rPr>
              <a:t>a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200" i="1" spc="202" baseline="-10416" dirty="0">
                <a:latin typeface="Constantia"/>
                <a:cs typeface="Constantia"/>
              </a:rPr>
              <a:t> </a:t>
            </a:r>
            <a:r>
              <a:rPr sz="1100" dirty="0">
                <a:latin typeface="Tahoma"/>
                <a:cs typeface="Tahoma"/>
              </a:rPr>
              <a:t>=</a:t>
            </a:r>
            <a:r>
              <a:rPr sz="1100" spc="-7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2</a:t>
            </a:r>
            <a:r>
              <a:rPr sz="1200" i="1" spc="-37" baseline="31250" dirty="0">
                <a:latin typeface="Constantia"/>
                <a:cs typeface="Constantia"/>
              </a:rPr>
              <a:t>n</a:t>
            </a:r>
            <a:endParaRPr sz="1200" baseline="31250" dirty="0">
              <a:latin typeface="Constantia"/>
              <a:cs typeface="Constantia"/>
            </a:endParaRPr>
          </a:p>
          <a:p>
            <a:pPr marL="38100" marR="254635">
              <a:lnSpc>
                <a:spcPct val="102600"/>
              </a:lnSpc>
              <a:spcBef>
                <a:spcPts val="500"/>
              </a:spcBef>
            </a:pPr>
            <a:r>
              <a:rPr sz="1100" dirty="0">
                <a:latin typeface="Tahoma"/>
                <a:cs typeface="Tahoma"/>
              </a:rPr>
              <a:t>The</a:t>
            </a:r>
            <a:r>
              <a:rPr sz="1100" spc="-90" dirty="0">
                <a:latin typeface="Tahoma"/>
                <a:cs typeface="Tahoma"/>
              </a:rPr>
              <a:t> </a:t>
            </a:r>
            <a:r>
              <a:rPr sz="1100" b="1" spc="-10" dirty="0">
                <a:latin typeface="Trebuchet MS"/>
                <a:cs typeface="Trebuchet MS"/>
              </a:rPr>
              <a:t>Fibonacci</a:t>
            </a:r>
            <a:r>
              <a:rPr sz="1100" b="1" spc="30" dirty="0">
                <a:latin typeface="Trebuchet MS"/>
                <a:cs typeface="Trebuchet MS"/>
              </a:rPr>
              <a:t> </a:t>
            </a:r>
            <a:r>
              <a:rPr sz="1100" b="1" spc="-30" dirty="0">
                <a:latin typeface="Trebuchet MS"/>
                <a:cs typeface="Trebuchet MS"/>
              </a:rPr>
              <a:t>numbers</a:t>
            </a:r>
            <a:r>
              <a:rPr sz="1100" b="1" spc="5" dirty="0">
                <a:latin typeface="Trebuchet MS"/>
                <a:cs typeface="Trebuchet MS"/>
              </a:rPr>
              <a:t> </a:t>
            </a:r>
            <a:r>
              <a:rPr sz="1100" spc="-65" dirty="0">
                <a:latin typeface="Tahoma"/>
                <a:cs typeface="Tahoma"/>
              </a:rPr>
              <a:t>sequence</a:t>
            </a:r>
            <a:r>
              <a:rPr sz="110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1</a:t>
            </a:r>
            <a:r>
              <a:rPr sz="1100" i="1" spc="-3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1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2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3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5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8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13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35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defined </a:t>
            </a:r>
            <a:r>
              <a:rPr sz="1100" spc="-40" dirty="0">
                <a:latin typeface="Tahoma"/>
                <a:cs typeface="Tahoma"/>
              </a:rPr>
              <a:t>recursively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by</a:t>
            </a:r>
            <a:endParaRPr sz="1100" dirty="0">
              <a:latin typeface="Tahoma"/>
              <a:cs typeface="Tahoma"/>
            </a:endParaRPr>
          </a:p>
        </p:txBody>
      </p:sp>
      <p:pic>
        <p:nvPicPr>
          <p:cNvPr id="13" name="object 13">
            <a:extLst>
              <a:ext uri="{FF2B5EF4-FFF2-40B4-BE49-F238E27FC236}">
                <a16:creationId xmlns:a16="http://schemas.microsoft.com/office/drawing/2014/main" id="{ED210710-4992-D392-49B2-36DDA3A9F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27407" y="1174574"/>
            <a:ext cx="65265" cy="65265"/>
          </a:xfrm>
          <a:prstGeom prst="rect">
            <a:avLst/>
          </a:prstGeom>
        </p:spPr>
      </p:pic>
      <p:sp>
        <p:nvSpPr>
          <p:cNvPr id="14" name="object 14">
            <a:extLst>
              <a:ext uri="{FF2B5EF4-FFF2-40B4-BE49-F238E27FC236}">
                <a16:creationId xmlns:a16="http://schemas.microsoft.com/office/drawing/2014/main" id="{21C72833-9AFD-598C-288F-EB97C589CD3C}"/>
              </a:ext>
            </a:extLst>
          </p:cNvPr>
          <p:cNvSpPr txBox="1"/>
          <p:nvPr/>
        </p:nvSpPr>
        <p:spPr>
          <a:xfrm>
            <a:off x="1237234" y="1558214"/>
            <a:ext cx="112649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1650" i="1" baseline="7575" dirty="0">
                <a:latin typeface="Arial"/>
                <a:cs typeface="Arial"/>
              </a:rPr>
              <a:t>F</a:t>
            </a:r>
            <a:r>
              <a:rPr sz="800" i="1" dirty="0">
                <a:latin typeface="Constantia"/>
                <a:cs typeface="Constantia"/>
              </a:rPr>
              <a:t>n</a:t>
            </a:r>
            <a:r>
              <a:rPr sz="800" i="1" spc="140" dirty="0">
                <a:latin typeface="Constantia"/>
                <a:cs typeface="Constantia"/>
              </a:rPr>
              <a:t> </a:t>
            </a:r>
            <a:r>
              <a:rPr sz="1650" baseline="7575" dirty="0">
                <a:latin typeface="Tahoma"/>
                <a:cs typeface="Tahoma"/>
              </a:rPr>
              <a:t>=</a:t>
            </a:r>
            <a:r>
              <a:rPr sz="1650" spc="-82" baseline="7575" dirty="0">
                <a:latin typeface="Tahoma"/>
                <a:cs typeface="Tahoma"/>
              </a:rPr>
              <a:t> </a:t>
            </a:r>
            <a:r>
              <a:rPr sz="1650" i="1" baseline="7575" dirty="0">
                <a:latin typeface="Arial"/>
                <a:cs typeface="Arial"/>
              </a:rPr>
              <a:t>F</a:t>
            </a:r>
            <a:r>
              <a:rPr sz="800" i="1" dirty="0">
                <a:latin typeface="Constantia"/>
                <a:cs typeface="Constantia"/>
              </a:rPr>
              <a:t>n</a:t>
            </a:r>
            <a:r>
              <a:rPr sz="800" dirty="0">
                <a:latin typeface="Lucida Sans Unicode"/>
                <a:cs typeface="Lucida Sans Unicode"/>
              </a:rPr>
              <a:t>−</a:t>
            </a:r>
            <a:r>
              <a:rPr sz="800" dirty="0">
                <a:latin typeface="Tahoma"/>
                <a:cs typeface="Tahoma"/>
              </a:rPr>
              <a:t>1</a:t>
            </a:r>
            <a:r>
              <a:rPr sz="800" spc="25" dirty="0">
                <a:latin typeface="Tahoma"/>
                <a:cs typeface="Tahoma"/>
              </a:rPr>
              <a:t> </a:t>
            </a:r>
            <a:r>
              <a:rPr sz="1650" baseline="7575" dirty="0">
                <a:latin typeface="Tahoma"/>
                <a:cs typeface="Tahoma"/>
              </a:rPr>
              <a:t>+</a:t>
            </a:r>
            <a:r>
              <a:rPr sz="1650" spc="-157" baseline="7575" dirty="0">
                <a:latin typeface="Tahoma"/>
                <a:cs typeface="Tahoma"/>
              </a:rPr>
              <a:t> </a:t>
            </a:r>
            <a:r>
              <a:rPr sz="1650" i="1" spc="-30" baseline="7575" dirty="0">
                <a:latin typeface="Arial"/>
                <a:cs typeface="Arial"/>
              </a:rPr>
              <a:t>F</a:t>
            </a:r>
            <a:r>
              <a:rPr sz="800" i="1" spc="-20" dirty="0">
                <a:latin typeface="Constantia"/>
                <a:cs typeface="Constantia"/>
              </a:rPr>
              <a:t>n</a:t>
            </a:r>
            <a:r>
              <a:rPr sz="800" spc="-20" dirty="0">
                <a:latin typeface="Lucida Sans Unicode"/>
                <a:cs typeface="Lucida Sans Unicode"/>
              </a:rPr>
              <a:t>−</a:t>
            </a:r>
            <a:r>
              <a:rPr sz="800" spc="-20" dirty="0">
                <a:latin typeface="Tahoma"/>
                <a:cs typeface="Tahoma"/>
              </a:rPr>
              <a:t>2</a:t>
            </a:r>
            <a:endParaRPr sz="800">
              <a:latin typeface="Tahoma"/>
              <a:cs typeface="Tahoma"/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E895C2DB-4849-0E39-4E4A-79011C7745AD}"/>
              </a:ext>
            </a:extLst>
          </p:cNvPr>
          <p:cNvSpPr txBox="1"/>
          <p:nvPr/>
        </p:nvSpPr>
        <p:spPr>
          <a:xfrm>
            <a:off x="2432000" y="1537437"/>
            <a:ext cx="110871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1100" dirty="0">
                <a:latin typeface="Calibri"/>
                <a:cs typeface="Calibri"/>
              </a:rPr>
              <a:t>with</a:t>
            </a:r>
            <a:r>
              <a:rPr sz="1100" spc="125" dirty="0">
                <a:latin typeface="Calibri"/>
                <a:cs typeface="Calibri"/>
              </a:rPr>
              <a:t> </a:t>
            </a:r>
            <a:r>
              <a:rPr sz="1100" i="1" dirty="0">
                <a:latin typeface="Arial"/>
                <a:cs typeface="Arial"/>
              </a:rPr>
              <a:t>F</a:t>
            </a:r>
            <a:r>
              <a:rPr sz="1200" baseline="-10416" dirty="0">
                <a:latin typeface="Tahoma"/>
                <a:cs typeface="Tahoma"/>
              </a:rPr>
              <a:t>1</a:t>
            </a:r>
            <a:r>
              <a:rPr sz="1200" spc="172" baseline="-10416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=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F</a:t>
            </a:r>
            <a:r>
              <a:rPr sz="1200" baseline="-10416" dirty="0">
                <a:latin typeface="Tahoma"/>
                <a:cs typeface="Tahoma"/>
              </a:rPr>
              <a:t>2</a:t>
            </a:r>
            <a:r>
              <a:rPr sz="1200" spc="172" baseline="-10416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=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1</a:t>
            </a:r>
            <a:endParaRPr sz="1100">
              <a:latin typeface="Tahoma"/>
              <a:cs typeface="Tahoma"/>
            </a:endParaRPr>
          </a:p>
        </p:txBody>
      </p:sp>
      <p:pic>
        <p:nvPicPr>
          <p:cNvPr id="2050" name="Picture 2" descr="Power of two - Wikipedia">
            <a:extLst>
              <a:ext uri="{FF2B5EF4-FFF2-40B4-BE49-F238E27FC236}">
                <a16:creationId xmlns:a16="http://schemas.microsoft.com/office/drawing/2014/main" id="{FE060078-DF57-3453-FD0C-89C2C8CC3B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347" y="1882775"/>
            <a:ext cx="1455418" cy="1455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23CA6C1-641C-CBAA-93A9-5EDEF5CAE1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32000" y="2036895"/>
            <a:ext cx="1771650" cy="1114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0606934"/>
      </p:ext>
    </p:extLst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-12"/>
            <a:ext cx="4608195" cy="350520"/>
          </a:xfrm>
          <a:custGeom>
            <a:avLst/>
            <a:gdLst/>
            <a:ahLst/>
            <a:cxnLst/>
            <a:rect l="l" t="t" r="r" b="b"/>
            <a:pathLst>
              <a:path w="4608195" h="350520">
                <a:moveTo>
                  <a:pt x="4608004" y="0"/>
                </a:moveTo>
                <a:lnTo>
                  <a:pt x="0" y="0"/>
                </a:lnTo>
                <a:lnTo>
                  <a:pt x="0" y="350126"/>
                </a:lnTo>
                <a:lnTo>
                  <a:pt x="4608004" y="350126"/>
                </a:lnTo>
                <a:lnTo>
                  <a:pt x="4608004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30" dirty="0"/>
              <a:t>Closed</a:t>
            </a:r>
            <a:r>
              <a:rPr spc="-60" dirty="0"/>
              <a:t> </a:t>
            </a:r>
            <a:r>
              <a:rPr spc="-30" dirty="0"/>
              <a:t>Formula</a:t>
            </a:r>
            <a:r>
              <a:rPr spc="-55" dirty="0"/>
              <a:t> </a:t>
            </a:r>
            <a:r>
              <a:rPr dirty="0"/>
              <a:t>of</a:t>
            </a:r>
            <a:r>
              <a:rPr spc="-55" dirty="0"/>
              <a:t> </a:t>
            </a:r>
            <a:r>
              <a:rPr spc="-65" dirty="0"/>
              <a:t>Sequences</a:t>
            </a:r>
          </a:p>
        </p:txBody>
      </p:sp>
      <p:pic>
        <p:nvPic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700240"/>
            <a:ext cx="65265" cy="65265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352132" y="616799"/>
            <a:ext cx="4168775" cy="199898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63500" marR="145415">
              <a:lnSpc>
                <a:spcPct val="102600"/>
              </a:lnSpc>
              <a:spcBef>
                <a:spcPts val="55"/>
              </a:spcBef>
            </a:pPr>
            <a:r>
              <a:rPr sz="1100" spc="-10" dirty="0">
                <a:latin typeface="Tahoma"/>
                <a:cs typeface="Tahoma"/>
              </a:rPr>
              <a:t>One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method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to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derive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closed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formula </a:t>
            </a:r>
            <a:r>
              <a:rPr sz="1100" spc="-20" dirty="0">
                <a:latin typeface="Tahoma"/>
                <a:cs typeface="Tahoma"/>
              </a:rPr>
              <a:t>for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70" dirty="0">
                <a:latin typeface="Tahoma"/>
                <a:cs typeface="Tahoma"/>
              </a:rPr>
              <a:t>sequence,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to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relate </a:t>
            </a:r>
            <a:r>
              <a:rPr sz="1100" spc="-50" dirty="0">
                <a:latin typeface="Tahoma"/>
                <a:cs typeface="Tahoma"/>
              </a:rPr>
              <a:t>a </a:t>
            </a:r>
            <a:r>
              <a:rPr sz="1100" spc="-40" dirty="0">
                <a:latin typeface="Tahoma"/>
                <a:cs typeface="Tahoma"/>
              </a:rPr>
              <a:t>given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sequence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to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known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sequence.</a:t>
            </a:r>
            <a:r>
              <a:rPr sz="1100" spc="8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See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Example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2.1.4.</a:t>
            </a:r>
            <a:endParaRPr sz="1100" dirty="0">
              <a:latin typeface="Tahoma"/>
              <a:cs typeface="Tahoma"/>
            </a:endParaRPr>
          </a:p>
          <a:p>
            <a:pPr marL="63500" marR="78740">
              <a:lnSpc>
                <a:spcPct val="102600"/>
              </a:lnSpc>
              <a:spcBef>
                <a:spcPts val="300"/>
              </a:spcBef>
            </a:pPr>
            <a:r>
              <a:rPr sz="1100" dirty="0">
                <a:latin typeface="Tahoma"/>
                <a:cs typeface="Tahoma"/>
              </a:rPr>
              <a:t>Partial</a:t>
            </a:r>
            <a:r>
              <a:rPr sz="1100" spc="-9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Sums.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Given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any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sequence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(</a:t>
            </a:r>
            <a:r>
              <a:rPr sz="1100" i="1" dirty="0">
                <a:latin typeface="Arial"/>
                <a:cs typeface="Arial"/>
              </a:rPr>
              <a:t>a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100" dirty="0">
                <a:latin typeface="Tahoma"/>
                <a:cs typeface="Tahoma"/>
              </a:rPr>
              <a:t>)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200" baseline="-10416" dirty="0">
                <a:latin typeface="Lucida Sans Unicode"/>
                <a:cs typeface="Lucida Sans Unicode"/>
              </a:rPr>
              <a:t>∈</a:t>
            </a:r>
            <a:r>
              <a:rPr sz="1200" baseline="-10416" dirty="0">
                <a:latin typeface="Times New Roman"/>
                <a:cs typeface="Times New Roman"/>
              </a:rPr>
              <a:t>N</a:t>
            </a:r>
            <a:r>
              <a:rPr sz="1200" spc="209" baseline="-10416" dirty="0">
                <a:latin typeface="Times New Roman"/>
                <a:cs typeface="Times New Roman"/>
              </a:rPr>
              <a:t> </a:t>
            </a:r>
            <a:r>
              <a:rPr sz="1100" spc="-95" dirty="0">
                <a:latin typeface="Tahoma"/>
                <a:cs typeface="Tahoma"/>
              </a:rPr>
              <a:t>we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can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always</a:t>
            </a:r>
            <a:r>
              <a:rPr sz="1100" spc="-40" dirty="0">
                <a:latin typeface="Tahoma"/>
                <a:cs typeface="Tahoma"/>
              </a:rPr>
              <a:t> form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new </a:t>
            </a:r>
            <a:r>
              <a:rPr sz="1100" spc="-65" dirty="0">
                <a:latin typeface="Tahoma"/>
                <a:cs typeface="Tahoma"/>
              </a:rPr>
              <a:t>sequence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(</a:t>
            </a:r>
            <a:r>
              <a:rPr sz="1100" i="1" dirty="0">
                <a:latin typeface="Arial"/>
                <a:cs typeface="Arial"/>
              </a:rPr>
              <a:t>b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100" dirty="0">
                <a:latin typeface="Tahoma"/>
                <a:cs typeface="Tahoma"/>
              </a:rPr>
              <a:t>)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200" baseline="-10416" dirty="0">
                <a:latin typeface="Lucida Sans Unicode"/>
                <a:cs typeface="Lucida Sans Unicode"/>
              </a:rPr>
              <a:t>∈</a:t>
            </a:r>
            <a:r>
              <a:rPr sz="1200" baseline="-10416" dirty="0">
                <a:latin typeface="Times New Roman"/>
                <a:cs typeface="Times New Roman"/>
              </a:rPr>
              <a:t>N</a:t>
            </a:r>
            <a:r>
              <a:rPr sz="1200" spc="195" baseline="-10416" dirty="0">
                <a:latin typeface="Times New Roman"/>
                <a:cs typeface="Times New Roman"/>
              </a:rPr>
              <a:t> </a:t>
            </a:r>
            <a:r>
              <a:rPr sz="1100" spc="-25" dirty="0">
                <a:latin typeface="Tahoma"/>
                <a:cs typeface="Tahoma"/>
              </a:rPr>
              <a:t>by</a:t>
            </a:r>
            <a:endParaRPr sz="1100" dirty="0">
              <a:latin typeface="Tahoma"/>
              <a:cs typeface="Tahoma"/>
            </a:endParaRPr>
          </a:p>
          <a:p>
            <a:pPr marL="1255395">
              <a:lnSpc>
                <a:spcPct val="100000"/>
              </a:lnSpc>
              <a:spcBef>
                <a:spcPts val="1130"/>
              </a:spcBef>
            </a:pPr>
            <a:r>
              <a:rPr sz="1100" i="1" dirty="0">
                <a:latin typeface="Arial"/>
                <a:cs typeface="Arial"/>
              </a:rPr>
              <a:t>b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200" i="1" spc="142" baseline="-10416" dirty="0">
                <a:latin typeface="Constantia"/>
                <a:cs typeface="Constantia"/>
              </a:rPr>
              <a:t> </a:t>
            </a:r>
            <a:r>
              <a:rPr sz="1100" dirty="0">
                <a:latin typeface="Tahoma"/>
                <a:cs typeface="Tahoma"/>
              </a:rPr>
              <a:t>=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i="1" spc="-10" dirty="0">
                <a:latin typeface="Arial"/>
                <a:cs typeface="Arial"/>
              </a:rPr>
              <a:t>a</a:t>
            </a:r>
            <a:r>
              <a:rPr sz="1200" spc="-15" baseline="-10416" dirty="0">
                <a:latin typeface="Tahoma"/>
                <a:cs typeface="Tahoma"/>
              </a:rPr>
              <a:t>0</a:t>
            </a:r>
            <a:r>
              <a:rPr sz="1200" spc="44" baseline="-10416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+</a:t>
            </a:r>
            <a:r>
              <a:rPr sz="1100" spc="-105" dirty="0">
                <a:latin typeface="Tahoma"/>
                <a:cs typeface="Tahoma"/>
              </a:rPr>
              <a:t> </a:t>
            </a:r>
            <a:r>
              <a:rPr sz="1100" i="1" spc="-10" dirty="0">
                <a:latin typeface="Arial"/>
                <a:cs typeface="Arial"/>
              </a:rPr>
              <a:t>a</a:t>
            </a:r>
            <a:r>
              <a:rPr sz="1200" spc="-15" baseline="-10416" dirty="0">
                <a:latin typeface="Tahoma"/>
                <a:cs typeface="Tahoma"/>
              </a:rPr>
              <a:t>1</a:t>
            </a:r>
            <a:r>
              <a:rPr sz="1200" spc="37" baseline="-10416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+</a:t>
            </a:r>
            <a:r>
              <a:rPr sz="1100" spc="-105" dirty="0">
                <a:latin typeface="Tahoma"/>
                <a:cs typeface="Tahoma"/>
              </a:rPr>
              <a:t> </a:t>
            </a:r>
            <a:r>
              <a:rPr sz="1100" i="1" spc="-10" dirty="0">
                <a:latin typeface="Arial"/>
                <a:cs typeface="Arial"/>
              </a:rPr>
              <a:t>a</a:t>
            </a:r>
            <a:r>
              <a:rPr sz="1200" spc="-15" baseline="-10416" dirty="0">
                <a:latin typeface="Tahoma"/>
                <a:cs typeface="Tahoma"/>
              </a:rPr>
              <a:t>2</a:t>
            </a:r>
            <a:r>
              <a:rPr sz="1200" spc="44" baseline="-10416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+</a:t>
            </a:r>
            <a:r>
              <a:rPr sz="1100" spc="-105" dirty="0">
                <a:latin typeface="Tahoma"/>
                <a:cs typeface="Tahoma"/>
              </a:rPr>
              <a:t> </a:t>
            </a:r>
            <a:r>
              <a:rPr sz="1100" spc="-20" dirty="0">
                <a:latin typeface="Cambria"/>
                <a:cs typeface="Cambria"/>
              </a:rPr>
              <a:t>·</a:t>
            </a:r>
            <a:r>
              <a:rPr sz="1100" spc="-60" dirty="0">
                <a:latin typeface="Cambria"/>
                <a:cs typeface="Cambria"/>
              </a:rPr>
              <a:t> </a:t>
            </a:r>
            <a:r>
              <a:rPr sz="1100" spc="-20" dirty="0">
                <a:latin typeface="Cambria"/>
                <a:cs typeface="Cambria"/>
              </a:rPr>
              <a:t>·</a:t>
            </a:r>
            <a:r>
              <a:rPr sz="1100" spc="-65" dirty="0">
                <a:latin typeface="Cambria"/>
                <a:cs typeface="Cambria"/>
              </a:rPr>
              <a:t> </a:t>
            </a:r>
            <a:r>
              <a:rPr sz="1100" dirty="0">
                <a:latin typeface="Cambria"/>
                <a:cs typeface="Cambria"/>
              </a:rPr>
              <a:t>·</a:t>
            </a:r>
            <a:r>
              <a:rPr sz="1100" spc="-10" dirty="0">
                <a:latin typeface="Cambria"/>
                <a:cs typeface="Cambria"/>
              </a:rPr>
              <a:t> </a:t>
            </a:r>
            <a:r>
              <a:rPr sz="1100" dirty="0">
                <a:latin typeface="Tahoma"/>
                <a:cs typeface="Tahoma"/>
              </a:rPr>
              <a:t>+</a:t>
            </a:r>
            <a:r>
              <a:rPr sz="1100" spc="-105" dirty="0">
                <a:latin typeface="Tahoma"/>
                <a:cs typeface="Tahoma"/>
              </a:rPr>
              <a:t> </a:t>
            </a:r>
            <a:r>
              <a:rPr sz="1100" i="1" spc="-25" dirty="0">
                <a:latin typeface="Arial"/>
                <a:cs typeface="Arial"/>
              </a:rPr>
              <a:t>a</a:t>
            </a:r>
            <a:r>
              <a:rPr sz="1200" i="1" spc="-37" baseline="-10416" dirty="0">
                <a:latin typeface="Constantia"/>
                <a:cs typeface="Constantia"/>
              </a:rPr>
              <a:t>n</a:t>
            </a:r>
            <a:endParaRPr sz="1200" baseline="-10416" dirty="0">
              <a:latin typeface="Constantia"/>
              <a:cs typeface="Constantia"/>
            </a:endParaRPr>
          </a:p>
          <a:p>
            <a:pPr>
              <a:lnSpc>
                <a:spcPct val="100000"/>
              </a:lnSpc>
              <a:spcBef>
                <a:spcPts val="650"/>
              </a:spcBef>
            </a:pPr>
            <a:endParaRPr sz="1100" dirty="0">
              <a:latin typeface="Constantia"/>
              <a:cs typeface="Constantia"/>
            </a:endParaRPr>
          </a:p>
          <a:p>
            <a:pPr marL="62865" marR="43180">
              <a:lnSpc>
                <a:spcPct val="102600"/>
              </a:lnSpc>
            </a:pPr>
            <a:r>
              <a:rPr sz="1100" spc="-20" dirty="0">
                <a:latin typeface="Tahoma"/>
                <a:cs typeface="Tahoma"/>
              </a:rPr>
              <a:t>Since</a:t>
            </a:r>
            <a:r>
              <a:rPr sz="1100" spc="-7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terms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(</a:t>
            </a:r>
            <a:r>
              <a:rPr sz="1100" i="1" dirty="0">
                <a:latin typeface="Arial"/>
                <a:cs typeface="Arial"/>
              </a:rPr>
              <a:t>b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100" dirty="0">
                <a:latin typeface="Tahoma"/>
                <a:cs typeface="Tahoma"/>
              </a:rPr>
              <a:t>)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are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sums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initial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part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the </a:t>
            </a:r>
            <a:r>
              <a:rPr sz="1100" spc="-65" dirty="0">
                <a:latin typeface="Tahoma"/>
                <a:cs typeface="Tahoma"/>
              </a:rPr>
              <a:t>sequence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(</a:t>
            </a:r>
            <a:r>
              <a:rPr sz="1100" i="1" dirty="0">
                <a:latin typeface="Arial"/>
                <a:cs typeface="Arial"/>
              </a:rPr>
              <a:t>a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100" dirty="0">
                <a:latin typeface="Tahoma"/>
                <a:cs typeface="Tahoma"/>
              </a:rPr>
              <a:t>)</a:t>
            </a:r>
            <a:r>
              <a:rPr sz="1100" spc="-65" dirty="0">
                <a:latin typeface="Tahoma"/>
                <a:cs typeface="Tahoma"/>
              </a:rPr>
              <a:t> </a:t>
            </a:r>
            <a:r>
              <a:rPr sz="1100" spc="-70" dirty="0">
                <a:latin typeface="Tahoma"/>
                <a:cs typeface="Tahoma"/>
              </a:rPr>
              <a:t>ways,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l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(</a:t>
            </a:r>
            <a:r>
              <a:rPr sz="1100" i="1" dirty="0">
                <a:latin typeface="Arial"/>
                <a:cs typeface="Arial"/>
              </a:rPr>
              <a:t>b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100" dirty="0">
                <a:latin typeface="Tahoma"/>
                <a:cs typeface="Tahoma"/>
              </a:rPr>
              <a:t>)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known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as </a:t>
            </a:r>
            <a:r>
              <a:rPr sz="1100" spc="-20" dirty="0">
                <a:latin typeface="Tahoma"/>
                <a:cs typeface="Tahoma"/>
              </a:rPr>
              <a:t>the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b="1" spc="-40" dirty="0">
                <a:latin typeface="Trebuchet MS"/>
                <a:cs typeface="Trebuchet MS"/>
              </a:rPr>
              <a:t>sequence</a:t>
            </a:r>
            <a:r>
              <a:rPr sz="1100" b="1" spc="10" dirty="0">
                <a:latin typeface="Trebuchet MS"/>
                <a:cs typeface="Trebuchet MS"/>
              </a:rPr>
              <a:t> </a:t>
            </a:r>
            <a:r>
              <a:rPr sz="1100" b="1" dirty="0">
                <a:latin typeface="Trebuchet MS"/>
                <a:cs typeface="Trebuchet MS"/>
              </a:rPr>
              <a:t>of</a:t>
            </a:r>
            <a:r>
              <a:rPr sz="1100" b="1" spc="10" dirty="0">
                <a:latin typeface="Trebuchet MS"/>
                <a:cs typeface="Trebuchet MS"/>
              </a:rPr>
              <a:t> </a:t>
            </a:r>
            <a:r>
              <a:rPr sz="1100" b="1" spc="-30" dirty="0">
                <a:latin typeface="Trebuchet MS"/>
                <a:cs typeface="Trebuchet MS"/>
              </a:rPr>
              <a:t>partial</a:t>
            </a:r>
            <a:r>
              <a:rPr sz="1100" b="1" spc="10" dirty="0">
                <a:latin typeface="Trebuchet MS"/>
                <a:cs typeface="Trebuchet MS"/>
              </a:rPr>
              <a:t> </a:t>
            </a:r>
            <a:r>
              <a:rPr sz="1100" b="1" spc="-20" dirty="0">
                <a:latin typeface="Trebuchet MS"/>
                <a:cs typeface="Trebuchet MS"/>
              </a:rPr>
              <a:t>sums </a:t>
            </a:r>
            <a:r>
              <a:rPr sz="1100" b="1" dirty="0">
                <a:latin typeface="Trebuchet MS"/>
                <a:cs typeface="Trebuchet MS"/>
              </a:rPr>
              <a:t>of</a:t>
            </a:r>
            <a:r>
              <a:rPr sz="1100" b="1" spc="-35" dirty="0">
                <a:latin typeface="Trebuchet MS"/>
                <a:cs typeface="Trebuchet MS"/>
              </a:rPr>
              <a:t> </a:t>
            </a:r>
            <a:r>
              <a:rPr sz="1100" dirty="0">
                <a:latin typeface="Tahoma"/>
                <a:cs typeface="Tahoma"/>
              </a:rPr>
              <a:t>(</a:t>
            </a:r>
            <a:r>
              <a:rPr sz="1100" i="1" dirty="0">
                <a:latin typeface="Arial"/>
                <a:cs typeface="Arial"/>
              </a:rPr>
              <a:t>a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100" dirty="0">
                <a:latin typeface="Tahoma"/>
                <a:cs typeface="Tahoma"/>
              </a:rPr>
              <a:t>).</a:t>
            </a:r>
            <a:r>
              <a:rPr sz="1100" spc="5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It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sometimes</a:t>
            </a:r>
            <a:r>
              <a:rPr sz="1100" spc="-40" dirty="0">
                <a:latin typeface="Tahoma"/>
                <a:cs typeface="Tahoma"/>
              </a:rPr>
              <a:t> possible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to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find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closed </a:t>
            </a:r>
            <a:r>
              <a:rPr sz="1100" spc="-35" dirty="0">
                <a:latin typeface="Tahoma"/>
                <a:cs typeface="Tahoma"/>
              </a:rPr>
              <a:t>formula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for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(</a:t>
            </a:r>
            <a:r>
              <a:rPr sz="1100" i="1" spc="-20" dirty="0">
                <a:latin typeface="Arial"/>
                <a:cs typeface="Arial"/>
              </a:rPr>
              <a:t>b</a:t>
            </a:r>
            <a:r>
              <a:rPr sz="1200" i="1" spc="-30" baseline="-10416" dirty="0">
                <a:latin typeface="Constantia"/>
                <a:cs typeface="Constantia"/>
              </a:rPr>
              <a:t>n</a:t>
            </a:r>
            <a:r>
              <a:rPr sz="1100" spc="-20" dirty="0">
                <a:latin typeface="Tahoma"/>
                <a:cs typeface="Tahoma"/>
              </a:rPr>
              <a:t>) from</a:t>
            </a:r>
            <a:r>
              <a:rPr sz="1100" spc="-7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closed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formula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for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(</a:t>
            </a:r>
            <a:r>
              <a:rPr sz="1100" i="1" dirty="0">
                <a:latin typeface="Arial"/>
                <a:cs typeface="Arial"/>
              </a:rPr>
              <a:t>a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100" dirty="0">
                <a:latin typeface="Tahoma"/>
                <a:cs typeface="Tahoma"/>
              </a:rPr>
              <a:t>).</a:t>
            </a:r>
            <a:r>
              <a:rPr sz="1100" spc="5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See </a:t>
            </a:r>
            <a:r>
              <a:rPr sz="1100" spc="-55" dirty="0">
                <a:latin typeface="Tahoma"/>
                <a:cs typeface="Tahoma"/>
              </a:rPr>
              <a:t>page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143.</a:t>
            </a:r>
            <a:endParaRPr sz="1100" dirty="0">
              <a:latin typeface="Tahoma"/>
              <a:cs typeface="Tahoma"/>
            </a:endParaRPr>
          </a:p>
        </p:txBody>
      </p:sp>
      <p:pic>
        <p:nvPic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1082357"/>
            <a:ext cx="65265" cy="65265"/>
          </a:xfrm>
          <a:prstGeom prst="rect">
            <a:avLst/>
          </a:prstGeom>
        </p:spPr>
      </p:pic>
      <p:pic>
        <p:nvPicPr>
          <p:cNvPr id="7" name="object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089" y="1990801"/>
            <a:ext cx="65265" cy="65265"/>
          </a:xfrm>
          <a:prstGeom prst="rect">
            <a:avLst/>
          </a:prstGeom>
        </p:spPr>
      </p:pic>
      <p:pic>
        <p:nvPicPr>
          <p:cNvPr id="8" name="object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81089" y="2717063"/>
            <a:ext cx="65265" cy="65265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2937195" y="2569743"/>
            <a:ext cx="224154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25" dirty="0">
                <a:latin typeface="Constantia"/>
                <a:cs typeface="Constantia"/>
              </a:rPr>
              <a:t>k</a:t>
            </a:r>
            <a:r>
              <a:rPr sz="800" spc="-25" dirty="0">
                <a:latin typeface="Tahoma"/>
                <a:cs typeface="Tahoma"/>
              </a:rPr>
              <a:t>=1</a:t>
            </a:r>
            <a:endParaRPr sz="8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70020" y="2671659"/>
            <a:ext cx="3495040" cy="18081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  <a:tabLst>
                <a:tab pos="2847340" algn="l"/>
              </a:tabLst>
            </a:pPr>
            <a:r>
              <a:rPr sz="1100" dirty="0">
                <a:latin typeface="Tahoma"/>
                <a:cs typeface="Tahoma"/>
              </a:rPr>
              <a:t>To</a:t>
            </a:r>
            <a:r>
              <a:rPr sz="1100" spc="-6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simplify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writing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50" dirty="0">
                <a:latin typeface="Tahoma"/>
                <a:cs typeface="Tahoma"/>
              </a:rPr>
              <a:t> sum,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notation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650" spc="322" baseline="40404" dirty="0" err="1">
                <a:latin typeface="Lucida Sans Unicode"/>
                <a:cs typeface="Lucida Sans Unicode"/>
              </a:rPr>
              <a:t>Σ</a:t>
            </a:r>
            <a:r>
              <a:rPr sz="1200" i="1" spc="322" baseline="34722" dirty="0" err="1">
                <a:latin typeface="Constantia"/>
                <a:cs typeface="Constantia"/>
              </a:rPr>
              <a:t>n</a:t>
            </a:r>
            <a:r>
              <a:rPr lang="en-US" sz="1200" i="1" spc="322" baseline="34722" dirty="0">
                <a:latin typeface="Constantia"/>
                <a:cs typeface="Constantia"/>
              </a:rPr>
              <a:t>  </a:t>
            </a:r>
            <a:r>
              <a:rPr sz="1100" i="1" dirty="0" err="1">
                <a:latin typeface="Arial"/>
                <a:cs typeface="Arial"/>
              </a:rPr>
              <a:t>a</a:t>
            </a:r>
            <a:r>
              <a:rPr sz="1200" i="1" baseline="-13888" dirty="0" err="1">
                <a:latin typeface="Constantia"/>
                <a:cs typeface="Constantia"/>
              </a:rPr>
              <a:t>k</a:t>
            </a:r>
            <a:r>
              <a:rPr sz="1200" i="1" spc="292" baseline="-13888" dirty="0">
                <a:latin typeface="Constantia"/>
                <a:cs typeface="Constanti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used.</a:t>
            </a:r>
            <a:endParaRPr sz="1100" dirty="0">
              <a:latin typeface="Tahoma"/>
              <a:cs typeface="Tahoma"/>
            </a:endParaRPr>
          </a:p>
        </p:txBody>
      </p:sp>
      <p:pic>
        <p:nvPicPr>
          <p:cNvPr id="11" name="object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81089" y="3003016"/>
            <a:ext cx="65265" cy="65265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2387993" y="2979456"/>
            <a:ext cx="781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latin typeface="Constantia"/>
                <a:cs typeface="Constantia"/>
              </a:rPr>
              <a:t>k</a:t>
            </a:r>
            <a:endParaRPr sz="800">
              <a:latin typeface="Constantia"/>
              <a:cs typeface="Constantia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02932" y="2919563"/>
            <a:ext cx="257873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dirty="0">
                <a:latin typeface="Tahoma"/>
                <a:cs typeface="Tahoma"/>
              </a:rPr>
              <a:t>The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notation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for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multiplying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a</a:t>
            </a:r>
            <a:r>
              <a:rPr sz="1100" i="1" spc="445" dirty="0">
                <a:latin typeface="Arial"/>
                <a:cs typeface="Arial"/>
              </a:rPr>
              <a:t> </a:t>
            </a:r>
            <a:r>
              <a:rPr sz="1100" spc="-30" dirty="0">
                <a:latin typeface="Tahoma"/>
                <a:cs typeface="Tahoma"/>
              </a:rPr>
              <a:t>terms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is</a:t>
            </a:r>
            <a:endParaRPr sz="1100" dirty="0">
              <a:latin typeface="Tahoma"/>
              <a:cs typeface="Tahoma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005139" y="2939763"/>
            <a:ext cx="15621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125" dirty="0">
                <a:latin typeface="Lucida Sans Unicode"/>
                <a:cs typeface="Lucida Sans Unicode"/>
              </a:rPr>
              <a:t>Q</a:t>
            </a:r>
            <a:endParaRPr sz="1100" dirty="0">
              <a:latin typeface="Lucida Sans Unicode"/>
              <a:cs typeface="Lucida Sans Unicode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3141989" y="2901497"/>
            <a:ext cx="224154" cy="260327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 marR="5080">
              <a:lnSpc>
                <a:spcPts val="830"/>
              </a:lnSpc>
              <a:spcBef>
                <a:spcPts val="229"/>
              </a:spcBef>
            </a:pPr>
            <a:r>
              <a:rPr sz="800" i="1" spc="-25" dirty="0">
                <a:latin typeface="Constantia"/>
                <a:cs typeface="Constantia"/>
              </a:rPr>
              <a:t>k</a:t>
            </a:r>
            <a:r>
              <a:rPr sz="800" spc="-25" dirty="0">
                <a:latin typeface="Tahoma"/>
                <a:cs typeface="Tahoma"/>
              </a:rPr>
              <a:t>=1</a:t>
            </a:r>
            <a:endParaRPr lang="en-US" sz="800" spc="-25" dirty="0">
              <a:latin typeface="Tahoma"/>
              <a:cs typeface="Tahoma"/>
            </a:endParaRPr>
          </a:p>
          <a:p>
            <a:pPr marL="12700" marR="5080">
              <a:lnSpc>
                <a:spcPts val="830"/>
              </a:lnSpc>
              <a:spcBef>
                <a:spcPts val="229"/>
              </a:spcBef>
            </a:pPr>
            <a:r>
              <a:rPr lang="en-US" sz="800" i="1" spc="-50" dirty="0">
                <a:latin typeface="Constantia"/>
                <a:cs typeface="Constantia"/>
              </a:rPr>
              <a:t>n</a:t>
            </a:r>
            <a:endParaRPr sz="800" dirty="0">
              <a:latin typeface="Tahoma"/>
              <a:cs typeface="Tahoma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335299" y="2919563"/>
            <a:ext cx="19558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1100" i="1" spc="-25" dirty="0">
                <a:latin typeface="Arial"/>
                <a:cs typeface="Arial"/>
              </a:rPr>
              <a:t>a</a:t>
            </a:r>
            <a:r>
              <a:rPr sz="1200" i="1" spc="-37" baseline="-13888" dirty="0">
                <a:latin typeface="Constantia"/>
                <a:cs typeface="Constantia"/>
              </a:rPr>
              <a:t>k</a:t>
            </a:r>
            <a:endParaRPr sz="1200" baseline="-13888" dirty="0">
              <a:latin typeface="Constantia"/>
              <a:cs typeface="Constantia"/>
            </a:endParaRPr>
          </a:p>
        </p:txBody>
      </p: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-12"/>
            <a:ext cx="4608195" cy="350520"/>
          </a:xfrm>
          <a:custGeom>
            <a:avLst/>
            <a:gdLst/>
            <a:ahLst/>
            <a:cxnLst/>
            <a:rect l="l" t="t" r="r" b="b"/>
            <a:pathLst>
              <a:path w="4608195" h="350520">
                <a:moveTo>
                  <a:pt x="4608004" y="0"/>
                </a:moveTo>
                <a:lnTo>
                  <a:pt x="0" y="0"/>
                </a:lnTo>
                <a:lnTo>
                  <a:pt x="0" y="350126"/>
                </a:lnTo>
                <a:lnTo>
                  <a:pt x="4608004" y="350126"/>
                </a:lnTo>
                <a:lnTo>
                  <a:pt x="4608004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Arithmetic</a:t>
            </a:r>
            <a:r>
              <a:rPr spc="-95" dirty="0"/>
              <a:t> </a:t>
            </a:r>
            <a:r>
              <a:rPr spc="-65" dirty="0"/>
              <a:t>Sequences</a:t>
            </a:r>
          </a:p>
        </p:txBody>
      </p:sp>
      <p:pic>
        <p:nvPic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7407" y="594615"/>
            <a:ext cx="65265" cy="65265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323850" y="511175"/>
            <a:ext cx="4044315" cy="189230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 marR="356870">
              <a:lnSpc>
                <a:spcPct val="102600"/>
              </a:lnSpc>
              <a:spcBef>
                <a:spcPts val="55"/>
              </a:spcBef>
            </a:pPr>
            <a:r>
              <a:rPr sz="1100" spc="-30" dirty="0">
                <a:latin typeface="Tahoma"/>
                <a:cs typeface="Tahoma"/>
              </a:rPr>
              <a:t>If</a:t>
            </a:r>
            <a:r>
              <a:rPr sz="1100" spc="-6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terms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sequence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differ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by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constant,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sequence</a:t>
            </a:r>
            <a:r>
              <a:rPr sz="1100" spc="-25" dirty="0">
                <a:latin typeface="Tahoma"/>
                <a:cs typeface="Tahoma"/>
              </a:rPr>
              <a:t> is </a:t>
            </a:r>
            <a:r>
              <a:rPr sz="1100" u="sng" spc="-10" dirty="0">
                <a:uFill>
                  <a:solidFill>
                    <a:srgbClr val="000000"/>
                  </a:solidFill>
                </a:uFill>
                <a:latin typeface="Tahoma"/>
                <a:cs typeface="Tahoma"/>
              </a:rPr>
              <a:t>arithmetic</a:t>
            </a:r>
            <a:r>
              <a:rPr sz="1100" spc="-10" dirty="0">
                <a:latin typeface="Tahoma"/>
                <a:cs typeface="Tahoma"/>
              </a:rPr>
              <a:t>.</a:t>
            </a:r>
            <a:endParaRPr sz="1100" dirty="0">
              <a:latin typeface="Tahoma"/>
              <a:cs typeface="Tahoma"/>
            </a:endParaRPr>
          </a:p>
          <a:p>
            <a:pPr marL="38100" marR="461645">
              <a:lnSpc>
                <a:spcPct val="102600"/>
              </a:lnSpc>
              <a:spcBef>
                <a:spcPts val="300"/>
              </a:spcBef>
            </a:pPr>
            <a:r>
              <a:rPr sz="1100" spc="-30" dirty="0">
                <a:latin typeface="Tahoma"/>
                <a:cs typeface="Tahoma"/>
              </a:rPr>
              <a:t>If</a:t>
            </a:r>
            <a:r>
              <a:rPr sz="1100" spc="-6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7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initial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term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(</a:t>
            </a:r>
            <a:r>
              <a:rPr sz="1100" i="1" dirty="0">
                <a:latin typeface="Arial"/>
                <a:cs typeface="Arial"/>
              </a:rPr>
              <a:t>a</a:t>
            </a:r>
            <a:r>
              <a:rPr sz="1200" baseline="-10416" dirty="0">
                <a:latin typeface="Tahoma"/>
                <a:cs typeface="Tahoma"/>
              </a:rPr>
              <a:t>0</a:t>
            </a:r>
            <a:r>
              <a:rPr sz="1100" dirty="0">
                <a:latin typeface="Tahoma"/>
                <a:cs typeface="Tahoma"/>
              </a:rPr>
              <a:t>)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sequence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a</a:t>
            </a:r>
            <a:r>
              <a:rPr sz="1100" i="1" spc="-5" dirty="0">
                <a:latin typeface="Arial"/>
                <a:cs typeface="Arial"/>
              </a:rPr>
              <a:t>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b="1" spc="-10" dirty="0">
                <a:latin typeface="Trebuchet MS"/>
                <a:cs typeface="Trebuchet MS"/>
              </a:rPr>
              <a:t>common </a:t>
            </a:r>
            <a:r>
              <a:rPr sz="1100" b="1" spc="-55" dirty="0">
                <a:latin typeface="Trebuchet MS"/>
                <a:cs typeface="Trebuchet MS"/>
              </a:rPr>
              <a:t>difference</a:t>
            </a:r>
            <a:r>
              <a:rPr sz="1100" b="1" spc="-30" dirty="0">
                <a:latin typeface="Trebuchet MS"/>
                <a:cs typeface="Trebuchet MS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i="1" spc="-65" dirty="0">
                <a:latin typeface="Arial"/>
                <a:cs typeface="Arial"/>
              </a:rPr>
              <a:t>d</a:t>
            </a:r>
            <a:r>
              <a:rPr sz="1100" i="1" spc="-204" dirty="0">
                <a:latin typeface="Arial"/>
                <a:cs typeface="Arial"/>
              </a:rPr>
              <a:t> </a:t>
            </a:r>
            <a:r>
              <a:rPr sz="1100" spc="-50" dirty="0">
                <a:latin typeface="Tahoma"/>
                <a:cs typeface="Tahoma"/>
              </a:rPr>
              <a:t>,</a:t>
            </a:r>
            <a:endParaRPr sz="1100" dirty="0">
              <a:latin typeface="Tahoma"/>
              <a:cs typeface="Tahoma"/>
            </a:endParaRPr>
          </a:p>
          <a:p>
            <a:pPr marL="38100">
              <a:lnSpc>
                <a:spcPct val="100000"/>
              </a:lnSpc>
              <a:spcBef>
                <a:spcPts val="35"/>
              </a:spcBef>
            </a:pPr>
            <a:r>
              <a:rPr sz="1100" spc="-40" dirty="0">
                <a:latin typeface="Tahoma"/>
                <a:cs typeface="Tahoma"/>
              </a:rPr>
              <a:t>Recursive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definition:</a:t>
            </a:r>
            <a:r>
              <a:rPr sz="1100" spc="55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a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200" i="1" spc="179" baseline="-10416" dirty="0">
                <a:latin typeface="Constantia"/>
                <a:cs typeface="Constantia"/>
              </a:rPr>
              <a:t> </a:t>
            </a:r>
            <a:r>
              <a:rPr sz="1100" dirty="0">
                <a:latin typeface="Tahoma"/>
                <a:cs typeface="Tahoma"/>
              </a:rPr>
              <a:t>=</a:t>
            </a:r>
            <a:r>
              <a:rPr sz="1100" spc="-80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a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200" baseline="-10416" dirty="0">
                <a:latin typeface="Lucida Sans Unicode"/>
                <a:cs typeface="Lucida Sans Unicode"/>
              </a:rPr>
              <a:t>−</a:t>
            </a:r>
            <a:r>
              <a:rPr sz="1200" baseline="-10416" dirty="0">
                <a:latin typeface="Tahoma"/>
                <a:cs typeface="Tahoma"/>
              </a:rPr>
              <a:t>1 </a:t>
            </a:r>
            <a:r>
              <a:rPr sz="1100" dirty="0">
                <a:latin typeface="Tahoma"/>
                <a:cs typeface="Tahoma"/>
              </a:rPr>
              <a:t>+</a:t>
            </a:r>
            <a:r>
              <a:rPr sz="1100" spc="-105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d</a:t>
            </a:r>
            <a:r>
              <a:rPr sz="1100" i="1" spc="90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with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a</a:t>
            </a:r>
            <a:r>
              <a:rPr sz="1200" baseline="-10416" dirty="0">
                <a:latin typeface="Tahoma"/>
                <a:cs typeface="Tahoma"/>
              </a:rPr>
              <a:t>0</a:t>
            </a:r>
            <a:r>
              <a:rPr sz="1200" spc="82" baseline="-10416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=</a:t>
            </a:r>
            <a:r>
              <a:rPr sz="1100" spc="-85" dirty="0">
                <a:latin typeface="Tahoma"/>
                <a:cs typeface="Tahoma"/>
              </a:rPr>
              <a:t> </a:t>
            </a:r>
            <a:r>
              <a:rPr sz="1100" i="1" spc="-50" dirty="0">
                <a:latin typeface="Arial"/>
                <a:cs typeface="Arial"/>
              </a:rPr>
              <a:t>a</a:t>
            </a:r>
            <a:endParaRPr sz="1100" dirty="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35"/>
              </a:spcBef>
            </a:pPr>
            <a:r>
              <a:rPr sz="1100" spc="-25" dirty="0">
                <a:latin typeface="Tahoma"/>
                <a:cs typeface="Tahoma"/>
              </a:rPr>
              <a:t>Closed</a:t>
            </a:r>
            <a:r>
              <a:rPr sz="1100" spc="-6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formula:</a:t>
            </a:r>
            <a:r>
              <a:rPr sz="1100" spc="80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a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200" i="1" spc="195" baseline="-10416" dirty="0">
                <a:latin typeface="Constantia"/>
                <a:cs typeface="Constantia"/>
              </a:rPr>
              <a:t> </a:t>
            </a:r>
            <a:r>
              <a:rPr sz="1100" dirty="0">
                <a:latin typeface="Tahoma"/>
                <a:cs typeface="Tahoma"/>
              </a:rPr>
              <a:t>=</a:t>
            </a:r>
            <a:r>
              <a:rPr sz="1100" spc="-70" dirty="0">
                <a:latin typeface="Tahoma"/>
                <a:cs typeface="Tahoma"/>
              </a:rPr>
              <a:t> </a:t>
            </a:r>
            <a:r>
              <a:rPr sz="1100" i="1" spc="-100" dirty="0">
                <a:latin typeface="Arial"/>
                <a:cs typeface="Arial"/>
              </a:rPr>
              <a:t>a</a:t>
            </a:r>
            <a:r>
              <a:rPr sz="1100" i="1" spc="-55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+</a:t>
            </a:r>
            <a:r>
              <a:rPr sz="1100" spc="-105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d</a:t>
            </a:r>
            <a:r>
              <a:rPr sz="1100" i="1" spc="5" dirty="0">
                <a:latin typeface="Arial"/>
                <a:cs typeface="Arial"/>
              </a:rPr>
              <a:t> </a:t>
            </a:r>
            <a:r>
              <a:rPr sz="1100" dirty="0">
                <a:latin typeface="Cambria"/>
                <a:cs typeface="Cambria"/>
              </a:rPr>
              <a:t>·</a:t>
            </a:r>
            <a:r>
              <a:rPr sz="1100" spc="-25" dirty="0">
                <a:latin typeface="Cambria"/>
                <a:cs typeface="Cambria"/>
              </a:rPr>
              <a:t> </a:t>
            </a:r>
            <a:r>
              <a:rPr sz="1100" i="1" spc="-50" dirty="0">
                <a:latin typeface="Arial"/>
                <a:cs typeface="Arial"/>
              </a:rPr>
              <a:t>n</a:t>
            </a:r>
            <a:endParaRPr sz="1100" dirty="0">
              <a:latin typeface="Arial"/>
              <a:cs typeface="Arial"/>
            </a:endParaRPr>
          </a:p>
          <a:p>
            <a:pPr marL="38100" marR="30480">
              <a:lnSpc>
                <a:spcPct val="102699"/>
              </a:lnSpc>
              <a:spcBef>
                <a:spcPts val="300"/>
              </a:spcBef>
            </a:pPr>
            <a:r>
              <a:rPr sz="1100" spc="-10" dirty="0">
                <a:latin typeface="Tahoma"/>
                <a:cs typeface="Tahoma"/>
              </a:rPr>
              <a:t>For</a:t>
            </a:r>
            <a:r>
              <a:rPr sz="1100" spc="-8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example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(see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Example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2.2.1),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for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sequence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2</a:t>
            </a:r>
            <a:r>
              <a:rPr sz="1100" i="1" spc="-3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30" dirty="0">
                <a:latin typeface="Tahoma"/>
                <a:cs typeface="Tahoma"/>
              </a:rPr>
              <a:t>5</a:t>
            </a:r>
            <a:r>
              <a:rPr sz="1100" i="1" spc="-3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30" dirty="0">
                <a:latin typeface="Tahoma"/>
                <a:cs typeface="Tahoma"/>
              </a:rPr>
              <a:t>8</a:t>
            </a:r>
            <a:r>
              <a:rPr sz="1100" i="1" spc="-3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11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14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spc="-25" dirty="0">
                <a:latin typeface="Arial"/>
                <a:cs typeface="Arial"/>
              </a:rPr>
              <a:t>.</a:t>
            </a:r>
            <a:r>
              <a:rPr sz="1100" spc="-25" dirty="0">
                <a:latin typeface="Tahoma"/>
                <a:cs typeface="Tahoma"/>
              </a:rPr>
              <a:t>,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common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difference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d</a:t>
            </a:r>
            <a:r>
              <a:rPr sz="1100" i="1" spc="55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=</a:t>
            </a:r>
            <a:r>
              <a:rPr sz="1100" spc="-7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3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recursive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definition is</a:t>
            </a:r>
            <a:endParaRPr sz="1100" dirty="0">
              <a:latin typeface="Tahoma"/>
              <a:cs typeface="Tahoma"/>
            </a:endParaRPr>
          </a:p>
          <a:p>
            <a:pPr marL="38100">
              <a:lnSpc>
                <a:spcPct val="100000"/>
              </a:lnSpc>
              <a:spcBef>
                <a:spcPts val="30"/>
              </a:spcBef>
            </a:pPr>
            <a:r>
              <a:rPr sz="1100" i="1" dirty="0">
                <a:latin typeface="Arial"/>
                <a:cs typeface="Arial"/>
              </a:rPr>
              <a:t>a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200" i="1" spc="135" baseline="-10416" dirty="0">
                <a:latin typeface="Constantia"/>
                <a:cs typeface="Constantia"/>
              </a:rPr>
              <a:t> </a:t>
            </a:r>
            <a:r>
              <a:rPr sz="1100" dirty="0">
                <a:latin typeface="Tahoma"/>
                <a:cs typeface="Tahoma"/>
              </a:rPr>
              <a:t>=</a:t>
            </a:r>
            <a:r>
              <a:rPr sz="1100" spc="-80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a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200" baseline="-10416" dirty="0">
                <a:latin typeface="Lucida Sans Unicode"/>
                <a:cs typeface="Lucida Sans Unicode"/>
              </a:rPr>
              <a:t>−</a:t>
            </a:r>
            <a:r>
              <a:rPr sz="1200" baseline="-10416" dirty="0">
                <a:latin typeface="Tahoma"/>
                <a:cs typeface="Tahoma"/>
              </a:rPr>
              <a:t>1</a:t>
            </a:r>
            <a:r>
              <a:rPr sz="1200" spc="7" baseline="-10416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+</a:t>
            </a:r>
            <a:r>
              <a:rPr sz="1100" spc="-10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3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with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a</a:t>
            </a:r>
            <a:r>
              <a:rPr sz="1200" baseline="-10416" dirty="0">
                <a:latin typeface="Tahoma"/>
                <a:cs typeface="Tahoma"/>
              </a:rPr>
              <a:t>0</a:t>
            </a:r>
            <a:r>
              <a:rPr sz="1200" spc="82" baseline="-10416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=</a:t>
            </a:r>
            <a:r>
              <a:rPr sz="1100" spc="-8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2.</a:t>
            </a:r>
            <a:endParaRPr sz="1100" dirty="0">
              <a:latin typeface="Tahoma"/>
              <a:cs typeface="Tahoma"/>
            </a:endParaRPr>
          </a:p>
          <a:p>
            <a:pPr marL="38100">
              <a:lnSpc>
                <a:spcPct val="100000"/>
              </a:lnSpc>
              <a:spcBef>
                <a:spcPts val="635"/>
              </a:spcBef>
            </a:pPr>
            <a:r>
              <a:rPr sz="1100" dirty="0">
                <a:latin typeface="Tahoma"/>
                <a:cs typeface="Tahoma"/>
              </a:rPr>
              <a:t>The</a:t>
            </a:r>
            <a:r>
              <a:rPr sz="1100" spc="-7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closed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formula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a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200" i="1" spc="209" baseline="-10416" dirty="0">
                <a:latin typeface="Constantia"/>
                <a:cs typeface="Constantia"/>
              </a:rPr>
              <a:t> </a:t>
            </a:r>
            <a:r>
              <a:rPr sz="1100" dirty="0">
                <a:latin typeface="Tahoma"/>
                <a:cs typeface="Tahoma"/>
              </a:rPr>
              <a:t>=</a:t>
            </a:r>
            <a:r>
              <a:rPr sz="1100" spc="-6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2</a:t>
            </a:r>
            <a:r>
              <a:rPr sz="1100" spc="-10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+</a:t>
            </a:r>
            <a:r>
              <a:rPr sz="1100" spc="-10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3</a:t>
            </a:r>
            <a:r>
              <a:rPr sz="1100" spc="-105" dirty="0">
                <a:latin typeface="Tahoma"/>
                <a:cs typeface="Tahoma"/>
              </a:rPr>
              <a:t> </a:t>
            </a:r>
            <a:r>
              <a:rPr sz="1100" dirty="0">
                <a:latin typeface="Cambria"/>
                <a:cs typeface="Cambria"/>
              </a:rPr>
              <a:t>·</a:t>
            </a:r>
            <a:r>
              <a:rPr sz="1100" spc="-20" dirty="0">
                <a:latin typeface="Cambria"/>
                <a:cs typeface="Cambria"/>
              </a:rPr>
              <a:t> </a:t>
            </a:r>
            <a:r>
              <a:rPr sz="1100" i="1" spc="-50" dirty="0">
                <a:latin typeface="Arial"/>
                <a:cs typeface="Arial"/>
              </a:rPr>
              <a:t>n</a:t>
            </a:r>
            <a:endParaRPr sz="1100" dirty="0">
              <a:latin typeface="Arial"/>
              <a:cs typeface="Arial"/>
            </a:endParaRPr>
          </a:p>
        </p:txBody>
      </p:sp>
      <p:pic>
        <p:nvPic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27407" y="976733"/>
            <a:ext cx="65265" cy="65265"/>
          </a:xfrm>
          <a:prstGeom prst="rect">
            <a:avLst/>
          </a:prstGeom>
        </p:spPr>
      </p:pic>
      <p:pic>
        <p:nvPicPr>
          <p:cNvPr id="7" name="object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27407" y="1702982"/>
            <a:ext cx="65265" cy="65265"/>
          </a:xfrm>
          <a:prstGeom prst="rect">
            <a:avLst/>
          </a:prstGeom>
        </p:spPr>
      </p:pic>
      <p:pic>
        <p:nvPicPr>
          <p:cNvPr id="3074" name="Picture 2" descr="Arithmetic and Geometric Sequences - (17+ Amazing Examples)">
            <a:extLst>
              <a:ext uri="{FF2B5EF4-FFF2-40B4-BE49-F238E27FC236}">
                <a16:creationId xmlns:a16="http://schemas.microsoft.com/office/drawing/2014/main" id="{418496A4-C34D-0C16-5DE3-F71EC72403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061" b="38661"/>
          <a:stretch>
            <a:fillRect/>
          </a:stretch>
        </p:blipFill>
        <p:spPr bwMode="auto">
          <a:xfrm>
            <a:off x="1924050" y="2705259"/>
            <a:ext cx="2367818" cy="350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Geometric and Arithmetic Sequences Flashcards">
            <a:extLst>
              <a:ext uri="{FF2B5EF4-FFF2-40B4-BE49-F238E27FC236}">
                <a16:creationId xmlns:a16="http://schemas.microsoft.com/office/drawing/2014/main" id="{3F0A05B6-7C64-C756-99E3-A40A3F6871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450" y="2447438"/>
            <a:ext cx="1295400" cy="971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-12"/>
            <a:ext cx="4608195" cy="350520"/>
          </a:xfrm>
          <a:custGeom>
            <a:avLst/>
            <a:gdLst/>
            <a:ahLst/>
            <a:cxnLst/>
            <a:rect l="l" t="t" r="r" b="b"/>
            <a:pathLst>
              <a:path w="4608195" h="350520">
                <a:moveTo>
                  <a:pt x="4608004" y="0"/>
                </a:moveTo>
                <a:lnTo>
                  <a:pt x="0" y="0"/>
                </a:lnTo>
                <a:lnTo>
                  <a:pt x="0" y="350126"/>
                </a:lnTo>
                <a:lnTo>
                  <a:pt x="4608004" y="350126"/>
                </a:lnTo>
                <a:lnTo>
                  <a:pt x="4608004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35" dirty="0"/>
              <a:t>Geometric </a:t>
            </a:r>
            <a:r>
              <a:rPr spc="-65" dirty="0"/>
              <a:t>Sequences</a:t>
            </a:r>
          </a:p>
        </p:txBody>
      </p:sp>
      <p:pic>
        <p:nvPic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627341"/>
            <a:ext cx="65265" cy="65265"/>
          </a:xfrm>
          <a:prstGeom prst="rect">
            <a:avLst/>
          </a:prstGeom>
        </p:spPr>
      </p:pic>
      <p:pic>
        <p:nvPicPr>
          <p:cNvPr id="5" name="object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1181519"/>
            <a:ext cx="65265" cy="65265"/>
          </a:xfrm>
          <a:prstGeom prst="rect">
            <a:avLst/>
          </a:prstGeom>
        </p:spPr>
      </p:pic>
      <p:pic>
        <p:nvPic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089" y="1976107"/>
            <a:ext cx="65265" cy="65265"/>
          </a:xfrm>
          <a:prstGeom prst="rect">
            <a:avLst/>
          </a:prstGeom>
        </p:spPr>
      </p:pic>
      <p:pic>
        <p:nvPicPr>
          <p:cNvPr id="7" name="object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81089" y="2598610"/>
            <a:ext cx="65265" cy="65265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339432" y="543888"/>
            <a:ext cx="4206240" cy="258318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76200" marR="68580">
              <a:lnSpc>
                <a:spcPct val="102600"/>
              </a:lnSpc>
              <a:spcBef>
                <a:spcPts val="55"/>
              </a:spcBef>
            </a:pPr>
            <a:r>
              <a:rPr sz="1100" spc="55" dirty="0">
                <a:latin typeface="Tahoma"/>
                <a:cs typeface="Tahoma"/>
              </a:rPr>
              <a:t>A</a:t>
            </a:r>
            <a:r>
              <a:rPr sz="1100" spc="-90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sequence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like:</a:t>
            </a:r>
            <a:r>
              <a:rPr sz="1100" spc="8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2</a:t>
            </a:r>
            <a:r>
              <a:rPr sz="1100" i="1" spc="-3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30" dirty="0">
                <a:latin typeface="Tahoma"/>
                <a:cs typeface="Tahoma"/>
              </a:rPr>
              <a:t>6</a:t>
            </a:r>
            <a:r>
              <a:rPr sz="1100" i="1" spc="-3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18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54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20" dirty="0">
                <a:latin typeface="Arial"/>
                <a:cs typeface="Arial"/>
              </a:rPr>
              <a:t> </a:t>
            </a:r>
            <a:r>
              <a:rPr sz="1100" spc="-45" dirty="0">
                <a:latin typeface="Tahoma"/>
                <a:cs typeface="Tahoma"/>
              </a:rPr>
              <a:t>has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difference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70" dirty="0">
                <a:latin typeface="Tahoma"/>
                <a:cs typeface="Tahoma"/>
              </a:rPr>
              <a:t>between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terms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that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is </a:t>
            </a:r>
            <a:r>
              <a:rPr sz="1100" dirty="0">
                <a:latin typeface="Tahoma"/>
                <a:cs typeface="Tahoma"/>
              </a:rPr>
              <a:t>not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constant,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70" dirty="0">
                <a:latin typeface="Tahoma"/>
                <a:cs typeface="Tahoma"/>
              </a:rPr>
              <a:t>however,</a:t>
            </a:r>
            <a:r>
              <a:rPr sz="1100" spc="-20" dirty="0">
                <a:latin typeface="Tahoma"/>
                <a:cs typeface="Tahoma"/>
              </a:rPr>
              <a:t> the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b="1" spc="-20" dirty="0">
                <a:latin typeface="Trebuchet MS"/>
                <a:cs typeface="Trebuchet MS"/>
              </a:rPr>
              <a:t>ratio</a:t>
            </a:r>
            <a:r>
              <a:rPr sz="1100" b="1" spc="-15" dirty="0">
                <a:latin typeface="Trebuchet MS"/>
                <a:cs typeface="Trebuchet MS"/>
              </a:rPr>
              <a:t> </a:t>
            </a:r>
            <a:r>
              <a:rPr sz="1100" spc="-70" dirty="0">
                <a:latin typeface="Tahoma"/>
                <a:cs typeface="Tahoma"/>
              </a:rPr>
              <a:t>between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successive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terms</a:t>
            </a:r>
            <a:r>
              <a:rPr sz="1100" spc="-25" dirty="0">
                <a:latin typeface="Tahoma"/>
                <a:cs typeface="Tahoma"/>
              </a:rPr>
              <a:t> is constant.</a:t>
            </a:r>
            <a:r>
              <a:rPr sz="1100" spc="5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It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b="1" spc="-30" dirty="0">
                <a:solidFill>
                  <a:srgbClr val="FF0000"/>
                </a:solidFill>
                <a:latin typeface="Trebuchet MS"/>
                <a:cs typeface="Trebuchet MS"/>
              </a:rPr>
              <a:t>geometric</a:t>
            </a:r>
            <a:r>
              <a:rPr sz="1100" b="1" spc="-35" dirty="0">
                <a:solidFill>
                  <a:srgbClr val="FF0000"/>
                </a:solidFill>
                <a:latin typeface="Trebuchet MS"/>
                <a:cs typeface="Trebuchet MS"/>
              </a:rPr>
              <a:t> </a:t>
            </a:r>
            <a:r>
              <a:rPr sz="1100" spc="-10" dirty="0">
                <a:solidFill>
                  <a:srgbClr val="FF0000"/>
                </a:solidFill>
                <a:latin typeface="Tahoma"/>
                <a:cs typeface="Tahoma"/>
              </a:rPr>
              <a:t>sequence</a:t>
            </a:r>
            <a:r>
              <a:rPr sz="1100" spc="-10" dirty="0">
                <a:latin typeface="Tahoma"/>
                <a:cs typeface="Tahoma"/>
              </a:rPr>
              <a:t>.</a:t>
            </a:r>
            <a:endParaRPr sz="1100" dirty="0">
              <a:latin typeface="Tahoma"/>
              <a:cs typeface="Tahoma"/>
            </a:endParaRPr>
          </a:p>
          <a:p>
            <a:pPr marL="76200">
              <a:lnSpc>
                <a:spcPct val="100000"/>
              </a:lnSpc>
              <a:spcBef>
                <a:spcPts val="335"/>
              </a:spcBef>
            </a:pPr>
            <a:r>
              <a:rPr sz="1100" dirty="0">
                <a:latin typeface="Tahoma"/>
                <a:cs typeface="Tahoma"/>
              </a:rPr>
              <a:t>The</a:t>
            </a:r>
            <a:r>
              <a:rPr sz="1100" spc="-45" dirty="0">
                <a:latin typeface="Tahoma"/>
                <a:cs typeface="Tahoma"/>
              </a:rPr>
              <a:t> recursive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definition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for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geometric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sequence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with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initial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term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i="1" spc="-50" dirty="0">
                <a:latin typeface="Arial"/>
                <a:cs typeface="Arial"/>
              </a:rPr>
              <a:t>a</a:t>
            </a:r>
            <a:endParaRPr sz="1100" dirty="0">
              <a:latin typeface="Arial"/>
              <a:cs typeface="Arial"/>
            </a:endParaRPr>
          </a:p>
          <a:p>
            <a:pPr marL="76200">
              <a:lnSpc>
                <a:spcPct val="100000"/>
              </a:lnSpc>
              <a:spcBef>
                <a:spcPts val="35"/>
              </a:spcBef>
            </a:pP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common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ration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r</a:t>
            </a:r>
            <a:r>
              <a:rPr sz="1100" i="1" spc="140" dirty="0">
                <a:latin typeface="Arial"/>
                <a:cs typeface="Arial"/>
              </a:rPr>
              <a:t> </a:t>
            </a:r>
            <a:r>
              <a:rPr sz="1100" spc="-25" dirty="0">
                <a:latin typeface="Tahoma"/>
                <a:cs typeface="Tahoma"/>
              </a:rPr>
              <a:t>is:</a:t>
            </a:r>
            <a:endParaRPr sz="1100" dirty="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  <a:spcBef>
                <a:spcPts val="1130"/>
              </a:spcBef>
              <a:tabLst>
                <a:tab pos="882650" algn="l"/>
              </a:tabLst>
            </a:pPr>
            <a:r>
              <a:rPr sz="1100" i="1" dirty="0">
                <a:latin typeface="Arial"/>
                <a:cs typeface="Arial"/>
              </a:rPr>
              <a:t>a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200" i="1" spc="172" baseline="-10416" dirty="0">
                <a:latin typeface="Constantia"/>
                <a:cs typeface="Constantia"/>
              </a:rPr>
              <a:t> </a:t>
            </a:r>
            <a:r>
              <a:rPr sz="1100" dirty="0">
                <a:latin typeface="Tahoma"/>
                <a:cs typeface="Tahoma"/>
              </a:rPr>
              <a:t>=</a:t>
            </a:r>
            <a:r>
              <a:rPr sz="1100" spc="-85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a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200" baseline="-10416" dirty="0">
                <a:latin typeface="Lucida Sans Unicode"/>
                <a:cs typeface="Lucida Sans Unicode"/>
              </a:rPr>
              <a:t>−</a:t>
            </a:r>
            <a:r>
              <a:rPr sz="1200" baseline="-10416" dirty="0">
                <a:latin typeface="Tahoma"/>
                <a:cs typeface="Tahoma"/>
              </a:rPr>
              <a:t>1 </a:t>
            </a:r>
            <a:r>
              <a:rPr sz="1100" dirty="0">
                <a:latin typeface="Cambria"/>
                <a:cs typeface="Cambria"/>
              </a:rPr>
              <a:t>·</a:t>
            </a:r>
            <a:r>
              <a:rPr sz="1100" spc="-35" dirty="0">
                <a:latin typeface="Cambria"/>
                <a:cs typeface="Cambria"/>
              </a:rPr>
              <a:t> </a:t>
            </a:r>
            <a:r>
              <a:rPr sz="1100" i="1" spc="-50" dirty="0">
                <a:latin typeface="Arial"/>
                <a:cs typeface="Arial"/>
              </a:rPr>
              <a:t>r</a:t>
            </a:r>
            <a:r>
              <a:rPr sz="1100" i="1" dirty="0">
                <a:latin typeface="Arial"/>
                <a:cs typeface="Arial"/>
              </a:rPr>
              <a:t>	a</a:t>
            </a:r>
            <a:r>
              <a:rPr sz="1200" baseline="-10416" dirty="0">
                <a:latin typeface="Tahoma"/>
                <a:cs typeface="Tahoma"/>
              </a:rPr>
              <a:t>0</a:t>
            </a:r>
            <a:r>
              <a:rPr sz="1200" spc="89" baseline="-10416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=</a:t>
            </a:r>
            <a:r>
              <a:rPr sz="1100" spc="-70" dirty="0">
                <a:latin typeface="Tahoma"/>
                <a:cs typeface="Tahoma"/>
              </a:rPr>
              <a:t> </a:t>
            </a:r>
            <a:r>
              <a:rPr sz="1100" i="1" spc="-50" dirty="0">
                <a:latin typeface="Arial"/>
                <a:cs typeface="Arial"/>
              </a:rPr>
              <a:t>a</a:t>
            </a:r>
            <a:endParaRPr sz="1100" dirty="0">
              <a:latin typeface="Arial"/>
              <a:cs typeface="Arial"/>
            </a:endParaRPr>
          </a:p>
          <a:p>
            <a:pPr marL="76200">
              <a:lnSpc>
                <a:spcPct val="100000"/>
              </a:lnSpc>
              <a:spcBef>
                <a:spcPts val="1130"/>
              </a:spcBef>
            </a:pPr>
            <a:r>
              <a:rPr sz="1100" dirty="0">
                <a:latin typeface="Tahoma"/>
                <a:cs typeface="Tahoma"/>
              </a:rPr>
              <a:t>The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closed </a:t>
            </a:r>
            <a:r>
              <a:rPr sz="1100" spc="-35" dirty="0">
                <a:latin typeface="Tahoma"/>
                <a:cs typeface="Tahoma"/>
              </a:rPr>
              <a:t>formula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for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this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sequence</a:t>
            </a:r>
            <a:r>
              <a:rPr sz="1100" spc="-25" dirty="0">
                <a:latin typeface="Tahoma"/>
                <a:cs typeface="Tahoma"/>
              </a:rPr>
              <a:t> is:</a:t>
            </a:r>
            <a:endParaRPr sz="1100" dirty="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  <a:spcBef>
                <a:spcPts val="1130"/>
              </a:spcBef>
            </a:pPr>
            <a:r>
              <a:rPr sz="1100" i="1" dirty="0">
                <a:latin typeface="Arial"/>
                <a:cs typeface="Arial"/>
              </a:rPr>
              <a:t>a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200" i="1" spc="195" baseline="-10416" dirty="0">
                <a:latin typeface="Constantia"/>
                <a:cs typeface="Constantia"/>
              </a:rPr>
              <a:t> </a:t>
            </a:r>
            <a:r>
              <a:rPr sz="1100" dirty="0">
                <a:latin typeface="Tahoma"/>
                <a:cs typeface="Tahoma"/>
              </a:rPr>
              <a:t>=</a:t>
            </a:r>
            <a:r>
              <a:rPr sz="1100" spc="-60" dirty="0">
                <a:latin typeface="Tahoma"/>
                <a:cs typeface="Tahoma"/>
              </a:rPr>
              <a:t> </a:t>
            </a:r>
            <a:r>
              <a:rPr sz="1100" i="1" spc="-100" dirty="0">
                <a:latin typeface="Arial"/>
                <a:cs typeface="Arial"/>
              </a:rPr>
              <a:t>a</a:t>
            </a:r>
            <a:r>
              <a:rPr sz="1100" i="1" spc="-55" dirty="0">
                <a:latin typeface="Arial"/>
                <a:cs typeface="Arial"/>
              </a:rPr>
              <a:t> </a:t>
            </a:r>
            <a:r>
              <a:rPr sz="1100" dirty="0">
                <a:latin typeface="Cambria"/>
                <a:cs typeface="Cambria"/>
              </a:rPr>
              <a:t>·</a:t>
            </a:r>
            <a:r>
              <a:rPr sz="1100" spc="-10" dirty="0">
                <a:latin typeface="Cambria"/>
                <a:cs typeface="Cambria"/>
              </a:rPr>
              <a:t> </a:t>
            </a:r>
            <a:r>
              <a:rPr sz="1100" i="1" spc="25" dirty="0">
                <a:latin typeface="Arial"/>
                <a:cs typeface="Arial"/>
              </a:rPr>
              <a:t>r</a:t>
            </a:r>
            <a:r>
              <a:rPr sz="1200" i="1" spc="37" baseline="31250" dirty="0">
                <a:latin typeface="Constantia"/>
                <a:cs typeface="Constantia"/>
              </a:rPr>
              <a:t>n</a:t>
            </a:r>
            <a:endParaRPr sz="1200" baseline="31250" dirty="0">
              <a:latin typeface="Constantia"/>
              <a:cs typeface="Constantia"/>
            </a:endParaRPr>
          </a:p>
          <a:p>
            <a:pPr marL="76200" marR="130810">
              <a:lnSpc>
                <a:spcPct val="102600"/>
              </a:lnSpc>
              <a:spcBef>
                <a:spcPts val="1100"/>
              </a:spcBef>
            </a:pPr>
            <a:r>
              <a:rPr sz="1100" dirty="0">
                <a:latin typeface="Tahoma"/>
                <a:cs typeface="Tahoma"/>
              </a:rPr>
              <a:t>The</a:t>
            </a:r>
            <a:r>
              <a:rPr sz="1100" spc="-9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sequence:</a:t>
            </a:r>
            <a:r>
              <a:rPr sz="1100" spc="10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3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6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12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24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48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30" dirty="0">
                <a:latin typeface="Arial"/>
                <a:cs typeface="Arial"/>
              </a:rPr>
              <a:t> </a:t>
            </a:r>
            <a:r>
              <a:rPr sz="1100" spc="-45" dirty="0">
                <a:latin typeface="Tahoma"/>
                <a:cs typeface="Tahoma"/>
              </a:rPr>
              <a:t>has</a:t>
            </a:r>
            <a:r>
              <a:rPr sz="1100" spc="-10" dirty="0">
                <a:latin typeface="Tahoma"/>
                <a:cs typeface="Tahoma"/>
              </a:rPr>
              <a:t> the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common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ration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r</a:t>
            </a:r>
            <a:r>
              <a:rPr sz="1100" i="1" spc="85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=</a:t>
            </a:r>
            <a:r>
              <a:rPr sz="1100" spc="-6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2.</a:t>
            </a:r>
            <a:r>
              <a:rPr sz="1100" spc="10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The </a:t>
            </a:r>
            <a:r>
              <a:rPr sz="1100" spc="-45" dirty="0">
                <a:latin typeface="Tahoma"/>
                <a:cs typeface="Tahoma"/>
              </a:rPr>
              <a:t>recursive </a:t>
            </a:r>
            <a:r>
              <a:rPr sz="1100" spc="-25" dirty="0">
                <a:latin typeface="Tahoma"/>
                <a:cs typeface="Tahoma"/>
              </a:rPr>
              <a:t>definition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is:</a:t>
            </a:r>
            <a:r>
              <a:rPr sz="1100" spc="60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a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200" i="1" spc="172" baseline="-10416" dirty="0">
                <a:latin typeface="Constantia"/>
                <a:cs typeface="Constantia"/>
              </a:rPr>
              <a:t> </a:t>
            </a:r>
            <a:r>
              <a:rPr sz="1100" dirty="0">
                <a:latin typeface="Tahoma"/>
                <a:cs typeface="Tahoma"/>
              </a:rPr>
              <a:t>=</a:t>
            </a:r>
            <a:r>
              <a:rPr sz="1100" spc="-8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2</a:t>
            </a:r>
            <a:r>
              <a:rPr sz="1100" i="1" spc="-10" dirty="0">
                <a:latin typeface="Arial"/>
                <a:cs typeface="Arial"/>
              </a:rPr>
              <a:t>a</a:t>
            </a:r>
            <a:r>
              <a:rPr sz="1200" i="1" spc="-15" baseline="-10416" dirty="0">
                <a:latin typeface="Constantia"/>
                <a:cs typeface="Constantia"/>
              </a:rPr>
              <a:t>n</a:t>
            </a:r>
            <a:r>
              <a:rPr sz="1200" spc="-15" baseline="-10416" dirty="0">
                <a:latin typeface="Lucida Sans Unicode"/>
                <a:cs typeface="Lucida Sans Unicode"/>
              </a:rPr>
              <a:t>−</a:t>
            </a:r>
            <a:r>
              <a:rPr sz="1200" spc="-15" baseline="-10416" dirty="0">
                <a:latin typeface="Tahoma"/>
                <a:cs typeface="Tahoma"/>
              </a:rPr>
              <a:t>1</a:t>
            </a:r>
            <a:r>
              <a:rPr sz="1200" spc="142" baseline="-10416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with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a</a:t>
            </a:r>
            <a:r>
              <a:rPr sz="1200" baseline="-10416" dirty="0">
                <a:latin typeface="Tahoma"/>
                <a:cs typeface="Tahoma"/>
              </a:rPr>
              <a:t>0</a:t>
            </a:r>
            <a:r>
              <a:rPr sz="1200" spc="67" baseline="-10416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=</a:t>
            </a:r>
            <a:r>
              <a:rPr sz="1100" spc="-8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3.</a:t>
            </a:r>
            <a:r>
              <a:rPr sz="1100" spc="6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See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Example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2.2.2.</a:t>
            </a:r>
            <a:endParaRPr sz="1100" dirty="0">
              <a:latin typeface="Tahoma"/>
              <a:cs typeface="Tahoma"/>
            </a:endParaRPr>
          </a:p>
          <a:p>
            <a:pPr marL="76200">
              <a:lnSpc>
                <a:spcPct val="100000"/>
              </a:lnSpc>
              <a:spcBef>
                <a:spcPts val="630"/>
              </a:spcBef>
            </a:pPr>
            <a:r>
              <a:rPr sz="1100" dirty="0">
                <a:latin typeface="Tahoma"/>
                <a:cs typeface="Tahoma"/>
              </a:rPr>
              <a:t>The</a:t>
            </a:r>
            <a:r>
              <a:rPr sz="1100" spc="-7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closed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formula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is:</a:t>
            </a:r>
            <a:r>
              <a:rPr sz="1100" spc="70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a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200" i="1" spc="179" baseline="-10416" dirty="0">
                <a:latin typeface="Constantia"/>
                <a:cs typeface="Constantia"/>
              </a:rPr>
              <a:t> </a:t>
            </a:r>
            <a:r>
              <a:rPr sz="1100" dirty="0">
                <a:latin typeface="Tahoma"/>
                <a:cs typeface="Tahoma"/>
              </a:rPr>
              <a:t>=</a:t>
            </a:r>
            <a:r>
              <a:rPr sz="1100" spc="-8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3</a:t>
            </a:r>
            <a:r>
              <a:rPr sz="1100" spc="-105" dirty="0">
                <a:latin typeface="Tahoma"/>
                <a:cs typeface="Tahoma"/>
              </a:rPr>
              <a:t> </a:t>
            </a:r>
            <a:r>
              <a:rPr sz="1100" dirty="0">
                <a:latin typeface="Cambria"/>
                <a:cs typeface="Cambria"/>
              </a:rPr>
              <a:t>·</a:t>
            </a:r>
            <a:r>
              <a:rPr sz="1100" spc="-30" dirty="0">
                <a:latin typeface="Cambria"/>
                <a:cs typeface="Cambria"/>
              </a:rPr>
              <a:t> </a:t>
            </a:r>
            <a:r>
              <a:rPr sz="1100" spc="-25" dirty="0">
                <a:latin typeface="Tahoma"/>
                <a:cs typeface="Tahoma"/>
              </a:rPr>
              <a:t>2</a:t>
            </a:r>
            <a:r>
              <a:rPr sz="1200" i="1" spc="-37" baseline="27777" dirty="0">
                <a:latin typeface="Constantia"/>
                <a:cs typeface="Constantia"/>
              </a:rPr>
              <a:t>n</a:t>
            </a:r>
            <a:endParaRPr sz="1200" baseline="27777" dirty="0">
              <a:latin typeface="Constantia"/>
              <a:cs typeface="Constantia"/>
            </a:endParaRPr>
          </a:p>
        </p:txBody>
      </p: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-12"/>
            <a:ext cx="4608195" cy="350520"/>
          </a:xfrm>
          <a:custGeom>
            <a:avLst/>
            <a:gdLst/>
            <a:ahLst/>
            <a:cxnLst/>
            <a:rect l="l" t="t" r="r" b="b"/>
            <a:pathLst>
              <a:path w="4608195" h="350520">
                <a:moveTo>
                  <a:pt x="4608004" y="0"/>
                </a:moveTo>
                <a:lnTo>
                  <a:pt x="0" y="0"/>
                </a:lnTo>
                <a:lnTo>
                  <a:pt x="0" y="350126"/>
                </a:lnTo>
                <a:lnTo>
                  <a:pt x="4608004" y="350126"/>
                </a:lnTo>
                <a:lnTo>
                  <a:pt x="4608004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40" dirty="0"/>
              <a:t>Sums</a:t>
            </a:r>
            <a:r>
              <a:rPr spc="-60" dirty="0"/>
              <a:t> </a:t>
            </a:r>
            <a:r>
              <a:rPr dirty="0"/>
              <a:t>of</a:t>
            </a:r>
            <a:r>
              <a:rPr spc="-60" dirty="0"/>
              <a:t> </a:t>
            </a:r>
            <a:r>
              <a:rPr dirty="0"/>
              <a:t>Arithmetic</a:t>
            </a:r>
            <a:r>
              <a:rPr spc="-55" dirty="0"/>
              <a:t> </a:t>
            </a:r>
            <a:r>
              <a:rPr spc="-30" dirty="0"/>
              <a:t>and</a:t>
            </a:r>
            <a:r>
              <a:rPr spc="-60" dirty="0"/>
              <a:t> </a:t>
            </a:r>
            <a:r>
              <a:rPr spc="-35" dirty="0"/>
              <a:t>Geometric</a:t>
            </a:r>
            <a:r>
              <a:rPr spc="-55" dirty="0"/>
              <a:t> Sequences</a:t>
            </a:r>
          </a:p>
        </p:txBody>
      </p:sp>
      <p:pic>
        <p:nvPic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743648"/>
            <a:ext cx="65265" cy="65265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352132" y="660208"/>
            <a:ext cx="4175125" cy="193675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63500" marR="158750">
              <a:lnSpc>
                <a:spcPct val="102600"/>
              </a:lnSpc>
              <a:spcBef>
                <a:spcPts val="55"/>
              </a:spcBef>
            </a:pPr>
            <a:r>
              <a:rPr sz="1100" dirty="0">
                <a:latin typeface="Tahoma"/>
                <a:cs typeface="Tahoma"/>
              </a:rPr>
              <a:t>The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sequence</a:t>
            </a:r>
            <a:r>
              <a:rPr sz="1100" dirty="0">
                <a:latin typeface="Tahoma"/>
                <a:cs typeface="Tahoma"/>
              </a:rPr>
              <a:t> (</a:t>
            </a:r>
            <a:r>
              <a:rPr sz="1100" i="1" dirty="0">
                <a:latin typeface="Arial"/>
                <a:cs typeface="Arial"/>
              </a:rPr>
              <a:t>T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100" dirty="0">
                <a:latin typeface="Tahoma"/>
                <a:cs typeface="Tahoma"/>
              </a:rPr>
              <a:t>)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200" baseline="-10416" dirty="0">
                <a:latin typeface="Lucida Sans Unicode"/>
                <a:cs typeface="Lucida Sans Unicode"/>
              </a:rPr>
              <a:t>≥</a:t>
            </a:r>
            <a:r>
              <a:rPr sz="1200" baseline="-10416" dirty="0">
                <a:latin typeface="Tahoma"/>
                <a:cs typeface="Tahoma"/>
              </a:rPr>
              <a:t>1</a:t>
            </a:r>
            <a:r>
              <a:rPr sz="1200" spc="209" baseline="-10416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that </a:t>
            </a:r>
            <a:r>
              <a:rPr sz="1100" spc="-25" dirty="0">
                <a:latin typeface="Tahoma"/>
                <a:cs typeface="Tahoma"/>
              </a:rPr>
              <a:t>starts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1</a:t>
            </a:r>
            <a:r>
              <a:rPr sz="1100" i="1" spc="-3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3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6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10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15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40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is not </a:t>
            </a:r>
            <a:r>
              <a:rPr sz="1100" spc="-10" dirty="0">
                <a:latin typeface="Tahoma"/>
                <a:cs typeface="Tahoma"/>
              </a:rPr>
              <a:t>arithmetic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not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geometric.</a:t>
            </a:r>
            <a:endParaRPr sz="1100" dirty="0">
              <a:latin typeface="Tahoma"/>
              <a:cs typeface="Tahoma"/>
            </a:endParaRPr>
          </a:p>
          <a:p>
            <a:pPr marL="63500" marR="55880">
              <a:lnSpc>
                <a:spcPct val="102600"/>
              </a:lnSpc>
              <a:spcBef>
                <a:spcPts val="300"/>
              </a:spcBef>
            </a:pPr>
            <a:r>
              <a:rPr sz="1100" dirty="0">
                <a:latin typeface="Tahoma"/>
                <a:cs typeface="Tahoma"/>
              </a:rPr>
              <a:t>Note</a:t>
            </a:r>
            <a:r>
              <a:rPr sz="1100" spc="-6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that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i="1" spc="-55" dirty="0">
                <a:latin typeface="Arial"/>
                <a:cs typeface="Arial"/>
              </a:rPr>
              <a:t>differences</a:t>
            </a:r>
            <a:r>
              <a:rPr sz="1100" i="1" dirty="0">
                <a:latin typeface="Arial"/>
                <a:cs typeface="Arial"/>
              </a:rPr>
              <a:t> </a:t>
            </a:r>
            <a:r>
              <a:rPr sz="1100" spc="-70" dirty="0">
                <a:latin typeface="Tahoma"/>
                <a:cs typeface="Tahoma"/>
              </a:rPr>
              <a:t>between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terms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form </a:t>
            </a:r>
            <a:r>
              <a:rPr sz="1100" dirty="0">
                <a:latin typeface="Tahoma"/>
                <a:cs typeface="Tahoma"/>
              </a:rPr>
              <a:t>an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arithmetic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sequence: </a:t>
            </a:r>
            <a:r>
              <a:rPr sz="1100" spc="-30" dirty="0">
                <a:latin typeface="Tahoma"/>
                <a:cs typeface="Tahoma"/>
              </a:rPr>
              <a:t>2</a:t>
            </a:r>
            <a:r>
              <a:rPr sz="1100" i="1" spc="-3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30" dirty="0">
                <a:latin typeface="Tahoma"/>
                <a:cs typeface="Tahoma"/>
              </a:rPr>
              <a:t>3</a:t>
            </a:r>
            <a:r>
              <a:rPr sz="1100" i="1" spc="-3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30" dirty="0">
                <a:latin typeface="Tahoma"/>
                <a:cs typeface="Tahoma"/>
              </a:rPr>
              <a:t>4</a:t>
            </a:r>
            <a:r>
              <a:rPr sz="1100" i="1" spc="-3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30" dirty="0">
                <a:latin typeface="Tahoma"/>
                <a:cs typeface="Tahoma"/>
              </a:rPr>
              <a:t>5</a:t>
            </a:r>
            <a:r>
              <a:rPr sz="1100" i="1" spc="-3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30" dirty="0">
                <a:latin typeface="Tahoma"/>
                <a:cs typeface="Tahoma"/>
              </a:rPr>
              <a:t>6</a:t>
            </a:r>
            <a:r>
              <a:rPr sz="1100" i="1" spc="-3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spc="-25" dirty="0">
                <a:latin typeface="Arial"/>
                <a:cs typeface="Arial"/>
              </a:rPr>
              <a:t>.</a:t>
            </a:r>
            <a:r>
              <a:rPr sz="1100" spc="-25" dirty="0">
                <a:latin typeface="Tahoma"/>
                <a:cs typeface="Tahoma"/>
              </a:rPr>
              <a:t>.</a:t>
            </a:r>
            <a:endParaRPr sz="1100" dirty="0">
              <a:latin typeface="Tahoma"/>
              <a:cs typeface="Tahoma"/>
            </a:endParaRPr>
          </a:p>
          <a:p>
            <a:pPr marL="63500" marR="81915">
              <a:lnSpc>
                <a:spcPct val="102600"/>
              </a:lnSpc>
              <a:spcBef>
                <a:spcPts val="300"/>
              </a:spcBef>
            </a:pPr>
            <a:r>
              <a:rPr sz="1100" dirty="0">
                <a:latin typeface="Tahoma"/>
                <a:cs typeface="Tahoma"/>
              </a:rPr>
              <a:t>This</a:t>
            </a:r>
            <a:r>
              <a:rPr sz="1100" spc="-60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means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that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n</a:t>
            </a:r>
            <a:r>
              <a:rPr sz="1100" dirty="0">
                <a:latin typeface="Tahoma"/>
                <a:cs typeface="Tahoma"/>
              </a:rPr>
              <a:t>th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term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sequence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(</a:t>
            </a:r>
            <a:r>
              <a:rPr sz="1100" i="1" dirty="0">
                <a:latin typeface="Arial"/>
                <a:cs typeface="Arial"/>
              </a:rPr>
              <a:t>T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100" dirty="0">
                <a:latin typeface="Tahoma"/>
                <a:cs typeface="Tahoma"/>
              </a:rPr>
              <a:t>)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i="1" spc="-50" dirty="0">
                <a:latin typeface="Arial"/>
                <a:cs typeface="Arial"/>
              </a:rPr>
              <a:t>sum</a:t>
            </a:r>
            <a:r>
              <a:rPr sz="1100" i="1" spc="5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the </a:t>
            </a:r>
            <a:r>
              <a:rPr sz="1100" dirty="0">
                <a:latin typeface="Tahoma"/>
                <a:cs typeface="Tahoma"/>
              </a:rPr>
              <a:t>first</a:t>
            </a:r>
            <a:r>
              <a:rPr sz="1100" spc="-90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n</a:t>
            </a:r>
            <a:r>
              <a:rPr sz="1100" i="1" spc="-20" dirty="0">
                <a:latin typeface="Arial"/>
                <a:cs typeface="Arial"/>
              </a:rPr>
              <a:t> </a:t>
            </a:r>
            <a:r>
              <a:rPr sz="1100" spc="-30" dirty="0">
                <a:latin typeface="Tahoma"/>
                <a:cs typeface="Tahoma"/>
              </a:rPr>
              <a:t>terms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sequence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1</a:t>
            </a:r>
            <a:r>
              <a:rPr sz="1100" i="1" spc="-3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2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3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4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5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spc="-50" dirty="0">
                <a:latin typeface="Arial"/>
                <a:cs typeface="Arial"/>
              </a:rPr>
              <a:t>.</a:t>
            </a:r>
            <a:endParaRPr sz="1100" dirty="0">
              <a:latin typeface="Arial"/>
              <a:cs typeface="Arial"/>
            </a:endParaRPr>
          </a:p>
          <a:p>
            <a:pPr marL="63500">
              <a:lnSpc>
                <a:spcPct val="100000"/>
              </a:lnSpc>
              <a:spcBef>
                <a:spcPts val="334"/>
              </a:spcBef>
            </a:pPr>
            <a:r>
              <a:rPr sz="1100" dirty="0">
                <a:latin typeface="Tahoma"/>
                <a:cs typeface="Tahoma"/>
              </a:rPr>
              <a:t>(</a:t>
            </a:r>
            <a:r>
              <a:rPr sz="1100" i="1" dirty="0">
                <a:latin typeface="Arial"/>
                <a:cs typeface="Arial"/>
              </a:rPr>
              <a:t>T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100" dirty="0">
                <a:latin typeface="Tahoma"/>
                <a:cs typeface="Tahoma"/>
              </a:rPr>
              <a:t>)</a:t>
            </a:r>
            <a:r>
              <a:rPr sz="1100" spc="-9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6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b="1" spc="-40" dirty="0">
                <a:latin typeface="Trebuchet MS"/>
                <a:cs typeface="Trebuchet MS"/>
              </a:rPr>
              <a:t>sequence</a:t>
            </a:r>
            <a:r>
              <a:rPr sz="1100" b="1" spc="20" dirty="0">
                <a:latin typeface="Trebuchet MS"/>
                <a:cs typeface="Trebuchet MS"/>
              </a:rPr>
              <a:t> </a:t>
            </a:r>
            <a:r>
              <a:rPr sz="1100" b="1" dirty="0">
                <a:latin typeface="Trebuchet MS"/>
                <a:cs typeface="Trebuchet MS"/>
              </a:rPr>
              <a:t>of</a:t>
            </a:r>
            <a:r>
              <a:rPr sz="1100" b="1" spc="15" dirty="0">
                <a:latin typeface="Trebuchet MS"/>
                <a:cs typeface="Trebuchet MS"/>
              </a:rPr>
              <a:t> </a:t>
            </a:r>
            <a:r>
              <a:rPr sz="1100" b="1" spc="-25" dirty="0">
                <a:latin typeface="Trebuchet MS"/>
                <a:cs typeface="Trebuchet MS"/>
              </a:rPr>
              <a:t>partial</a:t>
            </a:r>
            <a:r>
              <a:rPr sz="1100" b="1" spc="20" dirty="0">
                <a:latin typeface="Trebuchet MS"/>
                <a:cs typeface="Trebuchet MS"/>
              </a:rPr>
              <a:t> </a:t>
            </a:r>
            <a:r>
              <a:rPr sz="1100" b="1" dirty="0">
                <a:latin typeface="Trebuchet MS"/>
                <a:cs typeface="Trebuchet MS"/>
              </a:rPr>
              <a:t>sums</a:t>
            </a:r>
            <a:r>
              <a:rPr sz="1100" b="1" spc="-15" dirty="0">
                <a:latin typeface="Trebuchet MS"/>
                <a:cs typeface="Trebuchet MS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sequence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1</a:t>
            </a:r>
            <a:r>
              <a:rPr sz="1100" i="1" spc="-3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2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3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spc="-50" dirty="0">
                <a:latin typeface="Arial"/>
                <a:cs typeface="Arial"/>
              </a:rPr>
              <a:t>.</a:t>
            </a:r>
            <a:endParaRPr sz="11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20"/>
              </a:spcBef>
            </a:pPr>
            <a:endParaRPr sz="1100" dirty="0">
              <a:latin typeface="Arial"/>
              <a:cs typeface="Arial"/>
            </a:endParaRPr>
          </a:p>
          <a:p>
            <a:pPr marL="3175" algn="ctr">
              <a:lnSpc>
                <a:spcPct val="100000"/>
              </a:lnSpc>
              <a:spcBef>
                <a:spcPts val="5"/>
              </a:spcBef>
            </a:pPr>
            <a:r>
              <a:rPr sz="1100" i="1" dirty="0">
                <a:latin typeface="Arial"/>
                <a:cs typeface="Arial"/>
              </a:rPr>
              <a:t>T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200" i="1" spc="300" baseline="-10416" dirty="0">
                <a:latin typeface="Constantia"/>
                <a:cs typeface="Constantia"/>
              </a:rPr>
              <a:t> </a:t>
            </a:r>
            <a:r>
              <a:rPr sz="1100" dirty="0">
                <a:latin typeface="Tahoma"/>
                <a:cs typeface="Tahoma"/>
              </a:rPr>
              <a:t>=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1</a:t>
            </a:r>
            <a:r>
              <a:rPr sz="1100" spc="-8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+</a:t>
            </a:r>
            <a:r>
              <a:rPr sz="1100" spc="-8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2</a:t>
            </a:r>
            <a:r>
              <a:rPr sz="1100" spc="-8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+</a:t>
            </a:r>
            <a:r>
              <a:rPr sz="1100" spc="-8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3</a:t>
            </a:r>
            <a:r>
              <a:rPr sz="1100" spc="-8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+</a:t>
            </a:r>
            <a:r>
              <a:rPr sz="1100" spc="-85" dirty="0">
                <a:latin typeface="Tahoma"/>
                <a:cs typeface="Tahoma"/>
              </a:rPr>
              <a:t> </a:t>
            </a:r>
            <a:r>
              <a:rPr sz="1100" spc="-20" dirty="0">
                <a:latin typeface="Cambria"/>
                <a:cs typeface="Cambria"/>
              </a:rPr>
              <a:t>·</a:t>
            </a:r>
            <a:r>
              <a:rPr sz="1100" spc="-45" dirty="0">
                <a:latin typeface="Cambria"/>
                <a:cs typeface="Cambria"/>
              </a:rPr>
              <a:t> </a:t>
            </a:r>
            <a:r>
              <a:rPr sz="1100" spc="-20" dirty="0">
                <a:latin typeface="Cambria"/>
                <a:cs typeface="Cambria"/>
              </a:rPr>
              <a:t>·</a:t>
            </a:r>
            <a:r>
              <a:rPr sz="1100" spc="-50" dirty="0">
                <a:latin typeface="Cambria"/>
                <a:cs typeface="Cambria"/>
              </a:rPr>
              <a:t> </a:t>
            </a:r>
            <a:r>
              <a:rPr sz="1100" dirty="0">
                <a:latin typeface="Cambria"/>
                <a:cs typeface="Cambria"/>
              </a:rPr>
              <a:t>·</a:t>
            </a:r>
            <a:r>
              <a:rPr sz="1100" spc="20" dirty="0">
                <a:latin typeface="Cambria"/>
                <a:cs typeface="Cambria"/>
              </a:rPr>
              <a:t> </a:t>
            </a:r>
            <a:r>
              <a:rPr sz="1100" dirty="0">
                <a:latin typeface="Tahoma"/>
                <a:cs typeface="Tahoma"/>
              </a:rPr>
              <a:t>+</a:t>
            </a:r>
            <a:r>
              <a:rPr sz="1100" spc="-85" dirty="0">
                <a:latin typeface="Tahoma"/>
                <a:cs typeface="Tahoma"/>
              </a:rPr>
              <a:t> </a:t>
            </a:r>
            <a:r>
              <a:rPr sz="1100" i="1" spc="-50" dirty="0">
                <a:latin typeface="Arial"/>
                <a:cs typeface="Arial"/>
              </a:rPr>
              <a:t>n</a:t>
            </a:r>
            <a:endParaRPr sz="1100" dirty="0">
              <a:latin typeface="Arial"/>
              <a:cs typeface="Arial"/>
            </a:endParaRPr>
          </a:p>
          <a:p>
            <a:pPr marL="63500">
              <a:lnSpc>
                <a:spcPct val="100000"/>
              </a:lnSpc>
              <a:spcBef>
                <a:spcPts val="680"/>
              </a:spcBef>
            </a:pPr>
            <a:r>
              <a:rPr sz="1100" spc="-60" dirty="0">
                <a:latin typeface="Tahoma"/>
                <a:cs typeface="Tahoma"/>
              </a:rPr>
              <a:t>In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general,</a:t>
            </a:r>
            <a:endParaRPr sz="1100" dirty="0">
              <a:latin typeface="Tahoma"/>
              <a:cs typeface="Tahoma"/>
            </a:endParaRPr>
          </a:p>
        </p:txBody>
      </p:sp>
      <p:pic>
        <p:nvPic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1125766"/>
            <a:ext cx="65265" cy="65265"/>
          </a:xfrm>
          <a:prstGeom prst="rect">
            <a:avLst/>
          </a:prstGeom>
        </p:spPr>
      </p:pic>
      <p:pic>
        <p:nvPicPr>
          <p:cNvPr id="7" name="object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089" y="1507871"/>
            <a:ext cx="65265" cy="65265"/>
          </a:xfrm>
          <a:prstGeom prst="rect">
            <a:avLst/>
          </a:prstGeom>
        </p:spPr>
      </p:pic>
      <p:pic>
        <p:nvPicPr>
          <p:cNvPr id="8" name="object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81089" y="1889975"/>
            <a:ext cx="65265" cy="65265"/>
          </a:xfrm>
          <a:prstGeom prst="rect">
            <a:avLst/>
          </a:prstGeom>
        </p:spPr>
      </p:pic>
      <p:pic>
        <p:nvPicPr>
          <p:cNvPr id="9" name="object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81089" y="2488438"/>
            <a:ext cx="65265" cy="65265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1970760" y="2642221"/>
            <a:ext cx="38036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latin typeface="Arial"/>
                <a:cs typeface="Arial"/>
              </a:rPr>
              <a:t>T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200" i="1" spc="322" baseline="-10416" dirty="0">
                <a:latin typeface="Constantia"/>
                <a:cs typeface="Constantia"/>
              </a:rPr>
              <a:t> </a:t>
            </a:r>
            <a:r>
              <a:rPr sz="1100" spc="-50" dirty="0">
                <a:latin typeface="Tahoma"/>
                <a:cs typeface="Tahoma"/>
              </a:rPr>
              <a:t>=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353894" y="2548495"/>
            <a:ext cx="52006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i="1" spc="-40" dirty="0">
                <a:latin typeface="Arial"/>
                <a:cs typeface="Arial"/>
              </a:rPr>
              <a:t>n</a:t>
            </a:r>
            <a:r>
              <a:rPr sz="1100" spc="-40" dirty="0">
                <a:latin typeface="Tahoma"/>
                <a:cs typeface="Tahoma"/>
              </a:rPr>
              <a:t>(</a:t>
            </a:r>
            <a:r>
              <a:rPr sz="1100" i="1" spc="-40" dirty="0">
                <a:latin typeface="Arial"/>
                <a:cs typeface="Arial"/>
              </a:rPr>
              <a:t>n</a:t>
            </a:r>
            <a:r>
              <a:rPr sz="1100" i="1" spc="-15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+</a:t>
            </a:r>
            <a:r>
              <a:rPr sz="1100" spc="-7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1)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12" name="object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366594" y="2758833"/>
            <a:ext cx="494665" cy="0"/>
          </a:xfrm>
          <a:custGeom>
            <a:avLst/>
            <a:gdLst/>
            <a:ahLst/>
            <a:cxnLst/>
            <a:rect l="l" t="t" r="r" b="b"/>
            <a:pathLst>
              <a:path w="494664">
                <a:moveTo>
                  <a:pt x="0" y="0"/>
                </a:moveTo>
                <a:lnTo>
                  <a:pt x="494449" y="0"/>
                </a:lnTo>
              </a:path>
            </a:pathLst>
          </a:custGeom>
          <a:ln w="553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2566492" y="2737255"/>
            <a:ext cx="9525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50" dirty="0">
                <a:latin typeface="Tahoma"/>
                <a:cs typeface="Tahoma"/>
              </a:rPr>
              <a:t>2</a:t>
            </a:r>
            <a:endParaRPr sz="1100">
              <a:latin typeface="Tahoma"/>
              <a:cs typeface="Tahoma"/>
            </a:endParaRPr>
          </a:p>
        </p:txBody>
      </p: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-12"/>
            <a:ext cx="4608195" cy="350520"/>
          </a:xfrm>
          <a:custGeom>
            <a:avLst/>
            <a:gdLst/>
            <a:ahLst/>
            <a:cxnLst/>
            <a:rect l="l" t="t" r="r" b="b"/>
            <a:pathLst>
              <a:path w="4608195" h="350520">
                <a:moveTo>
                  <a:pt x="4608004" y="0"/>
                </a:moveTo>
                <a:lnTo>
                  <a:pt x="0" y="0"/>
                </a:lnTo>
                <a:lnTo>
                  <a:pt x="0" y="350126"/>
                </a:lnTo>
                <a:lnTo>
                  <a:pt x="4608004" y="350126"/>
                </a:lnTo>
                <a:lnTo>
                  <a:pt x="4608004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More</a:t>
            </a:r>
            <a:r>
              <a:rPr spc="-65" dirty="0"/>
              <a:t> </a:t>
            </a:r>
            <a:r>
              <a:rPr spc="-35" dirty="0"/>
              <a:t>Complex</a:t>
            </a:r>
            <a:r>
              <a:rPr spc="-65" dirty="0"/>
              <a:t> </a:t>
            </a:r>
            <a:r>
              <a:rPr spc="-60" dirty="0"/>
              <a:t>Sequences</a:t>
            </a:r>
          </a:p>
        </p:txBody>
      </p:sp>
      <p:pic>
        <p:nvPic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743966"/>
            <a:ext cx="65265" cy="65265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377532" y="660513"/>
            <a:ext cx="3791585" cy="231267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 marR="177165" algn="just">
              <a:lnSpc>
                <a:spcPct val="102600"/>
              </a:lnSpc>
              <a:spcBef>
                <a:spcPts val="55"/>
              </a:spcBef>
            </a:pPr>
            <a:r>
              <a:rPr sz="1100" spc="-15" dirty="0">
                <a:latin typeface="Tahoma"/>
                <a:cs typeface="Tahoma"/>
              </a:rPr>
              <a:t>The</a:t>
            </a:r>
            <a:r>
              <a:rPr sz="1100" spc="20" dirty="0">
                <a:latin typeface="Tahoma"/>
                <a:cs typeface="Tahoma"/>
              </a:rPr>
              <a:t> </a:t>
            </a:r>
            <a:r>
              <a:rPr sz="1100" spc="-70" dirty="0">
                <a:latin typeface="Tahoma"/>
                <a:cs typeface="Tahoma"/>
              </a:rPr>
              <a:t>sequence</a:t>
            </a:r>
            <a:r>
              <a:rPr sz="1100" spc="20" dirty="0">
                <a:latin typeface="Tahoma"/>
                <a:cs typeface="Tahoma"/>
              </a:rPr>
              <a:t> </a:t>
            </a:r>
            <a:r>
              <a:rPr sz="1100" spc="-15" dirty="0">
                <a:latin typeface="Cambria"/>
                <a:cs typeface="Cambria"/>
              </a:rPr>
              <a:t>⟨</a:t>
            </a:r>
            <a:r>
              <a:rPr sz="1100" spc="-15" dirty="0">
                <a:latin typeface="Tahoma"/>
                <a:cs typeface="Tahoma"/>
              </a:rPr>
              <a:t>1</a:t>
            </a:r>
            <a:r>
              <a:rPr sz="1100" i="1" spc="-15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35" dirty="0">
                <a:latin typeface="Tahoma"/>
                <a:cs typeface="Tahoma"/>
              </a:rPr>
              <a:t>5</a:t>
            </a:r>
            <a:r>
              <a:rPr sz="1100" i="1" spc="-35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14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30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60" dirty="0">
                <a:latin typeface="Tahoma"/>
                <a:cs typeface="Tahoma"/>
              </a:rPr>
              <a:t>55</a:t>
            </a:r>
            <a:r>
              <a:rPr sz="1100" spc="-165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spc="10" dirty="0">
                <a:latin typeface="Arial"/>
                <a:cs typeface="Arial"/>
              </a:rPr>
              <a:t>.</a:t>
            </a:r>
            <a:r>
              <a:rPr sz="1100" spc="10" dirty="0">
                <a:latin typeface="Cambria"/>
                <a:cs typeface="Cambria"/>
              </a:rPr>
              <a:t>⟩</a:t>
            </a:r>
            <a:r>
              <a:rPr sz="1100" spc="114" dirty="0">
                <a:latin typeface="Cambria"/>
                <a:cs typeface="Cambria"/>
              </a:rPr>
              <a:t> </a:t>
            </a:r>
            <a:r>
              <a:rPr sz="1100" spc="-35" dirty="0">
                <a:latin typeface="Tahoma"/>
                <a:cs typeface="Tahoma"/>
              </a:rPr>
              <a:t>is</a:t>
            </a:r>
            <a:r>
              <a:rPr sz="1100" spc="1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not</a:t>
            </a:r>
            <a:r>
              <a:rPr sz="1100" spc="2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arithmetic</a:t>
            </a:r>
            <a:r>
              <a:rPr sz="1100" spc="20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and</a:t>
            </a:r>
            <a:r>
              <a:rPr sz="1100" spc="2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is</a:t>
            </a:r>
            <a:r>
              <a:rPr sz="1100" spc="2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not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geometric;</a:t>
            </a:r>
            <a:r>
              <a:rPr sz="1100" spc="20" dirty="0">
                <a:latin typeface="Tahoma"/>
                <a:cs typeface="Tahoma"/>
              </a:rPr>
              <a:t> </a:t>
            </a:r>
            <a:r>
              <a:rPr sz="1100" spc="-15" dirty="0">
                <a:latin typeface="Tahoma"/>
                <a:cs typeface="Tahoma"/>
              </a:rPr>
              <a:t>its</a:t>
            </a:r>
            <a:r>
              <a:rPr sz="1100" spc="20" dirty="0">
                <a:latin typeface="Tahoma"/>
                <a:cs typeface="Tahoma"/>
              </a:rPr>
              <a:t> </a:t>
            </a:r>
            <a:r>
              <a:rPr sz="1100" spc="-70" dirty="0">
                <a:latin typeface="Tahoma"/>
                <a:cs typeface="Tahoma"/>
              </a:rPr>
              <a:t>sequence</a:t>
            </a:r>
            <a:r>
              <a:rPr sz="1100" spc="2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of</a:t>
            </a:r>
            <a:r>
              <a:rPr sz="1100" spc="15" dirty="0">
                <a:latin typeface="Tahoma"/>
                <a:cs typeface="Tahoma"/>
              </a:rPr>
              <a:t> </a:t>
            </a:r>
            <a:r>
              <a:rPr sz="1100" b="1" spc="-60" dirty="0">
                <a:latin typeface="Trebuchet MS"/>
                <a:cs typeface="Trebuchet MS"/>
              </a:rPr>
              <a:t>differences</a:t>
            </a:r>
            <a:r>
              <a:rPr sz="1100" b="1" spc="25" dirty="0">
                <a:latin typeface="Trebuchet MS"/>
                <a:cs typeface="Trebuchet MS"/>
              </a:rPr>
              <a:t> </a:t>
            </a:r>
            <a:r>
              <a:rPr sz="1100" spc="-30" dirty="0">
                <a:latin typeface="Tahoma"/>
                <a:cs typeface="Tahoma"/>
              </a:rPr>
              <a:t>might</a:t>
            </a:r>
            <a:r>
              <a:rPr sz="1100" spc="1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be</a:t>
            </a:r>
            <a:r>
              <a:rPr sz="1100" spc="2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arithmetic</a:t>
            </a:r>
            <a:r>
              <a:rPr sz="1100" spc="20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or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geometric.</a:t>
            </a:r>
            <a:endParaRPr sz="1100" dirty="0">
              <a:latin typeface="Tahoma"/>
              <a:cs typeface="Tahoma"/>
            </a:endParaRPr>
          </a:p>
          <a:p>
            <a:pPr marL="38100" algn="just">
              <a:lnSpc>
                <a:spcPct val="100000"/>
              </a:lnSpc>
              <a:spcBef>
                <a:spcPts val="335"/>
              </a:spcBef>
            </a:pPr>
            <a:r>
              <a:rPr sz="1100" dirty="0">
                <a:latin typeface="Tahoma"/>
                <a:cs typeface="Tahoma"/>
              </a:rPr>
              <a:t>The</a:t>
            </a:r>
            <a:r>
              <a:rPr sz="1100" spc="-90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sequence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differences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is:</a:t>
            </a:r>
            <a:r>
              <a:rPr sz="1100" spc="95" dirty="0">
                <a:latin typeface="Tahoma"/>
                <a:cs typeface="Tahoma"/>
              </a:rPr>
              <a:t> </a:t>
            </a:r>
            <a:r>
              <a:rPr sz="1100" spc="-20" dirty="0">
                <a:latin typeface="Cambria"/>
                <a:cs typeface="Cambria"/>
              </a:rPr>
              <a:t>⟨</a:t>
            </a:r>
            <a:r>
              <a:rPr sz="1100" spc="-20" dirty="0">
                <a:latin typeface="Tahoma"/>
                <a:cs typeface="Tahoma"/>
              </a:rPr>
              <a:t>4</a:t>
            </a:r>
            <a:r>
              <a:rPr sz="1100" i="1" spc="-2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30" dirty="0">
                <a:latin typeface="Tahoma"/>
                <a:cs typeface="Tahoma"/>
              </a:rPr>
              <a:t>9</a:t>
            </a:r>
            <a:r>
              <a:rPr sz="1100" i="1" spc="-3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16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25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spc="-25" dirty="0">
                <a:latin typeface="Arial"/>
                <a:cs typeface="Arial"/>
              </a:rPr>
              <a:t>.</a:t>
            </a:r>
            <a:r>
              <a:rPr sz="1100" spc="-25" dirty="0">
                <a:latin typeface="Cambria"/>
                <a:cs typeface="Cambria"/>
              </a:rPr>
              <a:t>⟩</a:t>
            </a:r>
            <a:r>
              <a:rPr sz="1100" spc="-25" dirty="0">
                <a:latin typeface="Tahoma"/>
                <a:cs typeface="Tahoma"/>
              </a:rPr>
              <a:t>.</a:t>
            </a:r>
            <a:endParaRPr sz="1100" dirty="0">
              <a:latin typeface="Tahoma"/>
              <a:cs typeface="Tahoma"/>
            </a:endParaRPr>
          </a:p>
          <a:p>
            <a:pPr marL="38100" marR="151765">
              <a:lnSpc>
                <a:spcPct val="102600"/>
              </a:lnSpc>
              <a:spcBef>
                <a:spcPts val="300"/>
              </a:spcBef>
            </a:pPr>
            <a:r>
              <a:rPr sz="1100" dirty="0">
                <a:latin typeface="Tahoma"/>
                <a:cs typeface="Tahoma"/>
              </a:rPr>
              <a:t>This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sequence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not</a:t>
            </a:r>
            <a:r>
              <a:rPr sz="1100" spc="-25" dirty="0">
                <a:latin typeface="Tahoma"/>
                <a:cs typeface="Tahoma"/>
              </a:rPr>
              <a:t> arithmetic </a:t>
            </a:r>
            <a:r>
              <a:rPr sz="1100" spc="-55" dirty="0">
                <a:latin typeface="Tahoma"/>
                <a:cs typeface="Tahoma"/>
              </a:rPr>
              <a:t>because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its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differences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are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not </a:t>
            </a:r>
            <a:r>
              <a:rPr sz="1100" spc="-10" dirty="0">
                <a:latin typeface="Tahoma"/>
                <a:cs typeface="Tahoma"/>
              </a:rPr>
              <a:t>constant</a:t>
            </a:r>
            <a:endParaRPr sz="1100" dirty="0">
              <a:latin typeface="Tahoma"/>
              <a:cs typeface="Tahoma"/>
            </a:endParaRPr>
          </a:p>
          <a:p>
            <a:pPr marL="38100" marR="34290">
              <a:lnSpc>
                <a:spcPct val="102699"/>
              </a:lnSpc>
              <a:spcBef>
                <a:spcPts val="295"/>
              </a:spcBef>
            </a:pPr>
            <a:r>
              <a:rPr sz="1100" dirty="0">
                <a:latin typeface="Tahoma"/>
                <a:cs typeface="Tahoma"/>
              </a:rPr>
              <a:t>The</a:t>
            </a:r>
            <a:r>
              <a:rPr sz="1100" spc="-9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second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differences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is:</a:t>
            </a:r>
            <a:r>
              <a:rPr sz="1100" spc="90" dirty="0">
                <a:latin typeface="Tahoma"/>
                <a:cs typeface="Tahoma"/>
              </a:rPr>
              <a:t> </a:t>
            </a:r>
            <a:r>
              <a:rPr sz="1100" spc="-20" dirty="0">
                <a:latin typeface="Cambria"/>
                <a:cs typeface="Cambria"/>
              </a:rPr>
              <a:t>⟨</a:t>
            </a:r>
            <a:r>
              <a:rPr sz="1100" spc="-20" dirty="0">
                <a:latin typeface="Tahoma"/>
                <a:cs typeface="Tahoma"/>
              </a:rPr>
              <a:t>5</a:t>
            </a:r>
            <a:r>
              <a:rPr sz="1100" i="1" spc="-2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30" dirty="0">
                <a:latin typeface="Tahoma"/>
                <a:cs typeface="Tahoma"/>
              </a:rPr>
              <a:t>7</a:t>
            </a:r>
            <a:r>
              <a:rPr sz="1100" i="1" spc="-3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30" dirty="0">
                <a:latin typeface="Tahoma"/>
                <a:cs typeface="Tahoma"/>
              </a:rPr>
              <a:t>9</a:t>
            </a:r>
            <a:r>
              <a:rPr sz="1100" i="1" spc="-3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dirty="0">
                <a:latin typeface="Cambria"/>
                <a:cs typeface="Cambria"/>
              </a:rPr>
              <a:t>⟩</a:t>
            </a:r>
            <a:r>
              <a:rPr sz="1100" spc="80" dirty="0">
                <a:latin typeface="Cambria"/>
                <a:cs typeface="Cambri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an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arithmetic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sequence </a:t>
            </a:r>
            <a:r>
              <a:rPr sz="1100" spc="-55" dirty="0">
                <a:latin typeface="Tahoma"/>
                <a:cs typeface="Tahoma"/>
              </a:rPr>
              <a:t>because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differences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are</a:t>
            </a:r>
            <a:r>
              <a:rPr sz="1100" spc="-25" dirty="0">
                <a:latin typeface="Tahoma"/>
                <a:cs typeface="Tahoma"/>
              </a:rPr>
              <a:t> constant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with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value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2.</a:t>
            </a:r>
            <a:endParaRPr sz="1100" dirty="0">
              <a:latin typeface="Tahoma"/>
              <a:cs typeface="Tahoma"/>
            </a:endParaRPr>
          </a:p>
          <a:p>
            <a:pPr marL="38100" marR="882015">
              <a:lnSpc>
                <a:spcPct val="125299"/>
              </a:lnSpc>
            </a:pPr>
            <a:r>
              <a:rPr sz="1100" dirty="0">
                <a:latin typeface="Tahoma"/>
                <a:cs typeface="Tahoma"/>
              </a:rPr>
              <a:t>The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first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sequence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had </a:t>
            </a:r>
            <a:r>
              <a:rPr sz="1100" dirty="0">
                <a:latin typeface="Tahoma"/>
                <a:cs typeface="Tahoma"/>
              </a:rPr>
              <a:t>third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differences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constant. </a:t>
            </a:r>
            <a:r>
              <a:rPr sz="1100" dirty="0">
                <a:latin typeface="Tahoma"/>
                <a:cs typeface="Tahoma"/>
              </a:rPr>
              <a:t>This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original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sequence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known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as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dirty="0">
                <a:latin typeface="Cambria"/>
                <a:cs typeface="Cambria"/>
              </a:rPr>
              <a:t>Δ</a:t>
            </a:r>
            <a:r>
              <a:rPr sz="1200" baseline="27777" dirty="0">
                <a:latin typeface="Tahoma"/>
                <a:cs typeface="Tahoma"/>
              </a:rPr>
              <a:t>3</a:t>
            </a:r>
            <a:r>
              <a:rPr sz="1100" dirty="0">
                <a:latin typeface="Cambria"/>
                <a:cs typeface="Cambria"/>
              </a:rPr>
              <a:t>—</a:t>
            </a:r>
            <a:r>
              <a:rPr sz="1100" spc="-10" dirty="0">
                <a:latin typeface="Tahoma"/>
                <a:cs typeface="Tahoma"/>
              </a:rPr>
              <a:t>constant</a:t>
            </a:r>
            <a:endParaRPr sz="1100" dirty="0">
              <a:latin typeface="Tahoma"/>
              <a:cs typeface="Tahoma"/>
            </a:endParaRPr>
          </a:p>
          <a:p>
            <a:pPr marL="38100" marR="30480">
              <a:lnSpc>
                <a:spcPct val="102600"/>
              </a:lnSpc>
              <a:spcBef>
                <a:spcPts val="300"/>
              </a:spcBef>
            </a:pPr>
            <a:r>
              <a:rPr sz="1100" spc="-60" dirty="0">
                <a:latin typeface="Tahoma"/>
                <a:cs typeface="Tahoma"/>
              </a:rPr>
              <a:t>In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general,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sequence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155" dirty="0">
                <a:latin typeface="Cambria"/>
                <a:cs typeface="Cambria"/>
              </a:rPr>
              <a:t>Δ</a:t>
            </a:r>
            <a:r>
              <a:rPr sz="1200" i="1" spc="232" baseline="27777" dirty="0">
                <a:latin typeface="Constantia"/>
                <a:cs typeface="Constantia"/>
              </a:rPr>
              <a:t>k</a:t>
            </a:r>
            <a:r>
              <a:rPr sz="1200" i="1" spc="-112" baseline="27777" dirty="0">
                <a:latin typeface="Constantia"/>
                <a:cs typeface="Constantia"/>
              </a:rPr>
              <a:t> </a:t>
            </a:r>
            <a:r>
              <a:rPr sz="1100" spc="-254" dirty="0">
                <a:latin typeface="Cambria"/>
                <a:cs typeface="Cambria"/>
              </a:rPr>
              <a:t>—</a:t>
            </a:r>
            <a:r>
              <a:rPr sz="1100" spc="-25" dirty="0">
                <a:latin typeface="Tahoma"/>
                <a:cs typeface="Tahoma"/>
              </a:rPr>
              <a:t>constant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if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k</a:t>
            </a:r>
            <a:r>
              <a:rPr sz="1100" dirty="0">
                <a:latin typeface="Tahoma"/>
                <a:cs typeface="Tahoma"/>
              </a:rPr>
              <a:t>th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differences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are </a:t>
            </a:r>
            <a:r>
              <a:rPr sz="1100" spc="-10" dirty="0">
                <a:latin typeface="Tahoma"/>
                <a:cs typeface="Tahoma"/>
              </a:rPr>
              <a:t>constant</a:t>
            </a:r>
            <a:endParaRPr sz="1100" dirty="0">
              <a:latin typeface="Tahoma"/>
              <a:cs typeface="Tahoma"/>
            </a:endParaRPr>
          </a:p>
        </p:txBody>
      </p:sp>
      <p:pic>
        <p:nvPic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1298143"/>
            <a:ext cx="65265" cy="65265"/>
          </a:xfrm>
          <a:prstGeom prst="rect">
            <a:avLst/>
          </a:prstGeom>
        </p:spPr>
      </p:pic>
      <p:pic>
        <p:nvPicPr>
          <p:cNvPr id="7" name="object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089" y="1508175"/>
            <a:ext cx="65265" cy="65265"/>
          </a:xfrm>
          <a:prstGeom prst="rect">
            <a:avLst/>
          </a:prstGeom>
        </p:spPr>
      </p:pic>
      <p:pic>
        <p:nvPicPr>
          <p:cNvPr id="8" name="object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81089" y="1890280"/>
            <a:ext cx="65265" cy="65265"/>
          </a:xfrm>
          <a:prstGeom prst="rect">
            <a:avLst/>
          </a:prstGeom>
        </p:spPr>
      </p:pic>
      <p:pic>
        <p:nvPicPr>
          <p:cNvPr id="9" name="object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81089" y="2272385"/>
            <a:ext cx="65265" cy="65265"/>
          </a:xfrm>
          <a:prstGeom prst="rect">
            <a:avLst/>
          </a:prstGeom>
        </p:spPr>
      </p:pic>
      <p:pic>
        <p:nvPicPr>
          <p:cNvPr id="10" name="object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281089" y="2482418"/>
            <a:ext cx="65265" cy="65265"/>
          </a:xfrm>
          <a:prstGeom prst="rect">
            <a:avLst/>
          </a:prstGeom>
        </p:spPr>
      </p:pic>
      <p:pic>
        <p:nvPicPr>
          <p:cNvPr id="11" name="object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281089" y="2692450"/>
            <a:ext cx="65265" cy="65265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-12"/>
            <a:ext cx="4608195" cy="350520"/>
          </a:xfrm>
          <a:custGeom>
            <a:avLst/>
            <a:gdLst/>
            <a:ahLst/>
            <a:cxnLst/>
            <a:rect l="l" t="t" r="r" b="b"/>
            <a:pathLst>
              <a:path w="4608195" h="350520">
                <a:moveTo>
                  <a:pt x="4608004" y="0"/>
                </a:moveTo>
                <a:lnTo>
                  <a:pt x="0" y="0"/>
                </a:lnTo>
                <a:lnTo>
                  <a:pt x="0" y="350126"/>
                </a:lnTo>
                <a:lnTo>
                  <a:pt x="4608004" y="350126"/>
                </a:lnTo>
                <a:lnTo>
                  <a:pt x="4608004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Finite</a:t>
            </a:r>
            <a:r>
              <a:rPr spc="-40" dirty="0"/>
              <a:t> </a:t>
            </a:r>
            <a:r>
              <a:rPr spc="-50" dirty="0"/>
              <a:t>Differences</a:t>
            </a:r>
          </a:p>
        </p:txBody>
      </p:sp>
      <p:pic>
        <p:nvPic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970038"/>
            <a:ext cx="65265" cy="65265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377532" y="886585"/>
            <a:ext cx="3967479" cy="1720214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 marR="30480">
              <a:lnSpc>
                <a:spcPct val="102699"/>
              </a:lnSpc>
              <a:spcBef>
                <a:spcPts val="55"/>
              </a:spcBef>
            </a:pPr>
            <a:r>
              <a:rPr sz="1100" dirty="0">
                <a:latin typeface="Tahoma"/>
                <a:cs typeface="Tahoma"/>
              </a:rPr>
              <a:t>The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sequence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differences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70" dirty="0">
                <a:latin typeface="Tahoma"/>
                <a:cs typeface="Tahoma"/>
              </a:rPr>
              <a:t>between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terms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gives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information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about the</a:t>
            </a:r>
            <a:r>
              <a:rPr sz="1100" spc="-6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rate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growth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sequence</a:t>
            </a:r>
            <a:endParaRPr sz="1100" dirty="0">
              <a:latin typeface="Tahoma"/>
              <a:cs typeface="Tahoma"/>
            </a:endParaRPr>
          </a:p>
          <a:p>
            <a:pPr marL="38100" marR="66040">
              <a:lnSpc>
                <a:spcPct val="102600"/>
              </a:lnSpc>
              <a:spcBef>
                <a:spcPts val="300"/>
              </a:spcBef>
            </a:pPr>
            <a:r>
              <a:rPr sz="1100" dirty="0">
                <a:latin typeface="Tahoma"/>
                <a:cs typeface="Tahoma"/>
              </a:rPr>
              <a:t>The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closed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formula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for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sequence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will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be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70" dirty="0">
                <a:latin typeface="Tahoma"/>
                <a:cs typeface="Tahoma"/>
              </a:rPr>
              <a:t>degree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k</a:t>
            </a:r>
            <a:r>
              <a:rPr sz="1100" i="1" spc="90" dirty="0">
                <a:latin typeface="Arial"/>
                <a:cs typeface="Arial"/>
              </a:rPr>
              <a:t> </a:t>
            </a:r>
            <a:r>
              <a:rPr sz="1100" spc="-30" dirty="0">
                <a:latin typeface="Tahoma"/>
                <a:cs typeface="Tahoma"/>
              </a:rPr>
              <a:t>polynomial </a:t>
            </a:r>
            <a:r>
              <a:rPr sz="1100" spc="-25" dirty="0">
                <a:latin typeface="Tahoma"/>
                <a:cs typeface="Tahoma"/>
              </a:rPr>
              <a:t>if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only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if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sequence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155" dirty="0">
                <a:latin typeface="Cambria"/>
                <a:cs typeface="Cambria"/>
              </a:rPr>
              <a:t>Δ</a:t>
            </a:r>
            <a:r>
              <a:rPr sz="1200" i="1" spc="232" baseline="27777" dirty="0">
                <a:latin typeface="Constantia"/>
                <a:cs typeface="Constantia"/>
              </a:rPr>
              <a:t>k</a:t>
            </a:r>
            <a:r>
              <a:rPr sz="1200" i="1" spc="-112" baseline="27777" dirty="0">
                <a:latin typeface="Constantia"/>
                <a:cs typeface="Constantia"/>
              </a:rPr>
              <a:t> </a:t>
            </a:r>
            <a:r>
              <a:rPr sz="1100" spc="-254" dirty="0">
                <a:latin typeface="Cambria"/>
                <a:cs typeface="Cambria"/>
              </a:rPr>
              <a:t>—</a:t>
            </a:r>
            <a:r>
              <a:rPr sz="1100" spc="-10" dirty="0">
                <a:latin typeface="Tahoma"/>
                <a:cs typeface="Tahoma"/>
              </a:rPr>
              <a:t>constant</a:t>
            </a:r>
            <a:endParaRPr sz="1100" dirty="0">
              <a:latin typeface="Tahoma"/>
              <a:cs typeface="Tahoma"/>
            </a:endParaRPr>
          </a:p>
          <a:p>
            <a:pPr marL="38100" marR="439420">
              <a:lnSpc>
                <a:spcPct val="102600"/>
              </a:lnSpc>
              <a:spcBef>
                <a:spcPts val="300"/>
              </a:spcBef>
            </a:pPr>
            <a:r>
              <a:rPr sz="1100" spc="-30" dirty="0">
                <a:latin typeface="Tahoma"/>
                <a:cs typeface="Tahoma"/>
              </a:rPr>
              <a:t>If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sequence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dirty="0">
                <a:latin typeface="Cambria"/>
                <a:cs typeface="Cambria"/>
              </a:rPr>
              <a:t>Δ</a:t>
            </a:r>
            <a:r>
              <a:rPr sz="1200" baseline="27777" dirty="0">
                <a:latin typeface="Tahoma"/>
                <a:cs typeface="Tahoma"/>
              </a:rPr>
              <a:t>3</a:t>
            </a:r>
            <a:r>
              <a:rPr sz="1100" dirty="0">
                <a:latin typeface="Cambria"/>
                <a:cs typeface="Cambria"/>
              </a:rPr>
              <a:t>—</a:t>
            </a:r>
            <a:r>
              <a:rPr sz="1100" spc="-30" dirty="0">
                <a:latin typeface="Tahoma"/>
                <a:cs typeface="Tahoma"/>
              </a:rPr>
              <a:t>constant,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it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will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have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cubic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(degree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3 </a:t>
            </a:r>
            <a:r>
              <a:rPr sz="1100" spc="-35" dirty="0">
                <a:latin typeface="Tahoma"/>
                <a:cs typeface="Tahoma"/>
              </a:rPr>
              <a:t>ploynomial)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for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its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closed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formula</a:t>
            </a:r>
            <a:endParaRPr sz="1100" dirty="0">
              <a:latin typeface="Tahoma"/>
              <a:cs typeface="Tahoma"/>
            </a:endParaRPr>
          </a:p>
          <a:p>
            <a:pPr marL="38100" marR="99060">
              <a:lnSpc>
                <a:spcPct val="102600"/>
              </a:lnSpc>
              <a:spcBef>
                <a:spcPts val="295"/>
              </a:spcBef>
            </a:pPr>
            <a:r>
              <a:rPr sz="1100" spc="-30" dirty="0">
                <a:latin typeface="Tahoma"/>
                <a:cs typeface="Tahoma"/>
              </a:rPr>
              <a:t>If</a:t>
            </a:r>
            <a:r>
              <a:rPr sz="1100" spc="-6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closed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formula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70" dirty="0">
                <a:latin typeface="Tahoma"/>
                <a:cs typeface="Tahoma"/>
              </a:rPr>
              <a:t>degree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k</a:t>
            </a:r>
            <a:r>
              <a:rPr sz="1100" i="1" spc="95" dirty="0">
                <a:latin typeface="Arial"/>
                <a:cs typeface="Arial"/>
              </a:rPr>
              <a:t> </a:t>
            </a:r>
            <a:r>
              <a:rPr sz="1100" spc="-30" dirty="0">
                <a:latin typeface="Tahoma"/>
                <a:cs typeface="Tahoma"/>
              </a:rPr>
              <a:t>polynomial,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95" dirty="0">
                <a:latin typeface="Tahoma"/>
                <a:cs typeface="Tahoma"/>
              </a:rPr>
              <a:t>we</a:t>
            </a:r>
            <a:r>
              <a:rPr sz="1100" spc="1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just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need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k</a:t>
            </a:r>
            <a:r>
              <a:rPr sz="1100" i="1" spc="-15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+</a:t>
            </a:r>
            <a:r>
              <a:rPr sz="1100" spc="-10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1 </a:t>
            </a:r>
            <a:r>
              <a:rPr sz="1100" spc="-10" dirty="0">
                <a:latin typeface="Tahoma"/>
                <a:cs typeface="Tahoma"/>
              </a:rPr>
              <a:t>data</a:t>
            </a:r>
            <a:r>
              <a:rPr sz="1100" spc="-20" dirty="0">
                <a:latin typeface="Tahoma"/>
                <a:cs typeface="Tahoma"/>
              </a:rPr>
              <a:t> points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to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‘fit’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polynomial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to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data.</a:t>
            </a:r>
            <a:endParaRPr sz="1100" dirty="0">
              <a:latin typeface="Tahoma"/>
              <a:cs typeface="Tahoma"/>
            </a:endParaRPr>
          </a:p>
          <a:p>
            <a:pPr marL="38100">
              <a:lnSpc>
                <a:spcPct val="100000"/>
              </a:lnSpc>
              <a:spcBef>
                <a:spcPts val="335"/>
              </a:spcBef>
            </a:pPr>
            <a:r>
              <a:rPr sz="1100" spc="-45" dirty="0">
                <a:latin typeface="Tahoma"/>
                <a:cs typeface="Tahoma"/>
              </a:rPr>
              <a:t>See</a:t>
            </a:r>
            <a:r>
              <a:rPr sz="1100" spc="-35" dirty="0">
                <a:latin typeface="Tahoma"/>
                <a:cs typeface="Tahoma"/>
              </a:rPr>
              <a:t> Example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2.3.2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on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page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162</a:t>
            </a:r>
            <a:endParaRPr sz="1100" dirty="0">
              <a:latin typeface="Tahoma"/>
              <a:cs typeface="Tahoma"/>
            </a:endParaRPr>
          </a:p>
        </p:txBody>
      </p:sp>
      <p:pic>
        <p:nvPic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1352143"/>
            <a:ext cx="65265" cy="65265"/>
          </a:xfrm>
          <a:prstGeom prst="rect">
            <a:avLst/>
          </a:prstGeom>
        </p:spPr>
      </p:pic>
      <p:pic>
        <p:nvPicPr>
          <p:cNvPr id="7" name="object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089" y="1734248"/>
            <a:ext cx="65265" cy="65265"/>
          </a:xfrm>
          <a:prstGeom prst="rect">
            <a:avLst/>
          </a:prstGeom>
        </p:spPr>
      </p:pic>
      <p:pic>
        <p:nvPicPr>
          <p:cNvPr id="8" name="object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81089" y="2116366"/>
            <a:ext cx="65265" cy="65265"/>
          </a:xfrm>
          <a:prstGeom prst="rect">
            <a:avLst/>
          </a:prstGeom>
        </p:spPr>
      </p:pic>
      <p:pic>
        <p:nvPicPr>
          <p:cNvPr id="9" name="object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81089" y="2498471"/>
            <a:ext cx="65265" cy="65265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-12"/>
            <a:ext cx="4608195" cy="350520"/>
          </a:xfrm>
          <a:custGeom>
            <a:avLst/>
            <a:gdLst/>
            <a:ahLst/>
            <a:cxnLst/>
            <a:rect l="l" t="t" r="r" b="b"/>
            <a:pathLst>
              <a:path w="4608195" h="350520">
                <a:moveTo>
                  <a:pt x="4608004" y="0"/>
                </a:moveTo>
                <a:lnTo>
                  <a:pt x="0" y="0"/>
                </a:lnTo>
                <a:lnTo>
                  <a:pt x="0" y="350126"/>
                </a:lnTo>
                <a:lnTo>
                  <a:pt x="4608004" y="350126"/>
                </a:lnTo>
                <a:lnTo>
                  <a:pt x="4608004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25" dirty="0"/>
              <a:t>Solving</a:t>
            </a:r>
            <a:r>
              <a:rPr spc="-45" dirty="0"/>
              <a:t> </a:t>
            </a:r>
            <a:r>
              <a:rPr spc="-50" dirty="0"/>
              <a:t>Recurrence</a:t>
            </a:r>
            <a:r>
              <a:rPr spc="-45" dirty="0"/>
              <a:t> </a:t>
            </a:r>
            <a:r>
              <a:rPr spc="-25" dirty="0"/>
              <a:t>Relations</a:t>
            </a:r>
          </a:p>
        </p:txBody>
      </p:sp>
      <p:pic>
        <p:nvPic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970038"/>
            <a:ext cx="65265" cy="65265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377532" y="886585"/>
            <a:ext cx="4130040" cy="1720214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 marR="415925">
              <a:lnSpc>
                <a:spcPct val="102699"/>
              </a:lnSpc>
              <a:spcBef>
                <a:spcPts val="55"/>
              </a:spcBef>
            </a:pPr>
            <a:r>
              <a:rPr sz="1100" spc="55" dirty="0">
                <a:latin typeface="Tahoma"/>
                <a:cs typeface="Tahoma"/>
              </a:rPr>
              <a:t>A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recurrence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relation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recursive</a:t>
            </a:r>
            <a:r>
              <a:rPr sz="1100" spc="-25" dirty="0">
                <a:latin typeface="Tahoma"/>
                <a:cs typeface="Tahoma"/>
              </a:rPr>
              <a:t> definition</a:t>
            </a:r>
            <a:r>
              <a:rPr sz="1100" spc="-20" dirty="0">
                <a:latin typeface="Tahoma"/>
                <a:cs typeface="Tahoma"/>
              </a:rPr>
              <a:t> without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initial conditions</a:t>
            </a:r>
            <a:endParaRPr sz="1100" dirty="0">
              <a:latin typeface="Tahoma"/>
              <a:cs typeface="Tahoma"/>
            </a:endParaRPr>
          </a:p>
          <a:p>
            <a:pPr marL="38100">
              <a:lnSpc>
                <a:spcPct val="100000"/>
              </a:lnSpc>
              <a:spcBef>
                <a:spcPts val="334"/>
              </a:spcBef>
            </a:pPr>
            <a:r>
              <a:rPr sz="1100" spc="-10" dirty="0">
                <a:latin typeface="Tahoma"/>
                <a:cs typeface="Tahoma"/>
              </a:rPr>
              <a:t>For</a:t>
            </a:r>
            <a:r>
              <a:rPr sz="1100" spc="-8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7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sequence: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1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5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17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53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5" dirty="0">
                <a:latin typeface="Tahoma"/>
                <a:cs typeface="Tahoma"/>
              </a:rPr>
              <a:t>161</a:t>
            </a:r>
            <a:r>
              <a:rPr sz="1100" i="1" spc="-45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5" dirty="0">
                <a:latin typeface="Tahoma"/>
                <a:cs typeface="Tahoma"/>
              </a:rPr>
              <a:t>485</a:t>
            </a:r>
            <a:r>
              <a:rPr sz="1100" i="1" spc="-45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dirty="0">
                <a:latin typeface="Tahoma"/>
                <a:cs typeface="Tahoma"/>
              </a:rPr>
              <a:t>,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first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differences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is:</a:t>
            </a:r>
            <a:endParaRPr sz="1100" dirty="0">
              <a:latin typeface="Tahoma"/>
              <a:cs typeface="Tahoma"/>
            </a:endParaRPr>
          </a:p>
          <a:p>
            <a:pPr marL="38100">
              <a:lnSpc>
                <a:spcPct val="100000"/>
              </a:lnSpc>
              <a:spcBef>
                <a:spcPts val="30"/>
              </a:spcBef>
            </a:pPr>
            <a:r>
              <a:rPr sz="1100" spc="-30" dirty="0">
                <a:latin typeface="Tahoma"/>
                <a:cs typeface="Tahoma"/>
              </a:rPr>
              <a:t>4</a:t>
            </a:r>
            <a:r>
              <a:rPr sz="1100" i="1" spc="-3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5" dirty="0">
                <a:latin typeface="Tahoma"/>
                <a:cs typeface="Tahoma"/>
              </a:rPr>
              <a:t>123</a:t>
            </a:r>
            <a:r>
              <a:rPr sz="1100" i="1" spc="-45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0" dirty="0">
                <a:latin typeface="Tahoma"/>
                <a:cs typeface="Tahoma"/>
              </a:rPr>
              <a:t>36</a:t>
            </a:r>
            <a:r>
              <a:rPr sz="1100" i="1" spc="-40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spc="-45" dirty="0">
                <a:latin typeface="Tahoma"/>
                <a:cs typeface="Tahoma"/>
              </a:rPr>
              <a:t>108</a:t>
            </a:r>
            <a:r>
              <a:rPr sz="1100" i="1" spc="-45" dirty="0">
                <a:latin typeface="Arial"/>
                <a:cs typeface="Arial"/>
              </a:rPr>
              <a:t>,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.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i="1" spc="-50" dirty="0">
                <a:latin typeface="Arial"/>
                <a:cs typeface="Arial"/>
              </a:rPr>
              <a:t>.</a:t>
            </a:r>
            <a:endParaRPr sz="1100" dirty="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335"/>
              </a:spcBef>
            </a:pPr>
            <a:r>
              <a:rPr sz="1100" dirty="0">
                <a:latin typeface="Tahoma"/>
                <a:cs typeface="Tahoma"/>
              </a:rPr>
              <a:t>This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sequnce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geometric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with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comong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ratio </a:t>
            </a:r>
            <a:r>
              <a:rPr sz="1100" i="1" dirty="0">
                <a:latin typeface="Arial"/>
                <a:cs typeface="Arial"/>
              </a:rPr>
              <a:t>r</a:t>
            </a:r>
            <a:r>
              <a:rPr sz="1100" i="1" spc="80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=</a:t>
            </a:r>
            <a:r>
              <a:rPr sz="1100" spc="-6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3</a:t>
            </a:r>
            <a:endParaRPr sz="1100" dirty="0">
              <a:latin typeface="Tahoma"/>
              <a:cs typeface="Tahoma"/>
            </a:endParaRPr>
          </a:p>
          <a:p>
            <a:pPr marL="38100">
              <a:lnSpc>
                <a:spcPct val="100000"/>
              </a:lnSpc>
              <a:spcBef>
                <a:spcPts val="335"/>
              </a:spcBef>
            </a:pPr>
            <a:r>
              <a:rPr sz="1100" dirty="0">
                <a:latin typeface="Tahoma"/>
                <a:cs typeface="Tahoma"/>
              </a:rPr>
              <a:t>The</a:t>
            </a:r>
            <a:r>
              <a:rPr sz="1100" spc="-6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recurrence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relation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a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200" i="1" spc="179" baseline="-10416" dirty="0">
                <a:latin typeface="Constantia"/>
                <a:cs typeface="Constantia"/>
              </a:rPr>
              <a:t> </a:t>
            </a:r>
            <a:r>
              <a:rPr sz="1100" dirty="0">
                <a:latin typeface="Tahoma"/>
                <a:cs typeface="Tahoma"/>
              </a:rPr>
              <a:t>=</a:t>
            </a:r>
            <a:r>
              <a:rPr sz="1100" spc="-8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3</a:t>
            </a:r>
            <a:r>
              <a:rPr sz="1100" i="1" spc="-20" dirty="0">
                <a:latin typeface="Arial"/>
                <a:cs typeface="Arial"/>
              </a:rPr>
              <a:t>a</a:t>
            </a:r>
            <a:r>
              <a:rPr sz="1200" i="1" spc="-30" baseline="-10416" dirty="0">
                <a:latin typeface="Constantia"/>
                <a:cs typeface="Constantia"/>
              </a:rPr>
              <a:t>n</a:t>
            </a:r>
            <a:r>
              <a:rPr sz="1200" spc="-30" baseline="-10416" dirty="0">
                <a:latin typeface="Lucida Sans Unicode"/>
                <a:cs typeface="Lucida Sans Unicode"/>
              </a:rPr>
              <a:t>−</a:t>
            </a:r>
            <a:r>
              <a:rPr sz="1200" spc="-30" baseline="-10416" dirty="0">
                <a:latin typeface="Tahoma"/>
                <a:cs typeface="Tahoma"/>
              </a:rPr>
              <a:t>1</a:t>
            </a:r>
            <a:r>
              <a:rPr sz="1200" spc="7" baseline="-10416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+</a:t>
            </a:r>
            <a:r>
              <a:rPr sz="1100" spc="-10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2,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initial</a:t>
            </a:r>
            <a:r>
              <a:rPr sz="1100" spc="-25" dirty="0">
                <a:latin typeface="Tahoma"/>
                <a:cs typeface="Tahoma"/>
              </a:rPr>
              <a:t> condition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is</a:t>
            </a:r>
            <a:endParaRPr sz="1100" dirty="0">
              <a:latin typeface="Tahoma"/>
              <a:cs typeface="Tahoma"/>
            </a:endParaRPr>
          </a:p>
          <a:p>
            <a:pPr marL="38100">
              <a:lnSpc>
                <a:spcPct val="100000"/>
              </a:lnSpc>
              <a:spcBef>
                <a:spcPts val="35"/>
              </a:spcBef>
            </a:pPr>
            <a:r>
              <a:rPr sz="1100" i="1" dirty="0">
                <a:latin typeface="Arial"/>
                <a:cs typeface="Arial"/>
              </a:rPr>
              <a:t>a</a:t>
            </a:r>
            <a:r>
              <a:rPr sz="1200" baseline="-10416" dirty="0">
                <a:latin typeface="Tahoma"/>
                <a:cs typeface="Tahoma"/>
              </a:rPr>
              <a:t>0</a:t>
            </a:r>
            <a:r>
              <a:rPr sz="1200" spc="75" baseline="-10416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=</a:t>
            </a:r>
            <a:r>
              <a:rPr sz="1100" spc="-8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1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To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solve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this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recurrence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relation,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b="1" spc="-30" dirty="0">
                <a:latin typeface="Trebuchet MS"/>
                <a:cs typeface="Trebuchet MS"/>
              </a:rPr>
              <a:t>iteration</a:t>
            </a:r>
            <a:r>
              <a:rPr sz="1100" b="1" spc="-15" dirty="0">
                <a:latin typeface="Trebuchet MS"/>
                <a:cs typeface="Trebuchet MS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used</a:t>
            </a:r>
            <a:endParaRPr sz="1100" dirty="0">
              <a:latin typeface="Tahoma"/>
              <a:cs typeface="Tahoma"/>
            </a:endParaRPr>
          </a:p>
          <a:p>
            <a:pPr marL="38100" marR="30480">
              <a:lnSpc>
                <a:spcPct val="102600"/>
              </a:lnSpc>
              <a:spcBef>
                <a:spcPts val="300"/>
              </a:spcBef>
            </a:pPr>
            <a:r>
              <a:rPr sz="1100" spc="-20" dirty="0">
                <a:latin typeface="Tahoma"/>
                <a:cs typeface="Tahoma"/>
              </a:rPr>
              <a:t>Starting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with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the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known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initial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condition,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iterate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finding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the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next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term </a:t>
            </a:r>
            <a:r>
              <a:rPr sz="1100" dirty="0">
                <a:latin typeface="Tahoma"/>
                <a:cs typeface="Tahoma"/>
              </a:rPr>
              <a:t>until</a:t>
            </a:r>
            <a:r>
              <a:rPr sz="1100" spc="-60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a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200" i="1" spc="232" baseline="-10416" dirty="0">
                <a:latin typeface="Constantia"/>
                <a:cs typeface="Constanti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found.</a:t>
            </a:r>
            <a:r>
              <a:rPr sz="1100" spc="5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See </a:t>
            </a:r>
            <a:r>
              <a:rPr sz="1100" spc="-35" dirty="0">
                <a:latin typeface="Tahoma"/>
                <a:cs typeface="Tahoma"/>
              </a:rPr>
              <a:t>Example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2.4.4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Example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2.4.5</a:t>
            </a:r>
            <a:endParaRPr sz="1100" dirty="0">
              <a:latin typeface="Tahoma"/>
              <a:cs typeface="Tahoma"/>
            </a:endParaRPr>
          </a:p>
        </p:txBody>
      </p:sp>
      <p:pic>
        <p:nvPic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1352143"/>
            <a:ext cx="65265" cy="65265"/>
          </a:xfrm>
          <a:prstGeom prst="rect">
            <a:avLst/>
          </a:prstGeom>
        </p:spPr>
      </p:pic>
      <p:pic>
        <p:nvPicPr>
          <p:cNvPr id="7" name="object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089" y="1734248"/>
            <a:ext cx="65265" cy="65265"/>
          </a:xfrm>
          <a:prstGeom prst="rect">
            <a:avLst/>
          </a:prstGeom>
        </p:spPr>
      </p:pic>
      <p:pic>
        <p:nvPicPr>
          <p:cNvPr id="8" name="object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81089" y="1944281"/>
            <a:ext cx="65265" cy="65265"/>
          </a:xfrm>
          <a:prstGeom prst="rect">
            <a:avLst/>
          </a:prstGeom>
        </p:spPr>
      </p:pic>
      <p:pic>
        <p:nvPicPr>
          <p:cNvPr id="9" name="object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81089" y="2326398"/>
            <a:ext cx="65265" cy="65265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-12"/>
            <a:ext cx="4608195" cy="350520"/>
          </a:xfrm>
          <a:custGeom>
            <a:avLst/>
            <a:gdLst/>
            <a:ahLst/>
            <a:cxnLst/>
            <a:rect l="l" t="t" r="r" b="b"/>
            <a:pathLst>
              <a:path w="4608195" h="350520">
                <a:moveTo>
                  <a:pt x="4608004" y="0"/>
                </a:moveTo>
                <a:lnTo>
                  <a:pt x="0" y="0"/>
                </a:lnTo>
                <a:lnTo>
                  <a:pt x="0" y="350126"/>
                </a:lnTo>
                <a:lnTo>
                  <a:pt x="4608004" y="350126"/>
                </a:lnTo>
                <a:lnTo>
                  <a:pt x="4608004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25" dirty="0"/>
              <a:t>Characteristic</a:t>
            </a:r>
            <a:r>
              <a:rPr spc="-30" dirty="0"/>
              <a:t> </a:t>
            </a:r>
            <a:r>
              <a:rPr spc="-20" dirty="0"/>
              <a:t>Roots</a:t>
            </a:r>
          </a:p>
        </p:txBody>
      </p:sp>
      <p:pic>
        <p:nvPic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612737"/>
            <a:ext cx="65265" cy="65265"/>
          </a:xfrm>
          <a:prstGeom prst="rect">
            <a:avLst/>
          </a:prstGeom>
        </p:spPr>
      </p:pic>
      <p:pic>
        <p:nvPicPr>
          <p:cNvPr id="5" name="object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1407312"/>
            <a:ext cx="65265" cy="65265"/>
          </a:xfrm>
          <a:prstGeom prst="rect">
            <a:avLst/>
          </a:prstGeom>
        </p:spPr>
      </p:pic>
      <p:pic>
        <p:nvPic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089" y="2029815"/>
            <a:ext cx="65265" cy="65265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326732" y="529284"/>
            <a:ext cx="3573779" cy="160909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88900" marR="81280">
              <a:lnSpc>
                <a:spcPct val="102600"/>
              </a:lnSpc>
              <a:spcBef>
                <a:spcPts val="55"/>
              </a:spcBef>
            </a:pPr>
            <a:r>
              <a:rPr sz="1100" spc="-20" dirty="0">
                <a:latin typeface="Tahoma"/>
                <a:cs typeface="Tahoma"/>
              </a:rPr>
              <a:t>From</a:t>
            </a:r>
            <a:r>
              <a:rPr sz="1100" spc="-6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 </a:t>
            </a:r>
            <a:r>
              <a:rPr sz="1100" spc="-50" dirty="0">
                <a:latin typeface="Tahoma"/>
                <a:cs typeface="Tahoma"/>
              </a:rPr>
              <a:t>recurrence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relation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i="1" spc="-10" dirty="0">
                <a:latin typeface="Arial"/>
                <a:cs typeface="Arial"/>
              </a:rPr>
              <a:t>a</a:t>
            </a:r>
            <a:r>
              <a:rPr sz="1200" i="1" spc="-15" baseline="-10416" dirty="0">
                <a:latin typeface="Constantia"/>
                <a:cs typeface="Constantia"/>
              </a:rPr>
              <a:t>n</a:t>
            </a:r>
            <a:r>
              <a:rPr sz="1200" i="1" spc="127" baseline="-10416" dirty="0">
                <a:latin typeface="Constantia"/>
                <a:cs typeface="Constantia"/>
              </a:rPr>
              <a:t> </a:t>
            </a:r>
            <a:r>
              <a:rPr sz="1100" dirty="0">
                <a:latin typeface="Tahoma"/>
                <a:cs typeface="Tahoma"/>
              </a:rPr>
              <a:t>+</a:t>
            </a:r>
            <a:r>
              <a:rPr sz="1100" spc="-105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αa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200" baseline="-10416" dirty="0">
                <a:latin typeface="Tahoma"/>
                <a:cs typeface="Tahoma"/>
              </a:rPr>
              <a:t>=1</a:t>
            </a:r>
            <a:r>
              <a:rPr sz="1200" spc="22" baseline="-10416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+</a:t>
            </a:r>
            <a:r>
              <a:rPr sz="1100" spc="-105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βa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200" baseline="-10416" dirty="0">
                <a:latin typeface="Lucida Sans Unicode"/>
                <a:cs typeface="Lucida Sans Unicode"/>
              </a:rPr>
              <a:t>−</a:t>
            </a:r>
            <a:r>
              <a:rPr sz="1200" baseline="-10416" dirty="0">
                <a:latin typeface="Tahoma"/>
                <a:cs typeface="Tahoma"/>
              </a:rPr>
              <a:t>2</a:t>
            </a:r>
            <a:r>
              <a:rPr sz="1200" spc="104" baseline="-10416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=</a:t>
            </a:r>
            <a:r>
              <a:rPr sz="1100" spc="-7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0,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the </a:t>
            </a:r>
            <a:r>
              <a:rPr sz="1100" spc="-30" dirty="0">
                <a:latin typeface="Tahoma"/>
                <a:cs typeface="Tahoma"/>
              </a:rPr>
              <a:t>characteristic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polynomial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is</a:t>
            </a:r>
            <a:endParaRPr sz="1100">
              <a:latin typeface="Tahoma"/>
              <a:cs typeface="Tahoma"/>
            </a:endParaRPr>
          </a:p>
          <a:p>
            <a:pPr marL="1751964">
              <a:lnSpc>
                <a:spcPct val="100000"/>
              </a:lnSpc>
              <a:spcBef>
                <a:spcPts val="1130"/>
              </a:spcBef>
            </a:pPr>
            <a:r>
              <a:rPr sz="1100" i="1" spc="-55" dirty="0">
                <a:latin typeface="Arial"/>
                <a:cs typeface="Arial"/>
              </a:rPr>
              <a:t>x</a:t>
            </a:r>
            <a:r>
              <a:rPr sz="1100" i="1" spc="-204" dirty="0">
                <a:latin typeface="Arial"/>
                <a:cs typeface="Arial"/>
              </a:rPr>
              <a:t> </a:t>
            </a:r>
            <a:r>
              <a:rPr sz="1200" baseline="31250" dirty="0">
                <a:latin typeface="Tahoma"/>
                <a:cs typeface="Tahoma"/>
              </a:rPr>
              <a:t>2</a:t>
            </a:r>
            <a:r>
              <a:rPr sz="1200" spc="89" baseline="3125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+</a:t>
            </a:r>
            <a:r>
              <a:rPr sz="1100" spc="-85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αx</a:t>
            </a:r>
            <a:r>
              <a:rPr sz="1100" i="1" spc="55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+</a:t>
            </a:r>
            <a:r>
              <a:rPr sz="1100" spc="-85" dirty="0">
                <a:latin typeface="Tahoma"/>
                <a:cs typeface="Tahoma"/>
              </a:rPr>
              <a:t> </a:t>
            </a:r>
            <a:r>
              <a:rPr sz="1100" i="1" spc="-50" dirty="0">
                <a:latin typeface="Arial"/>
                <a:cs typeface="Arial"/>
              </a:rPr>
              <a:t>β</a:t>
            </a:r>
            <a:endParaRPr sz="1100">
              <a:latin typeface="Arial"/>
              <a:cs typeface="Arial"/>
            </a:endParaRPr>
          </a:p>
          <a:p>
            <a:pPr marL="88900">
              <a:lnSpc>
                <a:spcPct val="100000"/>
              </a:lnSpc>
              <a:spcBef>
                <a:spcPts val="1130"/>
              </a:spcBef>
            </a:pPr>
            <a:r>
              <a:rPr sz="1100" dirty="0">
                <a:latin typeface="Tahoma"/>
                <a:cs typeface="Tahoma"/>
              </a:rPr>
              <a:t>The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characteristic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equation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is:</a:t>
            </a:r>
            <a:endParaRPr sz="1100">
              <a:latin typeface="Tahoma"/>
              <a:cs typeface="Tahoma"/>
            </a:endParaRPr>
          </a:p>
          <a:p>
            <a:pPr marL="88900" marR="959485" indent="1536065">
              <a:lnSpc>
                <a:spcPct val="185700"/>
              </a:lnSpc>
            </a:pPr>
            <a:r>
              <a:rPr sz="1100" i="1" spc="-55" dirty="0">
                <a:latin typeface="Arial"/>
                <a:cs typeface="Arial"/>
              </a:rPr>
              <a:t>x</a:t>
            </a:r>
            <a:r>
              <a:rPr sz="1100" i="1" spc="-204" dirty="0">
                <a:latin typeface="Arial"/>
                <a:cs typeface="Arial"/>
              </a:rPr>
              <a:t> </a:t>
            </a:r>
            <a:r>
              <a:rPr sz="1200" baseline="31250" dirty="0">
                <a:latin typeface="Tahoma"/>
                <a:cs typeface="Tahoma"/>
              </a:rPr>
              <a:t>2</a:t>
            </a:r>
            <a:r>
              <a:rPr sz="1200" spc="82" baseline="3125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+</a:t>
            </a:r>
            <a:r>
              <a:rPr sz="1100" spc="-90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αx</a:t>
            </a:r>
            <a:r>
              <a:rPr sz="1100" i="1" spc="55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+</a:t>
            </a:r>
            <a:r>
              <a:rPr sz="1100" spc="-90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β</a:t>
            </a:r>
            <a:r>
              <a:rPr sz="1100" i="1" spc="80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=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0 </a:t>
            </a:r>
            <a:r>
              <a:rPr sz="1100" dirty="0">
                <a:latin typeface="Tahoma"/>
                <a:cs typeface="Tahoma"/>
              </a:rPr>
              <a:t>The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solution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to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recurrence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relation is: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971230" y="2257627"/>
            <a:ext cx="934719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latin typeface="Arial"/>
                <a:cs typeface="Arial"/>
              </a:rPr>
              <a:t>a</a:t>
            </a:r>
            <a:r>
              <a:rPr sz="1200" i="1" baseline="-10416" dirty="0">
                <a:latin typeface="Constantia"/>
                <a:cs typeface="Constantia"/>
              </a:rPr>
              <a:t>n</a:t>
            </a:r>
            <a:r>
              <a:rPr sz="1200" i="1" spc="225" baseline="-10416" dirty="0">
                <a:latin typeface="Constantia"/>
                <a:cs typeface="Constantia"/>
              </a:rPr>
              <a:t> </a:t>
            </a:r>
            <a:r>
              <a:rPr sz="1100" dirty="0">
                <a:latin typeface="Tahoma"/>
                <a:cs typeface="Tahoma"/>
              </a:rPr>
              <a:t>=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ar</a:t>
            </a:r>
            <a:r>
              <a:rPr sz="1200" i="1" baseline="31250" dirty="0">
                <a:latin typeface="Constantia"/>
                <a:cs typeface="Constantia"/>
              </a:rPr>
              <a:t>n</a:t>
            </a:r>
            <a:r>
              <a:rPr sz="1200" i="1" spc="150" baseline="31250" dirty="0">
                <a:latin typeface="Constantia"/>
                <a:cs typeface="Constantia"/>
              </a:rPr>
              <a:t> </a:t>
            </a:r>
            <a:r>
              <a:rPr sz="1100" dirty="0">
                <a:latin typeface="Tahoma"/>
                <a:cs typeface="Tahoma"/>
              </a:rPr>
              <a:t>+</a:t>
            </a:r>
            <a:r>
              <a:rPr sz="1100" spc="-105" dirty="0">
                <a:latin typeface="Tahoma"/>
                <a:cs typeface="Tahoma"/>
              </a:rPr>
              <a:t> </a:t>
            </a:r>
            <a:r>
              <a:rPr sz="1100" i="1" spc="-25" dirty="0">
                <a:latin typeface="Arial"/>
                <a:cs typeface="Arial"/>
              </a:rPr>
              <a:t>br</a:t>
            </a:r>
            <a:r>
              <a:rPr sz="1200" i="1" spc="-37" baseline="31250" dirty="0">
                <a:latin typeface="Constantia"/>
                <a:cs typeface="Constantia"/>
              </a:rPr>
              <a:t>n</a:t>
            </a:r>
            <a:endParaRPr sz="1200" baseline="31250">
              <a:latin typeface="Constantia"/>
              <a:cs typeface="Constanti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421547" y="2329191"/>
            <a:ext cx="44259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375285" algn="l"/>
              </a:tabLst>
            </a:pPr>
            <a:r>
              <a:rPr sz="800" spc="-50" dirty="0">
                <a:latin typeface="Tahoma"/>
                <a:cs typeface="Tahoma"/>
              </a:rPr>
              <a:t>1</a:t>
            </a:r>
            <a:r>
              <a:rPr sz="800" dirty="0">
                <a:latin typeface="Tahoma"/>
                <a:cs typeface="Tahoma"/>
              </a:rPr>
              <a:t>	</a:t>
            </a:r>
            <a:r>
              <a:rPr sz="800" spc="-50" dirty="0">
                <a:latin typeface="Tahoma"/>
                <a:cs typeface="Tahoma"/>
              </a:rPr>
              <a:t>2</a:t>
            </a:r>
            <a:endParaRPr sz="800">
              <a:latin typeface="Tahoma"/>
              <a:cs typeface="Tahoma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77532" y="2568878"/>
            <a:ext cx="3599179" cy="57404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 marR="30480">
              <a:lnSpc>
                <a:spcPct val="102600"/>
              </a:lnSpc>
              <a:spcBef>
                <a:spcPts val="55"/>
              </a:spcBef>
            </a:pPr>
            <a:r>
              <a:rPr sz="1100" spc="-30" dirty="0">
                <a:latin typeface="Tahoma"/>
                <a:cs typeface="Tahoma"/>
              </a:rPr>
              <a:t>Where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r</a:t>
            </a:r>
            <a:r>
              <a:rPr sz="1200" baseline="-10416" dirty="0">
                <a:latin typeface="Tahoma"/>
                <a:cs typeface="Tahoma"/>
              </a:rPr>
              <a:t>1</a:t>
            </a:r>
            <a:r>
              <a:rPr sz="1200" spc="165" baseline="-10416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r</a:t>
            </a:r>
            <a:r>
              <a:rPr sz="1200" baseline="-10416" dirty="0">
                <a:latin typeface="Tahoma"/>
                <a:cs typeface="Tahoma"/>
              </a:rPr>
              <a:t>2</a:t>
            </a:r>
            <a:r>
              <a:rPr sz="1200" spc="157" baseline="-10416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are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distinct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roots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a</a:t>
            </a:r>
            <a:r>
              <a:rPr sz="1100" i="1" spc="15" dirty="0">
                <a:latin typeface="Arial"/>
                <a:cs typeface="Arial"/>
              </a:rPr>
              <a:t>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b</a:t>
            </a:r>
            <a:r>
              <a:rPr sz="1100" i="1" spc="35" dirty="0">
                <a:latin typeface="Arial"/>
                <a:cs typeface="Arial"/>
              </a:rPr>
              <a:t> </a:t>
            </a:r>
            <a:r>
              <a:rPr sz="1100" spc="-60" dirty="0">
                <a:latin typeface="Tahoma"/>
                <a:cs typeface="Tahoma"/>
              </a:rPr>
              <a:t>are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constants </a:t>
            </a:r>
            <a:r>
              <a:rPr sz="1100" spc="-45" dirty="0">
                <a:latin typeface="Tahoma"/>
                <a:cs typeface="Tahoma"/>
              </a:rPr>
              <a:t>determined </a:t>
            </a:r>
            <a:r>
              <a:rPr sz="1100" spc="-35" dirty="0">
                <a:latin typeface="Tahoma"/>
                <a:cs typeface="Tahoma"/>
              </a:rPr>
              <a:t>by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initial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conditions</a:t>
            </a:r>
            <a:endParaRPr sz="1100">
              <a:latin typeface="Tahoma"/>
              <a:cs typeface="Tahoma"/>
            </a:endParaRPr>
          </a:p>
          <a:p>
            <a:pPr marL="38100">
              <a:lnSpc>
                <a:spcPct val="100000"/>
              </a:lnSpc>
              <a:spcBef>
                <a:spcPts val="335"/>
              </a:spcBef>
            </a:pPr>
            <a:r>
              <a:rPr sz="1100" spc="-45" dirty="0">
                <a:latin typeface="Tahoma"/>
                <a:cs typeface="Tahoma"/>
              </a:rPr>
              <a:t>See</a:t>
            </a:r>
            <a:r>
              <a:rPr sz="1100" spc="-35" dirty="0">
                <a:latin typeface="Tahoma"/>
                <a:cs typeface="Tahoma"/>
              </a:rPr>
              <a:t> Example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2.4.6</a:t>
            </a:r>
            <a:endParaRPr sz="1100">
              <a:latin typeface="Tahoma"/>
              <a:cs typeface="Tahoma"/>
            </a:endParaRPr>
          </a:p>
        </p:txBody>
      </p:sp>
      <p:pic>
        <p:nvPicPr>
          <p:cNvPr id="11" name="object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81089" y="3034436"/>
            <a:ext cx="65265" cy="65265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-12"/>
            <a:ext cx="4608195" cy="350520"/>
          </a:xfrm>
          <a:custGeom>
            <a:avLst/>
            <a:gdLst/>
            <a:ahLst/>
            <a:cxnLst/>
            <a:rect l="l" t="t" r="r" b="b"/>
            <a:pathLst>
              <a:path w="4608195" h="350520">
                <a:moveTo>
                  <a:pt x="4608004" y="0"/>
                </a:moveTo>
                <a:lnTo>
                  <a:pt x="0" y="0"/>
                </a:lnTo>
                <a:lnTo>
                  <a:pt x="0" y="350126"/>
                </a:lnTo>
                <a:lnTo>
                  <a:pt x="4608004" y="350126"/>
                </a:lnTo>
                <a:lnTo>
                  <a:pt x="4608004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45" dirty="0"/>
              <a:t>Induction</a:t>
            </a:r>
          </a:p>
        </p:txBody>
      </p:sp>
      <p:pic>
        <p:nvPic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1137056"/>
            <a:ext cx="65265" cy="65265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402932" y="1030069"/>
            <a:ext cx="2961005" cy="4051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3199"/>
              </a:lnSpc>
              <a:spcBef>
                <a:spcPts val="100"/>
              </a:spcBef>
            </a:pPr>
            <a:r>
              <a:rPr sz="1100" spc="-20" dirty="0">
                <a:latin typeface="Tahoma"/>
                <a:cs typeface="Tahoma"/>
              </a:rPr>
              <a:t>Mathematical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induction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35" dirty="0">
                <a:latin typeface="Tahoma"/>
                <a:cs typeface="Tahoma"/>
              </a:rPr>
              <a:t> another</a:t>
            </a:r>
            <a:r>
              <a:rPr sz="1100" spc="-30" dirty="0">
                <a:latin typeface="Tahoma"/>
                <a:cs typeface="Tahoma"/>
              </a:rPr>
              <a:t> proof </a:t>
            </a:r>
            <a:r>
              <a:rPr sz="1100" spc="-40" dirty="0">
                <a:latin typeface="Tahoma"/>
                <a:cs typeface="Tahoma"/>
              </a:rPr>
              <a:t>technique </a:t>
            </a:r>
            <a:r>
              <a:rPr sz="1100" dirty="0">
                <a:latin typeface="Tahoma"/>
                <a:cs typeface="Tahoma"/>
              </a:rPr>
              <a:t>To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prove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that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P</a:t>
            </a:r>
            <a:r>
              <a:rPr sz="1100" dirty="0">
                <a:latin typeface="Tahoma"/>
                <a:cs typeface="Tahoma"/>
              </a:rPr>
              <a:t>(</a:t>
            </a:r>
            <a:r>
              <a:rPr sz="1100" i="1" dirty="0">
                <a:latin typeface="Arial"/>
                <a:cs typeface="Arial"/>
              </a:rPr>
              <a:t>n</a:t>
            </a:r>
            <a:r>
              <a:rPr sz="1100" dirty="0">
                <a:latin typeface="Tahoma"/>
                <a:cs typeface="Tahoma"/>
              </a:rPr>
              <a:t>)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20" dirty="0">
                <a:latin typeface="Tahoma"/>
                <a:cs typeface="Tahoma"/>
              </a:rPr>
              <a:t> true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for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all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n</a:t>
            </a:r>
            <a:r>
              <a:rPr sz="1100" i="1" spc="-20" dirty="0">
                <a:latin typeface="Arial"/>
                <a:cs typeface="Arial"/>
              </a:rPr>
              <a:t> </a:t>
            </a:r>
            <a:r>
              <a:rPr sz="1100" spc="229" dirty="0">
                <a:latin typeface="Cambria"/>
                <a:cs typeface="Cambria"/>
              </a:rPr>
              <a:t>≥</a:t>
            </a:r>
            <a:r>
              <a:rPr sz="1100" spc="25" dirty="0">
                <a:latin typeface="Cambria"/>
                <a:cs typeface="Cambria"/>
              </a:rPr>
              <a:t> </a:t>
            </a:r>
            <a:r>
              <a:rPr sz="1100" spc="-50" dirty="0">
                <a:latin typeface="Tahoma"/>
                <a:cs typeface="Tahoma"/>
              </a:rPr>
              <a:t>0</a:t>
            </a:r>
            <a:endParaRPr sz="1100" dirty="0">
              <a:latin typeface="Tahoma"/>
              <a:cs typeface="Tahoma"/>
            </a:endParaRPr>
          </a:p>
        </p:txBody>
      </p:sp>
      <p:pic>
        <p:nvPic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1326845"/>
            <a:ext cx="65265" cy="65265"/>
          </a:xfrm>
          <a:prstGeom prst="rect">
            <a:avLst/>
          </a:prstGeom>
        </p:spPr>
      </p:pic>
      <p:grpSp>
        <p:nvGrpSpPr>
          <p:cNvPr id="7" name="object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10108" y="1478124"/>
            <a:ext cx="114300" cy="266065"/>
            <a:chOff x="510108" y="1478124"/>
            <a:chExt cx="114300" cy="266065"/>
          </a:xfrm>
        </p:grpSpPr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10108" y="1478124"/>
              <a:ext cx="114214" cy="114214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10108" y="1629952"/>
              <a:ext cx="114214" cy="114214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534352" y="1465191"/>
            <a:ext cx="66040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spc="-50" dirty="0">
                <a:solidFill>
                  <a:srgbClr val="FFFFFF"/>
                </a:solidFill>
                <a:latin typeface="Tahoma"/>
                <a:cs typeface="Tahoma"/>
              </a:rPr>
              <a:t>1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80034" y="1432552"/>
            <a:ext cx="2835910" cy="3295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1200"/>
              </a:lnSpc>
              <a:spcBef>
                <a:spcPts val="95"/>
              </a:spcBef>
            </a:pPr>
            <a:r>
              <a:rPr sz="1000" spc="-20" dirty="0">
                <a:latin typeface="Tahoma"/>
                <a:cs typeface="Tahoma"/>
              </a:rPr>
              <a:t>Base</a:t>
            </a:r>
            <a:r>
              <a:rPr sz="1000" spc="-40" dirty="0">
                <a:latin typeface="Tahoma"/>
                <a:cs typeface="Tahoma"/>
              </a:rPr>
              <a:t> </a:t>
            </a:r>
            <a:r>
              <a:rPr sz="1000" spc="-35" dirty="0">
                <a:latin typeface="Tahoma"/>
                <a:cs typeface="Tahoma"/>
              </a:rPr>
              <a:t>case:</a:t>
            </a:r>
            <a:r>
              <a:rPr sz="1000" spc="65" dirty="0">
                <a:latin typeface="Tahoma"/>
                <a:cs typeface="Tahoma"/>
              </a:rPr>
              <a:t> </a:t>
            </a:r>
            <a:r>
              <a:rPr sz="1000" spc="-50" dirty="0">
                <a:latin typeface="Tahoma"/>
                <a:cs typeface="Tahoma"/>
              </a:rPr>
              <a:t>prove</a:t>
            </a:r>
            <a:r>
              <a:rPr sz="1000" spc="-30" dirty="0">
                <a:latin typeface="Tahoma"/>
                <a:cs typeface="Tahoma"/>
              </a:rPr>
              <a:t> </a:t>
            </a:r>
            <a:r>
              <a:rPr sz="1000" i="1" dirty="0">
                <a:latin typeface="Arial"/>
                <a:cs typeface="Arial"/>
              </a:rPr>
              <a:t>P</a:t>
            </a:r>
            <a:r>
              <a:rPr sz="1000" dirty="0">
                <a:latin typeface="Tahoma"/>
                <a:cs typeface="Tahoma"/>
              </a:rPr>
              <a:t>(0)</a:t>
            </a:r>
            <a:r>
              <a:rPr sz="1000" spc="-30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is</a:t>
            </a:r>
            <a:r>
              <a:rPr sz="1000" spc="-30" dirty="0">
                <a:latin typeface="Tahoma"/>
                <a:cs typeface="Tahoma"/>
              </a:rPr>
              <a:t> </a:t>
            </a:r>
            <a:r>
              <a:rPr sz="1000" spc="-20" dirty="0">
                <a:latin typeface="Tahoma"/>
                <a:cs typeface="Tahoma"/>
              </a:rPr>
              <a:t>true</a:t>
            </a:r>
            <a:endParaRPr sz="1000">
              <a:latin typeface="Tahoma"/>
              <a:cs typeface="Tahoma"/>
            </a:endParaRPr>
          </a:p>
          <a:p>
            <a:pPr marL="12700">
              <a:lnSpc>
                <a:spcPts val="1200"/>
              </a:lnSpc>
            </a:pPr>
            <a:r>
              <a:rPr sz="1000" spc="-40" dirty="0">
                <a:latin typeface="Tahoma"/>
                <a:cs typeface="Tahoma"/>
              </a:rPr>
              <a:t>Inductive</a:t>
            </a:r>
            <a:r>
              <a:rPr sz="1000" spc="-15" dirty="0">
                <a:latin typeface="Tahoma"/>
                <a:cs typeface="Tahoma"/>
              </a:rPr>
              <a:t> </a:t>
            </a:r>
            <a:r>
              <a:rPr sz="1000" spc="-35" dirty="0">
                <a:latin typeface="Tahoma"/>
                <a:cs typeface="Tahoma"/>
              </a:rPr>
              <a:t>case:</a:t>
            </a:r>
            <a:r>
              <a:rPr sz="1000" spc="105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Prove</a:t>
            </a:r>
            <a:r>
              <a:rPr sz="1000" spc="-5" dirty="0">
                <a:latin typeface="Tahoma"/>
                <a:cs typeface="Tahoma"/>
              </a:rPr>
              <a:t> </a:t>
            </a:r>
            <a:r>
              <a:rPr sz="1000" i="1" dirty="0">
                <a:latin typeface="Arial"/>
                <a:cs typeface="Arial"/>
              </a:rPr>
              <a:t>P</a:t>
            </a:r>
            <a:r>
              <a:rPr sz="1000" dirty="0">
                <a:latin typeface="Tahoma"/>
                <a:cs typeface="Tahoma"/>
              </a:rPr>
              <a:t>(</a:t>
            </a:r>
            <a:r>
              <a:rPr sz="1000" i="1" dirty="0">
                <a:latin typeface="Arial"/>
                <a:cs typeface="Arial"/>
              </a:rPr>
              <a:t>k</a:t>
            </a:r>
            <a:r>
              <a:rPr sz="1000" dirty="0">
                <a:latin typeface="Tahoma"/>
                <a:cs typeface="Tahoma"/>
              </a:rPr>
              <a:t>)</a:t>
            </a:r>
            <a:r>
              <a:rPr sz="1000" spc="-50" dirty="0">
                <a:latin typeface="Tahoma"/>
                <a:cs typeface="Tahoma"/>
              </a:rPr>
              <a:t> </a:t>
            </a:r>
            <a:r>
              <a:rPr sz="1000" spc="150" dirty="0">
                <a:latin typeface="Cambria"/>
                <a:cs typeface="Cambria"/>
              </a:rPr>
              <a:t>→</a:t>
            </a:r>
            <a:r>
              <a:rPr sz="1000" spc="40" dirty="0">
                <a:latin typeface="Cambria"/>
                <a:cs typeface="Cambria"/>
              </a:rPr>
              <a:t> </a:t>
            </a:r>
            <a:r>
              <a:rPr sz="1000" i="1" dirty="0">
                <a:latin typeface="Arial"/>
                <a:cs typeface="Arial"/>
              </a:rPr>
              <a:t>P</a:t>
            </a:r>
            <a:r>
              <a:rPr sz="1000" dirty="0">
                <a:latin typeface="Tahoma"/>
                <a:cs typeface="Tahoma"/>
              </a:rPr>
              <a:t>(</a:t>
            </a:r>
            <a:r>
              <a:rPr sz="1000" i="1" dirty="0">
                <a:latin typeface="Arial"/>
                <a:cs typeface="Arial"/>
              </a:rPr>
              <a:t>k</a:t>
            </a:r>
            <a:r>
              <a:rPr sz="1000" i="1" spc="10" dirty="0">
                <a:latin typeface="Arial"/>
                <a:cs typeface="Arial"/>
              </a:rPr>
              <a:t> </a:t>
            </a:r>
            <a:r>
              <a:rPr sz="1000" dirty="0">
                <a:latin typeface="Tahoma"/>
                <a:cs typeface="Tahoma"/>
              </a:rPr>
              <a:t>+</a:t>
            </a:r>
            <a:r>
              <a:rPr sz="1000" spc="-95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1) </a:t>
            </a:r>
            <a:r>
              <a:rPr sz="1000" spc="-10" dirty="0">
                <a:latin typeface="Tahoma"/>
                <a:cs typeface="Tahoma"/>
              </a:rPr>
              <a:t>for</a:t>
            </a:r>
            <a:r>
              <a:rPr sz="1000" dirty="0">
                <a:latin typeface="Tahoma"/>
                <a:cs typeface="Tahoma"/>
              </a:rPr>
              <a:t> all </a:t>
            </a:r>
            <a:r>
              <a:rPr sz="1000" i="1" dirty="0">
                <a:latin typeface="Arial"/>
                <a:cs typeface="Arial"/>
              </a:rPr>
              <a:t>k</a:t>
            </a:r>
            <a:r>
              <a:rPr sz="1000" i="1" spc="60" dirty="0">
                <a:latin typeface="Arial"/>
                <a:cs typeface="Arial"/>
              </a:rPr>
              <a:t> </a:t>
            </a:r>
            <a:r>
              <a:rPr sz="1000" spc="220" dirty="0">
                <a:latin typeface="Cambria"/>
                <a:cs typeface="Cambria"/>
              </a:rPr>
              <a:t>≥</a:t>
            </a:r>
            <a:r>
              <a:rPr sz="1000" spc="40" dirty="0">
                <a:latin typeface="Cambria"/>
                <a:cs typeface="Cambria"/>
              </a:rPr>
              <a:t> </a:t>
            </a:r>
            <a:r>
              <a:rPr sz="1000" spc="-50" dirty="0">
                <a:latin typeface="Tahoma"/>
                <a:cs typeface="Tahoma"/>
              </a:rPr>
              <a:t>0</a:t>
            </a:r>
            <a:endParaRPr sz="1000">
              <a:latin typeface="Tahoma"/>
              <a:cs typeface="Tahoma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34352" y="1617019"/>
            <a:ext cx="66040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spc="-50" dirty="0">
                <a:solidFill>
                  <a:srgbClr val="FFFFFF"/>
                </a:solidFill>
                <a:latin typeface="Tahoma"/>
                <a:cs typeface="Tahoma"/>
              </a:rPr>
              <a:t>2</a:t>
            </a:r>
            <a:endParaRPr sz="600">
              <a:latin typeface="Tahoma"/>
              <a:cs typeface="Tahoma"/>
            </a:endParaRPr>
          </a:p>
        </p:txBody>
      </p:sp>
      <p:pic>
        <p:nvPicPr>
          <p:cNvPr id="13" name="object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81089" y="1865845"/>
            <a:ext cx="65265" cy="65265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402932" y="1782392"/>
            <a:ext cx="3965575" cy="57404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45" dirty="0">
                <a:latin typeface="Tahoma"/>
                <a:cs typeface="Tahoma"/>
              </a:rPr>
              <a:t>Therefore </a:t>
            </a:r>
            <a:r>
              <a:rPr sz="1100" spc="-35" dirty="0">
                <a:latin typeface="Tahoma"/>
                <a:cs typeface="Tahoma"/>
              </a:rPr>
              <a:t>by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principle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mathematical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induction,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statement</a:t>
            </a:r>
            <a:endParaRPr sz="11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1100" i="1" dirty="0">
                <a:latin typeface="Arial"/>
                <a:cs typeface="Arial"/>
              </a:rPr>
              <a:t>P</a:t>
            </a:r>
            <a:r>
              <a:rPr sz="1100" dirty="0">
                <a:latin typeface="Tahoma"/>
                <a:cs typeface="Tahoma"/>
              </a:rPr>
              <a:t>(</a:t>
            </a:r>
            <a:r>
              <a:rPr sz="1100" i="1" dirty="0">
                <a:latin typeface="Arial"/>
                <a:cs typeface="Arial"/>
              </a:rPr>
              <a:t>n</a:t>
            </a:r>
            <a:r>
              <a:rPr sz="1100" dirty="0">
                <a:latin typeface="Tahoma"/>
                <a:cs typeface="Tahoma"/>
              </a:rPr>
              <a:t>)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true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for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all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i="1" dirty="0">
                <a:latin typeface="Arial"/>
                <a:cs typeface="Arial"/>
              </a:rPr>
              <a:t>n</a:t>
            </a:r>
            <a:r>
              <a:rPr sz="1100" i="1" spc="-25" dirty="0">
                <a:latin typeface="Arial"/>
                <a:cs typeface="Arial"/>
              </a:rPr>
              <a:t> </a:t>
            </a:r>
            <a:r>
              <a:rPr sz="1100" spc="229" dirty="0">
                <a:latin typeface="Cambria"/>
                <a:cs typeface="Cambria"/>
              </a:rPr>
              <a:t>≥</a:t>
            </a:r>
            <a:r>
              <a:rPr sz="1100" spc="25" dirty="0">
                <a:latin typeface="Cambria"/>
                <a:cs typeface="Cambria"/>
              </a:rPr>
              <a:t> </a:t>
            </a:r>
            <a:r>
              <a:rPr sz="1100" spc="-50" dirty="0">
                <a:latin typeface="Tahoma"/>
                <a:cs typeface="Tahoma"/>
              </a:rPr>
              <a:t>0</a:t>
            </a:r>
            <a:endParaRPr sz="11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334"/>
              </a:spcBef>
            </a:pPr>
            <a:r>
              <a:rPr sz="1100" spc="-45" dirty="0">
                <a:latin typeface="Tahoma"/>
                <a:cs typeface="Tahoma"/>
              </a:rPr>
              <a:t>See</a:t>
            </a:r>
            <a:r>
              <a:rPr sz="1100" spc="-35" dirty="0">
                <a:latin typeface="Tahoma"/>
                <a:cs typeface="Tahoma"/>
              </a:rPr>
              <a:t> Example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2.5.1</a:t>
            </a:r>
            <a:endParaRPr sz="1100">
              <a:latin typeface="Tahoma"/>
              <a:cs typeface="Tahoma"/>
            </a:endParaRPr>
          </a:p>
        </p:txBody>
      </p:sp>
      <p:pic>
        <p:nvPicPr>
          <p:cNvPr id="15" name="object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281089" y="2247950"/>
            <a:ext cx="65265" cy="65265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</TotalTime>
  <Words>1377</Words>
  <Application>Microsoft Macintosh PowerPoint</Application>
  <PresentationFormat>Custom</PresentationFormat>
  <Paragraphs>107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2" baseType="lpstr">
      <vt:lpstr>Arial</vt:lpstr>
      <vt:lpstr>Calibri</vt:lpstr>
      <vt:lpstr>Cambria</vt:lpstr>
      <vt:lpstr>Constantia</vt:lpstr>
      <vt:lpstr>Lucida Sans Unicode</vt:lpstr>
      <vt:lpstr>Tahoma</vt:lpstr>
      <vt:lpstr>Times New Roman</vt:lpstr>
      <vt:lpstr>Trebuchet MS</vt:lpstr>
      <vt:lpstr>Office Theme</vt:lpstr>
      <vt:lpstr>CS5070 Mathematical Structures for Computer Science - Notes 4</vt:lpstr>
      <vt:lpstr>Sequences (Chapter 2)</vt:lpstr>
      <vt:lpstr>Known Sequences</vt:lpstr>
      <vt:lpstr>Known Sequences</vt:lpstr>
      <vt:lpstr>Closed Formula of Sequences</vt:lpstr>
      <vt:lpstr>Arithmetic Sequences</vt:lpstr>
      <vt:lpstr>Geometric Sequences</vt:lpstr>
      <vt:lpstr>Sums of Arithmetic and Geometric Sequences</vt:lpstr>
      <vt:lpstr>More Complex Sequences</vt:lpstr>
      <vt:lpstr>Finite Differences</vt:lpstr>
      <vt:lpstr>Solving Recurrence Relations</vt:lpstr>
      <vt:lpstr>Characteristic Roots</vt:lpstr>
      <vt:lpstr>Induction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CS5070 Mathematical Structures for Computer Science - Notes 4</dc:title>
  <dc:creator>José Garrido</dc:creator>
  <cp:lastModifiedBy>Kun Suo</cp:lastModifiedBy>
  <cp:revision>9</cp:revision>
  <dcterms:created xsi:type="dcterms:W3CDTF">2026-04-21T18:12:51Z</dcterms:created>
  <dcterms:modified xsi:type="dcterms:W3CDTF">2026-05-23T22:23:50Z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2022-02-24T00:00:00Z</vt:filetime>
  </property>
  <property fmtid="{D5CDD505-2E9C-101B-9397-08002B2CF9AE}" pid="4" name="Creator">
    <vt:lpwstr>LaTeX with Beamer class</vt:lpwstr>
  </property>
  <property fmtid="{D5CDD505-2E9C-101B-9397-08002B2CF9AE}" pid="5" name="LastSaved">
    <vt:filetime>2026-04-21T00:00:00Z</vt:filetime>
  </property>
  <property fmtid="{D5CDD505-2E9C-101B-9397-08002B2CF9AE}" pid="6" name="PTEX.Fullbanner">
    <vt:lpwstr>This is MiKTeX-pdfTeX 2.9.6870 (1.40.19)</vt:lpwstr>
  </property>
  <property fmtid="{D5CDD505-2E9C-101B-9397-08002B2CF9AE}" pid="7" name="Producer">
    <vt:lpwstr>pdfTeX-1.40.19</vt:lpwstr>
  </property>
  <property fmtid="{D5CDD505-2E9C-101B-9397-08002B2CF9AE}" pid="8" name="data-panorama-remediation-history">
    <vt:lpwstr>[{"pageNumber":0,"geomIndex":0,"lastGeomIndex":6,"textElement":"CS5070","tableIndex":-1,"rowIndex":-1,"cellIndex":-1,"fontColor":"#b30000","identifiers":{"PARAGRAPH_ID":"0","RUN_ID":"0","SLIDE_ID":"0"},"issueDetails":{"luminance25":"0.6866853124353136","isHeader":"false","luminance75":"0.6866853124353136","textColor":"cc0000"},"issueTypeId":"LowContrastIssue:PPTX","dismiss":false,"pageNumbers":[1],"coordinatesList":[[18.552000045776367,59.92999267578125,325.92471504211426,6.823440074920654]]},{"pageNumber":0,"geomIndex":46,"lastGeomIndex":47,"textElement":"-","tableIndex":-1,"rowIndex":-1,"cellIndex":-1,"fontColor":"#b30000","identifiers":{"PARAGRAPH_ID":"1","RUN_ID":"0","SLIDE_ID":"0"},"issueDetails":{"luminance25":"0.6866853124353136","isHeader":"false","luminance75":"0.6866853124353136","textColor":"cc0000"},"issueTypeId":"LowContrastIssue:PPTX","dismiss":false,"pageNumbers":[1],"coordinatesList":[[154.05999755859375,77.68998718261719,55.205841064453125,6.823440074920654]]},{"languageSet":"default","pageNumber":0,"geomIndex":-1,"identifiers":{},"issueTypeId":"MissingLanguageSetIssue:PPTX","dismiss":false,"pageNumbers":[1],"coordinatesList":[[10.0,10.0,2.0,2.0]]},{"isReadingOrderVerified":"true","pageNumber":0,"geomIndex":-1,"issueTypeId":"ReadingOrderIssue:PPTX","dismiss":false,"pageNumbers":[3],"coordinatesList":[[10.0,10.0,2.0,2.0]]},{"isReadingOrderVerified":"true","pageNumber":0,"geomIndex":-1,"issueTypeId":"ReadingOrderIssue:PPTX","dismiss":false,"pageNumbers":[4],"coordinatesList":[[10.0,10.0,2.0,2.0]]},{"isReadingOrderVerified":"true","pageNumber":0,"geomIndex":-1,"issueTypeId":"ReadingOrderIssue:PPTX","dismiss":false,"pageNumbers":[7],"coordinatesList":[[10.0,10.0,2.0,2.0]]},{"isReadingOrderVerified":"true","pageNumber":0,"geomIndex":-1,"issueTypeId":"ReadingOrderIssue:PPTX","dismiss":false,"pageNumbers":[11],"coordinatesList":[[10.0,10.0,2.0,2.0]]},{"isReadingOrderVerified":"true","pageNumber":0,"geomIndex":-1,"issueTypeId":"ReadingOrderIssue:PPTX","dismiss":false,"pageNumbers":[12],"coordinatesList":[[10.0,10.0,2.0,2.0]]}]</vt:lpwstr>
  </property>
  <property fmtid="{D5CDD505-2E9C-101B-9397-08002B2CF9AE}" pid="9" name="ReadingOrderVerifiedPages">
    <vt:lpwstr>3,4,7,11,12</vt:lpwstr>
  </property>
</Properties>
</file>