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82" r:id="rId7"/>
    <p:sldId id="285" r:id="rId8"/>
    <p:sldId id="286" r:id="rId9"/>
    <p:sldId id="261" r:id="rId10"/>
    <p:sldId id="262" r:id="rId11"/>
    <p:sldId id="263" r:id="rId12"/>
    <p:sldId id="264" r:id="rId13"/>
    <p:sldId id="265" r:id="rId14"/>
    <p:sldId id="284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81" r:id="rId27"/>
    <p:sldId id="277" r:id="rId28"/>
    <p:sldId id="278" r:id="rId29"/>
    <p:sldId id="279" r:id="rId30"/>
    <p:sldId id="280" r:id="rId31"/>
  </p:sldIdLst>
  <p:sldSz cx="4610100" cy="3460750"/>
  <p:notesSz cx="4610100" cy="3460750"/>
  <p:defaultTextStyle>
    <a:defPPr>
      <a:defRPr lang="en"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470"/>
    <p:restoredTop sz="93236"/>
  </p:normalViewPr>
  <p:slideViewPr>
    <p:cSldViewPr>
      <p:cViewPr varScale="1">
        <p:scale>
          <a:sx n="279" d="100"/>
          <a:sy n="279" d="100"/>
        </p:scale>
        <p:origin x="744" y="184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-43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5C469E-6B67-9E49-A5F9-83EE558A3335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BCE755-0B10-5B46-98A0-95979C939C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45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65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185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逻辑联结词</a:t>
            </a:r>
          </a:p>
          <a:p>
            <a:r>
              <a:rPr lang="zh-CN" altLang="en-US" dirty="0"/>
              <a:t>用于将较简单的陈述（原子陈述或分子陈述）组合定义为更复杂的陈述（分子陈述）。</a:t>
            </a:r>
          </a:p>
          <a:p>
            <a:endParaRPr lang="zh-CN" altLang="en-US" dirty="0"/>
          </a:p>
          <a:p>
            <a:r>
              <a:rPr lang="zh-CN" altLang="en-US" dirty="0"/>
              <a:t>二元联结词</a:t>
            </a:r>
          </a:p>
          <a:p>
            <a:r>
              <a:rPr lang="zh-CN" altLang="en-US" dirty="0"/>
              <a:t>用于连接两个陈述。包括：合取（</a:t>
            </a:r>
            <a:r>
              <a:rPr lang="en-US" dirty="0"/>
              <a:t>and）、</a:t>
            </a:r>
            <a:r>
              <a:rPr lang="zh-CN" altLang="en-US" dirty="0"/>
              <a:t>析取（</a:t>
            </a:r>
            <a:r>
              <a:rPr lang="en-US" dirty="0"/>
              <a:t>or）</a:t>
            </a:r>
            <a:r>
              <a:rPr lang="zh-CN" altLang="en-US" dirty="0"/>
              <a:t>和异或（</a:t>
            </a:r>
            <a:r>
              <a:rPr lang="en-US" dirty="0" err="1"/>
              <a:t>xor</a:t>
            </a:r>
            <a:r>
              <a:rPr lang="en-US" dirty="0"/>
              <a:t>）。</a:t>
            </a:r>
          </a:p>
          <a:p>
            <a:endParaRPr lang="en-US" dirty="0"/>
          </a:p>
          <a:p>
            <a:r>
              <a:rPr lang="zh-CN" altLang="en-US" dirty="0"/>
              <a:t>一元联结词</a:t>
            </a:r>
          </a:p>
          <a:p>
            <a:r>
              <a:rPr lang="zh-CN" altLang="en-US" dirty="0"/>
              <a:t>作用于单个陈述。即“非”（</a:t>
            </a:r>
            <a:r>
              <a:rPr lang="en-US" dirty="0"/>
              <a:t>not）；</a:t>
            </a:r>
            <a:r>
              <a:rPr lang="zh-CN" altLang="en-US" dirty="0"/>
              <a:t>亦称为否定。</a:t>
            </a:r>
          </a:p>
          <a:p>
            <a:endParaRPr lang="zh-CN" altLang="en-US" dirty="0"/>
          </a:p>
          <a:p>
            <a:r>
              <a:rPr lang="zh-CN" altLang="en-US" dirty="0"/>
              <a:t>命题变元</a:t>
            </a:r>
          </a:p>
          <a:p>
            <a:r>
              <a:rPr lang="zh-CN" altLang="en-US" dirty="0"/>
              <a:t>用于代表陈述。通常用 </a:t>
            </a:r>
            <a:r>
              <a:rPr lang="en-US" dirty="0"/>
              <a:t>P、Q、R、S </a:t>
            </a:r>
            <a:r>
              <a:rPr lang="zh-CN" altLang="en-US" dirty="0"/>
              <a:t>等符号来表示。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004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逆命题与逆否命题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928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谓词与量词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3724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量词与否定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BCE755-0B10-5B46-98A0-95979C939CA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18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219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3207" y="1031060"/>
            <a:ext cx="4150360" cy="1730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09792" y="3335159"/>
            <a:ext cx="717550" cy="1358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pc="20"/>
              <a:t>Jose</a:t>
            </a:r>
            <a:r>
              <a:rPr spc="35"/>
              <a:t> </a:t>
            </a:r>
            <a:r>
              <a:rPr spc="30"/>
              <a:t>Garrido</a:t>
            </a:r>
            <a:r>
              <a:rPr spc="40"/>
              <a:t> </a:t>
            </a:r>
            <a:r>
              <a:rPr spc="-10"/>
              <a:t>(KSU)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5/27/26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75606" y="3341486"/>
            <a:ext cx="279400" cy="124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5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38100">
              <a:lnSpc>
                <a:spcPct val="100000"/>
              </a:lnSpc>
              <a:spcBef>
                <a:spcPts val="155"/>
              </a:spcBef>
            </a:pPr>
            <a:fld id="{81D60167-4931-47E6-BA6A-407CBD079E47}" type="slidenum">
              <a:rPr dirty="0"/>
              <a:t>‹#›</a:t>
            </a:fld>
            <a:r>
              <a:rPr spc="-10" dirty="0"/>
              <a:t> </a:t>
            </a:r>
            <a:r>
              <a:rPr dirty="0"/>
              <a:t>/</a:t>
            </a:r>
            <a:r>
              <a:rPr spc="-5" dirty="0"/>
              <a:t> </a:t>
            </a:r>
            <a:r>
              <a:rPr spc="-25" dirty="0"/>
              <a:t>25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ksuo@kennesaw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07197" y="1536250"/>
            <a:ext cx="2994025" cy="130163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lang="en-US" sz="950" dirty="0">
                <a:latin typeface="Tahoma"/>
                <a:cs typeface="Tahoma"/>
              </a:rPr>
              <a:t>Kun Suo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9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</a:pPr>
            <a:r>
              <a:rPr lang="en" sz="1000" spc="65" dirty="0">
                <a:latin typeface="Tahoma"/>
                <a:cs typeface="Tahoma"/>
              </a:rPr>
              <a:t>Department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lang="en" sz="1000" spc="60" dirty="0">
                <a:latin typeface="Tahoma"/>
                <a:cs typeface="Tahoma"/>
              </a:rPr>
              <a:t>of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lang="en" sz="1000" spc="75" dirty="0">
                <a:latin typeface="Tahoma"/>
                <a:cs typeface="Tahoma"/>
              </a:rPr>
              <a:t>Computer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lang="en" sz="1000" spc="-10" dirty="0">
                <a:latin typeface="Tahoma"/>
                <a:cs typeface="Tahoma"/>
              </a:rPr>
              <a:t>Science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lang="en" sz="1000" spc="55" dirty="0">
                <a:latin typeface="Tahoma"/>
                <a:cs typeface="Tahoma"/>
              </a:rPr>
              <a:t>College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5" dirty="0">
                <a:latin typeface="Tahoma"/>
                <a:cs typeface="Tahoma"/>
              </a:rPr>
              <a:t>Computing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65" dirty="0">
                <a:latin typeface="Tahoma"/>
                <a:cs typeface="Tahoma"/>
              </a:rPr>
              <a:t>and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20" dirty="0">
                <a:latin typeface="Tahoma"/>
                <a:cs typeface="Tahoma"/>
              </a:rPr>
              <a:t>Software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lang="en" sz="1000" spc="45" dirty="0">
                <a:latin typeface="Tahoma"/>
                <a:cs typeface="Tahoma"/>
              </a:rPr>
              <a:t>Engineering</a:t>
            </a:r>
            <a:endParaRPr sz="100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lang="en" sz="1050" spc="10" dirty="0">
                <a:latin typeface="Tahoma"/>
                <a:cs typeface="Tahoma"/>
              </a:rPr>
              <a:t>Kennesaw</a:t>
            </a:r>
            <a:r>
              <a:rPr sz="1050" spc="85" dirty="0">
                <a:latin typeface="Tahoma"/>
                <a:cs typeface="Tahoma"/>
              </a:rPr>
              <a:t> </a:t>
            </a:r>
            <a:r>
              <a:rPr lang="en" sz="1050" spc="10" dirty="0">
                <a:latin typeface="Tahoma"/>
                <a:cs typeface="Tahoma"/>
              </a:rPr>
              <a:t>State</a:t>
            </a:r>
            <a:r>
              <a:rPr sz="1050" spc="85" dirty="0">
                <a:latin typeface="Tahoma"/>
                <a:cs typeface="Tahoma"/>
              </a:rPr>
              <a:t> </a:t>
            </a:r>
            <a:r>
              <a:rPr lang="en" sz="1050" spc="-10" dirty="0">
                <a:latin typeface="Tahoma"/>
                <a:cs typeface="Tahoma"/>
              </a:rPr>
              <a:t>University</a:t>
            </a:r>
            <a:endParaRPr sz="1050" dirty="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810"/>
              </a:spcBef>
            </a:pPr>
            <a:r>
              <a:rPr lang="en" sz="950" spc="-10" dirty="0">
                <a:latin typeface="Tahoma"/>
                <a:cs typeface="Tahoma"/>
                <a:hlinkClick r:id="rId3"/>
              </a:rPr>
              <a:t>ksuo@kennesaw.edu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950" dirty="0">
              <a:latin typeface="Tahoma"/>
              <a:cs typeface="Tahoma"/>
            </a:endParaRPr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53E4E216-83D1-6E7F-C191-91FA393B15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7743" y="508509"/>
            <a:ext cx="4483735" cy="677545"/>
            <a:chOff x="87743" y="508509"/>
            <a:chExt cx="4483735" cy="677545"/>
          </a:xfrm>
        </p:grpSpPr>
        <p:pic>
          <p:nvPicPr>
            <p:cNvPr id="12" name="object 4">
              <a:extLst>
                <a:ext uri="{FF2B5EF4-FFF2-40B4-BE49-F238E27FC236}">
                  <a16:creationId xmlns:a16="http://schemas.microsoft.com/office/drawing/2014/main" id="{9BE288DA-8674-553D-A42C-CAFEA4642ED6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544" y="1084161"/>
              <a:ext cx="101600" cy="101600"/>
            </a:xfrm>
            <a:prstGeom prst="rect">
              <a:avLst/>
            </a:prstGeom>
          </p:spPr>
        </p:pic>
        <p:pic>
          <p:nvPicPr>
            <p:cNvPr id="13" name="object 5">
              <a:extLst>
                <a:ext uri="{FF2B5EF4-FFF2-40B4-BE49-F238E27FC236}">
                  <a16:creationId xmlns:a16="http://schemas.microsoft.com/office/drawing/2014/main" id="{A82CAC38-AD2F-AF08-844F-DC203AE6130F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9344" y="1071460"/>
              <a:ext cx="4381765" cy="114301"/>
            </a:xfrm>
            <a:prstGeom prst="rect">
              <a:avLst/>
            </a:prstGeom>
          </p:spPr>
        </p:pic>
        <p:pic>
          <p:nvPicPr>
            <p:cNvPr id="14" name="object 6">
              <a:extLst>
                <a:ext uri="{FF2B5EF4-FFF2-40B4-BE49-F238E27FC236}">
                  <a16:creationId xmlns:a16="http://schemas.microsoft.com/office/drawing/2014/main" id="{4DB2A7D9-32A7-F77F-F484-8BFC43B42387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20310" y="514654"/>
              <a:ext cx="50800" cy="569506"/>
            </a:xfrm>
            <a:prstGeom prst="rect">
              <a:avLst/>
            </a:prstGeom>
          </p:spPr>
        </p:pic>
        <p:sp>
          <p:nvSpPr>
            <p:cNvPr id="15" name="object 7">
              <a:extLst>
                <a:ext uri="{FF2B5EF4-FFF2-40B4-BE49-F238E27FC236}">
                  <a16:creationId xmlns:a16="http://schemas.microsoft.com/office/drawing/2014/main" id="{9CB554D9-789E-84F2-756A-5664317BF94A}"/>
                </a:ext>
              </a:extLst>
            </p:cNvPr>
            <p:cNvSpPr/>
            <p:nvPr/>
          </p:nvSpPr>
          <p:spPr>
            <a:xfrm>
              <a:off x="87743" y="508509"/>
              <a:ext cx="4432935" cy="626745"/>
            </a:xfrm>
            <a:custGeom>
              <a:avLst/>
              <a:gdLst/>
              <a:ahLst/>
              <a:cxnLst/>
              <a:rect l="l" t="t" r="r" b="b"/>
              <a:pathLst>
                <a:path w="4432935" h="626744">
                  <a:moveTo>
                    <a:pt x="4432566" y="0"/>
                  </a:moveTo>
                  <a:lnTo>
                    <a:pt x="0" y="0"/>
                  </a:lnTo>
                  <a:lnTo>
                    <a:pt x="0" y="575651"/>
                  </a:lnTo>
                  <a:lnTo>
                    <a:pt x="4008" y="595375"/>
                  </a:lnTo>
                  <a:lnTo>
                    <a:pt x="14922" y="611528"/>
                  </a:lnTo>
                  <a:lnTo>
                    <a:pt x="31075" y="622443"/>
                  </a:lnTo>
                  <a:lnTo>
                    <a:pt x="50800" y="626451"/>
                  </a:lnTo>
                  <a:lnTo>
                    <a:pt x="4381765" y="626451"/>
                  </a:lnTo>
                  <a:lnTo>
                    <a:pt x="4401490" y="622443"/>
                  </a:lnTo>
                  <a:lnTo>
                    <a:pt x="4417643" y="611528"/>
                  </a:lnTo>
                  <a:lnTo>
                    <a:pt x="4428558" y="595375"/>
                  </a:lnTo>
                  <a:lnTo>
                    <a:pt x="4432566" y="575651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8D8D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8">
              <a:extLst>
                <a:ext uri="{FF2B5EF4-FFF2-40B4-BE49-F238E27FC236}">
                  <a16:creationId xmlns:a16="http://schemas.microsoft.com/office/drawing/2014/main" id="{010A9CEC-92F6-B255-36C2-524EC723952C}"/>
                </a:ext>
              </a:extLst>
            </p:cNvPr>
            <p:cNvSpPr/>
            <p:nvPr/>
          </p:nvSpPr>
          <p:spPr>
            <a:xfrm>
              <a:off x="4520310" y="552747"/>
              <a:ext cx="0" cy="550545"/>
            </a:xfrm>
            <a:custGeom>
              <a:avLst/>
              <a:gdLst/>
              <a:ahLst/>
              <a:cxnLst/>
              <a:rect l="l" t="t" r="r" b="b"/>
              <a:pathLst>
                <a:path h="550544">
                  <a:moveTo>
                    <a:pt x="0" y="55046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9">
              <a:extLst>
                <a:ext uri="{FF2B5EF4-FFF2-40B4-BE49-F238E27FC236}">
                  <a16:creationId xmlns:a16="http://schemas.microsoft.com/office/drawing/2014/main" id="{4F081E9C-3D71-7B9C-1237-979A2D2B72D1}"/>
                </a:ext>
              </a:extLst>
            </p:cNvPr>
            <p:cNvSpPr/>
            <p:nvPr/>
          </p:nvSpPr>
          <p:spPr>
            <a:xfrm>
              <a:off x="4520310" y="5400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0">
              <a:extLst>
                <a:ext uri="{FF2B5EF4-FFF2-40B4-BE49-F238E27FC236}">
                  <a16:creationId xmlns:a16="http://schemas.microsoft.com/office/drawing/2014/main" id="{E48D6A4F-9A7B-1311-6C58-F7FF464BCB5F}"/>
                </a:ext>
              </a:extLst>
            </p:cNvPr>
            <p:cNvSpPr/>
            <p:nvPr/>
          </p:nvSpPr>
          <p:spPr>
            <a:xfrm>
              <a:off x="4520310" y="5273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CE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1">
              <a:extLst>
                <a:ext uri="{FF2B5EF4-FFF2-40B4-BE49-F238E27FC236}">
                  <a16:creationId xmlns:a16="http://schemas.microsoft.com/office/drawing/2014/main" id="{69DFE8AF-D92A-C030-C1F4-06A254DB4D00}"/>
                </a:ext>
              </a:extLst>
            </p:cNvPr>
            <p:cNvSpPr/>
            <p:nvPr/>
          </p:nvSpPr>
          <p:spPr>
            <a:xfrm>
              <a:off x="4520310" y="514647"/>
              <a:ext cx="0" cy="12700"/>
            </a:xfrm>
            <a:custGeom>
              <a:avLst/>
              <a:gdLst/>
              <a:ahLst/>
              <a:cxnLst/>
              <a:rect l="l" t="t" r="r" b="b"/>
              <a:pathLst>
                <a:path h="12700">
                  <a:moveTo>
                    <a:pt x="0" y="12700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EFEF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9A723AA-8912-A137-E33B-7B7FD9568501}"/>
              </a:ext>
            </a:extLst>
          </p:cNvPr>
          <p:cNvSpPr txBox="1"/>
          <p:nvPr/>
        </p:nvSpPr>
        <p:spPr>
          <a:xfrm>
            <a:off x="142980" y="596971"/>
            <a:ext cx="4229688" cy="474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lang="en-US" sz="1200" spc="-10" dirty="0">
                <a:solidFill>
                  <a:srgbClr val="B30000"/>
                </a:solidFill>
              </a:rPr>
              <a:t>CS5070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Mathematical</a:t>
            </a:r>
            <a:r>
              <a:rPr lang="en-US" sz="1200" spc="-70" dirty="0"/>
              <a:t> </a:t>
            </a:r>
            <a:r>
              <a:rPr lang="en-US" sz="1200" spc="-25" dirty="0">
                <a:solidFill>
                  <a:srgbClr val="B30000"/>
                </a:solidFill>
              </a:rPr>
              <a:t>Structures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for</a:t>
            </a:r>
            <a:r>
              <a:rPr lang="en-US" sz="1200" spc="-70" dirty="0"/>
              <a:t> </a:t>
            </a:r>
            <a:r>
              <a:rPr lang="en-US" sz="1200" spc="-30" dirty="0">
                <a:solidFill>
                  <a:srgbClr val="B30000"/>
                </a:solidFill>
              </a:rPr>
              <a:t>Computer</a:t>
            </a:r>
            <a:r>
              <a:rPr lang="en-US" sz="1200" spc="-70" dirty="0"/>
              <a:t> </a:t>
            </a:r>
            <a:r>
              <a:rPr lang="en-US" sz="1200" spc="-10" dirty="0">
                <a:solidFill>
                  <a:srgbClr val="B30000"/>
                </a:solidFill>
              </a:rPr>
              <a:t>Science</a:t>
            </a: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lang="en-US" sz="1200" spc="-10" dirty="0">
                <a:solidFill>
                  <a:srgbClr val="B30000"/>
                </a:solidFill>
              </a:rPr>
              <a:t>Logic &amp; Set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160" dirty="0"/>
              <a:t> </a:t>
            </a:r>
            <a:r>
              <a:rPr spc="40" dirty="0"/>
              <a:t>Definitions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49" y="358775"/>
            <a:ext cx="4388943" cy="263661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900" spc="40" dirty="0">
                <a:latin typeface="Tahoma"/>
                <a:cs typeface="Tahoma"/>
              </a:rPr>
              <a:t>Statement</a:t>
            </a:r>
            <a:endParaRPr sz="9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70"/>
              </a:spcBef>
              <a:buFont typeface="Arial" panose="020B0604020202020204" pitchFamily="34" charset="0"/>
              <a:buChar char="•"/>
            </a:pPr>
            <a:r>
              <a:rPr sz="900" spc="10" dirty="0">
                <a:latin typeface="Tahoma"/>
                <a:cs typeface="Tahoma"/>
              </a:rPr>
              <a:t>A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declarative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sentence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that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is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true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or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false.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It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is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also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known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10" dirty="0">
                <a:latin typeface="Tahoma"/>
                <a:cs typeface="Tahoma"/>
              </a:rPr>
              <a:t>as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a</a:t>
            </a:r>
            <a:r>
              <a:rPr lang="en-US" sz="900" dirty="0">
                <a:latin typeface="Tahoma"/>
                <a:cs typeface="Tahoma"/>
              </a:rPr>
              <a:t> </a:t>
            </a:r>
            <a:r>
              <a:rPr lang="en-US" sz="1400" spc="-15" baseline="2777" dirty="0">
                <a:latin typeface="Tahoma"/>
                <a:cs typeface="Tahoma"/>
              </a:rPr>
              <a:t>proposition</a:t>
            </a:r>
            <a:r>
              <a:rPr lang="en-US" sz="1050" spc="-10" dirty="0">
                <a:latin typeface="Tahoma"/>
                <a:cs typeface="Tahoma"/>
              </a:rPr>
              <a:t>.</a:t>
            </a:r>
            <a:endParaRPr lang="en-US" sz="10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10" dirty="0">
                <a:latin typeface="Tahoma"/>
                <a:cs typeface="Tahoma"/>
              </a:rPr>
              <a:t>Atomic</a:t>
            </a:r>
            <a:r>
              <a:rPr sz="1000" spc="1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Statement</a:t>
            </a:r>
            <a:endParaRPr sz="10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395"/>
              </a:spcBef>
              <a:buFont typeface="Arial" panose="020B0604020202020204" pitchFamily="34" charset="0"/>
              <a:buChar char="•"/>
            </a:pPr>
            <a:r>
              <a:rPr sz="900" spc="50" dirty="0">
                <a:latin typeface="Tahoma"/>
                <a:cs typeface="Tahoma"/>
              </a:rPr>
              <a:t>A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statement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that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60" dirty="0">
                <a:latin typeface="Tahoma"/>
                <a:cs typeface="Tahoma"/>
              </a:rPr>
              <a:t>cannot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0" dirty="0">
                <a:latin typeface="Tahoma"/>
                <a:cs typeface="Tahoma"/>
              </a:rPr>
              <a:t>be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divided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into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smaller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statements.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lang="en-US"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50" dirty="0">
                <a:latin typeface="Tahoma"/>
                <a:cs typeface="Tahoma"/>
              </a:rPr>
              <a:t>Molecular</a:t>
            </a:r>
            <a:r>
              <a:rPr sz="1000" spc="20" dirty="0">
                <a:latin typeface="Tahoma"/>
                <a:cs typeface="Tahoma"/>
              </a:rPr>
              <a:t> (or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20" dirty="0">
                <a:latin typeface="Tahoma"/>
                <a:cs typeface="Tahoma"/>
              </a:rPr>
              <a:t>Composite) </a:t>
            </a:r>
            <a:r>
              <a:rPr sz="1000" spc="-10" dirty="0">
                <a:latin typeface="Tahoma"/>
                <a:cs typeface="Tahoma"/>
              </a:rPr>
              <a:t>Statement</a:t>
            </a:r>
            <a:endParaRPr sz="1000" dirty="0">
              <a:latin typeface="Tahoma"/>
              <a:cs typeface="Tahoma"/>
            </a:endParaRPr>
          </a:p>
          <a:p>
            <a:pPr marL="184150" indent="-171450">
              <a:lnSpc>
                <a:spcPct val="100000"/>
              </a:lnSpc>
              <a:spcBef>
                <a:spcPts val="505"/>
              </a:spcBef>
              <a:buFont typeface="Arial" panose="020B0604020202020204" pitchFamily="34" charset="0"/>
              <a:buChar char="•"/>
            </a:pPr>
            <a:r>
              <a:rPr sz="900" spc="20" dirty="0">
                <a:latin typeface="Tahoma"/>
                <a:cs typeface="Tahoma"/>
              </a:rPr>
              <a:t>A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20" dirty="0">
                <a:latin typeface="Tahoma"/>
                <a:cs typeface="Tahoma"/>
              </a:rPr>
              <a:t>statement that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20" dirty="0">
                <a:latin typeface="Tahoma"/>
                <a:cs typeface="Tahoma"/>
              </a:rPr>
              <a:t>is not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atomic.</a:t>
            </a:r>
            <a:endParaRPr sz="900" dirty="0">
              <a:latin typeface="Tahoma"/>
              <a:cs typeface="Tahoma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EF287F-A363-95CA-B39B-4417438078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1673157"/>
              </p:ext>
            </p:extLst>
          </p:nvPr>
        </p:nvGraphicFramePr>
        <p:xfrm>
          <a:off x="552450" y="832091"/>
          <a:ext cx="3238500" cy="844993"/>
        </p:xfrm>
        <a:graphic>
          <a:graphicData uri="http://schemas.openxmlformats.org/drawingml/2006/table">
            <a:tbl>
              <a:tblPr/>
              <a:tblGrid>
                <a:gridCol w="1079500">
                  <a:extLst>
                    <a:ext uri="{9D8B030D-6E8A-4147-A177-3AD203B41FA5}">
                      <a16:colId xmlns:a16="http://schemas.microsoft.com/office/drawing/2014/main" val="3946441679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984044037"/>
                    </a:ext>
                  </a:extLst>
                </a:gridCol>
                <a:gridCol w="1079500">
                  <a:extLst>
                    <a:ext uri="{9D8B030D-6E8A-4147-A177-3AD203B41FA5}">
                      <a16:colId xmlns:a16="http://schemas.microsoft.com/office/drawing/2014/main" val="19191635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Sentence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Statement?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Why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554984"/>
                  </a:ext>
                </a:extLst>
              </a:tr>
              <a:tr h="11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Atlanta is in Georgia.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True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215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2 + 2 = 5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Yes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False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7188949"/>
                  </a:ext>
                </a:extLst>
              </a:tr>
              <a:tr h="11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Close the door.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No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Command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038772"/>
                  </a:ext>
                </a:extLst>
              </a:tr>
              <a:tr h="1160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What time is it?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No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Question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0989426"/>
                  </a:ext>
                </a:extLst>
              </a:tr>
              <a:tr h="1659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x &gt; 5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No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Truth depends on x</a:t>
                      </a:r>
                    </a:p>
                  </a:txBody>
                  <a:tcPr marL="44369" marR="44369" marT="22184" marB="2218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999135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020DE20-AF72-45C1-52E8-7A25FD63B84D}"/>
              </a:ext>
            </a:extLst>
          </p:cNvPr>
          <p:cNvSpPr txBox="1"/>
          <p:nvPr/>
        </p:nvSpPr>
        <p:spPr>
          <a:xfrm>
            <a:off x="476250" y="2128490"/>
            <a:ext cx="38958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600" dirty="0">
                <a:solidFill>
                  <a:schemeClr val="accent1"/>
                </a:solidFill>
              </a:rPr>
              <a:t>Examples: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accent1"/>
                </a:solidFill>
              </a:rPr>
              <a:t>P: "The server is online."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00" dirty="0">
                <a:solidFill>
                  <a:schemeClr val="accent1"/>
                </a:solidFill>
              </a:rPr>
              <a:t>Q: "The database is reachable."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8AC17-1D88-3BE6-5E0E-21C78E6DE936}"/>
              </a:ext>
            </a:extLst>
          </p:cNvPr>
          <p:cNvSpPr txBox="1"/>
          <p:nvPr/>
        </p:nvSpPr>
        <p:spPr>
          <a:xfrm>
            <a:off x="476250" y="3013348"/>
            <a:ext cx="2304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" kern="0"/>
            </a:defPPr>
            <a:lvl1pPr>
              <a:buNone/>
              <a:defRPr sz="700">
                <a:solidFill>
                  <a:schemeClr val="accent1"/>
                </a:solidFill>
              </a:defRPr>
            </a:lvl1pPr>
          </a:lstStyle>
          <a:p>
            <a:r>
              <a:rPr lang="en-US" sz="600" dirty="0"/>
              <a:t>Examples:</a:t>
            </a:r>
          </a:p>
          <a:p>
            <a:r>
              <a:rPr lang="en-US" sz="600" dirty="0"/>
              <a:t>"The server is online AND the database is reachable." </a:t>
            </a:r>
          </a:p>
          <a:p>
            <a:r>
              <a:rPr lang="en-US" sz="600" dirty="0"/>
              <a:t>"The server is online OR the database is reachable."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95349" y="87040"/>
            <a:ext cx="2167890" cy="206467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Basic</a:t>
            </a:r>
            <a:r>
              <a:rPr spc="160" dirty="0"/>
              <a:t> </a:t>
            </a:r>
            <a:r>
              <a:rPr spc="40" dirty="0"/>
              <a:t>Definitions</a:t>
            </a:r>
            <a:r>
              <a:rPr lang="en-US" spc="40" dirty="0"/>
              <a:t>..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87807" y="591575"/>
            <a:ext cx="4409440" cy="237565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05"/>
              </a:spcBef>
            </a:pPr>
            <a:r>
              <a:rPr sz="1000" spc="55" dirty="0">
                <a:latin typeface="Tahoma"/>
                <a:cs typeface="Tahoma"/>
              </a:rPr>
              <a:t>Logical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lnSpc>
                <a:spcPct val="100000"/>
              </a:lnSpc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Are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used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to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define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more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complicated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statements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(molecular)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out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30" dirty="0">
                <a:latin typeface="Tahoma"/>
                <a:cs typeface="Tahoma"/>
              </a:rPr>
              <a:t>of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40" dirty="0">
                <a:latin typeface="Tahoma"/>
                <a:cs typeface="Tahoma"/>
              </a:rPr>
              <a:t>simpler</a:t>
            </a:r>
            <a:r>
              <a:rPr lang="en-US" sz="90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ones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50" dirty="0">
                <a:latin typeface="Tahoma"/>
                <a:cs typeface="Tahoma"/>
              </a:rPr>
              <a:t>atomic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or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molecular).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10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55" dirty="0">
                <a:latin typeface="Tahoma"/>
                <a:cs typeface="Tahoma"/>
              </a:rPr>
              <a:t>Binary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4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Used to connect two statements. These are: </a:t>
            </a:r>
            <a:r>
              <a:rPr sz="900" spc="30" dirty="0">
                <a:solidFill>
                  <a:srgbClr val="FF0000"/>
                </a:solidFill>
                <a:latin typeface="Tahoma"/>
                <a:cs typeface="Tahoma"/>
              </a:rPr>
              <a:t>and, or, xor</a:t>
            </a:r>
            <a:r>
              <a:rPr sz="900" spc="30" dirty="0">
                <a:latin typeface="Tahoma"/>
                <a:cs typeface="Tahoma"/>
              </a:rPr>
              <a:t>.</a:t>
            </a: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60" dirty="0">
                <a:latin typeface="Tahoma"/>
                <a:cs typeface="Tahoma"/>
              </a:rPr>
              <a:t>Unary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Connectives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Applied to a single statement. This is </a:t>
            </a:r>
            <a:r>
              <a:rPr sz="900" spc="30" dirty="0">
                <a:solidFill>
                  <a:srgbClr val="FF0000"/>
                </a:solidFill>
                <a:latin typeface="Tahoma"/>
                <a:cs typeface="Tahoma"/>
              </a:rPr>
              <a:t>not</a:t>
            </a:r>
            <a:r>
              <a:rPr sz="900" spc="30" dirty="0">
                <a:latin typeface="Tahoma"/>
                <a:cs typeface="Tahoma"/>
              </a:rPr>
              <a:t>; also known as negation.</a:t>
            </a: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0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000" spc="60" dirty="0">
                <a:latin typeface="Tahoma"/>
                <a:cs typeface="Tahoma"/>
              </a:rPr>
              <a:t>Propositional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Variables</a:t>
            </a:r>
            <a:endParaRPr sz="1000" dirty="0">
              <a:latin typeface="Tahoma"/>
              <a:cs typeface="Tahoma"/>
            </a:endParaRPr>
          </a:p>
          <a:p>
            <a:pPr marL="222250" indent="-171450">
              <a:spcBef>
                <a:spcPts val="555"/>
              </a:spcBef>
              <a:buFont typeface="Arial" panose="020B0604020202020204" pitchFamily="34" charset="0"/>
              <a:buChar char="•"/>
            </a:pPr>
            <a:r>
              <a:rPr sz="900" spc="30" dirty="0">
                <a:latin typeface="Tahoma"/>
                <a:cs typeface="Tahoma"/>
              </a:rPr>
              <a:t>Represent statements. These are denoted by P, Q, R, S, 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301"/>
            <a:ext cx="1489710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ahoma"/>
                <a:cs typeface="Tahoma"/>
              </a:rPr>
              <a:t>Logical</a:t>
            </a:r>
            <a:r>
              <a:rPr sz="1250" spc="229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Connectives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113207" y="707782"/>
                <a:ext cx="3643629" cy="26090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54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950" dirty="0"/>
                  <a:t>The</a:t>
                </a:r>
                <a:r>
                  <a:rPr sz="950" spc="35" dirty="0"/>
                  <a:t> </a:t>
                </a:r>
                <a:r>
                  <a:rPr sz="950" dirty="0"/>
                  <a:t>logical</a:t>
                </a:r>
                <a:r>
                  <a:rPr sz="950" spc="35" dirty="0"/>
                  <a:t> </a:t>
                </a:r>
                <a:r>
                  <a:rPr sz="950" dirty="0"/>
                  <a:t>connectives</a:t>
                </a:r>
                <a:r>
                  <a:rPr sz="950" spc="40" dirty="0"/>
                  <a:t> </a:t>
                </a:r>
                <a:r>
                  <a:rPr sz="950" dirty="0"/>
                  <a:t>are:</a:t>
                </a:r>
                <a:r>
                  <a:rPr sz="950" spc="130" dirty="0"/>
                  <a:t> </a:t>
                </a:r>
                <a:r>
                  <a:rPr sz="1875" spc="-120" baseline="-4444" dirty="0">
                    <a:latin typeface="Lucida Sans Unicode"/>
                    <a:cs typeface="Lucida Sans Unicode"/>
                  </a:rPr>
                  <a:t>∧</a:t>
                </a:r>
                <a:r>
                  <a:rPr sz="1650" spc="-120" baseline="-2525" dirty="0"/>
                  <a:t>,</a:t>
                </a:r>
                <a:r>
                  <a:rPr sz="1650" spc="60" baseline="-2525" dirty="0"/>
                  <a:t> </a:t>
                </a:r>
                <a:r>
                  <a:rPr lang="en-US" sz="1650" spc="-120" baseline="-2525" dirty="0">
                    <a:latin typeface="Lucida Sans Unicode"/>
                    <a:cs typeface="Lucida Sans Unicode"/>
                  </a:rPr>
                  <a:t>∨</a:t>
                </a:r>
                <a:r>
                  <a:rPr lang="en-US" sz="1650" baseline="-2525" dirty="0"/>
                  <a:t>, </a:t>
                </a:r>
                <a14:m>
                  <m:oMath xmlns:m="http://schemas.openxmlformats.org/officeDocument/2006/math">
                    <m:r>
                      <a:rPr lang="en-US" sz="165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650" baseline="-2525" dirty="0"/>
                  <a:t>, </a:t>
                </a:r>
                <a14:m>
                  <m:oMath xmlns:m="http://schemas.openxmlformats.org/officeDocument/2006/math">
                    <m:r>
                      <a:rPr lang="en-US" sz="1600" i="1" spc="142" baseline="-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</m:oMath>
                </a14:m>
                <a:r>
                  <a:rPr sz="1650" baseline="-2525" dirty="0"/>
                  <a:t>,</a:t>
                </a:r>
                <a:r>
                  <a:rPr lang="en-US" sz="1650" spc="157" baseline="-2525" dirty="0"/>
                  <a:t> </a:t>
                </a:r>
                <a:r>
                  <a:rPr sz="1950" spc="-195" baseline="-4273" dirty="0"/>
                  <a:t>¬</a:t>
                </a:r>
                <a:r>
                  <a:rPr lang="en-US" sz="1950" spc="-195" baseline="-4273" dirty="0"/>
                  <a:t> </a:t>
                </a:r>
                <a:r>
                  <a:rPr sz="1000" spc="-130" dirty="0"/>
                  <a:t>.</a:t>
                </a:r>
                <a:r>
                  <a:rPr sz="1000" spc="35" dirty="0"/>
                  <a:t> </a:t>
                </a:r>
                <a:r>
                  <a:rPr sz="1000" spc="-10" dirty="0"/>
                  <a:t>Examples:</a:t>
                </a:r>
                <a:endParaRPr sz="1000" dirty="0">
                  <a:latin typeface="Lucida Sans Unicode"/>
                  <a:cs typeface="Lucida Sans Unicode"/>
                </a:endParaRPr>
              </a:p>
            </p:txBody>
          </p:sp>
        </mc:Choice>
        <mc:Fallback xmlns=""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13207" y="707782"/>
                <a:ext cx="3643629" cy="260905"/>
              </a:xfrm>
              <a:prstGeom prst="rect">
                <a:avLst/>
              </a:prstGeom>
              <a:blipFill>
                <a:blip r:embed="rId2"/>
                <a:stretch>
                  <a:fillRect l="-1394" t="-4545" b="-3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113207" y="1031060"/>
                <a:ext cx="4150360" cy="1790747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02260" marR="2126615">
                  <a:lnSpc>
                    <a:spcPct val="120000"/>
                  </a:lnSpc>
                  <a:spcBef>
                    <a:spcPts val="100"/>
                  </a:spcBef>
                </a:pPr>
                <a:r>
                  <a:rPr lang="en-US" sz="1150" spc="55" dirty="0"/>
                  <a:t>P</a:t>
                </a:r>
                <a:r>
                  <a:rPr lang="en-US" sz="1150" spc="-60" dirty="0"/>
                  <a:t> </a:t>
                </a:r>
                <a:r>
                  <a:rPr lang="en-US" sz="1575" spc="-112" baseline="2645" dirty="0">
                    <a:latin typeface="Lucida Sans Unicode"/>
                    <a:cs typeface="Lucida Sans Unicode"/>
                  </a:rPr>
                  <a:t>∧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-37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-30" baseline="2923" dirty="0"/>
                  <a:t> </a:t>
                </a:r>
                <a:r>
                  <a:rPr lang="en-US" sz="1425" baseline="2923" dirty="0"/>
                  <a:t>as</a:t>
                </a:r>
                <a:r>
                  <a:rPr lang="en-US" sz="1425" spc="-37" baseline="2923" dirty="0"/>
                  <a:t> </a:t>
                </a:r>
                <a:r>
                  <a:rPr lang="en-US" sz="1425" spc="60" baseline="2923" dirty="0"/>
                  <a:t>conjunction </a:t>
                </a:r>
                <a:r>
                  <a:rPr lang="en-US" sz="1150" spc="55" dirty="0"/>
                  <a:t>P</a:t>
                </a:r>
                <a:r>
                  <a:rPr lang="en-US" sz="1150" spc="-60" dirty="0"/>
                  <a:t> </a:t>
                </a:r>
                <a:r>
                  <a:rPr lang="en-US" sz="1575" spc="-112" baseline="2645" dirty="0">
                    <a:latin typeface="Lucida Sans Unicode"/>
                    <a:cs typeface="Lucida Sans Unicode"/>
                  </a:rPr>
                  <a:t>∨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-37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-30" baseline="2923" dirty="0"/>
                  <a:t> </a:t>
                </a:r>
                <a:r>
                  <a:rPr lang="en-US" sz="1425" baseline="2923" dirty="0"/>
                  <a:t>as</a:t>
                </a:r>
                <a:r>
                  <a:rPr lang="en-US" sz="1425" spc="-37" baseline="2923" dirty="0"/>
                  <a:t> </a:t>
                </a:r>
                <a:r>
                  <a:rPr lang="en-US" sz="1425" spc="-15" baseline="2923" dirty="0"/>
                  <a:t>disjunction</a:t>
                </a:r>
                <a:r>
                  <a:rPr lang="en-US" sz="1425" spc="750" baseline="2923" dirty="0"/>
                  <a:t> </a:t>
                </a:r>
                <a:r>
                  <a:rPr lang="en-US" sz="1150" spc="55" dirty="0"/>
                  <a:t>P</a:t>
                </a:r>
                <a:r>
                  <a:rPr lang="en-US" sz="1150" spc="-25" dirty="0"/>
                  <a:t> </a:t>
                </a:r>
                <a:r>
                  <a:rPr lang="en-US" sz="1575" spc="82" baseline="2645" dirty="0">
                    <a:latin typeface="Lucida Sans Unicode"/>
                    <a:cs typeface="Lucida Sans Unicode"/>
                  </a:rPr>
                  <a:t>⊕</a:t>
                </a:r>
                <a:r>
                  <a:rPr lang="en-US" sz="1575" spc="-52" baseline="2645" dirty="0">
                    <a:latin typeface="Lucida Sans Unicode"/>
                    <a:cs typeface="Lucida Sans Unicode"/>
                  </a:rPr>
                  <a:t> </a:t>
                </a:r>
                <a:r>
                  <a:rPr lang="en-US" sz="1500" spc="97" baseline="2777" dirty="0"/>
                  <a:t>Q</a:t>
                </a:r>
                <a:r>
                  <a:rPr lang="en-US" sz="1425" spc="97" baseline="2923" dirty="0"/>
                  <a:t>,</a:t>
                </a:r>
                <a:r>
                  <a:rPr lang="en-US" sz="1425" spc="15" baseline="2923" dirty="0"/>
                  <a:t> </a:t>
                </a:r>
                <a:r>
                  <a:rPr lang="en-US" sz="1425" spc="97" baseline="2923" dirty="0"/>
                  <a:t>known</a:t>
                </a:r>
                <a:r>
                  <a:rPr lang="en-US" sz="1425" spc="15" baseline="2923" dirty="0"/>
                  <a:t> as</a:t>
                </a:r>
                <a:r>
                  <a:rPr lang="en-US" sz="1425" spc="7" baseline="2923" dirty="0"/>
                  <a:t> </a:t>
                </a:r>
                <a:r>
                  <a:rPr lang="en-US" sz="1425" spc="15" baseline="2923" dirty="0"/>
                  <a:t>exclusive </a:t>
                </a:r>
                <a:r>
                  <a:rPr lang="en-US" sz="1425" spc="60" baseline="2923" dirty="0"/>
                  <a:t>or</a:t>
                </a:r>
                <a:endParaRPr lang="en-US" sz="1425" baseline="2923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ts val="1795"/>
                  </a:lnSpc>
                </a:pPr>
                <a:r>
                  <a:rPr lang="en-US" sz="1150" spc="55" dirty="0"/>
                  <a:t>P</a:t>
                </a:r>
                <a:r>
                  <a:rPr lang="en-US" sz="1150" spc="225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sz="1500" spc="89" baseline="2777" dirty="0"/>
                  <a:t>Q,</a:t>
                </a:r>
                <a:r>
                  <a:rPr lang="en-US" sz="1500" baseline="2777" dirty="0"/>
                  <a:t> known</a:t>
                </a:r>
                <a:r>
                  <a:rPr lang="en-US" sz="1500" spc="7" baseline="2777" dirty="0"/>
                  <a:t> </a:t>
                </a:r>
                <a:r>
                  <a:rPr lang="en-US" sz="1500" baseline="2777" dirty="0"/>
                  <a:t>as implication (or</a:t>
                </a:r>
                <a:r>
                  <a:rPr lang="en-US" sz="1500" spc="7" baseline="2777" dirty="0"/>
                  <a:t> </a:t>
                </a:r>
                <a:r>
                  <a:rPr lang="en-US" sz="1500" spc="-15" baseline="2777" dirty="0"/>
                  <a:t>conditional)</a:t>
                </a:r>
                <a:endParaRPr lang="en-US" sz="1500" baseline="2777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ct val="100000"/>
                  </a:lnSpc>
                  <a:spcBef>
                    <a:spcPts val="135"/>
                  </a:spcBef>
                </a:pPr>
                <a:r>
                  <a:rPr lang="en-US" sz="1150" spc="55" dirty="0"/>
                  <a:t>P</a:t>
                </a:r>
                <a:r>
                  <a:rPr lang="en-US" sz="1150" spc="-25" dirty="0"/>
                  <a:t> </a:t>
                </a:r>
                <a14:m>
                  <m:oMath xmlns:m="http://schemas.openxmlformats.org/officeDocument/2006/math">
                    <m:r>
                      <a:rPr lang="en-US" sz="1600" i="1" spc="142" baseline="-2415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  <m:r>
                      <a:rPr lang="en-US" sz="1600" b="0" i="0" spc="142" baseline="-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en-US" sz="1500" spc="97" baseline="2777" dirty="0"/>
                  <a:t>Q,</a:t>
                </a:r>
                <a:r>
                  <a:rPr lang="en-US" sz="1500" spc="-37" baseline="2777" dirty="0"/>
                  <a:t> </a:t>
                </a:r>
                <a:r>
                  <a:rPr lang="en-US" sz="1500" spc="82" baseline="2777" dirty="0"/>
                  <a:t>known</a:t>
                </a:r>
                <a:r>
                  <a:rPr lang="en-US" sz="1500" spc="-37" baseline="2777" dirty="0"/>
                  <a:t> </a:t>
                </a:r>
                <a:r>
                  <a:rPr lang="en-US" sz="1500" baseline="2777" dirty="0"/>
                  <a:t>as</a:t>
                </a:r>
                <a:r>
                  <a:rPr lang="en-US" sz="1500" spc="-44" baseline="2777" dirty="0"/>
                  <a:t> </a:t>
                </a:r>
                <a:r>
                  <a:rPr lang="en-US" sz="1500" spc="67" baseline="2777" dirty="0"/>
                  <a:t>biconditional</a:t>
                </a:r>
                <a:r>
                  <a:rPr lang="en-US" sz="1500" spc="-37" baseline="2777" dirty="0"/>
                  <a:t> </a:t>
                </a:r>
                <a:r>
                  <a:rPr lang="en-US" sz="1500" baseline="2777" dirty="0"/>
                  <a:t>(if</a:t>
                </a:r>
                <a:r>
                  <a:rPr lang="en-US" sz="1500" spc="-37" baseline="2777" dirty="0"/>
                  <a:t> </a:t>
                </a:r>
                <a:r>
                  <a:rPr lang="en-US" sz="1500" spc="75" baseline="2777" dirty="0"/>
                  <a:t>and</a:t>
                </a:r>
                <a:r>
                  <a:rPr lang="en-US" sz="1500" spc="-44" baseline="2777" dirty="0"/>
                  <a:t> </a:t>
                </a:r>
                <a:r>
                  <a:rPr lang="en-US" sz="1500" baseline="2777" dirty="0"/>
                  <a:t>only</a:t>
                </a:r>
                <a:r>
                  <a:rPr lang="en-US" sz="1500" spc="-37" baseline="2777" dirty="0"/>
                  <a:t> if)</a:t>
                </a:r>
                <a:endParaRPr lang="en-US" sz="1500" baseline="2777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ct val="100000"/>
                  </a:lnSpc>
                  <a:spcBef>
                    <a:spcPts val="204"/>
                  </a:spcBef>
                </a:pPr>
                <a:r>
                  <a:rPr lang="en-US" sz="1250" spc="-35" baseline="30000" dirty="0"/>
                  <a:t>¬</a:t>
                </a:r>
                <a:r>
                  <a:rPr lang="en-US" sz="1725" spc="-52" baseline="2415" dirty="0"/>
                  <a:t>P</a:t>
                </a:r>
                <a:r>
                  <a:rPr lang="en-US" sz="1425" spc="-52" baseline="5847" dirty="0"/>
                  <a:t>,</a:t>
                </a:r>
                <a:r>
                  <a:rPr lang="en-US" sz="1425" spc="-30" baseline="5847" dirty="0"/>
                  <a:t> </a:t>
                </a:r>
                <a:r>
                  <a:rPr lang="en-US" sz="1425" spc="89" baseline="5847" dirty="0"/>
                  <a:t>known</a:t>
                </a:r>
                <a:r>
                  <a:rPr lang="en-US" sz="1425" spc="-22" baseline="5847" dirty="0"/>
                  <a:t> </a:t>
                </a:r>
                <a:r>
                  <a:rPr lang="en-US" sz="1425" baseline="5847" dirty="0"/>
                  <a:t>as</a:t>
                </a:r>
                <a:r>
                  <a:rPr lang="en-US" sz="1425" spc="-22" baseline="5847" dirty="0"/>
                  <a:t> </a:t>
                </a:r>
                <a:r>
                  <a:rPr lang="en-US" sz="1425" spc="60" baseline="5847" dirty="0"/>
                  <a:t>negation</a:t>
                </a:r>
                <a:endParaRPr lang="en-US" sz="1425" baseline="5847" dirty="0"/>
              </a:p>
              <a:p>
                <a:pPr marL="25400">
                  <a:lnSpc>
                    <a:spcPct val="100000"/>
                  </a:lnSpc>
                  <a:spcBef>
                    <a:spcPts val="965"/>
                  </a:spcBef>
                </a:pPr>
                <a:r>
                  <a:rPr lang="en-US" dirty="0"/>
                  <a:t>The</a:t>
                </a:r>
                <a:r>
                  <a:rPr lang="en-US" spc="-15" dirty="0"/>
                  <a:t> </a:t>
                </a:r>
                <a:r>
                  <a:rPr lang="en-US" spc="60" dirty="0"/>
                  <a:t>truth</a:t>
                </a:r>
                <a:r>
                  <a:rPr lang="en-US" spc="-15" dirty="0"/>
                  <a:t> </a:t>
                </a:r>
                <a:r>
                  <a:rPr lang="en-US" spc="50" dirty="0"/>
                  <a:t>value</a:t>
                </a:r>
                <a:r>
                  <a:rPr lang="en-US" spc="-15" dirty="0"/>
                  <a:t> </a:t>
                </a:r>
                <a:r>
                  <a:rPr lang="en-US" spc="60" dirty="0"/>
                  <a:t>of</a:t>
                </a:r>
                <a:r>
                  <a:rPr lang="en-US" spc="-15" dirty="0"/>
                  <a:t> </a:t>
                </a:r>
                <a:r>
                  <a:rPr lang="en-US" spc="50" dirty="0"/>
                  <a:t>a</a:t>
                </a:r>
                <a:r>
                  <a:rPr lang="en-US" spc="-15" dirty="0"/>
                  <a:t> </a:t>
                </a:r>
                <a:r>
                  <a:rPr lang="en-US" spc="60" dirty="0"/>
                  <a:t>statement</a:t>
                </a:r>
                <a:r>
                  <a:rPr lang="en-US" spc="-15" dirty="0"/>
                  <a:t> </a:t>
                </a:r>
                <a:r>
                  <a:rPr lang="en-US" dirty="0"/>
                  <a:t>is</a:t>
                </a:r>
                <a:r>
                  <a:rPr lang="en-US" spc="-10" dirty="0"/>
                  <a:t> </a:t>
                </a:r>
                <a:r>
                  <a:rPr lang="en-US" spc="65" dirty="0"/>
                  <a:t>determined</a:t>
                </a:r>
                <a:r>
                  <a:rPr lang="en-US" spc="-15" dirty="0"/>
                  <a:t> </a:t>
                </a:r>
                <a:r>
                  <a:rPr lang="en-US" spc="55" dirty="0"/>
                  <a:t>by</a:t>
                </a:r>
                <a:r>
                  <a:rPr lang="en-US" spc="-15" dirty="0"/>
                  <a:t> </a:t>
                </a:r>
                <a:r>
                  <a:rPr lang="en-US" spc="60" dirty="0"/>
                  <a:t>the</a:t>
                </a:r>
                <a:r>
                  <a:rPr lang="en-US" spc="-15" dirty="0"/>
                  <a:t> </a:t>
                </a:r>
                <a:r>
                  <a:rPr lang="en-US" spc="60" dirty="0"/>
                  <a:t>truth</a:t>
                </a:r>
                <a:r>
                  <a:rPr lang="en-US" spc="-15" dirty="0"/>
                  <a:t> </a:t>
                </a:r>
                <a:r>
                  <a:rPr lang="en-US" spc="50" dirty="0"/>
                  <a:t>values</a:t>
                </a:r>
                <a:r>
                  <a:rPr lang="en-US" spc="-15" dirty="0"/>
                  <a:t> </a:t>
                </a:r>
                <a:r>
                  <a:rPr lang="en-US" spc="60" dirty="0"/>
                  <a:t>of</a:t>
                </a:r>
                <a:r>
                  <a:rPr lang="en-US" spc="-10" dirty="0"/>
                  <a:t> </a:t>
                </a:r>
                <a:r>
                  <a:rPr lang="en-US" spc="-25" dirty="0"/>
                  <a:t>its</a:t>
                </a:r>
              </a:p>
              <a:p>
                <a:pPr marL="25400">
                  <a:lnSpc>
                    <a:spcPct val="100000"/>
                  </a:lnSpc>
                  <a:spcBef>
                    <a:spcPts val="245"/>
                  </a:spcBef>
                </a:pPr>
                <a:r>
                  <a:rPr lang="en-US" sz="900" spc="-10" dirty="0"/>
                  <a:t>parts</a:t>
                </a:r>
                <a:endParaRPr sz="900" dirty="0"/>
              </a:p>
            </p:txBody>
          </p:sp>
        </mc:Choice>
        <mc:Fallback xmlns="">
          <p:sp>
            <p:nvSpPr>
              <p:cNvPr id="4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113207" y="1031060"/>
                <a:ext cx="4150360" cy="1790747"/>
              </a:xfrm>
              <a:prstGeom prst="rect">
                <a:avLst/>
              </a:prstGeom>
              <a:blipFill>
                <a:blip r:embed="rId3"/>
                <a:stretch>
                  <a:fillRect l="-1223" t="-1408" r="-306" b="-28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752"/>
            <a:ext cx="2483485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latin typeface="Tahoma"/>
                <a:cs typeface="Tahoma"/>
              </a:rPr>
              <a:t>Truth</a:t>
            </a:r>
            <a:r>
              <a:rPr sz="1250" spc="10" dirty="0">
                <a:latin typeface="Tahoma"/>
                <a:cs typeface="Tahoma"/>
              </a:rPr>
              <a:t> </a:t>
            </a:r>
            <a:r>
              <a:rPr sz="1250" spc="55" dirty="0">
                <a:latin typeface="Tahoma"/>
                <a:cs typeface="Tahoma"/>
              </a:rPr>
              <a:t>Conditions</a:t>
            </a:r>
            <a:r>
              <a:rPr sz="1250" spc="15" dirty="0">
                <a:latin typeface="Tahoma"/>
                <a:cs typeface="Tahoma"/>
              </a:rPr>
              <a:t> </a:t>
            </a:r>
            <a:r>
              <a:rPr sz="1250" spc="55" dirty="0">
                <a:latin typeface="Tahoma"/>
                <a:cs typeface="Tahoma"/>
              </a:rPr>
              <a:t>for</a:t>
            </a:r>
            <a:r>
              <a:rPr sz="1250" spc="15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Connectives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>
                <a:spLocks noGrp="1"/>
              </p:cNvSpPr>
              <p:nvPr>
                <p:ph type="title" idx="4294967295"/>
              </p:nvPr>
            </p:nvSpPr>
            <p:spPr>
              <a:xfrm>
                <a:off x="377722" y="997429"/>
                <a:ext cx="3696970" cy="1549463"/>
              </a:xfrm>
              <a:prstGeom prst="rect">
                <a:avLst/>
              </a:prstGeom>
              <a:noFill/>
              <a:ln>
                <a:noFill/>
                <a:prstDash/>
              </a:ln>
              <a:effectLst/>
            </p:spPr>
            <p:txBody>
              <a:bodyPr rot="0" spcFirstLastPara="0" vertOverflow="overflow" horzOverflow="overflow" vert="horz" wrap="square" lIns="0" tIns="39370" rIns="0" bIns="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31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15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-11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∧</a:t>
                </a:r>
                <a:r>
                  <a:rPr kumimoji="0" lang="en-US" sz="1575" b="0" i="0" u="none" strike="noStrike" kern="0" cap="none" spc="-2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44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16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9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104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7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(logical</a:t>
                </a:r>
                <a:r>
                  <a:rPr kumimoji="0" lang="en-US" sz="1500" b="0" i="0" u="none" strike="noStrike" kern="0" cap="none" spc="5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and)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113030" lvl="0" indent="0" defTabSz="914400" eaLnBrk="1" fontAlgn="auto" latinLnBrk="0" hangingPunct="1">
                  <a:lnSpc>
                    <a:spcPct val="110100"/>
                  </a:lnSpc>
                  <a:spcBef>
                    <a:spcPts val="7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7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-11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∨</a:t>
                </a:r>
                <a:r>
                  <a:rPr kumimoji="0" lang="en-US" sz="1575" b="0" i="0" u="none" strike="noStrike" kern="0" cap="none" spc="-37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30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4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75" b="0" i="0" u="none" strike="noStrike" kern="0" cap="none" spc="60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04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10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,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8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true,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(inclusive</a:t>
                </a:r>
                <a:r>
                  <a:rPr kumimoji="0" lang="en-US" sz="1500" b="0" i="0" u="none" strike="noStrike" kern="0" cap="none" spc="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or)</a:t>
                </a:r>
                <a:r>
                  <a:rPr kumimoji="0" lang="en-US" sz="1500" b="0" i="0" u="none" strike="noStrike" kern="0" cap="none" spc="75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60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⊕</a:t>
                </a:r>
                <a:r>
                  <a:rPr kumimoji="0" lang="en-US" sz="1575" b="0" i="0" u="none" strike="noStrike" kern="0" cap="none" spc="-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Lucida Sans Unicode"/>
                    <a:cs typeface="Lucida Sans Unicode"/>
                  </a:rPr>
                  <a:t> </a:t>
                </a:r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-3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5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89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04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425" b="0" i="0" u="none" strike="noStrike" kern="0" cap="none" spc="-7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5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exactly</a:t>
                </a:r>
                <a:r>
                  <a:rPr kumimoji="0" lang="en-US" sz="1425" b="0" i="0" u="none" strike="noStrike" kern="0" cap="none" spc="0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425" b="0" i="0" u="none" strike="noStrike" kern="0" cap="none" spc="104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one</a:t>
                </a:r>
                <a:r>
                  <a:rPr kumimoji="0" lang="en-US" sz="1425" b="0" i="0" u="none" strike="noStrike" kern="0" cap="none" spc="97" normalizeH="0" baseline="584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6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75" b="0" i="0" u="none" strike="noStrike" kern="0" cap="none" spc="82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75" b="0" i="0" u="none" strike="noStrike" kern="0" cap="none" spc="7" normalizeH="0" baseline="264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7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true.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2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 </a:t>
                </a:r>
                <a:r>
                  <a:rPr kumimoji="0" lang="en-US" sz="950" b="0" i="0" u="none" strike="noStrike" kern="0" cap="none" spc="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otherwise</a:t>
                </a:r>
                <a:r>
                  <a:rPr kumimoji="0" lang="en-US" sz="950" b="0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950" b="0" i="0" u="none" strike="noStrike" kern="0" cap="none" spc="3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(exclusive</a:t>
                </a:r>
                <a:r>
                  <a:rPr kumimoji="0" lang="en-US" sz="950" b="0" i="0" u="none" strike="noStrike" kern="0" cap="none" spc="3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950" b="0" i="0" u="none" strike="noStrike" kern="0" cap="none" spc="-2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or)</a:t>
                </a:r>
                <a:endParaRPr kumimoji="0" lang="en-US" sz="95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ts val="193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315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-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9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6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8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44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52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-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85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725" b="0" i="0" u="none" strike="noStrike" kern="0" cap="none" spc="8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2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pc="142" baseline="-2415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 </m:t>
                    </m:r>
                  </m:oMath>
                </a14:m>
                <a:r>
                  <a:rPr kumimoji="0" lang="en-US" sz="1500" b="0" i="0" u="none" strike="noStrike" kern="0" cap="none" spc="12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500" b="0" i="0" u="none" strike="noStrike" kern="0" cap="none" spc="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2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5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9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and</a:t>
                </a:r>
                <a:r>
                  <a:rPr kumimoji="0" lang="en-US" sz="1500" b="0" i="0" u="none" strike="noStrike" kern="0" cap="none" spc="67" normalizeH="0" baseline="2777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650" b="0" i="0" u="none" strike="noStrike" kern="0" cap="none" spc="135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Q</a:t>
                </a:r>
                <a:r>
                  <a:rPr kumimoji="0" lang="en-US" sz="1650" b="0" i="0" u="none" strike="noStrike" kern="0" cap="none" spc="-44" normalizeH="0" baseline="252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are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true,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7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or</a:t>
                </a:r>
                <a:r>
                  <a:rPr kumimoji="0" lang="en-US" sz="1500" b="0" i="0" u="none" strike="noStrike" kern="0" cap="none" spc="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both</a:t>
                </a:r>
                <a:r>
                  <a:rPr kumimoji="0" lang="en-US" sz="1500" b="0" i="0" u="none" strike="noStrike" kern="0" cap="none" spc="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  <a:p>
                <a:pPr marL="38100" marR="0" lvl="0" indent="0" defTabSz="914400" eaLnBrk="1" fontAlgn="auto" latinLnBrk="0" hangingPunct="1">
                  <a:lnSpc>
                    <a:spcPct val="100000"/>
                  </a:lnSpc>
                  <a:spcBef>
                    <a:spcPts val="17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250" b="0" i="0" u="none" strike="noStrike" kern="0" cap="none" spc="-75" normalizeH="0" baseline="3000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¬</a:t>
                </a:r>
                <a:r>
                  <a:rPr kumimoji="0" lang="en-US" sz="1725" b="0" i="0" u="none" strike="noStrike" kern="0" cap="none" spc="-11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725" b="0" i="0" u="none" strike="noStrike" kern="0" cap="none" spc="-52" normalizeH="0" baseline="241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true</a:t>
                </a:r>
                <a:r>
                  <a:rPr kumimoji="0" lang="en-US" sz="1500" b="0" i="0" u="none" strike="noStrike" kern="0" cap="none" spc="3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when</a:t>
                </a:r>
                <a:r>
                  <a:rPr kumimoji="0" lang="en-US" sz="1500" b="0" i="0" u="none" strike="noStrike" kern="0" cap="none" spc="142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200" b="0" i="0" u="none" strike="noStrike" kern="0" cap="none" spc="75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P</a:t>
                </a:r>
                <a:r>
                  <a:rPr kumimoji="0" lang="en-US" sz="1200" b="0" i="0" u="none" strike="noStrike" kern="0" cap="none" spc="-40" normalizeH="0" baseline="0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0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is</a:t>
                </a:r>
                <a:r>
                  <a:rPr kumimoji="0" lang="en-US" sz="1500" b="0" i="0" u="none" strike="noStrike" kern="0" cap="none" spc="37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 </a:t>
                </a:r>
                <a:r>
                  <a:rPr kumimoji="0" lang="en-US" sz="1500" b="0" i="0" u="none" strike="noStrike" kern="0" cap="none" spc="-15" normalizeH="0" baseline="5555" noProof="0" dirty="0">
                    <a:ln>
                      <a:noFill/>
                    </a:ln>
                    <a:solidFill>
                      <a:sysClr val="windowText" lastClr="000000"/>
                    </a:solidFill>
                    <a:effectLst/>
                    <a:uLnTx/>
                    <a:uFillTx/>
                    <a:latin typeface="Tahoma"/>
                    <a:cs typeface="Tahoma"/>
                  </a:rPr>
                  <a:t>false</a:t>
                </a:r>
                <a:endParaRPr kumimoji="0" lang="en-US" sz="1500" b="0" i="0" u="none" strike="noStrike" kern="0" cap="none" spc="0" normalizeH="0" baseline="5555" noProof="0" dirty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 idx="4294967295"/>
              </p:nvPr>
            </p:nvSpPr>
            <p:spPr>
              <a:xfrm>
                <a:off x="377722" y="997429"/>
                <a:ext cx="3696970" cy="1549463"/>
              </a:xfrm>
              <a:prstGeom prst="rect">
                <a:avLst/>
              </a:prstGeom>
              <a:blipFill>
                <a:blip r:embed="rId2"/>
                <a:stretch>
                  <a:fillRect l="-1370" t="-1626" b="-2439"/>
                </a:stretch>
              </a:blipFill>
              <a:ln>
                <a:noFill/>
                <a:prstDash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C1D12-EB11-5DFA-4089-C144B2C91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19236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78565-EB57-B9FA-8F02-66D808BDB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992" y="358775"/>
            <a:ext cx="4150360" cy="2585323"/>
          </a:xfrm>
        </p:spPr>
        <p:txBody>
          <a:bodyPr/>
          <a:lstStyle/>
          <a:p>
            <a:r>
              <a:rPr lang="en-US" sz="700" dirty="0">
                <a:solidFill>
                  <a:schemeClr val="accent1"/>
                </a:solidFill>
              </a:rPr>
              <a:t>Suppose: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 = "I submit the assignment." 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Q = "I pass the course." 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Conjunction (AND)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 ∧ Q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"I submit the assignment and I pass the course."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Only true when BOTH are true.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Disjunction (OR)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 ∨ Q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"I submit the assignment or I pass the course."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Inclusive OR.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If I do both → true.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XOR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X ⊕ Y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"I choose exactly one tea or coffee."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If I drink both → false.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Negation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¬P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"I did not submit the assignment."</a:t>
            </a:r>
          </a:p>
          <a:p>
            <a:endParaRPr lang="en-US" sz="7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42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61EBC-DE3E-9EE2-6F93-9528DE173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4BDD5-3DCB-1B7C-0833-90C54D5977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19236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2B5F0-337B-F3A6-D2DC-19BD75179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992" y="358775"/>
            <a:ext cx="4150360" cy="2693045"/>
          </a:xfrm>
        </p:spPr>
        <p:txBody>
          <a:bodyPr/>
          <a:lstStyle/>
          <a:p>
            <a:r>
              <a:rPr lang="en-US" sz="700" dirty="0">
                <a:solidFill>
                  <a:schemeClr val="accent1"/>
                </a:solidFill>
              </a:rPr>
              <a:t>Suppose: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P: "It is raining."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Q: "The ground is wet.”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Implication: P⇒Q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If it is raining, then the ground is wet.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endParaRPr lang="en-US" sz="700" dirty="0">
              <a:solidFill>
                <a:schemeClr val="accent1"/>
              </a:solidFill>
            </a:endParaRP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1: Raining and ground is wet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Promise kept.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2: Raining but ground is NOT wet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This violates the statement.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False.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3: Not raining but ground is wet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Maybe a sprinkler was used.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The statement never said the ground can only be wet when it rains.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4: Not raining and ground not wet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Nothing contradicts the statement.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3A1D6DD-0371-BA7C-FDC3-9D488A913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0293351"/>
              </p:ext>
            </p:extLst>
          </p:nvPr>
        </p:nvGraphicFramePr>
        <p:xfrm>
          <a:off x="2000250" y="282575"/>
          <a:ext cx="2770410" cy="842617"/>
        </p:xfrm>
        <a:graphic>
          <a:graphicData uri="http://schemas.openxmlformats.org/drawingml/2006/table">
            <a:tbl>
              <a:tblPr/>
              <a:tblGrid>
                <a:gridCol w="923470">
                  <a:extLst>
                    <a:ext uri="{9D8B030D-6E8A-4147-A177-3AD203B41FA5}">
                      <a16:colId xmlns:a16="http://schemas.microsoft.com/office/drawing/2014/main" val="905229370"/>
                    </a:ext>
                  </a:extLst>
                </a:gridCol>
                <a:gridCol w="923470">
                  <a:extLst>
                    <a:ext uri="{9D8B030D-6E8A-4147-A177-3AD203B41FA5}">
                      <a16:colId xmlns:a16="http://schemas.microsoft.com/office/drawing/2014/main" val="3508065924"/>
                    </a:ext>
                  </a:extLst>
                </a:gridCol>
                <a:gridCol w="923470">
                  <a:extLst>
                    <a:ext uri="{9D8B030D-6E8A-4147-A177-3AD203B41FA5}">
                      <a16:colId xmlns:a16="http://schemas.microsoft.com/office/drawing/2014/main" val="2120179092"/>
                    </a:ext>
                  </a:extLst>
                </a:gridCol>
              </a:tblGrid>
              <a:tr h="210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P (Raining)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Q (Ground Wet)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(P -&gt; Q)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236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788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b="1" dirty="0">
                          <a:solidFill>
                            <a:schemeClr val="accent1"/>
                          </a:solidFill>
                        </a:rPr>
                        <a:t>F</a:t>
                      </a:r>
                      <a:endParaRPr lang="en-US" sz="600" dirty="0">
                        <a:solidFill>
                          <a:schemeClr val="accent1"/>
                        </a:solidFill>
                      </a:endParaRP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753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2592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257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091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714E2-4F61-8BBC-BAF8-DA4815984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AA43-6D87-D35D-DF34-C16FDC078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19236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209E03-58C5-0CBC-C62A-BA00DD920B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992" y="358775"/>
            <a:ext cx="4150360" cy="2477601"/>
          </a:xfrm>
        </p:spPr>
        <p:txBody>
          <a:bodyPr/>
          <a:lstStyle/>
          <a:p>
            <a:r>
              <a:rPr lang="en-US" sz="700" dirty="0">
                <a:solidFill>
                  <a:schemeClr val="accent1"/>
                </a:solidFill>
              </a:rPr>
              <a:t>Suppose: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P: "You know the correct password."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Q: "You can log in.”</a:t>
            </a:r>
          </a:p>
          <a:p>
            <a:endParaRPr lang="en-US" sz="700" b="1" dirty="0">
              <a:solidFill>
                <a:schemeClr val="accent1"/>
              </a:solidFill>
            </a:endParaRPr>
          </a:p>
          <a:p>
            <a:r>
              <a:rPr lang="en-US" sz="700" b="1" dirty="0">
                <a:solidFill>
                  <a:schemeClr val="accent1"/>
                </a:solidFill>
              </a:rPr>
              <a:t>Biconditional: P⇔Q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You can log in if and only if you know the correct password.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1: Know password and can log in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Matches perfectly.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2: Know password but cannot log in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Something is wrong.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False.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3: Don't know password but can log in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Security problem.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False.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Case 4: Don't know password and cannot log in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Matches perfectly.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46FBDE3-5DAB-55C4-C591-DC7FF531B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4208063"/>
              </p:ext>
            </p:extLst>
          </p:nvPr>
        </p:nvGraphicFramePr>
        <p:xfrm>
          <a:off x="2805549" y="335026"/>
          <a:ext cx="1804551" cy="866160"/>
        </p:xfrm>
        <a:graphic>
          <a:graphicData uri="http://schemas.openxmlformats.org/drawingml/2006/table">
            <a:tbl>
              <a:tblPr/>
              <a:tblGrid>
                <a:gridCol w="601517">
                  <a:extLst>
                    <a:ext uri="{9D8B030D-6E8A-4147-A177-3AD203B41FA5}">
                      <a16:colId xmlns:a16="http://schemas.microsoft.com/office/drawing/2014/main" val="3085660846"/>
                    </a:ext>
                  </a:extLst>
                </a:gridCol>
                <a:gridCol w="601517">
                  <a:extLst>
                    <a:ext uri="{9D8B030D-6E8A-4147-A177-3AD203B41FA5}">
                      <a16:colId xmlns:a16="http://schemas.microsoft.com/office/drawing/2014/main" val="4260832939"/>
                    </a:ext>
                  </a:extLst>
                </a:gridCol>
                <a:gridCol w="601517">
                  <a:extLst>
                    <a:ext uri="{9D8B030D-6E8A-4147-A177-3AD203B41FA5}">
                      <a16:colId xmlns:a16="http://schemas.microsoft.com/office/drawing/2014/main" val="2442897775"/>
                    </a:ext>
                  </a:extLst>
                </a:gridCol>
              </a:tblGrid>
              <a:tr h="103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P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Q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(P &lt;-&gt; Q)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22403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8833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1375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4008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solidFill>
                            <a:schemeClr val="accent1"/>
                          </a:solidFill>
                        </a:rPr>
                        <a:t>F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solidFill>
                            <a:schemeClr val="accent1"/>
                          </a:solidFill>
                        </a:rPr>
                        <a:t>T</a:t>
                      </a:r>
                    </a:p>
                  </a:txBody>
                  <a:tcPr marL="66553" marR="66553" marT="33276" marB="3327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188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0347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92372"/>
            <a:ext cx="911225" cy="210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00" spc="-10" dirty="0">
                <a:latin typeface="Tahoma"/>
                <a:cs typeface="Tahoma"/>
              </a:rPr>
              <a:t>Implications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03122" y="692043"/>
            <a:ext cx="4081779" cy="3708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950" spc="65" dirty="0">
                <a:latin typeface="Tahoma"/>
                <a:cs typeface="Tahoma"/>
              </a:rPr>
              <a:t>An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implication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70" dirty="0">
                <a:latin typeface="Tahoma"/>
                <a:cs typeface="Tahoma"/>
              </a:rPr>
              <a:t>or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conditional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molecular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(compound)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statement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of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sz="950" dirty="0">
                <a:latin typeface="Tahoma"/>
                <a:cs typeface="Tahoma"/>
              </a:rPr>
              <a:t>the</a:t>
            </a:r>
            <a:r>
              <a:rPr sz="950" spc="8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form: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A mathematical expression showing the symbol for 'p' with an arrow pointing to an equal sig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99206" y="1189407"/>
            <a:ext cx="584200" cy="1525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52321" y="1468471"/>
                <a:ext cx="4077970" cy="1379220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63500">
                  <a:lnSpc>
                    <a:spcPts val="1420"/>
                  </a:lnSpc>
                  <a:spcBef>
                    <a:spcPts val="125"/>
                  </a:spcBef>
                </a:pPr>
                <a:r>
                  <a:rPr sz="1350" baseline="6172" dirty="0">
                    <a:latin typeface="Tahoma"/>
                    <a:cs typeface="Tahoma"/>
                  </a:rPr>
                  <a:t>where</a:t>
                </a:r>
                <a:r>
                  <a:rPr sz="1350" spc="172" baseline="6172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-45" dirty="0">
                    <a:latin typeface="Tahoma"/>
                    <a:cs typeface="Tahoma"/>
                  </a:rPr>
                  <a:t> </a:t>
                </a:r>
                <a:r>
                  <a:rPr sz="1500" spc="97" baseline="2777" dirty="0">
                    <a:latin typeface="Tahoma"/>
                    <a:cs typeface="Tahoma"/>
                  </a:rPr>
                  <a:t>and</a:t>
                </a:r>
                <a:r>
                  <a:rPr sz="1500" spc="75" baseline="2777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44" baseline="2525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are</a:t>
                </a:r>
                <a:r>
                  <a:rPr sz="1425" spc="30" baseline="5847" dirty="0">
                    <a:latin typeface="Tahoma"/>
                    <a:cs typeface="Tahoma"/>
                  </a:rPr>
                  <a:t> </a:t>
                </a:r>
                <a:r>
                  <a:rPr sz="1425" spc="-15" baseline="5847" dirty="0">
                    <a:latin typeface="Tahoma"/>
                    <a:cs typeface="Tahoma"/>
                  </a:rPr>
                  <a:t>statements.</a:t>
                </a:r>
                <a:endParaRPr sz="1425" baseline="5847" dirty="0">
                  <a:latin typeface="Tahoma"/>
                  <a:cs typeface="Tahoma"/>
                </a:endParaRPr>
              </a:p>
              <a:p>
                <a:pPr marL="63500">
                  <a:lnSpc>
                    <a:spcPts val="1645"/>
                  </a:lnSpc>
                </a:pPr>
                <a:r>
                  <a:rPr sz="1725" spc="82" baseline="-2415" dirty="0">
                    <a:latin typeface="Tahoma"/>
                    <a:cs typeface="Tahoma"/>
                  </a:rPr>
                  <a:t>P</a:t>
                </a:r>
                <a:r>
                  <a:rPr sz="1725" spc="-67" baseline="-241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is</a:t>
                </a:r>
                <a:r>
                  <a:rPr sz="1050" spc="-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the</a:t>
                </a:r>
                <a:r>
                  <a:rPr sz="1050" spc="-10" dirty="0">
                    <a:latin typeface="Tahoma"/>
                    <a:cs typeface="Tahoma"/>
                  </a:rPr>
                  <a:t> </a:t>
                </a:r>
                <a:r>
                  <a:rPr sz="1000" spc="55" dirty="0">
                    <a:latin typeface="Tahoma"/>
                    <a:cs typeface="Tahoma"/>
                  </a:rPr>
                  <a:t>hypothesis</a:t>
                </a:r>
                <a:r>
                  <a:rPr sz="1000" spc="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(or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50" spc="-10" dirty="0">
                    <a:latin typeface="Tahoma"/>
                    <a:cs typeface="Tahoma"/>
                  </a:rPr>
                  <a:t>antecedent</a:t>
                </a:r>
                <a:r>
                  <a:rPr sz="2100" spc="-15" baseline="-5952" dirty="0">
                    <a:latin typeface="Tahoma"/>
                    <a:cs typeface="Tahoma"/>
                  </a:rPr>
                  <a:t>)</a:t>
                </a:r>
                <a:endParaRPr sz="2100" baseline="-5952" dirty="0">
                  <a:latin typeface="Tahoma"/>
                  <a:cs typeface="Tahoma"/>
                </a:endParaRPr>
              </a:p>
              <a:p>
                <a:pPr marL="63500">
                  <a:lnSpc>
                    <a:spcPts val="1670"/>
                  </a:lnSpc>
                </a:pPr>
                <a:r>
                  <a:rPr sz="1000" spc="85" dirty="0">
                    <a:latin typeface="Tahoma"/>
                    <a:cs typeface="Tahoma"/>
                  </a:rPr>
                  <a:t>Q</a:t>
                </a:r>
                <a:r>
                  <a:rPr sz="1000" spc="10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is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the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00" spc="55" dirty="0">
                    <a:latin typeface="Tahoma"/>
                    <a:cs typeface="Tahoma"/>
                  </a:rPr>
                  <a:t>conclusion</a:t>
                </a:r>
                <a:r>
                  <a:rPr sz="1000" spc="15" dirty="0">
                    <a:latin typeface="Tahoma"/>
                    <a:cs typeface="Tahoma"/>
                  </a:rPr>
                  <a:t> </a:t>
                </a:r>
                <a:r>
                  <a:rPr sz="1050" dirty="0">
                    <a:latin typeface="Tahoma"/>
                    <a:cs typeface="Tahoma"/>
                  </a:rPr>
                  <a:t>(or</a:t>
                </a:r>
                <a:r>
                  <a:rPr sz="1050" spc="-5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consequent</a:t>
                </a:r>
                <a:r>
                  <a:rPr sz="2100" spc="-15" baseline="-5952" dirty="0">
                    <a:latin typeface="Tahoma"/>
                    <a:cs typeface="Tahoma"/>
                  </a:rPr>
                  <a:t>)</a:t>
                </a:r>
                <a:endParaRPr sz="2100" baseline="-5952" dirty="0">
                  <a:latin typeface="Tahoma"/>
                  <a:cs typeface="Tahoma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235"/>
                  </a:spcBef>
                </a:pPr>
                <a:r>
                  <a:rPr sz="1500" spc="30" baseline="5555" dirty="0">
                    <a:latin typeface="Tahoma"/>
                    <a:cs typeface="Tahoma"/>
                  </a:rPr>
                  <a:t>An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implication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is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true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if</a:t>
                </a:r>
                <a:r>
                  <a:rPr sz="1500" spc="89" baseline="5555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70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is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spc="30" baseline="5555" dirty="0">
                    <a:latin typeface="Tahoma"/>
                    <a:cs typeface="Tahoma"/>
                  </a:rPr>
                  <a:t>false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or</a:t>
                </a:r>
                <a:r>
                  <a:rPr sz="1500" spc="37" baseline="5555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52" baseline="2525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is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true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(or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30" baseline="2777" dirty="0">
                    <a:latin typeface="Tahoma"/>
                    <a:cs typeface="Tahoma"/>
                  </a:rPr>
                  <a:t>both),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89" baseline="2777" dirty="0">
                    <a:latin typeface="Tahoma"/>
                    <a:cs typeface="Tahoma"/>
                  </a:rPr>
                  <a:t>and</a:t>
                </a:r>
                <a:r>
                  <a:rPr sz="1500" spc="-7" baseline="2777" dirty="0">
                    <a:latin typeface="Tahoma"/>
                    <a:cs typeface="Tahoma"/>
                  </a:rPr>
                  <a:t> </a:t>
                </a:r>
                <a:r>
                  <a:rPr sz="1500" spc="-15" baseline="2777" dirty="0">
                    <a:latin typeface="Tahoma"/>
                    <a:cs typeface="Tahoma"/>
                  </a:rPr>
                  <a:t>false</a:t>
                </a:r>
                <a:endParaRPr sz="1500" baseline="2777" dirty="0">
                  <a:latin typeface="Tahoma"/>
                  <a:cs typeface="Tahoma"/>
                </a:endParaRPr>
              </a:p>
              <a:p>
                <a:pPr marL="63500">
                  <a:lnSpc>
                    <a:spcPts val="950"/>
                  </a:lnSpc>
                  <a:spcBef>
                    <a:spcPts val="110"/>
                  </a:spcBef>
                </a:pPr>
                <a:r>
                  <a:rPr sz="900" spc="-10" dirty="0">
                    <a:latin typeface="Tahoma"/>
                    <a:cs typeface="Tahoma"/>
                  </a:rPr>
                  <a:t>otherwise</a:t>
                </a:r>
                <a:endParaRPr sz="900" dirty="0">
                  <a:latin typeface="Tahoma"/>
                  <a:cs typeface="Tahoma"/>
                </a:endParaRPr>
              </a:p>
              <a:p>
                <a:pPr marL="63500">
                  <a:lnSpc>
                    <a:spcPts val="2055"/>
                  </a:lnSpc>
                </a:pPr>
                <a:r>
                  <a:rPr sz="1500" baseline="5555" dirty="0">
                    <a:latin typeface="Tahoma"/>
                    <a:cs typeface="Tahoma"/>
                  </a:rPr>
                  <a:t>The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only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way</a:t>
                </a:r>
                <a:r>
                  <a:rPr sz="1500" spc="-2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for</a:t>
                </a:r>
                <a:r>
                  <a:rPr sz="1500" spc="82" baseline="5555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lang="en-US" sz="600" spc="18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pc="127" baseline="2777" dirty="0">
                    <a:latin typeface="Tahoma"/>
                    <a:cs typeface="Tahoma"/>
                  </a:rPr>
                  <a:t>Q</a:t>
                </a:r>
                <a:r>
                  <a:rPr sz="1500" spc="-15" baseline="2777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to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be</a:t>
                </a:r>
                <a:r>
                  <a:rPr sz="1500" spc="-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false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75" baseline="5555" dirty="0">
                    <a:latin typeface="Tahoma"/>
                    <a:cs typeface="Tahoma"/>
                  </a:rPr>
                  <a:t>for</a:t>
                </a:r>
                <a:r>
                  <a:rPr sz="1500" spc="82" baseline="5555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-7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to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2" baseline="5555" dirty="0">
                    <a:latin typeface="Tahoma"/>
                    <a:cs typeface="Tahoma"/>
                  </a:rPr>
                  <a:t>be</a:t>
                </a:r>
                <a:r>
                  <a:rPr sz="1500" spc="-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true</a:t>
                </a:r>
                <a:r>
                  <a:rPr sz="1500" spc="-15" baseline="5555" dirty="0">
                    <a:latin typeface="Tahoma"/>
                    <a:cs typeface="Tahoma"/>
                  </a:rPr>
                  <a:t> </a:t>
                </a:r>
                <a:r>
                  <a:rPr sz="1500" spc="89" baseline="5555" dirty="0">
                    <a:latin typeface="Tahoma"/>
                    <a:cs typeface="Tahoma"/>
                  </a:rPr>
                  <a:t>and</a:t>
                </a:r>
                <a:r>
                  <a:rPr sz="1500" spc="30" baseline="5555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7" baseline="2525" dirty="0">
                    <a:latin typeface="Tahoma"/>
                    <a:cs typeface="Tahoma"/>
                  </a:rPr>
                  <a:t> </a:t>
                </a:r>
                <a:r>
                  <a:rPr sz="1650" spc="52" baseline="2525" dirty="0">
                    <a:latin typeface="Tahoma"/>
                    <a:cs typeface="Tahoma"/>
                  </a:rPr>
                  <a:t>to</a:t>
                </a:r>
                <a:endParaRPr sz="1650" baseline="2525" dirty="0">
                  <a:latin typeface="Tahoma"/>
                  <a:cs typeface="Tahoma"/>
                </a:endParaRPr>
              </a:p>
              <a:p>
                <a:pPr marL="62865">
                  <a:lnSpc>
                    <a:spcPts val="1110"/>
                  </a:lnSpc>
                </a:pPr>
                <a:r>
                  <a:rPr sz="950" dirty="0">
                    <a:latin typeface="Tahoma"/>
                    <a:cs typeface="Tahoma"/>
                  </a:rPr>
                  <a:t>be</a:t>
                </a:r>
                <a:r>
                  <a:rPr sz="950" spc="40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false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1" y="1468471"/>
                <a:ext cx="4077970" cy="1379220"/>
              </a:xfrm>
              <a:prstGeom prst="rect">
                <a:avLst/>
              </a:prstGeom>
              <a:blipFill>
                <a:blip r:embed="rId3"/>
                <a:stretch>
                  <a:fillRect l="-621" t="-1818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Direct</a:t>
            </a:r>
            <a:r>
              <a:rPr spc="40" dirty="0"/>
              <a:t> </a:t>
            </a:r>
            <a:r>
              <a:rPr spc="60" dirty="0"/>
              <a:t>Proofs</a:t>
            </a:r>
            <a:r>
              <a:rPr spc="40" dirty="0"/>
              <a:t> </a:t>
            </a:r>
            <a:r>
              <a:rPr spc="55" dirty="0"/>
              <a:t>of</a:t>
            </a:r>
            <a:r>
              <a:rPr spc="40" dirty="0"/>
              <a:t> </a:t>
            </a:r>
            <a:r>
              <a:rPr spc="-10" dirty="0"/>
              <a:t>Implications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95349" y="511175"/>
                <a:ext cx="4150360" cy="1508760"/>
              </a:xfrm>
              <a:prstGeom prst="rect">
                <a:avLst/>
              </a:prstGeom>
            </p:spPr>
            <p:txBody>
              <a:bodyPr vert="horz" wrap="square" lIns="0" tIns="137809" rIns="0" bIns="0" rtlCol="0">
                <a:spAutoFit/>
              </a:bodyPr>
              <a:lstStyle/>
              <a:p>
                <a:pPr marL="302260">
                  <a:lnSpc>
                    <a:spcPts val="2145"/>
                  </a:lnSpc>
                  <a:spcBef>
                    <a:spcPts val="105"/>
                  </a:spcBef>
                </a:pPr>
                <a:r>
                  <a:rPr lang="en-US" sz="1425" baseline="5847" dirty="0"/>
                  <a:t>To</a:t>
                </a:r>
                <a:r>
                  <a:rPr lang="en-US" sz="1425" spc="-60" baseline="5847" dirty="0"/>
                  <a:t> </a:t>
                </a:r>
                <a:r>
                  <a:rPr lang="en-US" sz="1425" spc="104" baseline="5847" dirty="0"/>
                  <a:t>proof</a:t>
                </a:r>
                <a:r>
                  <a:rPr lang="en-US" sz="1425" spc="-60" baseline="5847" dirty="0"/>
                  <a:t> </a:t>
                </a:r>
                <a:r>
                  <a:rPr lang="en-US" sz="1425" spc="97" baseline="5847" dirty="0"/>
                  <a:t>an</a:t>
                </a:r>
                <a:r>
                  <a:rPr lang="en-US" sz="1425" spc="-52" baseline="5847" dirty="0"/>
                  <a:t> </a:t>
                </a:r>
                <a:r>
                  <a:rPr lang="en-US" sz="1425" spc="82" baseline="5847" dirty="0"/>
                  <a:t>implication</a:t>
                </a:r>
                <a:r>
                  <a:rPr lang="en-US" sz="1425" spc="44" baseline="5847" dirty="0"/>
                  <a:t> </a:t>
                </a:r>
                <a:r>
                  <a:rPr lang="en-US" sz="1200" spc="70" dirty="0"/>
                  <a:t>P</a:t>
                </a:r>
                <a:r>
                  <a:rPr lang="en-US" sz="1200" spc="120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a:rPr lang="en-US" sz="2000" b="0" i="0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500" spc="97" baseline="2777" dirty="0"/>
                  <a:t>Q</a:t>
                </a:r>
                <a:r>
                  <a:rPr lang="en-US" sz="1425" spc="97" baseline="5847" dirty="0"/>
                  <a:t>,</a:t>
                </a:r>
                <a:r>
                  <a:rPr lang="en-US" sz="1425" spc="-52" baseline="5847" dirty="0"/>
                  <a:t> </a:t>
                </a:r>
                <a:r>
                  <a:rPr lang="en-US" sz="1425" baseline="5847" dirty="0"/>
                  <a:t>it</a:t>
                </a:r>
                <a:r>
                  <a:rPr lang="en-US" sz="1425" spc="-60" baseline="5847" dirty="0"/>
                  <a:t> </a:t>
                </a:r>
                <a:r>
                  <a:rPr lang="en-US" sz="1425" baseline="5847" dirty="0"/>
                  <a:t>is</a:t>
                </a:r>
                <a:r>
                  <a:rPr lang="en-US" sz="1425" spc="-52" baseline="5847" dirty="0"/>
                  <a:t> </a:t>
                </a:r>
                <a:r>
                  <a:rPr lang="en-US" sz="1425" spc="104" baseline="5847" dirty="0"/>
                  <a:t>enough</a:t>
                </a:r>
                <a:r>
                  <a:rPr lang="en-US" sz="1425" spc="-60" baseline="5847" dirty="0"/>
                  <a:t> </a:t>
                </a:r>
                <a:r>
                  <a:rPr lang="en-US" sz="1425" spc="82" baseline="5847" dirty="0"/>
                  <a:t>to</a:t>
                </a:r>
                <a:r>
                  <a:rPr lang="en-US" sz="1425" spc="-52" baseline="5847" dirty="0"/>
                  <a:t> </a:t>
                </a:r>
                <a:r>
                  <a:rPr lang="en-US" sz="1425" spc="89" baseline="5847" dirty="0"/>
                  <a:t>assume</a:t>
                </a:r>
                <a:r>
                  <a:rPr lang="en-US" sz="1425" spc="37" baseline="5847" dirty="0"/>
                  <a:t> </a:t>
                </a:r>
                <a:r>
                  <a:rPr lang="en-US" sz="1200" spc="65" dirty="0"/>
                  <a:t>P</a:t>
                </a:r>
                <a:r>
                  <a:rPr lang="en-US" sz="1500" spc="97" baseline="5555" dirty="0"/>
                  <a:t>,</a:t>
                </a:r>
                <a:r>
                  <a:rPr lang="en-US" sz="1500" spc="-67" baseline="5555" dirty="0"/>
                  <a:t> </a:t>
                </a:r>
                <a:r>
                  <a:rPr lang="en-US" sz="1500" spc="-37" baseline="5555" dirty="0"/>
                  <a:t>and</a:t>
                </a:r>
                <a:endParaRPr lang="en-US" sz="1500" baseline="5555" dirty="0">
                  <a:latin typeface="Lucida Sans Unicode"/>
                  <a:cs typeface="Lucida Sans Unicode"/>
                </a:endParaRPr>
              </a:p>
              <a:p>
                <a:pPr marL="302260">
                  <a:lnSpc>
                    <a:spcPts val="1245"/>
                  </a:lnSpc>
                </a:pPr>
                <a:r>
                  <a:rPr lang="en-US" sz="1425" spc="97" baseline="2923" dirty="0"/>
                  <a:t>from</a:t>
                </a:r>
                <a:r>
                  <a:rPr lang="en-US" sz="1425" spc="-37" baseline="2923" dirty="0"/>
                  <a:t> </a:t>
                </a:r>
                <a:r>
                  <a:rPr lang="en-US" sz="1425" baseline="2923" dirty="0"/>
                  <a:t>it,</a:t>
                </a:r>
                <a:r>
                  <a:rPr lang="en-US" sz="1425" spc="-37" baseline="2923" dirty="0"/>
                  <a:t> </a:t>
                </a:r>
                <a:r>
                  <a:rPr lang="en-US" sz="1425" spc="82" baseline="2923" dirty="0"/>
                  <a:t>deduce</a:t>
                </a:r>
                <a:r>
                  <a:rPr lang="en-US" sz="1425" spc="15" baseline="2923" dirty="0"/>
                  <a:t> </a:t>
                </a:r>
                <a:r>
                  <a:rPr lang="en-US" sz="1100" spc="40" dirty="0"/>
                  <a:t>Q.</a:t>
                </a:r>
                <a:endParaRPr lang="en-US" sz="1100" dirty="0"/>
              </a:p>
              <a:p>
                <a:pPr marL="302260">
                  <a:lnSpc>
                    <a:spcPct val="100000"/>
                  </a:lnSpc>
                  <a:spcBef>
                    <a:spcPts val="270"/>
                  </a:spcBef>
                </a:pPr>
                <a:endParaRPr lang="en-US" sz="1425" spc="75" baseline="5847" dirty="0"/>
              </a:p>
              <a:p>
                <a:pPr marL="302260">
                  <a:lnSpc>
                    <a:spcPct val="100000"/>
                  </a:lnSpc>
                  <a:spcBef>
                    <a:spcPts val="270"/>
                  </a:spcBef>
                </a:pPr>
                <a:r>
                  <a:rPr lang="en-US" sz="1425" spc="75" baseline="5847" dirty="0"/>
                  <a:t>Explain</a:t>
                </a:r>
                <a:r>
                  <a:rPr lang="en-US" sz="1425" spc="60" baseline="5847" dirty="0"/>
                  <a:t> </a:t>
                </a:r>
                <a:r>
                  <a:rPr lang="en-US" sz="1425" spc="89" baseline="5847" dirty="0"/>
                  <a:t>why</a:t>
                </a:r>
                <a:r>
                  <a:rPr lang="en-US" sz="1425" spc="127" baseline="5847" dirty="0"/>
                  <a:t> </a:t>
                </a:r>
                <a:r>
                  <a:rPr lang="en-US" sz="1650" spc="135" baseline="2525" dirty="0"/>
                  <a:t>Q</a:t>
                </a:r>
                <a:r>
                  <a:rPr lang="en-US" sz="1650" spc="-7" baseline="2525" dirty="0"/>
                  <a:t> </a:t>
                </a:r>
                <a:r>
                  <a:rPr lang="en-US" sz="1500" baseline="5555" dirty="0"/>
                  <a:t>is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true,</a:t>
                </a:r>
                <a:r>
                  <a:rPr lang="en-US" sz="1500" spc="37" baseline="5555" dirty="0"/>
                  <a:t> </a:t>
                </a:r>
                <a:r>
                  <a:rPr lang="en-US" sz="1500" baseline="5555" dirty="0"/>
                  <a:t>but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you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get</a:t>
                </a:r>
                <a:r>
                  <a:rPr lang="en-US" sz="1500" spc="37" baseline="5555" dirty="0"/>
                  <a:t> </a:t>
                </a:r>
                <a:r>
                  <a:rPr lang="en-US" sz="1500" baseline="5555" dirty="0"/>
                  <a:t>to</a:t>
                </a:r>
                <a:r>
                  <a:rPr lang="en-US" sz="1500" spc="44" baseline="5555" dirty="0"/>
                  <a:t> </a:t>
                </a:r>
                <a:r>
                  <a:rPr lang="en-US" sz="1500" baseline="5555" dirty="0"/>
                  <a:t>assume</a:t>
                </a:r>
                <a:r>
                  <a:rPr lang="en-US" sz="1500" spc="165" baseline="5555" dirty="0"/>
                  <a:t> </a:t>
                </a:r>
                <a:r>
                  <a:rPr lang="en-US" sz="1200" spc="75" dirty="0"/>
                  <a:t>P</a:t>
                </a:r>
                <a:r>
                  <a:rPr lang="en-US" sz="1200" spc="-25" dirty="0"/>
                  <a:t> </a:t>
                </a:r>
                <a:r>
                  <a:rPr lang="en-US" sz="1500" baseline="2777" dirty="0"/>
                  <a:t>is</a:t>
                </a:r>
                <a:r>
                  <a:rPr lang="en-US" sz="1500" spc="52" baseline="2777" dirty="0"/>
                  <a:t> </a:t>
                </a:r>
                <a:r>
                  <a:rPr lang="en-US" sz="1500" baseline="2777" dirty="0"/>
                  <a:t>true</a:t>
                </a:r>
                <a:r>
                  <a:rPr lang="en-US" sz="1500" spc="52" baseline="2777" dirty="0"/>
                  <a:t> </a:t>
                </a:r>
                <a:r>
                  <a:rPr lang="en-US" sz="1500" spc="-15" baseline="2777" dirty="0"/>
                  <a:t>first</a:t>
                </a:r>
                <a:endParaRPr lang="en-US" sz="1500" baseline="2777" dirty="0"/>
              </a:p>
              <a:p>
                <a:pPr marL="302260">
                  <a:lnSpc>
                    <a:spcPct val="100000"/>
                  </a:lnSpc>
                  <a:spcBef>
                    <a:spcPts val="915"/>
                  </a:spcBef>
                </a:pPr>
                <a:endParaRPr lang="en-US" sz="1425" baseline="2923" dirty="0"/>
              </a:p>
              <a:p>
                <a:pPr marL="302260">
                  <a:lnSpc>
                    <a:spcPct val="100000"/>
                  </a:lnSpc>
                  <a:spcBef>
                    <a:spcPts val="915"/>
                  </a:spcBef>
                </a:pPr>
                <a:r>
                  <a:rPr lang="en-US" sz="1425" baseline="2923" dirty="0"/>
                  <a:t>Prove: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If</a:t>
                </a:r>
                <a:r>
                  <a:rPr lang="en-US" sz="1425" spc="-7" baseline="2923" dirty="0"/>
                  <a:t> </a:t>
                </a:r>
                <a:r>
                  <a:rPr lang="en-US" sz="1425" spc="89" baseline="2923" dirty="0"/>
                  <a:t>two</a:t>
                </a:r>
                <a:r>
                  <a:rPr lang="en-US" sz="1425" spc="-7" baseline="2923" dirty="0"/>
                  <a:t> </a:t>
                </a:r>
                <a:r>
                  <a:rPr lang="en-US" sz="1425" spc="104" baseline="2923" dirty="0"/>
                  <a:t>numbers</a:t>
                </a:r>
                <a:r>
                  <a:rPr lang="en-US" sz="1425" spc="37" baseline="2923" dirty="0"/>
                  <a:t> </a:t>
                </a:r>
                <a:r>
                  <a:rPr lang="en-US" sz="1050" spc="55" dirty="0"/>
                  <a:t>a</a:t>
                </a:r>
                <a:r>
                  <a:rPr lang="en-US" sz="1050" spc="-35" dirty="0"/>
                  <a:t> </a:t>
                </a:r>
                <a:r>
                  <a:rPr lang="en-US" sz="1425" spc="104" baseline="2923" dirty="0"/>
                  <a:t>and</a:t>
                </a:r>
                <a:r>
                  <a:rPr lang="en-US" sz="1425" spc="30" baseline="2923" dirty="0"/>
                  <a:t> </a:t>
                </a:r>
                <a:r>
                  <a:rPr lang="en-US" sz="1050" spc="70" dirty="0"/>
                  <a:t>b</a:t>
                </a:r>
                <a:r>
                  <a:rPr lang="en-US" sz="1050" spc="-35" dirty="0"/>
                  <a:t> </a:t>
                </a:r>
                <a:r>
                  <a:rPr lang="en-US" sz="1425" spc="75" baseline="2923" dirty="0"/>
                  <a:t>are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even,</a:t>
                </a:r>
                <a:r>
                  <a:rPr lang="en-US" sz="1425" spc="-7" baseline="2923" dirty="0"/>
                  <a:t> </a:t>
                </a:r>
                <a:r>
                  <a:rPr lang="en-US" sz="1425" spc="89" baseline="2923" dirty="0"/>
                  <a:t>then</a:t>
                </a:r>
                <a:r>
                  <a:rPr lang="en-US" sz="1425" spc="-7" baseline="2923" dirty="0"/>
                  <a:t> </a:t>
                </a:r>
                <a:r>
                  <a:rPr lang="en-US" sz="1425" spc="75" baseline="2923" dirty="0"/>
                  <a:t>their</a:t>
                </a:r>
                <a:r>
                  <a:rPr lang="en-US" sz="1425" spc="-7" baseline="2923" dirty="0"/>
                  <a:t> </a:t>
                </a:r>
                <a:r>
                  <a:rPr lang="en-US" sz="1425" spc="112" baseline="2923" dirty="0"/>
                  <a:t>sum</a:t>
                </a:r>
                <a:r>
                  <a:rPr lang="en-US" sz="1425" spc="-7" baseline="2923" dirty="0"/>
                  <a:t> </a:t>
                </a:r>
                <a:r>
                  <a:rPr lang="en-US" sz="1425" baseline="2923" dirty="0"/>
                  <a:t>is</a:t>
                </a:r>
                <a:r>
                  <a:rPr lang="en-US" sz="1425" spc="-7" baseline="2923" dirty="0"/>
                  <a:t> </a:t>
                </a:r>
                <a:r>
                  <a:rPr lang="en-US" sz="1425" spc="44" baseline="2923" dirty="0"/>
                  <a:t>even</a:t>
                </a:r>
                <a:endParaRPr sz="1425" baseline="2923" dirty="0"/>
              </a:p>
            </p:txBody>
          </p:sp>
        </mc:Choice>
        <mc:Fallback xmlns="">
          <p:sp>
            <p:nvSpPr>
              <p:cNvPr id="3" name="object 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95349" y="511175"/>
                <a:ext cx="4150360" cy="1508760"/>
              </a:xfrm>
              <a:prstGeom prst="rect">
                <a:avLst/>
              </a:prstGeom>
              <a:blipFill>
                <a:blip r:embed="rId2"/>
                <a:stretch>
                  <a:fillRect b="-5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CA96C88-C6EC-99A6-BB86-803A622509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89" y="2416175"/>
            <a:ext cx="3695700" cy="6570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8036"/>
            <a:ext cx="1275715" cy="21780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397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6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DeMorgan’s</a:t>
            </a:r>
            <a:r>
              <a:rPr kumimoji="0" lang="en-US" sz="1250" b="0" i="0" u="none" strike="noStrike" kern="0" cap="none" spc="-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2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Law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A mathematical expression showing the negation of a conjunction inside parenthese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0050" y="2238212"/>
            <a:ext cx="1295400" cy="177963"/>
          </a:xfrm>
          <a:prstGeom prst="rect">
            <a:avLst/>
          </a:prstGeom>
        </p:spPr>
      </p:pic>
      <p:pic>
        <p:nvPicPr>
          <p:cNvPr id="4" name="object 4" descr="A mathematical equation involving logical symbols and variable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44650" y="1301494"/>
            <a:ext cx="1320800" cy="1525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E000AE-5DFD-B09C-7A98-47CA51D7F71F}"/>
              </a:ext>
            </a:extLst>
          </p:cNvPr>
          <p:cNvSpPr txBox="1"/>
          <p:nvPr/>
        </p:nvSpPr>
        <p:spPr>
          <a:xfrm>
            <a:off x="95348" y="444241"/>
            <a:ext cx="434330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Rules in logic that explain how </a:t>
            </a:r>
            <a:r>
              <a:rPr lang="en-US" sz="1000" b="1" dirty="0"/>
              <a:t>NOT</a:t>
            </a:r>
            <a:r>
              <a:rPr lang="en-US" sz="1000" dirty="0"/>
              <a:t> interacts with </a:t>
            </a:r>
            <a:r>
              <a:rPr lang="en-US" sz="1000" b="1" dirty="0"/>
              <a:t>AND</a:t>
            </a:r>
            <a:r>
              <a:rPr lang="en-US" sz="1000" dirty="0"/>
              <a:t> and </a:t>
            </a:r>
            <a:r>
              <a:rPr lang="en-US" sz="1000" b="1" dirty="0"/>
              <a:t>OR</a:t>
            </a:r>
            <a:r>
              <a:rPr lang="en-US" sz="1000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B3A703-5113-EC7E-6148-50A0EDABBE57}"/>
              </a:ext>
            </a:extLst>
          </p:cNvPr>
          <p:cNvSpPr txBox="1"/>
          <p:nvPr/>
        </p:nvSpPr>
        <p:spPr>
          <a:xfrm>
            <a:off x="95348" y="1332925"/>
            <a:ext cx="15199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P: "I am eating pizza."</a:t>
            </a:r>
          </a:p>
          <a:p>
            <a:r>
              <a:rPr lang="en-US" sz="1000" dirty="0"/>
              <a:t>Q: "I am drinking soda.”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449679B3-DDC9-7068-7F25-18C329C82616}"/>
              </a:ext>
            </a:extLst>
          </p:cNvPr>
          <p:cNvSpPr/>
          <p:nvPr/>
        </p:nvSpPr>
        <p:spPr>
          <a:xfrm>
            <a:off x="256420" y="870882"/>
            <a:ext cx="1114644" cy="432063"/>
          </a:xfrm>
          <a:prstGeom prst="wedgeRoundRectCallout">
            <a:avLst>
              <a:gd name="adj1" fmla="val 73918"/>
              <a:gd name="adj2" fmla="val 49547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It is NOT true that I am both eating pizza and drinking soda.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41CFEB36-3954-F87B-4A62-A570CB677189}"/>
              </a:ext>
            </a:extLst>
          </p:cNvPr>
          <p:cNvSpPr/>
          <p:nvPr/>
        </p:nvSpPr>
        <p:spPr>
          <a:xfrm>
            <a:off x="3267996" y="869993"/>
            <a:ext cx="1184275" cy="573474"/>
          </a:xfrm>
          <a:prstGeom prst="wedgeRoundRectCallout">
            <a:avLst>
              <a:gd name="adj1" fmla="val -72611"/>
              <a:gd name="adj2" fmla="val 31123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This could happen if: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I'm not eating pizza, OR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I'm not drinking soda, OR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neither.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6A0FCA-3E0B-2404-E200-78CA732C7D6A}"/>
              </a:ext>
            </a:extLst>
          </p:cNvPr>
          <p:cNvSpPr txBox="1"/>
          <p:nvPr/>
        </p:nvSpPr>
        <p:spPr>
          <a:xfrm>
            <a:off x="95348" y="2644775"/>
            <a:ext cx="14927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P: "Today is Saturday."</a:t>
            </a:r>
          </a:p>
          <a:p>
            <a:r>
              <a:rPr lang="en-US" sz="1000" dirty="0"/>
              <a:t>Q: "Today is Sunday."</a:t>
            </a: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4BDC8E72-F56B-D299-1AE0-8A1233A830CF}"/>
              </a:ext>
            </a:extLst>
          </p:cNvPr>
          <p:cNvSpPr/>
          <p:nvPr/>
        </p:nvSpPr>
        <p:spPr>
          <a:xfrm>
            <a:off x="256420" y="2100382"/>
            <a:ext cx="1114644" cy="315793"/>
          </a:xfrm>
          <a:prstGeom prst="wedgeRoundRectCallout">
            <a:avLst>
              <a:gd name="adj1" fmla="val 71867"/>
              <a:gd name="adj2" fmla="val 4045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Today is neither Saturday nor Sunday.</a:t>
            </a:r>
          </a:p>
        </p:txBody>
      </p:sp>
      <p:sp>
        <p:nvSpPr>
          <p:cNvPr id="14" name="Rounded Rectangular Callout 13">
            <a:extLst>
              <a:ext uri="{FF2B5EF4-FFF2-40B4-BE49-F238E27FC236}">
                <a16:creationId xmlns:a16="http://schemas.microsoft.com/office/drawing/2014/main" id="{AEBC9F4E-FC4A-BA4B-99C5-CCC5C865CC47}"/>
              </a:ext>
            </a:extLst>
          </p:cNvPr>
          <p:cNvSpPr/>
          <p:nvPr/>
        </p:nvSpPr>
        <p:spPr>
          <a:xfrm>
            <a:off x="3230658" y="2377080"/>
            <a:ext cx="1184275" cy="573474"/>
          </a:xfrm>
          <a:prstGeom prst="wedgeRoundRectCallout">
            <a:avLst>
              <a:gd name="adj1" fmla="val -68364"/>
              <a:gd name="adj2" fmla="val -50196"/>
              <a:gd name="adj3" fmla="val 16667"/>
            </a:avLst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solidFill>
                  <a:schemeClr val="tx1"/>
                </a:solidFill>
              </a:rPr>
              <a:t>This could happen if:</a:t>
            </a:r>
          </a:p>
          <a:p>
            <a:pPr algn="ctr"/>
            <a:endParaRPr lang="en-US" sz="700" dirty="0">
              <a:solidFill>
                <a:schemeClr val="tx1"/>
              </a:solidFill>
            </a:endParaRP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Today is not Saturday, AND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</a:rPr>
              <a:t>Today is not Sunday.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90330"/>
            <a:ext cx="2146300" cy="2139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>
                <a:latin typeface="Tahoma"/>
                <a:cs typeface="Tahoma"/>
              </a:rPr>
              <a:t>Converse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75" dirty="0">
                <a:latin typeface="Tahoma"/>
                <a:cs typeface="Tahoma"/>
              </a:rPr>
              <a:t>and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200" spc="45" dirty="0">
                <a:latin typeface="Tahoma"/>
                <a:cs typeface="Tahoma"/>
              </a:rPr>
              <a:t>Contrapositive</a:t>
            </a:r>
            <a:endParaRPr sz="12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22385" y="404376"/>
                <a:ext cx="4112260" cy="468013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spcBef>
                    <a:spcPts val="105"/>
                  </a:spcBef>
                </a:pPr>
                <a:r>
                  <a:rPr sz="1425" baseline="5847" dirty="0"/>
                  <a:t>The</a:t>
                </a:r>
                <a:r>
                  <a:rPr sz="1425" spc="-60" baseline="5847" dirty="0"/>
                  <a:t> </a:t>
                </a:r>
                <a:r>
                  <a:rPr sz="1425" spc="75" baseline="5847" dirty="0">
                    <a:solidFill>
                      <a:srgbClr val="FF0000"/>
                    </a:solidFill>
                  </a:rPr>
                  <a:t>converse</a:t>
                </a:r>
                <a:r>
                  <a:rPr sz="1425" spc="-52" baseline="5847" dirty="0"/>
                  <a:t> </a:t>
                </a:r>
                <a:r>
                  <a:rPr sz="1425" spc="82" baseline="5847" dirty="0"/>
                  <a:t>of</a:t>
                </a:r>
                <a:r>
                  <a:rPr sz="1425" spc="-52" baseline="5847" dirty="0"/>
                  <a:t> </a:t>
                </a:r>
                <a:r>
                  <a:rPr sz="1425" spc="89" baseline="5847" dirty="0"/>
                  <a:t>an</a:t>
                </a:r>
                <a:r>
                  <a:rPr sz="1425" spc="-52" baseline="5847" dirty="0"/>
                  <a:t> </a:t>
                </a:r>
                <a:r>
                  <a:rPr sz="1425" spc="82" baseline="5847" dirty="0"/>
                  <a:t>implication</a:t>
                </a:r>
                <a:r>
                  <a:rPr sz="1425" spc="44" baseline="5847" dirty="0"/>
                  <a:t> </a:t>
                </a:r>
                <a:r>
                  <a:rPr sz="1200" spc="70" dirty="0"/>
                  <a:t>P</a:t>
                </a:r>
                <a:r>
                  <a:rPr sz="1200" spc="125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4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500" spc="97" baseline="2777" dirty="0"/>
                  <a:t>Q</a:t>
                </a:r>
                <a:r>
                  <a:rPr sz="1500" spc="97" baseline="5555" dirty="0"/>
                  <a:t>,</a:t>
                </a:r>
                <a:r>
                  <a:rPr sz="1500" spc="-67" baseline="5555" dirty="0"/>
                  <a:t> </a:t>
                </a:r>
                <a:r>
                  <a:rPr sz="1500" baseline="5555" dirty="0"/>
                  <a:t>is</a:t>
                </a:r>
                <a:r>
                  <a:rPr sz="1500" spc="-67" baseline="5555" dirty="0"/>
                  <a:t> </a:t>
                </a:r>
                <a:r>
                  <a:rPr sz="1500" baseline="5555" dirty="0"/>
                  <a:t>the</a:t>
                </a:r>
                <a:r>
                  <a:rPr sz="1500" spc="-67" baseline="5555" dirty="0"/>
                  <a:t> </a:t>
                </a:r>
                <a:r>
                  <a:rPr sz="1500" spc="-15" baseline="5555" dirty="0"/>
                  <a:t>implication</a:t>
                </a:r>
                <a:r>
                  <a:rPr lang="en-US" sz="1500" spc="-15" baseline="5555" dirty="0"/>
                  <a:t> </a:t>
                </a:r>
                <a:r>
                  <a:rPr lang="en-US" sz="1500" spc="127" baseline="2777" dirty="0"/>
                  <a:t>Q</a:t>
                </a:r>
                <a:r>
                  <a:rPr lang="en-US" sz="1500" spc="112" baseline="2777" dirty="0"/>
                  <a:t> </a:t>
                </a:r>
                <a14:m>
                  <m:oMath xmlns:m="http://schemas.openxmlformats.org/officeDocument/2006/math">
                    <m:r>
                      <a:rPr lang="en-US" sz="20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sz="1150" spc="5" dirty="0"/>
                  <a:t>P</a:t>
                </a:r>
                <a:br>
                  <a:rPr lang="en-US" sz="1150" dirty="0"/>
                </a:br>
                <a:endParaRPr sz="1500" baseline="5555" dirty="0">
                  <a:latin typeface="Lucida Sans Unicode"/>
                  <a:cs typeface="Lucida Sans Unicode"/>
                </a:endParaRPr>
              </a:p>
            </p:txBody>
          </p:sp>
        </mc:Choice>
        <mc:Fallback xmlns=""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22385" y="404376"/>
                <a:ext cx="4112260" cy="468013"/>
              </a:xfrm>
              <a:prstGeom prst="rect">
                <a:avLst/>
              </a:prstGeom>
              <a:blipFill>
                <a:blip r:embed="rId3"/>
                <a:stretch>
                  <a:fillRect l="-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 txBox="1"/>
          <p:nvPr/>
        </p:nvSpPr>
        <p:spPr>
          <a:xfrm>
            <a:off x="323850" y="683677"/>
            <a:ext cx="4112260" cy="574709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38100" marR="30480">
              <a:lnSpc>
                <a:spcPct val="117000"/>
              </a:lnSpc>
              <a:spcBef>
                <a:spcPts val="85"/>
              </a:spcBef>
            </a:pPr>
            <a:r>
              <a:rPr sz="950" spc="20" dirty="0">
                <a:latin typeface="Tahoma"/>
                <a:cs typeface="Tahoma"/>
              </a:rPr>
              <a:t>The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converse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is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not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logically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equivalent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original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40" dirty="0">
                <a:latin typeface="Tahoma"/>
                <a:cs typeface="Tahoma"/>
              </a:rPr>
              <a:t>implication. </a:t>
            </a:r>
            <a:r>
              <a:rPr sz="950" dirty="0">
                <a:latin typeface="Tahoma"/>
                <a:cs typeface="Tahoma"/>
              </a:rPr>
              <a:t>That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is,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whether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converse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an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implication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 </a:t>
            </a:r>
            <a:r>
              <a:rPr sz="950" spc="55" dirty="0">
                <a:latin typeface="Tahoma"/>
                <a:cs typeface="Tahoma"/>
              </a:rPr>
              <a:t>true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independent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truth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implication</a:t>
            </a:r>
            <a:endParaRPr sz="1000" dirty="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323850" y="1425575"/>
                <a:ext cx="3797300" cy="314125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1425" baseline="5847" dirty="0">
                    <a:latin typeface="Tahoma"/>
                    <a:cs typeface="Tahoma"/>
                  </a:rPr>
                  <a:t>The</a:t>
                </a:r>
                <a:r>
                  <a:rPr sz="1425" spc="-52" baseline="5847" dirty="0">
                    <a:latin typeface="Tahoma"/>
                    <a:cs typeface="Tahoma"/>
                  </a:rPr>
                  <a:t> </a:t>
                </a:r>
                <a:r>
                  <a:rPr sz="1425" spc="75" baseline="5847" dirty="0">
                    <a:solidFill>
                      <a:srgbClr val="FF0000"/>
                    </a:solidFill>
                    <a:latin typeface="Tahoma"/>
                    <a:cs typeface="Tahoma"/>
                  </a:rPr>
                  <a:t>contrapositive</a:t>
                </a:r>
                <a:r>
                  <a:rPr sz="1425" spc="-44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of</a:t>
                </a:r>
                <a:r>
                  <a:rPr sz="1425" spc="-52" baseline="5847" dirty="0">
                    <a:latin typeface="Tahoma"/>
                    <a:cs typeface="Tahoma"/>
                  </a:rPr>
                  <a:t> </a:t>
                </a:r>
                <a:r>
                  <a:rPr sz="1425" spc="97" baseline="5847" dirty="0">
                    <a:latin typeface="Tahoma"/>
                    <a:cs typeface="Tahoma"/>
                  </a:rPr>
                  <a:t>an</a:t>
                </a:r>
                <a:r>
                  <a:rPr sz="1425" spc="-44" baseline="5847" dirty="0">
                    <a:latin typeface="Tahoma"/>
                    <a:cs typeface="Tahoma"/>
                  </a:rPr>
                  <a:t> </a:t>
                </a:r>
                <a:r>
                  <a:rPr sz="1425" spc="82" baseline="5847" dirty="0">
                    <a:latin typeface="Tahoma"/>
                    <a:cs typeface="Tahoma"/>
                  </a:rPr>
                  <a:t>implication</a:t>
                </a:r>
                <a:r>
                  <a:rPr sz="1425" spc="52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13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127" baseline="2777" dirty="0">
                    <a:latin typeface="Tahoma"/>
                    <a:cs typeface="Tahoma"/>
                  </a:rPr>
                  <a:t>Q</a:t>
                </a:r>
                <a:r>
                  <a:rPr sz="1500" spc="-67" baseline="2777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60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the</a:t>
                </a:r>
                <a:r>
                  <a:rPr sz="1500" spc="-67" baseline="5555" dirty="0">
                    <a:latin typeface="Tahoma"/>
                    <a:cs typeface="Tahoma"/>
                  </a:rPr>
                  <a:t> </a:t>
                </a:r>
                <a:r>
                  <a:rPr sz="1500" spc="-15" baseline="5555" dirty="0">
                    <a:latin typeface="Tahoma"/>
                    <a:cs typeface="Tahoma"/>
                  </a:rPr>
                  <a:t>statement</a:t>
                </a:r>
                <a:endParaRPr sz="1500" baseline="5555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0" y="1425575"/>
                <a:ext cx="3797300" cy="314125"/>
              </a:xfrm>
              <a:prstGeom prst="rect">
                <a:avLst/>
              </a:prstGeom>
              <a:blipFill>
                <a:blip r:embed="rId4"/>
                <a:stretch>
                  <a:fillRect l="-1000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23851" y="1666967"/>
                <a:ext cx="3984728" cy="1635641"/>
              </a:xfrm>
              <a:prstGeom prst="rect">
                <a:avLst/>
              </a:prstGeom>
            </p:spPr>
            <p:txBody>
              <a:bodyPr vert="horz" wrap="square" lIns="0" tIns="41910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30"/>
                  </a:spcBef>
                </a:pPr>
                <a:r>
                  <a:rPr sz="1875" baseline="4444" dirty="0">
                    <a:latin typeface="Tahoma"/>
                    <a:cs typeface="Tahoma"/>
                  </a:rPr>
                  <a:t>¬</a:t>
                </a:r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500" spc="75" baseline="8333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-20" dirty="0">
                    <a:latin typeface="Tahoma"/>
                    <a:cs typeface="Tahoma"/>
                  </a:rPr>
                  <a:t>¬</a:t>
                </a:r>
                <a:r>
                  <a:rPr sz="1725" spc="-30" baseline="4830" dirty="0">
                    <a:latin typeface="Tahoma"/>
                    <a:cs typeface="Tahoma"/>
                  </a:rPr>
                  <a:t>P</a:t>
                </a:r>
                <a:endParaRPr sz="1725" baseline="483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150"/>
                  </a:spcBef>
                </a:pPr>
                <a:r>
                  <a:rPr sz="950" spc="65" dirty="0">
                    <a:latin typeface="Tahoma"/>
                    <a:cs typeface="Tahoma"/>
                  </a:rPr>
                  <a:t>An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implication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65" dirty="0">
                    <a:latin typeface="Tahoma"/>
                    <a:cs typeface="Tahoma"/>
                  </a:rPr>
                  <a:t>and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its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contrapositive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are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logically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equivalent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0" dirty="0">
                    <a:latin typeface="Tahoma"/>
                    <a:cs typeface="Tahoma"/>
                  </a:rPr>
                  <a:t>(they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25" dirty="0">
                    <a:latin typeface="Tahoma"/>
                    <a:cs typeface="Tahoma"/>
                  </a:rPr>
                  <a:t>are</a:t>
                </a:r>
                <a:r>
                  <a:rPr lang="en-US" sz="950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both</a:t>
                </a:r>
                <a:r>
                  <a:rPr sz="950" spc="-40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true</a:t>
                </a:r>
                <a:r>
                  <a:rPr sz="950" spc="-35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or</a:t>
                </a:r>
                <a:r>
                  <a:rPr sz="950" spc="-35" dirty="0">
                    <a:latin typeface="Tahoma"/>
                    <a:cs typeface="Tahoma"/>
                  </a:rPr>
                  <a:t> </a:t>
                </a:r>
                <a:r>
                  <a:rPr sz="950" spc="75" dirty="0">
                    <a:latin typeface="Tahoma"/>
                    <a:cs typeface="Tahoma"/>
                  </a:rPr>
                  <a:t>both</a:t>
                </a:r>
                <a:r>
                  <a:rPr sz="950" spc="-40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false)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5"/>
                  </a:spcBef>
                </a:pPr>
                <a:endParaRPr lang="en-US" sz="950" spc="45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05"/>
                  </a:spcBef>
                </a:pPr>
                <a:r>
                  <a:rPr sz="950" spc="45" dirty="0">
                    <a:latin typeface="Tahoma"/>
                    <a:cs typeface="Tahoma"/>
                  </a:rPr>
                  <a:t>Understanding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converses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and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contrapositives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can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30" dirty="0">
                    <a:latin typeface="Tahoma"/>
                    <a:cs typeface="Tahoma"/>
                  </a:rPr>
                  <a:t>help</a:t>
                </a:r>
                <a:r>
                  <a:rPr sz="950" spc="5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understand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25"/>
                  </a:spcBef>
                </a:pPr>
                <a:r>
                  <a:rPr sz="950" spc="50" dirty="0">
                    <a:latin typeface="Tahoma"/>
                    <a:cs typeface="Tahoma"/>
                  </a:rPr>
                  <a:t>implications</a:t>
                </a:r>
                <a:r>
                  <a:rPr sz="950" spc="25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and</a:t>
                </a:r>
                <a:r>
                  <a:rPr sz="950" spc="30" dirty="0">
                    <a:latin typeface="Tahoma"/>
                    <a:cs typeface="Tahoma"/>
                  </a:rPr>
                  <a:t> </a:t>
                </a:r>
                <a:r>
                  <a:rPr sz="950" dirty="0">
                    <a:latin typeface="Tahoma"/>
                    <a:cs typeface="Tahoma"/>
                  </a:rPr>
                  <a:t>their</a:t>
                </a:r>
                <a:r>
                  <a:rPr sz="950" spc="30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truth</a:t>
                </a:r>
                <a:r>
                  <a:rPr sz="950" spc="25" dirty="0">
                    <a:latin typeface="Tahoma"/>
                    <a:cs typeface="Tahoma"/>
                  </a:rPr>
                  <a:t> </a:t>
                </a:r>
                <a:r>
                  <a:rPr sz="950" spc="-10" dirty="0">
                    <a:latin typeface="Tahoma"/>
                    <a:cs typeface="Tahoma"/>
                  </a:rPr>
                  <a:t>values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515"/>
                  </a:spcBef>
                </a:pPr>
                <a:r>
                  <a:rPr sz="950" spc="40" dirty="0">
                    <a:latin typeface="Tahoma"/>
                    <a:cs typeface="Tahoma"/>
                  </a:rPr>
                  <a:t>The</a:t>
                </a:r>
                <a:r>
                  <a:rPr sz="950" spc="-25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contrapositive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always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has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50" dirty="0">
                    <a:latin typeface="Tahoma"/>
                    <a:cs typeface="Tahoma"/>
                  </a:rPr>
                  <a:t>the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same</a:t>
                </a:r>
                <a:r>
                  <a:rPr sz="950" spc="-25" dirty="0">
                    <a:latin typeface="Tahoma"/>
                    <a:cs typeface="Tahoma"/>
                  </a:rPr>
                  <a:t> </a:t>
                </a:r>
                <a:r>
                  <a:rPr sz="950" spc="60" dirty="0">
                    <a:latin typeface="Tahoma"/>
                    <a:cs typeface="Tahoma"/>
                  </a:rPr>
                  <a:t>truth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value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as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0" dirty="0">
                    <a:latin typeface="Tahoma"/>
                    <a:cs typeface="Tahoma"/>
                  </a:rPr>
                  <a:t>its</a:t>
                </a:r>
                <a:r>
                  <a:rPr sz="950" spc="-20" dirty="0">
                    <a:latin typeface="Tahoma"/>
                    <a:cs typeface="Tahoma"/>
                  </a:rPr>
                  <a:t> </a:t>
                </a:r>
                <a:r>
                  <a:rPr sz="950" spc="45" dirty="0">
                    <a:latin typeface="Tahoma"/>
                    <a:cs typeface="Tahoma"/>
                  </a:rPr>
                  <a:t>original</a:t>
                </a:r>
                <a:endParaRPr sz="95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15"/>
                  </a:spcBef>
                </a:pPr>
                <a:r>
                  <a:rPr sz="950" spc="-10" dirty="0">
                    <a:latin typeface="Tahoma"/>
                    <a:cs typeface="Tahoma"/>
                  </a:rPr>
                  <a:t>implication.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51" y="1666967"/>
                <a:ext cx="3984728" cy="1635641"/>
              </a:xfrm>
              <a:prstGeom prst="rect">
                <a:avLst/>
              </a:prstGeom>
              <a:blipFill>
                <a:blip r:embed="rId5"/>
                <a:stretch>
                  <a:fillRect l="-1587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727"/>
            <a:ext cx="99441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35" dirty="0">
                <a:latin typeface="Tahoma"/>
                <a:cs typeface="Tahoma"/>
              </a:rPr>
              <a:t>Biconditional</a:t>
            </a:r>
            <a:endParaRPr sz="125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3" descr="$PPTXTitle"/>
              <p:cNvSpPr txBox="1">
                <a:spLocks noGrp="1"/>
              </p:cNvSpPr>
              <p:nvPr>
                <p:ph type="title"/>
              </p:nvPr>
            </p:nvSpPr>
            <p:spPr>
              <a:xfrm>
                <a:off x="377722" y="511175"/>
                <a:ext cx="3976370" cy="254044"/>
              </a:xfrm>
              <a:prstGeom prst="rect">
                <a:avLst/>
              </a:prstGeom>
            </p:spPr>
            <p:txBody>
              <a:bodyPr vert="horz" wrap="square" lIns="0" tIns="133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105"/>
                  </a:spcBef>
                </a:pPr>
                <a:r>
                  <a:rPr sz="1425" spc="89" baseline="5847" dirty="0"/>
                  <a:t>When</a:t>
                </a:r>
                <a:r>
                  <a:rPr sz="1425" spc="-44" baseline="5847" dirty="0"/>
                  <a:t> </a:t>
                </a:r>
                <a:r>
                  <a:rPr sz="1425" spc="82" baseline="5847" dirty="0"/>
                  <a:t>the</a:t>
                </a:r>
                <a:r>
                  <a:rPr sz="1425" spc="-44" baseline="5847" dirty="0"/>
                  <a:t> </a:t>
                </a:r>
                <a:r>
                  <a:rPr sz="1425" spc="82" baseline="5847" dirty="0"/>
                  <a:t>implication</a:t>
                </a:r>
                <a:r>
                  <a:rPr sz="1425" spc="60" baseline="5847" dirty="0"/>
                  <a:t> </a:t>
                </a:r>
                <a:r>
                  <a:rPr sz="1200" spc="70" dirty="0"/>
                  <a:t>P</a:t>
                </a:r>
                <a:r>
                  <a:rPr sz="1200" spc="140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7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500" spc="127" baseline="2777" dirty="0"/>
                  <a:t>Q</a:t>
                </a:r>
                <a:r>
                  <a:rPr sz="1500" spc="-60" baseline="2777" dirty="0"/>
                  <a:t> </a:t>
                </a:r>
                <a:r>
                  <a:rPr sz="1500" baseline="5555" dirty="0"/>
                  <a:t>and</a:t>
                </a:r>
                <a:r>
                  <a:rPr sz="1500" spc="-52" baseline="5555" dirty="0"/>
                  <a:t> </a:t>
                </a:r>
                <a:r>
                  <a:rPr sz="1500" baseline="5555" dirty="0"/>
                  <a:t>the</a:t>
                </a:r>
                <a:r>
                  <a:rPr sz="1500" spc="-60" baseline="5555" dirty="0"/>
                  <a:t> </a:t>
                </a:r>
                <a:r>
                  <a:rPr sz="1500" baseline="5555" dirty="0"/>
                  <a:t>implication</a:t>
                </a:r>
                <a:r>
                  <a:rPr sz="1500" spc="-7" baseline="5555" dirty="0"/>
                  <a:t> </a:t>
                </a:r>
                <a:r>
                  <a:rPr sz="1650" spc="135" baseline="2525" dirty="0"/>
                  <a:t>Q</a:t>
                </a:r>
                <a:r>
                  <a:rPr sz="1650" spc="247" baseline="2525" dirty="0"/>
                  <a:t> </a:t>
                </a:r>
                <a14:m>
                  <m:oMath xmlns:m="http://schemas.openxmlformats.org/officeDocument/2006/math">
                    <m:r>
                      <a:rPr lang="en-US" sz="1600" i="1" baseline="-2525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sz="1575" spc="472" baseline="2645" dirty="0">
                    <a:latin typeface="Lucida Sans Unicode"/>
                    <a:cs typeface="Lucida Sans Unicode"/>
                  </a:rPr>
                  <a:t> </a:t>
                </a:r>
                <a:r>
                  <a:rPr sz="1725" spc="82" baseline="2415" dirty="0"/>
                  <a:t>P</a:t>
                </a:r>
                <a:r>
                  <a:rPr sz="1725" spc="-120" baseline="2415" dirty="0"/>
                  <a:t> </a:t>
                </a:r>
                <a:r>
                  <a:rPr sz="1500" spc="-37" baseline="5555" dirty="0"/>
                  <a:t>are</a:t>
                </a:r>
                <a:endParaRPr sz="1500" baseline="5555" dirty="0">
                  <a:latin typeface="Lucida Sans Unicode"/>
                  <a:cs typeface="Lucida Sans Unicode"/>
                </a:endParaRPr>
              </a:p>
            </p:txBody>
          </p:sp>
        </mc:Choice>
        <mc:Fallback xmlns="">
          <p:sp>
            <p:nvSpPr>
              <p:cNvPr id="3" name="object 3" descr="$PPTXTitl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377722" y="511175"/>
                <a:ext cx="3976370" cy="254044"/>
              </a:xfrm>
              <a:prstGeom prst="rect">
                <a:avLst/>
              </a:prstGeom>
              <a:blipFill>
                <a:blip r:embed="rId2"/>
                <a:stretch>
                  <a:fillRect l="-955" b="-238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403121" y="692979"/>
                <a:ext cx="4032885" cy="275396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sz="1425" spc="97" baseline="5847" dirty="0">
                    <a:latin typeface="Tahoma"/>
                    <a:cs typeface="Tahoma"/>
                  </a:rPr>
                  <a:t>both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true,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then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85" dirty="0">
                    <a:latin typeface="Tahoma"/>
                    <a:cs typeface="Tahoma"/>
                  </a:rPr>
                  <a:t> </a:t>
                </a:r>
                <a:r>
                  <a:rPr sz="1500" spc="97" baseline="2777" dirty="0">
                    <a:latin typeface="Tahoma"/>
                    <a:cs typeface="Tahoma"/>
                  </a:rPr>
                  <a:t>and</a:t>
                </a:r>
                <a:r>
                  <a:rPr sz="1500" baseline="2777" dirty="0">
                    <a:latin typeface="Tahoma"/>
                    <a:cs typeface="Tahoma"/>
                  </a:rPr>
                  <a:t> </a:t>
                </a:r>
                <a:r>
                  <a:rPr sz="1650" spc="135" baseline="2525" dirty="0">
                    <a:latin typeface="Tahoma"/>
                    <a:cs typeface="Tahoma"/>
                  </a:rPr>
                  <a:t>Q</a:t>
                </a:r>
                <a:r>
                  <a:rPr sz="1650" spc="-112" baseline="2525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are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equivalent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and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is</a:t>
                </a:r>
                <a:r>
                  <a:rPr sz="1425" spc="-37" baseline="5847" dirty="0">
                    <a:latin typeface="Tahoma"/>
                    <a:cs typeface="Tahoma"/>
                  </a:rPr>
                  <a:t> </a:t>
                </a:r>
                <a:r>
                  <a:rPr sz="1425" spc="82" baseline="5847" dirty="0">
                    <a:latin typeface="Tahoma"/>
                    <a:cs typeface="Tahoma"/>
                  </a:rPr>
                  <a:t>denoted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44" baseline="5847" dirty="0">
                    <a:latin typeface="Tahoma"/>
                    <a:cs typeface="Tahoma"/>
                  </a:rPr>
                  <a:t>as</a:t>
                </a:r>
                <a:r>
                  <a:rPr sz="1425" spc="75" baseline="5847" dirty="0">
                    <a:latin typeface="Tahoma"/>
                    <a:cs typeface="Tahoma"/>
                  </a:rPr>
                  <a:t> </a:t>
                </a:r>
                <a:r>
                  <a:rPr sz="1200" spc="70" dirty="0">
                    <a:latin typeface="Tahoma"/>
                    <a:cs typeface="Tahoma"/>
                  </a:rPr>
                  <a:t>P</a:t>
                </a:r>
                <a:r>
                  <a:rPr sz="1200" spc="-4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25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</m:oMath>
                </a14:m>
                <a:r>
                  <a:rPr sz="1725" spc="434" baseline="2415" dirty="0">
                    <a:latin typeface="Lucida Sans Unicode"/>
                    <a:cs typeface="Lucida Sans Unicode"/>
                  </a:rPr>
                  <a:t> </a:t>
                </a:r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1" y="692979"/>
                <a:ext cx="4032885" cy="275396"/>
              </a:xfrm>
              <a:prstGeom prst="rect">
                <a:avLst/>
              </a:prstGeom>
              <a:blipFill>
                <a:blip r:embed="rId3"/>
                <a:stretch>
                  <a:fillRect l="-1567" b="-2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5"/>
              <p:cNvSpPr txBox="1"/>
              <p:nvPr/>
            </p:nvSpPr>
            <p:spPr>
              <a:xfrm>
                <a:off x="403122" y="1120775"/>
                <a:ext cx="3761740" cy="275396"/>
              </a:xfrm>
              <a:prstGeom prst="rect">
                <a:avLst/>
              </a:prstGeom>
            </p:spPr>
            <p:txBody>
              <a:bodyPr vert="horz" wrap="square" lIns="0" tIns="1587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25"/>
                  </a:spcBef>
                </a:pPr>
                <a:r>
                  <a:rPr lang="en-US" sz="1425" spc="15" baseline="5847" dirty="0">
                    <a:latin typeface="Tahoma"/>
                    <a:cs typeface="Tahoma"/>
                  </a:rPr>
                  <a:t>The</a:t>
                </a:r>
                <a:r>
                  <a:rPr lang="en-US" sz="1425" spc="7" baseline="5847" dirty="0">
                    <a:latin typeface="Tahoma"/>
                    <a:cs typeface="Tahoma"/>
                  </a:rPr>
                  <a:t> </a:t>
                </a:r>
                <a:r>
                  <a:rPr lang="en-US" sz="1425" spc="75" baseline="5847" dirty="0">
                    <a:latin typeface="Tahoma"/>
                    <a:cs typeface="Tahoma"/>
                  </a:rPr>
                  <a:t>biconditional</a:t>
                </a:r>
                <a:r>
                  <a:rPr lang="en-US" sz="1425" spc="15" baseline="5847" dirty="0">
                    <a:latin typeface="Tahoma"/>
                    <a:cs typeface="Tahoma"/>
                  </a:rPr>
                  <a:t> </a:t>
                </a:r>
                <a:r>
                  <a:rPr lang="en-US" sz="1425" spc="75" baseline="5847" dirty="0">
                    <a:latin typeface="Tahoma"/>
                    <a:cs typeface="Tahoma"/>
                  </a:rPr>
                  <a:t>statement</a:t>
                </a:r>
                <a:r>
                  <a:rPr lang="en-US" sz="1425" spc="127" baseline="5847" dirty="0">
                    <a:latin typeface="Tahoma"/>
                    <a:cs typeface="Tahoma"/>
                  </a:rPr>
                  <a:t> </a:t>
                </a:r>
                <a:r>
                  <a:rPr lang="en-US" sz="1200" spc="70" dirty="0">
                    <a:latin typeface="Tahoma"/>
                    <a:cs typeface="Tahoma"/>
                  </a:rPr>
                  <a:t>P</a:t>
                </a:r>
                <a:r>
                  <a:rPr lang="en-US" sz="1200" spc="-1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725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</m:t>
                    </m:r>
                    <m:r>
                      <a:rPr lang="en-US" sz="1725" b="0" i="0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 </m:t>
                    </m:r>
                  </m:oMath>
                </a14:m>
                <a:r>
                  <a:rPr lang="en-US" sz="1500" spc="127" baseline="2777" dirty="0">
                    <a:latin typeface="Tahoma"/>
                    <a:cs typeface="Tahoma"/>
                  </a:rPr>
                  <a:t>Q</a:t>
                </a:r>
                <a:r>
                  <a:rPr lang="en-US" sz="1500" baseline="2777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is</a:t>
                </a:r>
                <a:r>
                  <a:rPr lang="en-US" sz="1500" spc="-7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logically</a:t>
                </a:r>
                <a:r>
                  <a:rPr lang="en-US" sz="1500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15" baseline="5555" dirty="0">
                    <a:latin typeface="Tahoma"/>
                    <a:cs typeface="Tahoma"/>
                  </a:rPr>
                  <a:t>equivalent</a:t>
                </a:r>
                <a:r>
                  <a:rPr lang="en-US" sz="1500" spc="-7" baseline="5555" dirty="0">
                    <a:latin typeface="Tahoma"/>
                    <a:cs typeface="Tahoma"/>
                  </a:rPr>
                  <a:t> </a:t>
                </a:r>
                <a:r>
                  <a:rPr lang="en-US" sz="1500" spc="-37" baseline="5555" dirty="0">
                    <a:latin typeface="Tahoma"/>
                    <a:cs typeface="Tahoma"/>
                  </a:rPr>
                  <a:t>to</a:t>
                </a:r>
                <a:endParaRPr sz="1500" baseline="5555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5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22" y="1120775"/>
                <a:ext cx="3761740" cy="275396"/>
              </a:xfrm>
              <a:prstGeom prst="rect">
                <a:avLst/>
              </a:prstGeom>
              <a:blipFill>
                <a:blip r:embed="rId4"/>
                <a:stretch>
                  <a:fillRect l="-1684" b="-227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6"/>
              <p:cNvSpPr txBox="1"/>
              <p:nvPr/>
            </p:nvSpPr>
            <p:spPr>
              <a:xfrm>
                <a:off x="377722" y="1273175"/>
                <a:ext cx="4048760" cy="684739"/>
              </a:xfrm>
              <a:prstGeom prst="rect">
                <a:avLst/>
              </a:prstGeom>
            </p:spPr>
            <p:txBody>
              <a:bodyPr vert="horz" wrap="square" lIns="0" tIns="4508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355"/>
                  </a:spcBef>
                </a:pPr>
                <a:r>
                  <a:rPr sz="1400" dirty="0">
                    <a:latin typeface="Tahoma"/>
                    <a:cs typeface="Tahoma"/>
                  </a:rPr>
                  <a:t>(</a:t>
                </a:r>
                <a:r>
                  <a:rPr sz="1725" baseline="4830" dirty="0">
                    <a:latin typeface="Tahoma"/>
                    <a:cs typeface="Tahoma"/>
                  </a:rPr>
                  <a:t>P</a:t>
                </a:r>
                <a:r>
                  <a:rPr sz="1725" spc="-75" baseline="483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400" dirty="0">
                    <a:latin typeface="Tahoma"/>
                    <a:cs typeface="Tahoma"/>
                  </a:rPr>
                  <a:t>)</a:t>
                </a:r>
                <a:r>
                  <a:rPr sz="1400" spc="-180" dirty="0">
                    <a:latin typeface="Tahoma"/>
                    <a:cs typeface="Tahoma"/>
                  </a:rPr>
                  <a:t> </a:t>
                </a:r>
                <a:r>
                  <a:rPr sz="1500" spc="-150" baseline="8333" dirty="0">
                    <a:latin typeface="Lucida Sans Unicode"/>
                    <a:cs typeface="Lucida Sans Unicode"/>
                  </a:rPr>
                  <a:t>∧</a:t>
                </a:r>
                <a:r>
                  <a:rPr sz="1500" spc="-112" baseline="8333" dirty="0">
                    <a:latin typeface="Lucida Sans Unicode"/>
                    <a:cs typeface="Lucida Sans Unicode"/>
                  </a:rPr>
                  <a:t> </a:t>
                </a:r>
                <a:r>
                  <a:rPr sz="1400" dirty="0">
                    <a:latin typeface="Tahoma"/>
                    <a:cs typeface="Tahoma"/>
                  </a:rPr>
                  <a:t>(</a:t>
                </a:r>
                <a:r>
                  <a:rPr sz="1500" baseline="8333" dirty="0">
                    <a:latin typeface="Tahoma"/>
                    <a:cs typeface="Tahoma"/>
                  </a:rPr>
                  <a:t>Q</a:t>
                </a:r>
                <a:r>
                  <a:rPr sz="1500" spc="127" baseline="8333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725" spc="-37" baseline="4830" dirty="0">
                    <a:latin typeface="Tahoma"/>
                    <a:cs typeface="Tahoma"/>
                  </a:rPr>
                  <a:t>P</a:t>
                </a:r>
                <a:r>
                  <a:rPr sz="1400" spc="-25" dirty="0">
                    <a:latin typeface="Tahoma"/>
                    <a:cs typeface="Tahoma"/>
                  </a:rPr>
                  <a:t>)</a:t>
                </a:r>
                <a:endParaRPr sz="14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140"/>
                  </a:spcBef>
                </a:pPr>
                <a:r>
                  <a:rPr sz="1000" dirty="0">
                    <a:latin typeface="Tahoma"/>
                    <a:cs typeface="Tahoma"/>
                  </a:rPr>
                  <a:t>You</a:t>
                </a:r>
                <a:r>
                  <a:rPr sz="1000" spc="8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can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think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of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biconditional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(if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and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only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if)</a:t>
                </a:r>
                <a:r>
                  <a:rPr sz="1000" spc="95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statement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dirty="0">
                    <a:latin typeface="Tahoma"/>
                    <a:cs typeface="Tahoma"/>
                  </a:rPr>
                  <a:t>as</a:t>
                </a:r>
                <a:r>
                  <a:rPr sz="1000" spc="100" dirty="0">
                    <a:latin typeface="Tahoma"/>
                    <a:cs typeface="Tahoma"/>
                  </a:rPr>
                  <a:t> </a:t>
                </a:r>
                <a:r>
                  <a:rPr sz="1000" spc="-10" dirty="0">
                    <a:latin typeface="Tahoma"/>
                    <a:cs typeface="Tahoma"/>
                  </a:rPr>
                  <a:t>having</a:t>
                </a:r>
                <a:endParaRPr sz="1000" dirty="0">
                  <a:latin typeface="Tahoma"/>
                  <a:cs typeface="Tahoma"/>
                </a:endParaRPr>
              </a:p>
              <a:p>
                <a:pPr marL="38100">
                  <a:lnSpc>
                    <a:spcPct val="100000"/>
                  </a:lnSpc>
                  <a:spcBef>
                    <a:spcPts val="200"/>
                  </a:spcBef>
                </a:pPr>
                <a:r>
                  <a:rPr sz="950" spc="60" dirty="0">
                    <a:latin typeface="Tahoma"/>
                    <a:cs typeface="Tahoma"/>
                  </a:rPr>
                  <a:t>two</a:t>
                </a:r>
                <a:r>
                  <a:rPr sz="950" dirty="0">
                    <a:latin typeface="Tahoma"/>
                    <a:cs typeface="Tahoma"/>
                  </a:rPr>
                  <a:t> parts: </a:t>
                </a:r>
                <a:r>
                  <a:rPr sz="950" spc="60" dirty="0">
                    <a:latin typeface="Tahoma"/>
                    <a:cs typeface="Tahoma"/>
                  </a:rPr>
                  <a:t>an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55" dirty="0">
                    <a:latin typeface="Tahoma"/>
                    <a:cs typeface="Tahoma"/>
                  </a:rPr>
                  <a:t>implication</a:t>
                </a:r>
                <a:r>
                  <a:rPr sz="950" dirty="0">
                    <a:latin typeface="Tahoma"/>
                    <a:cs typeface="Tahoma"/>
                  </a:rPr>
                  <a:t> </a:t>
                </a:r>
                <a:r>
                  <a:rPr sz="950" spc="65" dirty="0">
                    <a:latin typeface="Tahoma"/>
                    <a:cs typeface="Tahoma"/>
                  </a:rPr>
                  <a:t>and</a:t>
                </a:r>
                <a:r>
                  <a:rPr sz="950" dirty="0">
                    <a:latin typeface="Tahoma"/>
                    <a:cs typeface="Tahoma"/>
                  </a:rPr>
                  <a:t> a </a:t>
                </a:r>
                <a:r>
                  <a:rPr sz="950" spc="40" dirty="0">
                    <a:latin typeface="Tahoma"/>
                    <a:cs typeface="Tahoma"/>
                  </a:rPr>
                  <a:t>converse</a:t>
                </a:r>
                <a:endParaRPr sz="950" dirty="0">
                  <a:latin typeface="Tahoma"/>
                  <a:cs typeface="Tahoma"/>
                </a:endParaRPr>
              </a:p>
            </p:txBody>
          </p:sp>
        </mc:Choice>
        <mc:Fallback xmlns="">
          <p:sp>
            <p:nvSpPr>
              <p:cNvPr id="6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722" y="1273175"/>
                <a:ext cx="4048760" cy="684739"/>
              </a:xfrm>
              <a:prstGeom prst="rect">
                <a:avLst/>
              </a:prstGeom>
              <a:blipFill>
                <a:blip r:embed="rId5"/>
                <a:stretch>
                  <a:fillRect l="-1563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>
              <a:xfrm>
                <a:off x="352322" y="2416175"/>
                <a:ext cx="3781528" cy="717504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ts val="1950"/>
                  </a:lnSpc>
                  <a:spcBef>
                    <a:spcPts val="95"/>
                  </a:spcBef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</a:t>
                </a:r>
                <a:r>
                  <a:rPr lang="en-US" sz="1600" spc="-22" baseline="2923" dirty="0">
                    <a:latin typeface="Tahoma"/>
                    <a:cs typeface="Tahoma"/>
                  </a:rPr>
                  <a:t> </a:t>
                </a:r>
                <a:r>
                  <a:rPr sz="1150" spc="-10" dirty="0">
                    <a:latin typeface="Tahoma"/>
                    <a:cs typeface="Tahoma"/>
                  </a:rPr>
                  <a:t>P</a:t>
                </a:r>
                <a:r>
                  <a:rPr sz="1150" spc="-85" dirty="0">
                    <a:latin typeface="Tahoma"/>
                    <a:cs typeface="Tahoma"/>
                  </a:rPr>
                  <a:t> </a:t>
                </a:r>
                <a:r>
                  <a:rPr sz="1425" baseline="2923" dirty="0">
                    <a:latin typeface="Tahoma"/>
                    <a:cs typeface="Tahoma"/>
                  </a:rPr>
                  <a:t>is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lang="en-US" sz="1425" baseline="2923" dirty="0">
                    <a:latin typeface="Tahoma"/>
                    <a:cs typeface="Tahoma"/>
                  </a:rPr>
                  <a:t>n</a:t>
                </a:r>
                <a:r>
                  <a:rPr sz="1425" baseline="2923" dirty="0">
                    <a:latin typeface="Tahoma"/>
                    <a:cs typeface="Tahoma"/>
                  </a:rPr>
                  <a:t>ecessary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sz="1425" spc="82" baseline="2923" dirty="0">
                    <a:latin typeface="Tahoma"/>
                    <a:cs typeface="Tahoma"/>
                  </a:rPr>
                  <a:t>for</a:t>
                </a:r>
                <a:r>
                  <a:rPr sz="1425" spc="37" baseline="2923" dirty="0">
                    <a:latin typeface="Tahoma"/>
                    <a:cs typeface="Tahoma"/>
                  </a:rPr>
                  <a:t> </a:t>
                </a:r>
                <a:r>
                  <a:rPr sz="1100" spc="75" dirty="0">
                    <a:latin typeface="Tahoma"/>
                    <a:cs typeface="Tahoma"/>
                  </a:rPr>
                  <a:t>Q</a:t>
                </a:r>
                <a:r>
                  <a:rPr lang="en-US" sz="1100" spc="75" dirty="0">
                    <a:latin typeface="Tahoma"/>
                    <a:cs typeface="Tahoma"/>
                  </a:rPr>
                  <a:t> </a:t>
                </a:r>
                <a:r>
                  <a:rPr lang="en-US" sz="1600" spc="112" baseline="2923" dirty="0">
                    <a:latin typeface="Tahoma"/>
                    <a:cs typeface="Tahoma"/>
                  </a:rPr>
                  <a:t>"</a:t>
                </a:r>
                <a:r>
                  <a:rPr sz="1425" spc="-22" baseline="2923" dirty="0">
                    <a:latin typeface="Tahoma"/>
                    <a:cs typeface="Tahoma"/>
                  </a:rPr>
                  <a:t> </a:t>
                </a:r>
                <a:r>
                  <a:rPr sz="1425" spc="97" baseline="2923" dirty="0">
                    <a:latin typeface="Tahoma"/>
                    <a:cs typeface="Tahoma"/>
                  </a:rPr>
                  <a:t>means</a:t>
                </a:r>
                <a:r>
                  <a:rPr sz="1425" spc="30" baseline="2923" dirty="0">
                    <a:latin typeface="Tahoma"/>
                    <a:cs typeface="Tahoma"/>
                  </a:rPr>
                  <a:t> </a:t>
                </a:r>
                <a:r>
                  <a:rPr sz="1100" spc="100" dirty="0">
                    <a:latin typeface="Tahoma"/>
                    <a:cs typeface="Tahoma"/>
                  </a:rPr>
                  <a:t>Q</a:t>
                </a:r>
                <a:r>
                  <a:rPr sz="1100" spc="19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150" spc="5" dirty="0">
                    <a:latin typeface="Tahoma"/>
                    <a:cs typeface="Tahoma"/>
                  </a:rPr>
                  <a:t>P</a:t>
                </a:r>
                <a:endParaRPr sz="1150" dirty="0">
                  <a:latin typeface="Tahoma"/>
                  <a:cs typeface="Tahoma"/>
                </a:endParaRPr>
              </a:p>
              <a:p>
                <a:pPr marL="63500">
                  <a:lnSpc>
                    <a:spcPts val="1745"/>
                  </a:lnSpc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 </a:t>
                </a:r>
                <a:r>
                  <a:rPr sz="1725" spc="-15" baseline="2415" dirty="0">
                    <a:latin typeface="Tahoma"/>
                    <a:cs typeface="Tahoma"/>
                  </a:rPr>
                  <a:t>P</a:t>
                </a:r>
                <a:r>
                  <a:rPr sz="1725" spc="-120" baseline="241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is</a:t>
                </a:r>
                <a:r>
                  <a:rPr sz="1500" spc="-44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sufficient</a:t>
                </a:r>
                <a:r>
                  <a:rPr sz="1500" spc="-37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for</a:t>
                </a:r>
                <a:r>
                  <a:rPr sz="1500" spc="7" baseline="5555" dirty="0">
                    <a:latin typeface="Tahoma"/>
                    <a:cs typeface="Tahoma"/>
                  </a:rPr>
                  <a:t> </a:t>
                </a:r>
                <a:r>
                  <a:rPr sz="1650" spc="104" baseline="2525" dirty="0">
                    <a:latin typeface="Tahoma"/>
                    <a:cs typeface="Tahoma"/>
                  </a:rPr>
                  <a:t>Q</a:t>
                </a:r>
                <a:r>
                  <a:rPr lang="en-US" sz="1400" spc="112" baseline="2923" dirty="0">
                    <a:latin typeface="Tahoma"/>
                    <a:cs typeface="Tahoma"/>
                  </a:rPr>
                  <a:t> "</a:t>
                </a:r>
                <a:r>
                  <a:rPr sz="1425" spc="-30" baseline="5847" dirty="0">
                    <a:latin typeface="Tahoma"/>
                    <a:cs typeface="Tahoma"/>
                  </a:rPr>
                  <a:t> </a:t>
                </a:r>
                <a:r>
                  <a:rPr sz="1425" spc="97" baseline="5847" dirty="0">
                    <a:latin typeface="Tahoma"/>
                    <a:cs typeface="Tahoma"/>
                  </a:rPr>
                  <a:t>means</a:t>
                </a:r>
                <a:r>
                  <a:rPr sz="1425" spc="82" baseline="5847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15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baseline="-2525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  <a:p>
                <a:pPr marL="63500">
                  <a:lnSpc>
                    <a:spcPts val="1835"/>
                  </a:lnSpc>
                </a:pPr>
                <a:r>
                  <a:rPr lang="en-US" sz="1600" spc="112" baseline="2923" dirty="0">
                    <a:latin typeface="Tahoma"/>
                    <a:cs typeface="Tahoma"/>
                  </a:rPr>
                  <a:t>" </a:t>
                </a:r>
                <a:r>
                  <a:rPr sz="1725" spc="-15" baseline="2415" dirty="0">
                    <a:latin typeface="Tahoma"/>
                    <a:cs typeface="Tahoma"/>
                  </a:rPr>
                  <a:t>P</a:t>
                </a:r>
                <a:r>
                  <a:rPr sz="1725" spc="-37" baseline="2415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is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necessary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spc="89" baseline="5847" dirty="0">
                    <a:latin typeface="Tahoma"/>
                    <a:cs typeface="Tahoma"/>
                  </a:rPr>
                  <a:t>and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baseline="5847" dirty="0">
                    <a:latin typeface="Tahoma"/>
                    <a:cs typeface="Tahoma"/>
                  </a:rPr>
                  <a:t>sufficient</a:t>
                </a:r>
                <a:r>
                  <a:rPr sz="1425" spc="67" baseline="5847" dirty="0">
                    <a:latin typeface="Tahoma"/>
                    <a:cs typeface="Tahoma"/>
                  </a:rPr>
                  <a:t> </a:t>
                </a:r>
                <a:r>
                  <a:rPr sz="1425" spc="75" baseline="5847" dirty="0">
                    <a:latin typeface="Tahoma"/>
                    <a:cs typeface="Tahoma"/>
                  </a:rPr>
                  <a:t>for</a:t>
                </a:r>
                <a:r>
                  <a:rPr sz="1425" spc="135" baseline="5847" dirty="0">
                    <a:latin typeface="Tahoma"/>
                    <a:cs typeface="Tahoma"/>
                  </a:rPr>
                  <a:t> </a:t>
                </a:r>
                <a:r>
                  <a:rPr sz="1650" spc="97" baseline="2525" dirty="0">
                    <a:latin typeface="Tahoma"/>
                    <a:cs typeface="Tahoma"/>
                  </a:rPr>
                  <a:t>Q</a:t>
                </a:r>
                <a:r>
                  <a:rPr lang="en-US" sz="1600" spc="112" baseline="2923" dirty="0">
                    <a:latin typeface="Tahoma"/>
                    <a:cs typeface="Tahoma"/>
                  </a:rPr>
                  <a:t> "</a:t>
                </a:r>
                <a:r>
                  <a:rPr sz="1500" spc="97" baseline="5555" dirty="0">
                    <a:latin typeface="Tahoma"/>
                    <a:cs typeface="Tahoma"/>
                  </a:rPr>
                  <a:t>,</a:t>
                </a:r>
                <a:r>
                  <a:rPr sz="1500" spc="52" baseline="5555" dirty="0">
                    <a:latin typeface="Tahoma"/>
                    <a:cs typeface="Tahoma"/>
                  </a:rPr>
                  <a:t> </a:t>
                </a:r>
                <a:r>
                  <a:rPr sz="1500" baseline="5555" dirty="0">
                    <a:latin typeface="Tahoma"/>
                    <a:cs typeface="Tahoma"/>
                  </a:rPr>
                  <a:t>then</a:t>
                </a:r>
                <a:r>
                  <a:rPr sz="1500" spc="172" baseline="5555" dirty="0">
                    <a:latin typeface="Tahoma"/>
                    <a:cs typeface="Tahoma"/>
                  </a:rPr>
                  <a:t> </a:t>
                </a:r>
                <a:r>
                  <a:rPr sz="1200" spc="75" dirty="0">
                    <a:latin typeface="Tahoma"/>
                    <a:cs typeface="Tahoma"/>
                  </a:rPr>
                  <a:t>P</a:t>
                </a:r>
                <a:r>
                  <a:rPr sz="1200" spc="40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i="1" spc="172" baseline="2415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Lucida Sans Unicode"/>
                      </a:rPr>
                      <m:t>⟺ </m:t>
                    </m:r>
                  </m:oMath>
                </a14:m>
                <a:r>
                  <a:rPr sz="1500" spc="52" baseline="2777" dirty="0">
                    <a:latin typeface="Tahoma"/>
                    <a:cs typeface="Tahoma"/>
                  </a:rPr>
                  <a:t>Q</a:t>
                </a:r>
                <a:endParaRPr sz="1500" baseline="2777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322" y="2416175"/>
                <a:ext cx="3781528" cy="717504"/>
              </a:xfrm>
              <a:prstGeom prst="rect">
                <a:avLst/>
              </a:prstGeom>
              <a:blipFill>
                <a:blip r:embed="rId6"/>
                <a:stretch>
                  <a:fillRect l="-669" b="-8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FEE1F-6ECC-929A-E458-BCE062916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185AC-026A-B570-8D1F-D136C2064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349" y="87040"/>
            <a:ext cx="2167890" cy="19236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22D3AA-8CCE-56EF-7859-865371CCF0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992" y="358775"/>
            <a:ext cx="4150360" cy="2693045"/>
          </a:xfrm>
        </p:spPr>
        <p:txBody>
          <a:bodyPr/>
          <a:lstStyle/>
          <a:p>
            <a:r>
              <a:rPr lang="en-US" sz="700" dirty="0">
                <a:solidFill>
                  <a:schemeClr val="accent1"/>
                </a:solidFill>
              </a:rPr>
              <a:t>Example: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P = "Number is divisible by 2"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Q = "Number is even"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 ↔ Q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True both directions.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Counterexample: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P = "Person is a professor"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Q = "Person has a PhD"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Not equivalent.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Many PhD holders are not professors.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Necessary vs Sufficient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Sufficient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Being a dog is sufficient for being an animal.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Dog → Animal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Necessary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Being an animal is necessary for being a dog.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Dog → Animal</a:t>
            </a:r>
          </a:p>
          <a:p>
            <a:endParaRPr lang="en-US" sz="700" dirty="0">
              <a:solidFill>
                <a:schemeClr val="accent1"/>
              </a:solidFill>
            </a:endParaRPr>
          </a:p>
          <a:p>
            <a:r>
              <a:rPr lang="en-US" sz="700" dirty="0">
                <a:solidFill>
                  <a:schemeClr val="accent1"/>
                </a:solidFill>
              </a:rPr>
              <a:t>Necessary and Sufficient</a:t>
            </a:r>
          </a:p>
          <a:p>
            <a:r>
              <a:rPr lang="en-US" sz="700" dirty="0">
                <a:solidFill>
                  <a:schemeClr val="accent1"/>
                </a:solidFill>
              </a:rPr>
              <a:t>Even number ↔ divisible by 2</a:t>
            </a:r>
          </a:p>
        </p:txBody>
      </p:sp>
    </p:spTree>
    <p:extLst>
      <p:ext uri="{BB962C8B-B14F-4D97-AF65-F5344CB8AC3E}">
        <p14:creationId xmlns:p14="http://schemas.microsoft.com/office/powerpoint/2010/main" val="1432526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50" dirty="0"/>
              <a:t>Truth</a:t>
            </a:r>
            <a:r>
              <a:rPr spc="-45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5907" y="925715"/>
            <a:ext cx="4358640" cy="37020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950" spc="10" dirty="0">
                <a:latin typeface="Tahoma"/>
                <a:cs typeface="Tahoma"/>
              </a:rPr>
              <a:t>These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tables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show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truth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value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outcome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for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every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combination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the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50" spc="20" dirty="0">
                <a:latin typeface="Tahoma"/>
                <a:cs typeface="Tahoma"/>
              </a:rPr>
              <a:t>various</a:t>
            </a:r>
            <a:r>
              <a:rPr sz="950" spc="55" dirty="0">
                <a:latin typeface="Tahoma"/>
                <a:cs typeface="Tahoma"/>
              </a:rPr>
              <a:t> truth </a:t>
            </a:r>
            <a:r>
              <a:rPr sz="950" spc="20" dirty="0">
                <a:latin typeface="Tahoma"/>
                <a:cs typeface="Tahoma"/>
              </a:rPr>
              <a:t>values</a:t>
            </a:r>
            <a:r>
              <a:rPr sz="950" spc="6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5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5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sentences</a:t>
            </a:r>
            <a:r>
              <a:rPr sz="950" spc="6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(propositions)</a:t>
            </a:r>
            <a:endParaRPr sz="950">
              <a:latin typeface="Tahoma"/>
              <a:cs typeface="Tahom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objec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56268"/>
                  </p:ext>
                </p:extLst>
              </p:nvPr>
            </p:nvGraphicFramePr>
            <p:xfrm>
              <a:off x="833016" y="1433428"/>
              <a:ext cx="3224634" cy="10523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8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6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24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1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248559">
                    <a:tc>
                      <a:txBody>
                        <a:bodyPr/>
                        <a:lstStyle/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50" spc="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spc="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∧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∨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2105"/>
                            </a:lnSpc>
                          </a:pPr>
                          <a:r>
                            <a:rPr lang="en-US"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lang="en-US" sz="1150" spc="30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 baseline="-2525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⟹</m:t>
                              </m:r>
                              <m:r>
                                <a:rPr lang="en-US" sz="2000" b="0" i="1" baseline="-2525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105"/>
                            </a:spcBef>
                          </a:pPr>
                          <a:r>
                            <a:rPr lang="en-US"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0" marB="0"/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55" dirty="0">
                              <a:latin typeface="Tahoma"/>
                              <a:cs typeface="Tahoma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600" i="1" spc="172" baseline="2415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Lucida Sans Unicode"/>
                                </a:rPr>
                                <m:t>⟺</m:t>
                              </m:r>
                            </m:oMath>
                          </a14:m>
                          <a:r>
                            <a:rPr sz="1150" spc="240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R="13970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marR="2540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2606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1425" baseline="2923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952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38760" algn="l"/>
                            </a:tabLst>
                          </a:pP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1425" baseline="2923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4945"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  <a:tabLst>
                              <a:tab pos="232410" algn="l"/>
                            </a:tabLst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9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object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56268"/>
                  </p:ext>
                </p:extLst>
              </p:nvPr>
            </p:nvGraphicFramePr>
            <p:xfrm>
              <a:off x="833016" y="1433428"/>
              <a:ext cx="3224634" cy="1052322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518803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616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4241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8133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84592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03047">
                    <a:tc>
                      <a:txBody>
                        <a:bodyPr/>
                        <a:lstStyle/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50" spc="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lang="en-US" sz="1500" spc="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76835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  <a:tabLst>
                              <a:tab pos="30353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∧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pPr marL="2540" algn="ctr">
                            <a:lnSpc>
                              <a:spcPct val="100000"/>
                            </a:lnSpc>
                            <a:spcBef>
                              <a:spcPts val="585"/>
                            </a:spcBef>
                          </a:pPr>
                          <a:r>
                            <a:rPr sz="1150" spc="55" dirty="0">
                              <a:latin typeface="Tahoma"/>
                              <a:cs typeface="Tahoma"/>
                            </a:rPr>
                            <a:t>P</a:t>
                          </a:r>
                          <a:r>
                            <a:rPr sz="1150" spc="-75" dirty="0">
                              <a:latin typeface="Tahoma"/>
                              <a:cs typeface="Tahoma"/>
                            </a:rPr>
                            <a:t> </a:t>
                          </a:r>
                          <a:r>
                            <a:rPr sz="1575" spc="-112" baseline="2645" dirty="0">
                              <a:latin typeface="Lucida Sans Unicode"/>
                              <a:cs typeface="Lucida Sans Unicode"/>
                            </a:rPr>
                            <a:t>∨</a:t>
                          </a:r>
                          <a:r>
                            <a:rPr sz="1575" spc="-135" baseline="2645" dirty="0">
                              <a:latin typeface="Lucida Sans Unicode"/>
                              <a:cs typeface="Lucida Sans Unicode"/>
                            </a:rPr>
                            <a:t> </a:t>
                          </a:r>
                          <a:r>
                            <a:rPr sz="1500" spc="52" baseline="2777" dirty="0">
                              <a:latin typeface="Tahoma"/>
                              <a:cs typeface="Tahoma"/>
                            </a:rPr>
                            <a:t>Q</a:t>
                          </a:r>
                          <a:endParaRPr sz="1500" baseline="2777" dirty="0">
                            <a:latin typeface="Tahoma"/>
                            <a:cs typeface="Tahoma"/>
                          </a:endParaRPr>
                        </a:p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4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74295" marB="0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>
                        <a:blipFill>
                          <a:blip r:embed="rId2"/>
                          <a:stretch>
                            <a:fillRect l="-203226" r="-109677" b="-122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74295" marB="0">
                        <a:blipFill>
                          <a:blip r:embed="rId2"/>
                          <a:stretch>
                            <a:fillRect l="-280597" r="-1493" b="-122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marR="2540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26060" algn="l"/>
                            </a:tabLst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r>
                            <a:rPr sz="110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1425" baseline="2923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952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7716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  <a:tabLst>
                              <a:tab pos="238760" algn="l"/>
                            </a:tabLst>
                          </a:pPr>
                          <a:r>
                            <a:rPr sz="1425" spc="-75" baseline="2923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1425" baseline="2923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tc>
                      <a:txBody>
                        <a:bodyPr/>
                        <a:lstStyle/>
                        <a:p>
                          <a:pPr marL="317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ts val="1275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/>
                    </a:tc>
                    <a:tc>
                      <a:txBody>
                        <a:bodyPr/>
                        <a:lstStyle/>
                        <a:p>
                          <a:pPr marR="33655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4945"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  <a:tabLst>
                              <a:tab pos="232410" algn="l"/>
                            </a:tabLst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r>
                            <a:rPr sz="950" dirty="0">
                              <a:latin typeface="Tahoma"/>
                              <a:cs typeface="Tahoma"/>
                            </a:rPr>
                            <a:t>	</a:t>
                          </a: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8890" algn="ctr">
                            <a:lnSpc>
                              <a:spcPct val="100000"/>
                            </a:lnSpc>
                            <a:spcBef>
                              <a:spcPts val="125"/>
                            </a:spcBef>
                          </a:pPr>
                          <a:r>
                            <a:rPr sz="950" spc="-50" dirty="0">
                              <a:latin typeface="Tahoma"/>
                              <a:cs typeface="Tahoma"/>
                            </a:rPr>
                            <a:t>f</a:t>
                          </a:r>
                          <a:endParaRPr sz="950">
                            <a:latin typeface="Tahoma"/>
                            <a:cs typeface="Tahoma"/>
                          </a:endParaRPr>
                        </a:p>
                      </a:txBody>
                      <a:tcPr marL="0" marR="0" marT="15875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1905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R="13970" algn="ctr">
                            <a:lnSpc>
                              <a:spcPct val="100000"/>
                            </a:lnSpc>
                            <a:spcBef>
                              <a:spcPts val="20"/>
                            </a:spcBef>
                          </a:pPr>
                          <a:r>
                            <a:rPr sz="1100" spc="-50" dirty="0">
                              <a:latin typeface="Tahoma"/>
                              <a:cs typeface="Tahoma"/>
                            </a:rPr>
                            <a:t>t</a:t>
                          </a:r>
                          <a:endParaRPr sz="1100" dirty="0">
                            <a:latin typeface="Tahoma"/>
                            <a:cs typeface="Tahoma"/>
                          </a:endParaRPr>
                        </a:p>
                      </a:txBody>
                      <a:tcPr marL="0" marR="0" marT="2540" marB="0">
                        <a:lnB w="12700">
                          <a:solidFill>
                            <a:srgbClr val="000000"/>
                          </a:solidFill>
                          <a:prstDash val="soli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55" dirty="0"/>
              <a:t>Predicates</a:t>
            </a:r>
            <a:r>
              <a:rPr sz="1200" spc="-35" dirty="0"/>
              <a:t> </a:t>
            </a:r>
            <a:r>
              <a:rPr sz="1200" spc="85" dirty="0"/>
              <a:t>and</a:t>
            </a:r>
            <a:r>
              <a:rPr sz="1200" spc="-30" dirty="0"/>
              <a:t> </a:t>
            </a:r>
            <a:r>
              <a:rPr sz="1200" spc="50" dirty="0"/>
              <a:t>Quantifiers</a:t>
            </a:r>
            <a:endParaRPr sz="1200" dirty="0"/>
          </a:p>
        </p:txBody>
      </p:sp>
      <p:sp>
        <p:nvSpPr>
          <p:cNvPr id="3" name="object 3"/>
          <p:cNvSpPr txBox="1"/>
          <p:nvPr/>
        </p:nvSpPr>
        <p:spPr>
          <a:xfrm>
            <a:off x="391692" y="495483"/>
            <a:ext cx="3995420" cy="93807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190"/>
              </a:lnSpc>
              <a:spcBef>
                <a:spcPts val="95"/>
              </a:spcBef>
            </a:pPr>
            <a:r>
              <a:rPr sz="1425" spc="44" baseline="2923" dirty="0">
                <a:latin typeface="Tahoma"/>
                <a:cs typeface="Tahoma"/>
              </a:rPr>
              <a:t>A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sentence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that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contains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variables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is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104" baseline="2923" dirty="0">
                <a:latin typeface="Tahoma"/>
                <a:cs typeface="Tahoma"/>
              </a:rPr>
              <a:t>known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as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44" baseline="2923" dirty="0">
                <a:latin typeface="Tahoma"/>
                <a:cs typeface="Tahoma"/>
              </a:rPr>
              <a:t>a</a:t>
            </a:r>
            <a:r>
              <a:rPr sz="1425" spc="7" baseline="2923" dirty="0">
                <a:latin typeface="Tahoma"/>
                <a:cs typeface="Tahoma"/>
              </a:rPr>
              <a:t> </a:t>
            </a:r>
            <a:r>
              <a:rPr sz="1050" spc="30" dirty="0">
                <a:latin typeface="Tahoma"/>
                <a:cs typeface="Tahoma"/>
              </a:rPr>
              <a:t>predicate</a:t>
            </a:r>
            <a:r>
              <a:rPr sz="1100" spc="30" dirty="0">
                <a:latin typeface="Tahoma"/>
                <a:cs typeface="Tahoma"/>
              </a:rPr>
              <a:t>.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For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ts val="1550"/>
              </a:lnSpc>
            </a:pPr>
            <a:r>
              <a:rPr sz="1350" spc="15" baseline="3086" dirty="0">
                <a:latin typeface="Tahoma"/>
                <a:cs typeface="Tahoma"/>
              </a:rPr>
              <a:t>example,</a:t>
            </a:r>
            <a:r>
              <a:rPr sz="1350" spc="232" baseline="3086" dirty="0">
                <a:latin typeface="Tahoma"/>
                <a:cs typeface="Tahoma"/>
              </a:rPr>
              <a:t> </a:t>
            </a:r>
            <a:r>
              <a:rPr sz="1800" spc="15" baseline="-2314" dirty="0">
                <a:latin typeface="Tahoma"/>
                <a:cs typeface="Tahoma"/>
              </a:rPr>
              <a:t>P</a:t>
            </a:r>
            <a:r>
              <a:rPr sz="2100" spc="15" baseline="-3968" dirty="0">
                <a:latin typeface="Tahoma"/>
                <a:cs typeface="Tahoma"/>
              </a:rPr>
              <a:t>(</a:t>
            </a:r>
            <a:r>
              <a:rPr sz="1425" spc="15" baseline="2923" dirty="0">
                <a:latin typeface="Tahoma"/>
                <a:cs typeface="Tahoma"/>
              </a:rPr>
              <a:t>x</a:t>
            </a:r>
            <a:r>
              <a:rPr sz="1500" spc="15" baseline="2777" dirty="0">
                <a:latin typeface="Tahoma"/>
                <a:cs typeface="Tahoma"/>
              </a:rPr>
              <a:t>)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500" spc="104" baseline="2777" dirty="0">
                <a:latin typeface="Tahoma"/>
                <a:cs typeface="Tahoma"/>
              </a:rPr>
              <a:t>and</a:t>
            </a:r>
            <a:r>
              <a:rPr sz="1500" spc="127" baseline="2777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Q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y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endParaRPr lang="en-US" sz="2100" spc="-30" baseline="-3968" dirty="0">
              <a:latin typeface="Tahoma"/>
              <a:cs typeface="Tahoma"/>
            </a:endParaRPr>
          </a:p>
          <a:p>
            <a:pPr marL="12700">
              <a:lnSpc>
                <a:spcPts val="1550"/>
              </a:lnSpc>
            </a:pPr>
            <a:endParaRPr sz="2100" baseline="-3968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7" baseline="2777" dirty="0">
                <a:latin typeface="Tahoma"/>
                <a:cs typeface="Tahoma"/>
              </a:rPr>
              <a:t> </a:t>
            </a:r>
            <a:r>
              <a:rPr sz="1050" dirty="0">
                <a:solidFill>
                  <a:schemeClr val="accent2"/>
                </a:solidFill>
                <a:latin typeface="Tahoma"/>
                <a:cs typeface="Tahoma"/>
              </a:rPr>
              <a:t>existential</a:t>
            </a:r>
            <a:r>
              <a:rPr sz="1050" spc="90" dirty="0">
                <a:solidFill>
                  <a:schemeClr val="accent2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chemeClr val="accent2"/>
                </a:solidFill>
                <a:latin typeface="Tahoma"/>
                <a:cs typeface="Tahoma"/>
              </a:rPr>
              <a:t>quantifier</a:t>
            </a:r>
            <a:r>
              <a:rPr sz="1050" spc="50" dirty="0">
                <a:solidFill>
                  <a:schemeClr val="accent2"/>
                </a:solidFill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denoted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as</a:t>
            </a:r>
            <a:r>
              <a:rPr sz="1425" spc="254" baseline="2923" dirty="0">
                <a:latin typeface="Tahoma"/>
                <a:cs typeface="Tahoma"/>
              </a:rPr>
              <a:t> </a:t>
            </a:r>
            <a:r>
              <a:rPr sz="1150" spc="-100" dirty="0">
                <a:latin typeface="Lucida Sans Unicode"/>
                <a:cs typeface="Lucida Sans Unicode"/>
              </a:rPr>
              <a:t>∃</a:t>
            </a:r>
            <a:r>
              <a:rPr sz="1150" spc="185" dirty="0">
                <a:latin typeface="Lucida Sans Unicode"/>
                <a:cs typeface="Lucida Sans Unicode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and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means</a:t>
            </a:r>
            <a:r>
              <a:rPr sz="1425" spc="142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‘there</a:t>
            </a:r>
            <a:r>
              <a:rPr sz="1425" spc="135" baseline="2923" dirty="0">
                <a:latin typeface="Tahoma"/>
                <a:cs typeface="Tahoma"/>
              </a:rPr>
              <a:t> </a:t>
            </a:r>
            <a:r>
              <a:rPr sz="1425" spc="-15" baseline="2923" dirty="0">
                <a:latin typeface="Tahoma"/>
                <a:cs typeface="Tahoma"/>
              </a:rPr>
              <a:t>exists‘.</a:t>
            </a:r>
            <a:endParaRPr sz="1425" baseline="2923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dirty="0">
                <a:latin typeface="Tahoma"/>
                <a:cs typeface="Tahoma"/>
              </a:rPr>
              <a:t>For</a:t>
            </a:r>
            <a:r>
              <a:rPr sz="950" spc="70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example,</a:t>
            </a:r>
            <a:endParaRPr sz="950" dirty="0">
              <a:latin typeface="Tahoma"/>
              <a:cs typeface="Tahoma"/>
            </a:endParaRPr>
          </a:p>
        </p:txBody>
      </p:sp>
      <p:pic>
        <p:nvPicPr>
          <p:cNvPr id="4" name="object 4" descr="A simple mathematical expression showing an inequality with variables x and y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3125" y="1505521"/>
            <a:ext cx="609600" cy="152539"/>
          </a:xfrm>
          <a:prstGeom prst="rect">
            <a:avLst/>
          </a:prstGeom>
        </p:spPr>
      </p:pic>
      <p:pic>
        <p:nvPicPr>
          <p:cNvPr id="5" name="object 5" descr="Mathematical notation showing the function x mapped to itself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17725" y="2437461"/>
            <a:ext cx="635000" cy="1525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1640345"/>
            <a:ext cx="3837304" cy="123303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35"/>
              </a:spcBef>
            </a:pPr>
            <a:r>
              <a:rPr sz="950" spc="10" dirty="0">
                <a:latin typeface="Tahoma"/>
                <a:cs typeface="Tahoma"/>
              </a:rPr>
              <a:t>asserts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that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there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a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75" dirty="0">
                <a:latin typeface="Tahoma"/>
                <a:cs typeface="Tahoma"/>
              </a:rPr>
              <a:t>number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less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than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0</a:t>
            </a:r>
            <a:endParaRPr sz="9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endParaRPr lang="en-US"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50" dirty="0">
                <a:solidFill>
                  <a:schemeClr val="accent2"/>
                </a:solidFill>
                <a:latin typeface="Tahoma"/>
                <a:cs typeface="Tahoma"/>
              </a:rPr>
              <a:t>universal</a:t>
            </a:r>
            <a:r>
              <a:rPr sz="1050" spc="35" dirty="0">
                <a:solidFill>
                  <a:schemeClr val="accent2"/>
                </a:solidFill>
                <a:latin typeface="Tahoma"/>
                <a:cs typeface="Tahoma"/>
              </a:rPr>
              <a:t> </a:t>
            </a:r>
            <a:r>
              <a:rPr sz="1050" dirty="0">
                <a:solidFill>
                  <a:schemeClr val="accent2"/>
                </a:solidFill>
                <a:latin typeface="Tahoma"/>
                <a:cs typeface="Tahoma"/>
              </a:rPr>
              <a:t>quantifier</a:t>
            </a:r>
            <a:r>
              <a:rPr sz="1050" spc="10" dirty="0">
                <a:solidFill>
                  <a:schemeClr val="accent2"/>
                </a:solidFill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denoted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as</a:t>
            </a:r>
            <a:r>
              <a:rPr sz="1425" spc="60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Lucida Sans Unicode"/>
                <a:cs typeface="Lucida Sans Unicode"/>
              </a:rPr>
              <a:t>∀</a:t>
            </a:r>
            <a:r>
              <a:rPr sz="1425" spc="284" baseline="2923" dirty="0">
                <a:latin typeface="Lucida Sans Unicode"/>
                <a:cs typeface="Lucida Sans Unicode"/>
              </a:rPr>
              <a:t> </a:t>
            </a:r>
            <a:r>
              <a:rPr sz="1000" spc="60" dirty="0">
                <a:latin typeface="Tahoma"/>
                <a:cs typeface="Tahoma"/>
              </a:rPr>
              <a:t>and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means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‘for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all‘.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For</a:t>
            </a:r>
            <a:endParaRPr sz="10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9"/>
              </a:spcBef>
            </a:pPr>
            <a:r>
              <a:rPr sz="900" spc="-10" dirty="0">
                <a:latin typeface="Tahoma"/>
                <a:cs typeface="Tahoma"/>
              </a:rPr>
              <a:t>example,</a:t>
            </a: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950" spc="10" dirty="0">
                <a:latin typeface="Tahoma"/>
                <a:cs typeface="Tahoma"/>
              </a:rPr>
              <a:t>asserts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that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every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number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is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greater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than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or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equal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to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-50" dirty="0">
                <a:latin typeface="Tahoma"/>
                <a:cs typeface="Tahoma"/>
              </a:rPr>
              <a:t>0</a:t>
            </a:r>
            <a:endParaRPr sz="95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200" spc="60" dirty="0"/>
              <a:t>Quantifiers</a:t>
            </a:r>
            <a:r>
              <a:rPr sz="1200" spc="-35" dirty="0"/>
              <a:t> </a:t>
            </a:r>
            <a:r>
              <a:rPr sz="1200" spc="75" dirty="0"/>
              <a:t>and</a:t>
            </a:r>
            <a:r>
              <a:rPr sz="1200" spc="-35" dirty="0"/>
              <a:t> </a:t>
            </a:r>
            <a:r>
              <a:rPr sz="1200" spc="65" dirty="0"/>
              <a:t>Negation</a:t>
            </a:r>
            <a:endParaRPr sz="1200" dirty="0"/>
          </a:p>
        </p:txBody>
      </p:sp>
      <p:pic>
        <p:nvPicPr>
          <p:cNvPr id="3" name="object 3" descr="A blank white square with some black scribbles or mark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51050" y="1654105"/>
            <a:ext cx="762000" cy="152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65022" y="789770"/>
            <a:ext cx="3148330" cy="14535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0800">
              <a:lnSpc>
                <a:spcPts val="1655"/>
              </a:lnSpc>
              <a:spcBef>
                <a:spcPts val="114"/>
              </a:spcBef>
            </a:pPr>
            <a:r>
              <a:rPr sz="1500" spc="-44" baseline="2777" dirty="0">
                <a:latin typeface="Tahoma"/>
                <a:cs typeface="Tahoma"/>
              </a:rPr>
              <a:t>¬</a:t>
            </a:r>
            <a:r>
              <a:rPr sz="1500" spc="-44" baseline="2777" dirty="0">
                <a:latin typeface="Lucida Sans Unicode"/>
                <a:cs typeface="Lucida Sans Unicode"/>
              </a:rPr>
              <a:t>∀</a:t>
            </a:r>
            <a:r>
              <a:rPr sz="1050" spc="-30" dirty="0">
                <a:latin typeface="Tahoma"/>
                <a:cs typeface="Tahoma"/>
              </a:rPr>
              <a:t>xP</a:t>
            </a:r>
            <a:r>
              <a:rPr sz="2100" spc="-44" baseline="-3968" dirty="0">
                <a:latin typeface="Tahoma"/>
                <a:cs typeface="Tahoma"/>
              </a:rPr>
              <a:t>(</a:t>
            </a:r>
            <a:r>
              <a:rPr sz="1425" spc="-44" baseline="2923" dirty="0">
                <a:latin typeface="Tahoma"/>
                <a:cs typeface="Tahoma"/>
              </a:rPr>
              <a:t>x</a:t>
            </a:r>
            <a:r>
              <a:rPr sz="1500" spc="-44" baseline="2777" dirty="0">
                <a:latin typeface="Tahoma"/>
                <a:cs typeface="Tahoma"/>
              </a:rPr>
              <a:t>)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44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equivalent</a:t>
            </a:r>
            <a:r>
              <a:rPr sz="1500" spc="44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to</a:t>
            </a:r>
            <a:r>
              <a:rPr sz="1500" spc="127" baseline="2777" dirty="0">
                <a:latin typeface="Tahoma"/>
                <a:cs typeface="Tahoma"/>
              </a:rPr>
              <a:t> </a:t>
            </a:r>
            <a:r>
              <a:rPr sz="1150" dirty="0">
                <a:latin typeface="Lucida Sans Unicode"/>
                <a:cs typeface="Lucida Sans Unicode"/>
              </a:rPr>
              <a:t>∃</a:t>
            </a:r>
            <a:r>
              <a:rPr sz="1425" baseline="2923" dirty="0">
                <a:latin typeface="Tahoma"/>
                <a:cs typeface="Tahoma"/>
              </a:rPr>
              <a:t>x</a:t>
            </a:r>
            <a:r>
              <a:rPr sz="1425" spc="179" baseline="2923" dirty="0">
                <a:latin typeface="Tahoma"/>
                <a:cs typeface="Tahoma"/>
              </a:rPr>
              <a:t> </a:t>
            </a:r>
            <a:r>
              <a:rPr sz="1200" spc="-20" dirty="0">
                <a:latin typeface="Tahoma"/>
                <a:cs typeface="Tahoma"/>
              </a:rPr>
              <a:t>¬</a:t>
            </a:r>
            <a:r>
              <a:rPr sz="1150" spc="-20" dirty="0">
                <a:latin typeface="Tahoma"/>
                <a:cs typeface="Tahoma"/>
              </a:rPr>
              <a:t>P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x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endParaRPr sz="2100" baseline="-3968" dirty="0">
              <a:latin typeface="Tahoma"/>
              <a:cs typeface="Tahoma"/>
            </a:endParaRPr>
          </a:p>
          <a:p>
            <a:pPr marL="50800">
              <a:lnSpc>
                <a:spcPts val="1655"/>
              </a:lnSpc>
            </a:pPr>
            <a:r>
              <a:rPr sz="1050" spc="-160" dirty="0">
                <a:latin typeface="Tahoma"/>
                <a:cs typeface="Tahoma"/>
              </a:rPr>
              <a:t>¬</a:t>
            </a:r>
            <a:r>
              <a:rPr sz="1050" spc="25" dirty="0">
                <a:latin typeface="Tahoma"/>
                <a:cs typeface="Tahoma"/>
              </a:rPr>
              <a:t> </a:t>
            </a:r>
            <a:r>
              <a:rPr sz="1050" dirty="0">
                <a:latin typeface="Lucida Sans Unicode"/>
                <a:cs typeface="Lucida Sans Unicode"/>
              </a:rPr>
              <a:t>∃</a:t>
            </a:r>
            <a:r>
              <a:rPr sz="1050" dirty="0">
                <a:latin typeface="Tahoma"/>
                <a:cs typeface="Tahoma"/>
              </a:rPr>
              <a:t>xP</a:t>
            </a:r>
            <a:r>
              <a:rPr sz="2100" baseline="-5952" dirty="0">
                <a:latin typeface="Tahoma"/>
                <a:cs typeface="Tahoma"/>
              </a:rPr>
              <a:t>(</a:t>
            </a:r>
            <a:r>
              <a:rPr sz="1425" baseline="2923" dirty="0">
                <a:latin typeface="Tahoma"/>
                <a:cs typeface="Tahoma"/>
              </a:rPr>
              <a:t>x</a:t>
            </a:r>
            <a:r>
              <a:rPr sz="1000" dirty="0">
                <a:latin typeface="Tahoma"/>
                <a:cs typeface="Tahoma"/>
              </a:rPr>
              <a:t>)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equivalent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425" spc="-15" baseline="2923" dirty="0">
                <a:latin typeface="Lucida Sans Unicode"/>
                <a:cs typeface="Lucida Sans Unicode"/>
              </a:rPr>
              <a:t>∀</a:t>
            </a:r>
            <a:r>
              <a:rPr sz="1425" spc="-15" baseline="2923" dirty="0">
                <a:latin typeface="Tahoma"/>
                <a:cs typeface="Tahoma"/>
              </a:rPr>
              <a:t>x</a:t>
            </a:r>
            <a:r>
              <a:rPr sz="1425" spc="157" baseline="2923" dirty="0">
                <a:latin typeface="Tahoma"/>
                <a:cs typeface="Tahoma"/>
              </a:rPr>
              <a:t> </a:t>
            </a:r>
            <a:r>
              <a:rPr sz="1800" spc="-30" baseline="-2314" dirty="0">
                <a:latin typeface="Tahoma"/>
                <a:cs typeface="Tahoma"/>
              </a:rPr>
              <a:t>¬</a:t>
            </a:r>
            <a:r>
              <a:rPr sz="1725" spc="-30" baseline="-2415" dirty="0">
                <a:latin typeface="Tahoma"/>
                <a:cs typeface="Tahoma"/>
              </a:rPr>
              <a:t>P</a:t>
            </a:r>
            <a:r>
              <a:rPr sz="2100" spc="-30" baseline="-5952" dirty="0">
                <a:latin typeface="Tahoma"/>
                <a:cs typeface="Tahoma"/>
              </a:rPr>
              <a:t>(</a:t>
            </a:r>
            <a:r>
              <a:rPr sz="1425" spc="-30" baseline="2923" dirty="0">
                <a:latin typeface="Tahoma"/>
                <a:cs typeface="Tahoma"/>
              </a:rPr>
              <a:t>x</a:t>
            </a:r>
            <a:r>
              <a:rPr sz="2100" spc="-30" baseline="-5952" dirty="0">
                <a:latin typeface="Tahoma"/>
                <a:cs typeface="Tahoma"/>
              </a:rPr>
              <a:t>)</a:t>
            </a:r>
            <a:endParaRPr sz="2100" baseline="-5952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90"/>
              </a:spcBef>
            </a:pPr>
            <a:r>
              <a:rPr sz="950" spc="10" dirty="0">
                <a:latin typeface="Tahoma"/>
                <a:cs typeface="Tahoma"/>
              </a:rPr>
              <a:t>Example,</a:t>
            </a:r>
            <a:r>
              <a:rPr sz="950" spc="1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prove: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94"/>
              </a:spcBef>
            </a:pPr>
            <a:endParaRPr sz="95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25" baseline="2923" dirty="0">
                <a:latin typeface="Tahoma"/>
                <a:cs typeface="Tahoma"/>
              </a:rPr>
              <a:t>We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could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quantify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over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natural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104" baseline="2923" dirty="0">
                <a:latin typeface="Tahoma"/>
                <a:cs typeface="Tahoma"/>
              </a:rPr>
              <a:t>numbers</a:t>
            </a:r>
            <a:r>
              <a:rPr sz="1425" spc="-30" baseline="2923" dirty="0">
                <a:latin typeface="Tahoma"/>
                <a:cs typeface="Tahoma"/>
              </a:rPr>
              <a:t> </a:t>
            </a:r>
            <a:r>
              <a:rPr sz="1425" spc="-44" baseline="2923" dirty="0">
                <a:latin typeface="Tahoma"/>
                <a:cs typeface="Tahoma"/>
              </a:rPr>
              <a:t>(0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spc="-15" baseline="6535" dirty="0">
                <a:latin typeface="Tahoma"/>
                <a:cs typeface="Tahoma"/>
              </a:rPr>
              <a:t>1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2</a:t>
            </a:r>
            <a:r>
              <a:rPr sz="1425" baseline="2923" dirty="0">
                <a:latin typeface="Tahoma"/>
                <a:cs typeface="Tahoma"/>
              </a:rPr>
              <a:t>,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-60" baseline="2923" dirty="0">
                <a:latin typeface="Tahoma"/>
                <a:cs typeface="Tahoma"/>
              </a:rPr>
              <a:t>.</a:t>
            </a:r>
            <a:r>
              <a:rPr sz="1425" spc="-37" baseline="2923" dirty="0">
                <a:latin typeface="Tahoma"/>
                <a:cs typeface="Tahoma"/>
              </a:rPr>
              <a:t> </a:t>
            </a:r>
            <a:r>
              <a:rPr sz="1425" spc="-60" baseline="2923" dirty="0">
                <a:latin typeface="Tahoma"/>
                <a:cs typeface="Tahoma"/>
              </a:rPr>
              <a:t>.</a:t>
            </a:r>
            <a:r>
              <a:rPr sz="1425" spc="-44" baseline="2923" dirty="0">
                <a:latin typeface="Tahoma"/>
                <a:cs typeface="Tahoma"/>
              </a:rPr>
              <a:t> </a:t>
            </a:r>
            <a:r>
              <a:rPr sz="1425" spc="-37" baseline="2923" dirty="0">
                <a:latin typeface="Tahoma"/>
                <a:cs typeface="Tahoma"/>
              </a:rPr>
              <a:t>.</a:t>
            </a:r>
            <a:r>
              <a:rPr sz="2100" spc="-37" baseline="-3968" dirty="0">
                <a:latin typeface="Tahoma"/>
                <a:cs typeface="Tahoma"/>
              </a:rPr>
              <a:t>)</a:t>
            </a:r>
            <a:endParaRPr sz="2100" baseline="-3968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370"/>
              </a:spcBef>
            </a:pPr>
            <a:r>
              <a:rPr sz="950" spc="55" dirty="0">
                <a:latin typeface="Tahoma"/>
                <a:cs typeface="Tahoma"/>
              </a:rPr>
              <a:t>Another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use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universal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-10" dirty="0">
                <a:latin typeface="Tahoma"/>
                <a:cs typeface="Tahoma"/>
              </a:rPr>
              <a:t>quantifier:</a:t>
            </a:r>
            <a:endParaRPr sz="950" dirty="0">
              <a:latin typeface="Tahoma"/>
              <a:cs typeface="Tahoma"/>
            </a:endParaRPr>
          </a:p>
        </p:txBody>
      </p:sp>
      <p:pic>
        <p:nvPicPr>
          <p:cNvPr id="5" name="object 5" descr="Mathematical notation showing a function applied to five, resulting in R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22450" y="2440639"/>
            <a:ext cx="1219200" cy="15253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Sets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422" y="401193"/>
            <a:ext cx="3936365" cy="67691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10"/>
              </a:spcBef>
            </a:pPr>
            <a:r>
              <a:rPr sz="1000" spc="50" dirty="0">
                <a:latin typeface="Tahoma"/>
                <a:cs typeface="Tahoma"/>
              </a:rPr>
              <a:t>A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55" dirty="0">
                <a:latin typeface="Tahoma"/>
                <a:cs typeface="Tahoma"/>
              </a:rPr>
              <a:t>an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75" dirty="0">
                <a:latin typeface="Tahoma"/>
                <a:cs typeface="Tahoma"/>
              </a:rPr>
              <a:t>unordered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50" dirty="0">
                <a:latin typeface="Tahoma"/>
                <a:cs typeface="Tahoma"/>
              </a:rPr>
              <a:t>collection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-10" dirty="0">
                <a:latin typeface="Tahoma"/>
                <a:cs typeface="Tahoma"/>
              </a:rPr>
              <a:t> objects</a:t>
            </a:r>
            <a:endParaRPr sz="100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84"/>
              </a:spcBef>
            </a:pPr>
            <a:r>
              <a:rPr sz="950" spc="10" dirty="0">
                <a:latin typeface="Tahoma"/>
                <a:cs typeface="Tahoma"/>
              </a:rPr>
              <a:t>Two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sets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are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equal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exactly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if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they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contain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40" dirty="0">
                <a:latin typeface="Tahoma"/>
                <a:cs typeface="Tahoma"/>
              </a:rPr>
              <a:t> </a:t>
            </a:r>
            <a:r>
              <a:rPr sz="950" spc="10" dirty="0">
                <a:latin typeface="Tahoma"/>
                <a:cs typeface="Tahoma"/>
              </a:rPr>
              <a:t>exact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same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spc="45" dirty="0">
                <a:latin typeface="Tahoma"/>
                <a:cs typeface="Tahoma"/>
              </a:rPr>
              <a:t>elements</a:t>
            </a:r>
            <a:endParaRPr sz="9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50"/>
              </a:spcBef>
            </a:pPr>
            <a:r>
              <a:rPr sz="1500" baseline="2777" dirty="0">
                <a:latin typeface="Tahoma"/>
                <a:cs typeface="Tahoma"/>
              </a:rPr>
              <a:t>Notation: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104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contains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1</a:t>
            </a:r>
            <a:r>
              <a:rPr sz="1650" baseline="2525" dirty="0">
                <a:latin typeface="Tahoma"/>
                <a:cs typeface="Tahoma"/>
              </a:rPr>
              <a:t>,</a:t>
            </a:r>
            <a:r>
              <a:rPr sz="1650" spc="-97" baseline="2525" dirty="0">
                <a:latin typeface="Tahoma"/>
                <a:cs typeface="Tahoma"/>
              </a:rPr>
              <a:t> </a:t>
            </a:r>
            <a:r>
              <a:rPr sz="1275" spc="-15" baseline="6535" dirty="0">
                <a:latin typeface="Tahoma"/>
                <a:cs typeface="Tahoma"/>
              </a:rPr>
              <a:t>2</a:t>
            </a:r>
            <a:r>
              <a:rPr sz="1650" spc="-15" baseline="2525" dirty="0">
                <a:latin typeface="Tahoma"/>
                <a:cs typeface="Tahoma"/>
              </a:rPr>
              <a:t>,</a:t>
            </a:r>
            <a:r>
              <a:rPr sz="1650" spc="-97" baseline="2525" dirty="0">
                <a:latin typeface="Tahoma"/>
                <a:cs typeface="Tahoma"/>
              </a:rPr>
              <a:t> </a:t>
            </a:r>
            <a:r>
              <a:rPr sz="1275" spc="-75" baseline="6535" dirty="0">
                <a:latin typeface="Tahoma"/>
                <a:cs typeface="Tahoma"/>
              </a:rPr>
              <a:t>3</a:t>
            </a:r>
            <a:endParaRPr sz="1275" baseline="6535" dirty="0">
              <a:latin typeface="Tahoma"/>
              <a:cs typeface="Tahoma"/>
            </a:endParaRPr>
          </a:p>
        </p:txBody>
      </p:sp>
      <p:pic>
        <p:nvPicPr>
          <p:cNvPr id="4" name="object 4" descr="A mathematical expression showing a set with elements 1, 2, and 3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0100" y="1207608"/>
            <a:ext cx="736600" cy="177963"/>
          </a:xfrm>
          <a:prstGeom prst="rect">
            <a:avLst/>
          </a:prstGeom>
        </p:spPr>
      </p:pic>
      <p:pic>
        <p:nvPicPr>
          <p:cNvPr id="5" name="object 5" descr="Mathematical notation showing a set with elements a, b, c, 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89150" y="1865436"/>
            <a:ext cx="711200" cy="1716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65022" y="1501662"/>
            <a:ext cx="4052570" cy="79375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</a:pPr>
            <a:r>
              <a:rPr sz="1425" spc="30" baseline="2923" dirty="0">
                <a:latin typeface="Tahoma"/>
                <a:cs typeface="Tahoma"/>
              </a:rPr>
              <a:t>Notation: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element</a:t>
            </a:r>
            <a:r>
              <a:rPr sz="1425" spc="30" baseline="2923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a</a:t>
            </a:r>
            <a:r>
              <a:rPr sz="1050" spc="-35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is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a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112" baseline="2923" dirty="0">
                <a:latin typeface="Tahoma"/>
                <a:cs typeface="Tahoma"/>
              </a:rPr>
              <a:t>member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of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set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containing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67" baseline="2923" dirty="0">
                <a:latin typeface="Tahoma"/>
                <a:cs typeface="Tahoma"/>
              </a:rPr>
              <a:t>elements</a:t>
            </a:r>
            <a:endParaRPr sz="1425" baseline="2923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65"/>
              </a:spcBef>
            </a:pPr>
            <a:r>
              <a:rPr sz="1350" baseline="3086" dirty="0">
                <a:latin typeface="Tahoma"/>
                <a:cs typeface="Tahoma"/>
              </a:rPr>
              <a:t>a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350" spc="-75" baseline="6172" dirty="0">
                <a:latin typeface="Tahoma"/>
                <a:cs typeface="Tahoma"/>
              </a:rPr>
              <a:t>c</a:t>
            </a:r>
            <a:endParaRPr sz="1350" baseline="6172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55"/>
              </a:spcBef>
            </a:pPr>
            <a:endParaRPr sz="90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</a:pPr>
            <a:r>
              <a:rPr sz="1425" spc="30" baseline="2923" dirty="0">
                <a:latin typeface="Tahoma"/>
                <a:cs typeface="Tahoma"/>
              </a:rPr>
              <a:t>Notation: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element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575" spc="104" baseline="2645" dirty="0">
                <a:latin typeface="Tahoma"/>
                <a:cs typeface="Tahoma"/>
              </a:rPr>
              <a:t>d</a:t>
            </a:r>
            <a:r>
              <a:rPr sz="1575" spc="-60" baseline="2645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is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not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in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the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30" baseline="2923" dirty="0">
                <a:latin typeface="Tahoma"/>
                <a:cs typeface="Tahoma"/>
              </a:rPr>
              <a:t>set</a:t>
            </a:r>
            <a:r>
              <a:rPr sz="1425" spc="-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containing</a:t>
            </a:r>
            <a:r>
              <a:rPr sz="1425" spc="-15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elements</a:t>
            </a:r>
            <a:r>
              <a:rPr sz="1425" spc="37" baseline="2923" dirty="0">
                <a:latin typeface="Tahoma"/>
                <a:cs typeface="Tahoma"/>
              </a:rPr>
              <a:t> </a:t>
            </a:r>
            <a:r>
              <a:rPr sz="1050" spc="10" dirty="0">
                <a:latin typeface="Tahoma"/>
                <a:cs typeface="Tahoma"/>
              </a:rPr>
              <a:t>a</a:t>
            </a:r>
            <a:r>
              <a:rPr sz="1100" spc="10" dirty="0">
                <a:latin typeface="Tahoma"/>
                <a:cs typeface="Tahoma"/>
              </a:rPr>
              <a:t>,</a:t>
            </a:r>
            <a:r>
              <a:rPr sz="1100" spc="-95" dirty="0">
                <a:latin typeface="Tahoma"/>
                <a:cs typeface="Tahoma"/>
              </a:rPr>
              <a:t> </a:t>
            </a:r>
            <a:r>
              <a:rPr sz="1275" spc="30" baseline="6535" dirty="0">
                <a:latin typeface="Tahoma"/>
                <a:cs typeface="Tahoma"/>
              </a:rPr>
              <a:t>b</a:t>
            </a:r>
            <a:r>
              <a:rPr sz="1100" spc="2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350" spc="-75" baseline="6172" dirty="0">
                <a:latin typeface="Tahoma"/>
                <a:cs typeface="Tahoma"/>
              </a:rPr>
              <a:t>c</a:t>
            </a:r>
            <a:endParaRPr sz="1350" baseline="6172">
              <a:latin typeface="Tahoma"/>
              <a:cs typeface="Tahoma"/>
            </a:endParaRPr>
          </a:p>
        </p:txBody>
      </p:sp>
      <p:pic>
        <p:nvPicPr>
          <p:cNvPr id="7" name="object 7" descr="A mathematical expression showing the set of all x in the complex numbers such that x squared equals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63750" y="2475596"/>
            <a:ext cx="736600" cy="15253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03122" y="2689476"/>
            <a:ext cx="2028189" cy="2108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425" spc="30" baseline="5847" dirty="0">
                <a:latin typeface="Tahoma"/>
                <a:cs typeface="Tahoma"/>
              </a:rPr>
              <a:t>Similarly,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4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not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</a:t>
            </a:r>
            <a:r>
              <a:rPr sz="1425" spc="120" baseline="5847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9" name="object 9" descr="A person holding a smartphone in front of a laptop keyboar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63775" y="3025375"/>
            <a:ext cx="355600" cy="1716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Set</a:t>
            </a:r>
            <a:r>
              <a:rPr spc="-35" dirty="0"/>
              <a:t> </a:t>
            </a:r>
            <a:r>
              <a:rPr spc="55" dirty="0"/>
              <a:t>of</a:t>
            </a:r>
            <a:r>
              <a:rPr spc="-30" dirty="0"/>
              <a:t> </a:t>
            </a:r>
            <a:r>
              <a:rPr spc="60" dirty="0"/>
              <a:t>Natural</a:t>
            </a:r>
            <a:r>
              <a:rPr spc="-35" dirty="0"/>
              <a:t> </a:t>
            </a:r>
            <a:r>
              <a:rPr spc="65" dirty="0"/>
              <a:t>Numbers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422" y="439982"/>
            <a:ext cx="175577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500" spc="172" baseline="11111" dirty="0">
                <a:latin typeface="Tahoma"/>
                <a:cs typeface="Tahoma"/>
              </a:rPr>
              <a:t>N</a:t>
            </a:r>
            <a:r>
              <a:rPr sz="1500" spc="-30" baseline="11111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natural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endParaRPr sz="950" dirty="0">
              <a:latin typeface="Tahoma"/>
              <a:cs typeface="Tahoma"/>
            </a:endParaRPr>
          </a:p>
        </p:txBody>
      </p:sp>
      <p:pic>
        <p:nvPicPr>
          <p:cNvPr id="4" name="object 4" descr="A mathematical set notation showing elements 1, 2, and 3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1350" y="807190"/>
            <a:ext cx="1066800" cy="152540"/>
          </a:xfrm>
          <a:prstGeom prst="rect">
            <a:avLst/>
          </a:prstGeom>
        </p:spPr>
      </p:pic>
      <p:pic>
        <p:nvPicPr>
          <p:cNvPr id="5" name="object 5" descr="A coordinate point at (0, 2, 4, 6)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9600" y="1315657"/>
            <a:ext cx="1117600" cy="15253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1006958"/>
            <a:ext cx="2607310" cy="7385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500" baseline="2777" dirty="0">
                <a:latin typeface="Tahoma"/>
                <a:cs typeface="Tahoma"/>
              </a:rPr>
              <a:t>Let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be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baseline="5847" dirty="0">
                <a:latin typeface="Tahoma"/>
                <a:cs typeface="Tahoma"/>
              </a:rPr>
              <a:t> set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all </a:t>
            </a:r>
            <a:r>
              <a:rPr sz="1425" spc="75" baseline="5847" dirty="0">
                <a:latin typeface="Tahoma"/>
                <a:cs typeface="Tahoma"/>
              </a:rPr>
              <a:t>even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natural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numbers</a:t>
            </a:r>
            <a:endParaRPr sz="1425" baseline="5847" dirty="0">
              <a:latin typeface="Tahoma"/>
              <a:cs typeface="Tahoma"/>
            </a:endParaRPr>
          </a:p>
          <a:p>
            <a:pPr>
              <a:lnSpc>
                <a:spcPct val="100000"/>
              </a:lnSpc>
            </a:pP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60"/>
              </a:spcBef>
            </a:pPr>
            <a:endParaRPr sz="95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000" spc="10" dirty="0">
                <a:latin typeface="Tahoma"/>
                <a:cs typeface="Tahoma"/>
              </a:rPr>
              <a:t>A</a:t>
            </a:r>
            <a:r>
              <a:rPr sz="1000" spc="45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better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way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to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denote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10" dirty="0">
                <a:latin typeface="Tahoma"/>
                <a:cs typeface="Tahoma"/>
              </a:rPr>
              <a:t>this</a:t>
            </a:r>
            <a:r>
              <a:rPr sz="1000" spc="5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is:</a:t>
            </a:r>
            <a:endParaRPr sz="1000" dirty="0">
              <a:latin typeface="Tahoma"/>
              <a:cs typeface="Tahoma"/>
            </a:endParaRPr>
          </a:p>
        </p:txBody>
      </p:sp>
      <p:pic>
        <p:nvPicPr>
          <p:cNvPr id="7" name="object 7" descr="Mathematical set notation showing elements of set N and a condition involving x and y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08125" y="1932172"/>
            <a:ext cx="1854200" cy="152540"/>
          </a:xfrm>
          <a:prstGeom prst="rect">
            <a:avLst/>
          </a:prstGeom>
        </p:spPr>
      </p:pic>
      <p:pic>
        <p:nvPicPr>
          <p:cNvPr id="8" name="object 8" descr="Mathematical set notation showing even numbers within the natural number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24025" y="2342123"/>
            <a:ext cx="1422400" cy="15254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403122" y="2149072"/>
            <a:ext cx="3970020" cy="7626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950" spc="55" dirty="0">
                <a:latin typeface="Tahoma"/>
                <a:cs typeface="Tahoma"/>
              </a:rPr>
              <a:t>Another</a:t>
            </a:r>
            <a:r>
              <a:rPr sz="950" spc="-45" dirty="0">
                <a:latin typeface="Tahoma"/>
                <a:cs typeface="Tahoma"/>
              </a:rPr>
              <a:t> </a:t>
            </a:r>
            <a:r>
              <a:rPr sz="950" spc="-25" dirty="0">
                <a:latin typeface="Tahoma"/>
                <a:cs typeface="Tahoma"/>
              </a:rPr>
              <a:t>way</a:t>
            </a:r>
            <a:endParaRPr sz="9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950" dirty="0">
              <a:latin typeface="Tahoma"/>
              <a:cs typeface="Tahoma"/>
            </a:endParaRPr>
          </a:p>
          <a:p>
            <a:pPr marL="12700">
              <a:lnSpc>
                <a:spcPts val="1080"/>
              </a:lnSpc>
            </a:pPr>
            <a:r>
              <a:rPr sz="950" spc="20" dirty="0">
                <a:latin typeface="Tahoma"/>
                <a:cs typeface="Tahoma"/>
              </a:rPr>
              <a:t>The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set </a:t>
            </a:r>
            <a:r>
              <a:rPr sz="950" spc="50" dirty="0">
                <a:latin typeface="Tahoma"/>
                <a:cs typeface="Tahoma"/>
              </a:rPr>
              <a:t>of</a:t>
            </a:r>
            <a:r>
              <a:rPr sz="950" spc="20" dirty="0">
                <a:latin typeface="Tahoma"/>
                <a:cs typeface="Tahoma"/>
              </a:rPr>
              <a:t> integers; positive </a:t>
            </a:r>
            <a:r>
              <a:rPr sz="950" spc="60" dirty="0">
                <a:latin typeface="Tahoma"/>
                <a:cs typeface="Tahoma"/>
              </a:rPr>
              <a:t>and</a:t>
            </a:r>
            <a:r>
              <a:rPr sz="950" spc="20" dirty="0">
                <a:latin typeface="Tahoma"/>
                <a:cs typeface="Tahoma"/>
              </a:rPr>
              <a:t> negative </a:t>
            </a:r>
            <a:r>
              <a:rPr sz="950" spc="50" dirty="0">
                <a:latin typeface="Tahoma"/>
                <a:cs typeface="Tahoma"/>
              </a:rPr>
              <a:t>whole</a:t>
            </a:r>
            <a:r>
              <a:rPr sz="950" spc="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r>
              <a:rPr sz="950" spc="20" dirty="0">
                <a:latin typeface="Tahoma"/>
                <a:cs typeface="Tahoma"/>
              </a:rPr>
              <a:t> is </a:t>
            </a:r>
            <a:r>
              <a:rPr sz="950" spc="45" dirty="0">
                <a:latin typeface="Tahoma"/>
                <a:cs typeface="Tahoma"/>
              </a:rPr>
              <a:t>denoted</a:t>
            </a:r>
            <a:endParaRPr sz="950" dirty="0">
              <a:latin typeface="Tahoma"/>
              <a:cs typeface="Tahoma"/>
            </a:endParaRPr>
          </a:p>
          <a:p>
            <a:pPr marL="12700">
              <a:lnSpc>
                <a:spcPts val="1500"/>
              </a:lnSpc>
            </a:pPr>
            <a:r>
              <a:rPr sz="1350" baseline="3086" dirty="0">
                <a:latin typeface="Tahoma"/>
                <a:cs typeface="Tahoma"/>
              </a:rPr>
              <a:t>as</a:t>
            </a:r>
            <a:r>
              <a:rPr sz="1350" spc="300" baseline="3086" dirty="0">
                <a:latin typeface="Tahoma"/>
                <a:cs typeface="Tahoma"/>
              </a:rPr>
              <a:t> </a:t>
            </a:r>
            <a:r>
              <a:rPr sz="1950" baseline="6410" dirty="0">
                <a:latin typeface="Tahoma"/>
                <a:cs typeface="Tahoma"/>
              </a:rPr>
              <a:t>Z</a:t>
            </a:r>
            <a:r>
              <a:rPr sz="1000" dirty="0">
                <a:latin typeface="Tahoma"/>
                <a:cs typeface="Tahoma"/>
              </a:rPr>
              <a:t>.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Using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this,</a:t>
            </a:r>
            <a:r>
              <a:rPr sz="1000" spc="6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can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define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5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set:</a:t>
            </a:r>
            <a:endParaRPr sz="1000" dirty="0">
              <a:latin typeface="Tahoma"/>
              <a:cs typeface="Tahoma"/>
            </a:endParaRPr>
          </a:p>
        </p:txBody>
      </p:sp>
      <p:pic>
        <p:nvPicPr>
          <p:cNvPr id="10" name="object 10" descr="Mathematical set notation showing the set of all integer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06575" y="3066688"/>
            <a:ext cx="1320800" cy="23834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182"/>
            <a:ext cx="1494155" cy="2178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250" spc="55" dirty="0">
                <a:latin typeface="Tahoma"/>
                <a:cs typeface="Tahoma"/>
              </a:rPr>
              <a:t>Additional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50" dirty="0">
                <a:latin typeface="Tahoma"/>
                <a:cs typeface="Tahoma"/>
              </a:rPr>
              <a:t>Notation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0422" y="847522"/>
            <a:ext cx="1872614" cy="62801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400" marR="17780" algn="just">
              <a:lnSpc>
                <a:spcPct val="113799"/>
              </a:lnSpc>
              <a:spcBef>
                <a:spcPts val="110"/>
              </a:spcBef>
            </a:pPr>
            <a:r>
              <a:rPr sz="1500" spc="172" baseline="11111" dirty="0"/>
              <a:t>N</a:t>
            </a:r>
            <a:r>
              <a:rPr sz="1500" spc="-89" baseline="11111" dirty="0"/>
              <a:t> </a:t>
            </a:r>
            <a:r>
              <a:rPr sz="950" spc="40" dirty="0"/>
              <a:t>is</a:t>
            </a:r>
            <a:r>
              <a:rPr sz="950" spc="-45" dirty="0"/>
              <a:t> </a:t>
            </a:r>
            <a:r>
              <a:rPr sz="950" spc="55" dirty="0"/>
              <a:t>the</a:t>
            </a:r>
            <a:r>
              <a:rPr sz="950" spc="-45" dirty="0"/>
              <a:t> </a:t>
            </a:r>
            <a:r>
              <a:rPr sz="950" spc="45" dirty="0"/>
              <a:t>set</a:t>
            </a:r>
            <a:r>
              <a:rPr sz="950" spc="-45" dirty="0"/>
              <a:t> </a:t>
            </a:r>
            <a:r>
              <a:rPr sz="950" spc="55" dirty="0"/>
              <a:t>of</a:t>
            </a:r>
            <a:r>
              <a:rPr sz="950" spc="-45" dirty="0"/>
              <a:t> </a:t>
            </a:r>
            <a:r>
              <a:rPr sz="950" spc="55" dirty="0"/>
              <a:t>natural</a:t>
            </a:r>
            <a:r>
              <a:rPr sz="950" spc="-45" dirty="0"/>
              <a:t> </a:t>
            </a:r>
            <a:r>
              <a:rPr sz="950" spc="70" dirty="0"/>
              <a:t>numbers</a:t>
            </a:r>
            <a:r>
              <a:rPr sz="950" spc="40" dirty="0"/>
              <a:t> </a:t>
            </a:r>
            <a:r>
              <a:rPr sz="1875" spc="30" baseline="6666" dirty="0"/>
              <a:t>Z</a:t>
            </a:r>
            <a:r>
              <a:rPr sz="1875" spc="-209" baseline="6666" dirty="0"/>
              <a:t> </a:t>
            </a:r>
            <a:r>
              <a:rPr sz="950" spc="35" dirty="0"/>
              <a:t>is</a:t>
            </a:r>
            <a:r>
              <a:rPr sz="950" spc="-45" dirty="0"/>
              <a:t> </a:t>
            </a:r>
            <a:r>
              <a:rPr sz="950" spc="50" dirty="0"/>
              <a:t>the</a:t>
            </a:r>
            <a:r>
              <a:rPr sz="950" spc="-45" dirty="0"/>
              <a:t> </a:t>
            </a:r>
            <a:r>
              <a:rPr sz="950" spc="40" dirty="0"/>
              <a:t>set</a:t>
            </a:r>
            <a:r>
              <a:rPr sz="950" spc="-45" dirty="0"/>
              <a:t> </a:t>
            </a:r>
            <a:r>
              <a:rPr sz="950" spc="50" dirty="0"/>
              <a:t>of</a:t>
            </a:r>
            <a:r>
              <a:rPr sz="950" spc="-45" dirty="0"/>
              <a:t> </a:t>
            </a:r>
            <a:r>
              <a:rPr sz="950" spc="50" dirty="0"/>
              <a:t>integer</a:t>
            </a:r>
            <a:r>
              <a:rPr sz="950" spc="-45" dirty="0"/>
              <a:t> </a:t>
            </a:r>
            <a:r>
              <a:rPr sz="950" spc="65" dirty="0"/>
              <a:t>numbers</a:t>
            </a:r>
            <a:r>
              <a:rPr sz="950" spc="35" dirty="0"/>
              <a:t> </a:t>
            </a:r>
            <a:r>
              <a:rPr sz="1875" spc="7" baseline="6666" dirty="0"/>
              <a:t>R</a:t>
            </a:r>
            <a:r>
              <a:rPr sz="1875" spc="-202" baseline="6666" dirty="0"/>
              <a:t> </a:t>
            </a:r>
            <a:r>
              <a:rPr sz="950" spc="40" dirty="0"/>
              <a:t>is</a:t>
            </a:r>
            <a:r>
              <a:rPr sz="950" spc="-45" dirty="0"/>
              <a:t> </a:t>
            </a:r>
            <a:r>
              <a:rPr sz="950" spc="50" dirty="0"/>
              <a:t>a</a:t>
            </a:r>
            <a:r>
              <a:rPr sz="950" spc="-45" dirty="0"/>
              <a:t> </a:t>
            </a:r>
            <a:r>
              <a:rPr sz="950" spc="45" dirty="0"/>
              <a:t>set</a:t>
            </a:r>
            <a:r>
              <a:rPr sz="950" spc="-45" dirty="0"/>
              <a:t> </a:t>
            </a:r>
            <a:r>
              <a:rPr sz="950" spc="55" dirty="0"/>
              <a:t>of</a:t>
            </a:r>
            <a:r>
              <a:rPr sz="950" spc="-45" dirty="0"/>
              <a:t> </a:t>
            </a:r>
            <a:r>
              <a:rPr sz="950" spc="50" dirty="0"/>
              <a:t>real</a:t>
            </a:r>
            <a:r>
              <a:rPr sz="950" spc="-45" dirty="0"/>
              <a:t> </a:t>
            </a:r>
            <a:r>
              <a:rPr sz="950" spc="70" dirty="0"/>
              <a:t>numbers</a:t>
            </a:r>
            <a:endParaRPr sz="950"/>
          </a:p>
        </p:txBody>
      </p:sp>
      <p:sp>
        <p:nvSpPr>
          <p:cNvPr id="4" name="object 4"/>
          <p:cNvSpPr txBox="1"/>
          <p:nvPr/>
        </p:nvSpPr>
        <p:spPr>
          <a:xfrm>
            <a:off x="390422" y="1448223"/>
            <a:ext cx="3724275" cy="126047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465"/>
              </a:spcBef>
            </a:pPr>
            <a:r>
              <a:rPr sz="1575" spc="165" baseline="10582" dirty="0">
                <a:latin typeface="Tahoma"/>
                <a:cs typeface="Tahoma"/>
              </a:rPr>
              <a:t>Q</a:t>
            </a:r>
            <a:r>
              <a:rPr sz="1575" spc="-75" baseline="10582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rational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numbers</a:t>
            </a:r>
            <a:endParaRPr sz="9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345"/>
              </a:spcBef>
            </a:pPr>
            <a:r>
              <a:rPr sz="950" dirty="0">
                <a:latin typeface="Tahoma"/>
                <a:cs typeface="Tahoma"/>
              </a:rPr>
              <a:t>The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empty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3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denoted</a:t>
            </a:r>
            <a:r>
              <a:rPr sz="950" spc="3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as</a:t>
            </a:r>
            <a:r>
              <a:rPr sz="950" spc="75" dirty="0">
                <a:latin typeface="Tahoma"/>
                <a:cs typeface="Tahoma"/>
              </a:rPr>
              <a:t> </a:t>
            </a:r>
            <a:r>
              <a:rPr sz="1650" spc="-75" baseline="10101" dirty="0">
                <a:latin typeface="Lucida Sans Unicode"/>
                <a:cs typeface="Lucida Sans Unicode"/>
              </a:rPr>
              <a:t>∅</a:t>
            </a:r>
            <a:endParaRPr sz="1650" baseline="10101" dirty="0">
              <a:latin typeface="Lucida Sans Unicode"/>
              <a:cs typeface="Lucida Sans Unicode"/>
            </a:endParaRPr>
          </a:p>
          <a:p>
            <a:pPr marL="25400">
              <a:lnSpc>
                <a:spcPct val="100000"/>
              </a:lnSpc>
              <a:spcBef>
                <a:spcPts val="400"/>
              </a:spcBef>
            </a:pPr>
            <a:r>
              <a:rPr sz="950" spc="30" dirty="0">
                <a:latin typeface="Tahoma"/>
                <a:cs typeface="Tahoma"/>
              </a:rPr>
              <a:t>The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universe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set,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all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elements,</a:t>
            </a:r>
            <a:r>
              <a:rPr sz="950" spc="-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denoted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as</a:t>
            </a:r>
            <a:r>
              <a:rPr sz="950" spc="15" dirty="0">
                <a:latin typeface="Tahoma"/>
                <a:cs typeface="Tahoma"/>
              </a:rPr>
              <a:t> </a:t>
            </a:r>
            <a:r>
              <a:rPr sz="1050" spc="30" dirty="0">
                <a:latin typeface="Tahoma"/>
                <a:cs typeface="Tahoma"/>
              </a:rPr>
              <a:t>U</a:t>
            </a:r>
            <a:endParaRPr sz="1050" dirty="0">
              <a:latin typeface="Tahoma"/>
              <a:cs typeface="Tahoma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sz="1875" baseline="-4444" dirty="0">
                <a:latin typeface="Tahoma"/>
                <a:cs typeface="Tahoma"/>
              </a:rPr>
              <a:t>P</a:t>
            </a:r>
            <a:r>
              <a:rPr lang="en-US" sz="2100" baseline="-5952" dirty="0">
                <a:latin typeface="Tahoma"/>
                <a:cs typeface="Tahoma"/>
              </a:rPr>
              <a:t>(</a:t>
            </a:r>
            <a:r>
              <a:rPr sz="1650" baseline="-2525" dirty="0">
                <a:latin typeface="Tahoma"/>
                <a:cs typeface="Tahoma"/>
              </a:rPr>
              <a:t>A</a:t>
            </a:r>
            <a:r>
              <a:rPr lang="en-US" sz="1000" dirty="0">
                <a:latin typeface="Tahoma"/>
                <a:cs typeface="Tahoma"/>
              </a:rPr>
              <a:t>)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is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power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any</a:t>
            </a:r>
            <a:r>
              <a:rPr sz="1000" spc="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114" dirty="0">
                <a:latin typeface="Tahoma"/>
                <a:cs typeface="Tahoma"/>
              </a:rPr>
              <a:t> </a:t>
            </a:r>
            <a:r>
              <a:rPr sz="1800" baseline="-4629" dirty="0">
                <a:latin typeface="Tahoma"/>
                <a:cs typeface="Tahoma"/>
              </a:rPr>
              <a:t>A</a:t>
            </a:r>
          </a:p>
          <a:p>
            <a:pPr marL="25400">
              <a:lnSpc>
                <a:spcPts val="1400"/>
              </a:lnSpc>
              <a:spcBef>
                <a:spcPts val="250"/>
              </a:spcBef>
            </a:pPr>
            <a:r>
              <a:rPr sz="1500" spc="15" baseline="5555" dirty="0">
                <a:latin typeface="Tahoma"/>
                <a:cs typeface="Tahoma"/>
              </a:rPr>
              <a:t>The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cardinality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of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set</a:t>
            </a:r>
            <a:r>
              <a:rPr sz="1500" spc="89" baseline="5555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denoted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as</a:t>
            </a:r>
            <a:r>
              <a:rPr sz="1425" spc="-67" baseline="5847" dirty="0">
                <a:latin typeface="Tahoma"/>
                <a:cs typeface="Tahoma"/>
              </a:rPr>
              <a:t> </a:t>
            </a:r>
            <a:r>
              <a:rPr sz="1200" spc="150" baseline="10416" dirty="0">
                <a:latin typeface="Tahoma"/>
                <a:cs typeface="Tahoma"/>
              </a:rPr>
              <a:t>|</a:t>
            </a:r>
            <a:r>
              <a:rPr sz="1650" spc="150" baseline="2525" dirty="0">
                <a:latin typeface="Tahoma"/>
                <a:cs typeface="Tahoma"/>
              </a:rPr>
              <a:t>A</a:t>
            </a:r>
            <a:r>
              <a:rPr sz="1650" spc="-240" baseline="2525" dirty="0">
                <a:latin typeface="Tahoma"/>
                <a:cs typeface="Tahoma"/>
              </a:rPr>
              <a:t> </a:t>
            </a:r>
            <a:r>
              <a:rPr sz="900" spc="150" baseline="23148" dirty="0">
                <a:latin typeface="Tahoma"/>
                <a:cs typeface="Tahoma"/>
              </a:rPr>
              <a:t>|</a:t>
            </a:r>
            <a:r>
              <a:rPr sz="900" spc="172" baseline="23148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20" baseline="5847" dirty="0">
                <a:latin typeface="Tahoma"/>
                <a:cs typeface="Tahoma"/>
              </a:rPr>
              <a:t>number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44" baseline="5847" dirty="0">
                <a:latin typeface="Tahoma"/>
                <a:cs typeface="Tahoma"/>
              </a:rPr>
              <a:t>of</a:t>
            </a:r>
            <a:endParaRPr sz="1425" baseline="5847" dirty="0">
              <a:latin typeface="Tahoma"/>
              <a:cs typeface="Tahoma"/>
            </a:endParaRPr>
          </a:p>
          <a:p>
            <a:pPr marL="25400">
              <a:lnSpc>
                <a:spcPts val="1400"/>
              </a:lnSpc>
            </a:pPr>
            <a:r>
              <a:rPr sz="1350" spc="89" baseline="6172" dirty="0">
                <a:latin typeface="Tahoma"/>
                <a:cs typeface="Tahoma"/>
              </a:rPr>
              <a:t>elements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82" baseline="6172" dirty="0">
                <a:latin typeface="Tahoma"/>
                <a:cs typeface="Tahoma"/>
              </a:rPr>
              <a:t>in</a:t>
            </a:r>
            <a:r>
              <a:rPr sz="1350" spc="67" baseline="6172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9159"/>
            <a:ext cx="1298575" cy="215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-10" dirty="0">
                <a:latin typeface="Tahoma"/>
                <a:cs typeface="Tahoma"/>
              </a:rPr>
              <a:t>Relationships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90422" y="561725"/>
            <a:ext cx="3109595" cy="52006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250"/>
              </a:spcBef>
            </a:pPr>
            <a:r>
              <a:rPr sz="1425" baseline="5847" dirty="0"/>
              <a:t>Given</a:t>
            </a:r>
            <a:r>
              <a:rPr sz="1425" spc="-30" baseline="5847" dirty="0"/>
              <a:t> </a:t>
            </a:r>
            <a:r>
              <a:rPr sz="1425" baseline="5847" dirty="0"/>
              <a:t>sets</a:t>
            </a:r>
            <a:r>
              <a:rPr sz="1425" spc="82" baseline="5847" dirty="0"/>
              <a:t> </a:t>
            </a:r>
            <a:r>
              <a:rPr sz="1200" spc="50" dirty="0"/>
              <a:t>A</a:t>
            </a:r>
            <a:r>
              <a:rPr sz="1200" spc="35" dirty="0"/>
              <a:t> </a:t>
            </a:r>
            <a:r>
              <a:rPr sz="2025" spc="-307" baseline="-2057" dirty="0"/>
              <a:t>=</a:t>
            </a:r>
            <a:r>
              <a:rPr sz="2025" spc="-52" baseline="-2057" dirty="0"/>
              <a:t> </a:t>
            </a:r>
            <a:r>
              <a:rPr sz="1950" spc="-82" baseline="-2136" dirty="0"/>
              <a:t>{</a:t>
            </a:r>
            <a:r>
              <a:rPr sz="1425" spc="-82" baseline="5847" dirty="0"/>
              <a:t>1</a:t>
            </a:r>
            <a:r>
              <a:rPr sz="1100" spc="-55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2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82" baseline="6535" dirty="0"/>
              <a:t>3</a:t>
            </a:r>
            <a:r>
              <a:rPr sz="2100" spc="-82" baseline="-1984" dirty="0"/>
              <a:t>}</a:t>
            </a:r>
            <a:r>
              <a:rPr sz="2100" spc="-232" baseline="-1984" dirty="0"/>
              <a:t> </a:t>
            </a:r>
            <a:r>
              <a:rPr sz="1425" spc="97" baseline="5847" dirty="0"/>
              <a:t>and</a:t>
            </a:r>
            <a:r>
              <a:rPr sz="1425" spc="75" baseline="5847" dirty="0"/>
              <a:t> </a:t>
            </a:r>
            <a:r>
              <a:rPr sz="1200" spc="60" dirty="0"/>
              <a:t>B </a:t>
            </a:r>
            <a:r>
              <a:rPr sz="2250" spc="-367" baseline="-3703" dirty="0"/>
              <a:t>=</a:t>
            </a:r>
            <a:r>
              <a:rPr sz="2250" spc="-120" baseline="-3703" dirty="0"/>
              <a:t> </a:t>
            </a:r>
            <a:r>
              <a:rPr sz="1950" spc="-82" baseline="-2136" dirty="0"/>
              <a:t>{</a:t>
            </a:r>
            <a:r>
              <a:rPr sz="1425" spc="-82" baseline="5847" dirty="0"/>
              <a:t>1</a:t>
            </a:r>
            <a:r>
              <a:rPr sz="1100" spc="-55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2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15" baseline="6535" dirty="0"/>
              <a:t>3</a:t>
            </a:r>
            <a:r>
              <a:rPr sz="1100" spc="-10" dirty="0"/>
              <a:t>,</a:t>
            </a:r>
            <a:r>
              <a:rPr sz="1100" spc="-90" dirty="0"/>
              <a:t> </a:t>
            </a:r>
            <a:r>
              <a:rPr sz="1275" spc="-82" baseline="6535" dirty="0"/>
              <a:t>4</a:t>
            </a:r>
            <a:r>
              <a:rPr sz="2100" spc="-82" baseline="-1984" dirty="0"/>
              <a:t>}</a:t>
            </a:r>
            <a:r>
              <a:rPr sz="1500" spc="-82" baseline="2777" dirty="0"/>
              <a:t>,</a:t>
            </a:r>
            <a:r>
              <a:rPr sz="1500" spc="-30" baseline="2777" dirty="0"/>
              <a:t> </a:t>
            </a:r>
            <a:r>
              <a:rPr sz="1500" spc="-15" baseline="2777" dirty="0"/>
              <a:t>clearly:</a:t>
            </a:r>
            <a:endParaRPr sz="1500" baseline="2777" dirty="0"/>
          </a:p>
          <a:p>
            <a:pPr marL="255904">
              <a:lnSpc>
                <a:spcPct val="100000"/>
              </a:lnSpc>
              <a:spcBef>
                <a:spcPts val="195"/>
              </a:spcBef>
            </a:pPr>
            <a:r>
              <a:rPr sz="1100" spc="55" dirty="0"/>
              <a:t>A</a:t>
            </a:r>
            <a:r>
              <a:rPr sz="1100" spc="-35" dirty="0"/>
              <a:t> </a:t>
            </a:r>
            <a:r>
              <a:rPr sz="2175" spc="-322" baseline="-3831" dirty="0"/>
              <a:t>≠</a:t>
            </a:r>
            <a:r>
              <a:rPr sz="2175" spc="-225" baseline="-3831" dirty="0"/>
              <a:t> </a:t>
            </a:r>
            <a:r>
              <a:rPr sz="1100" spc="80" dirty="0"/>
              <a:t>B</a:t>
            </a:r>
            <a:r>
              <a:rPr sz="1100" spc="-70" dirty="0"/>
              <a:t> </a:t>
            </a:r>
            <a:r>
              <a:rPr sz="1500" spc="97" baseline="2777" dirty="0"/>
              <a:t>and</a:t>
            </a:r>
            <a:r>
              <a:rPr sz="1500" spc="15" baseline="2777" dirty="0"/>
              <a:t> </a:t>
            </a:r>
            <a:r>
              <a:rPr sz="1200" dirty="0"/>
              <a:t>A</a:t>
            </a:r>
            <a:r>
              <a:rPr sz="1200" spc="-55" dirty="0"/>
              <a:t> </a:t>
            </a:r>
            <a:r>
              <a:rPr sz="1200" spc="-120" dirty="0">
                <a:latin typeface="Lucida Sans Unicode"/>
                <a:cs typeface="Lucida Sans Unicode"/>
              </a:rPr>
              <a:t>⊂</a:t>
            </a:r>
            <a:r>
              <a:rPr sz="1200" spc="-65" dirty="0">
                <a:latin typeface="Lucida Sans Unicode"/>
                <a:cs typeface="Lucida Sans Unicode"/>
              </a:rPr>
              <a:t> </a:t>
            </a:r>
            <a:r>
              <a:rPr sz="1100" spc="20" dirty="0"/>
              <a:t>B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03122" y="1038776"/>
            <a:ext cx="4059554" cy="5937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14"/>
              </a:spcBef>
            </a:pPr>
            <a:r>
              <a:rPr sz="1425" spc="15" baseline="5847" dirty="0">
                <a:latin typeface="Tahoma"/>
                <a:cs typeface="Tahoma"/>
              </a:rPr>
              <a:t>In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simple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words,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sets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are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not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equal.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A</a:t>
            </a:r>
            <a:r>
              <a:rPr sz="1200" spc="-45" dirty="0">
                <a:latin typeface="Tahoma"/>
                <a:cs typeface="Tahoma"/>
              </a:rPr>
              <a:t> </a:t>
            </a:r>
            <a:r>
              <a:rPr sz="1575" spc="15" baseline="2645" dirty="0">
                <a:latin typeface="Tahoma"/>
                <a:cs typeface="Tahoma"/>
              </a:rPr>
              <a:t>is</a:t>
            </a:r>
            <a:r>
              <a:rPr sz="1575" baseline="2645" dirty="0">
                <a:latin typeface="Tahoma"/>
                <a:cs typeface="Tahoma"/>
              </a:rPr>
              <a:t> </a:t>
            </a:r>
            <a:r>
              <a:rPr sz="1575" spc="15" baseline="2645" dirty="0">
                <a:latin typeface="Tahoma"/>
                <a:cs typeface="Tahoma"/>
              </a:rPr>
              <a:t>a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subset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-37" baseline="2777" dirty="0">
                <a:latin typeface="Tahoma"/>
                <a:cs typeface="Tahoma"/>
              </a:rPr>
              <a:t>set</a:t>
            </a:r>
            <a:endParaRPr sz="1500" baseline="2777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650" spc="104" baseline="2525" dirty="0">
                <a:latin typeface="Tahoma"/>
                <a:cs typeface="Tahoma"/>
              </a:rPr>
              <a:t>B</a:t>
            </a:r>
            <a:r>
              <a:rPr sz="1650" spc="-75" baseline="2525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because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every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of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also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an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cardinality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89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3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and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the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cardinality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of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</a:t>
            </a:r>
            <a:r>
              <a:rPr sz="1500" spc="75" baseline="5555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30" dirty="0">
                <a:latin typeface="Tahoma"/>
                <a:cs typeface="Tahoma"/>
              </a:rPr>
              <a:t> </a:t>
            </a:r>
            <a:r>
              <a:rPr sz="1650" spc="30" baseline="2525" dirty="0">
                <a:latin typeface="Tahoma"/>
                <a:cs typeface="Tahoma"/>
              </a:rPr>
              <a:t>is</a:t>
            </a:r>
            <a:r>
              <a:rPr sz="1650" baseline="2525" dirty="0">
                <a:latin typeface="Tahoma"/>
                <a:cs typeface="Tahoma"/>
              </a:rPr>
              <a:t> </a:t>
            </a:r>
            <a:r>
              <a:rPr sz="1650" spc="-37" baseline="2525" dirty="0">
                <a:latin typeface="Tahoma"/>
                <a:cs typeface="Tahoma"/>
              </a:rPr>
              <a:t>4.</a:t>
            </a:r>
            <a:endParaRPr sz="1650" baseline="2525">
              <a:latin typeface="Tahoma"/>
              <a:cs typeface="Tahoma"/>
            </a:endParaRPr>
          </a:p>
        </p:txBody>
      </p:sp>
      <p:pic>
        <p:nvPicPr>
          <p:cNvPr id="5" name="object 5" descr="Mathematical expression showing absolute value of negative three equals three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5475" y="1795522"/>
            <a:ext cx="1117600" cy="1779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03122" y="2021992"/>
            <a:ext cx="4013200" cy="59118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ct val="89300"/>
              </a:lnSpc>
              <a:spcBef>
                <a:spcPts val="250"/>
              </a:spcBef>
            </a:pPr>
            <a:r>
              <a:rPr sz="1500" spc="15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collection of all subsets of</a:t>
            </a:r>
            <a:r>
              <a:rPr sz="1500" spc="104" baseline="277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is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a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new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set,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which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is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a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15" baseline="2777" dirty="0">
                <a:latin typeface="Tahoma"/>
                <a:cs typeface="Tahoma"/>
              </a:rPr>
              <a:t>set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-15" baseline="2777" dirty="0">
                <a:latin typeface="Tahoma"/>
                <a:cs typeface="Tahoma"/>
              </a:rPr>
              <a:t>sets. </a:t>
            </a:r>
            <a:r>
              <a:rPr sz="1500" baseline="2777" dirty="0">
                <a:latin typeface="Tahoma"/>
                <a:cs typeface="Tahoma"/>
              </a:rPr>
              <a:t>This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known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as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power</a:t>
            </a:r>
            <a:r>
              <a:rPr sz="1050" spc="-10" dirty="0">
                <a:latin typeface="Tahoma"/>
                <a:cs typeface="Tahoma"/>
              </a:rPr>
              <a:t> </a:t>
            </a:r>
            <a:r>
              <a:rPr sz="1050" dirty="0">
                <a:latin typeface="Tahoma"/>
                <a:cs typeface="Tahoma"/>
              </a:rPr>
              <a:t>set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800" spc="89" baseline="-2314" dirty="0">
                <a:latin typeface="Tahoma"/>
                <a:cs typeface="Tahoma"/>
              </a:rPr>
              <a:t>B</a:t>
            </a:r>
            <a:r>
              <a:rPr sz="1800" spc="-120" baseline="-2314" dirty="0">
                <a:latin typeface="Tahoma"/>
                <a:cs typeface="Tahoma"/>
              </a:rPr>
              <a:t> </a:t>
            </a:r>
            <a:r>
              <a:rPr sz="1425" spc="97" baseline="2923" dirty="0">
                <a:latin typeface="Tahoma"/>
                <a:cs typeface="Tahoma"/>
              </a:rPr>
              <a:t>and</a:t>
            </a:r>
            <a:r>
              <a:rPr sz="1425" spc="7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denoted</a:t>
            </a:r>
            <a:r>
              <a:rPr sz="1425" baseline="2923" dirty="0">
                <a:latin typeface="Tahoma"/>
                <a:cs typeface="Tahoma"/>
              </a:rPr>
              <a:t> as</a:t>
            </a:r>
            <a:r>
              <a:rPr sz="1425" spc="150" baseline="2923" dirty="0">
                <a:latin typeface="Tahoma"/>
                <a:cs typeface="Tahoma"/>
              </a:rPr>
              <a:t> </a:t>
            </a:r>
            <a:r>
              <a:rPr sz="1950" spc="-30" baseline="-2136" dirty="0">
                <a:latin typeface="Tahoma"/>
                <a:cs typeface="Tahoma"/>
              </a:rPr>
              <a:t>P</a:t>
            </a:r>
            <a:r>
              <a:rPr sz="2100" spc="-30" baseline="-3968" dirty="0">
                <a:latin typeface="Tahoma"/>
                <a:cs typeface="Tahoma"/>
              </a:rPr>
              <a:t>(</a:t>
            </a:r>
            <a:r>
              <a:rPr sz="1100" spc="-20" dirty="0">
                <a:latin typeface="Tahoma"/>
                <a:cs typeface="Tahoma"/>
              </a:rPr>
              <a:t>B</a:t>
            </a:r>
            <a:r>
              <a:rPr sz="2100" spc="-30" baseline="-3968" dirty="0">
                <a:latin typeface="Tahoma"/>
                <a:cs typeface="Tahoma"/>
              </a:rPr>
              <a:t>)</a:t>
            </a:r>
            <a:r>
              <a:rPr sz="2100" spc="750" baseline="-3968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Given</a:t>
            </a:r>
            <a:r>
              <a:rPr sz="1425" spc="30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set</a:t>
            </a:r>
            <a:r>
              <a:rPr sz="1425" spc="150" baseline="2923" dirty="0">
                <a:latin typeface="Tahoma"/>
                <a:cs typeface="Tahoma"/>
              </a:rPr>
              <a:t> </a:t>
            </a:r>
            <a:r>
              <a:rPr sz="1800" spc="75" baseline="-2314" dirty="0">
                <a:latin typeface="Tahoma"/>
                <a:cs typeface="Tahoma"/>
              </a:rPr>
              <a:t>A</a:t>
            </a:r>
            <a:r>
              <a:rPr sz="1800" spc="135" baseline="-2314" dirty="0">
                <a:latin typeface="Tahoma"/>
                <a:cs typeface="Tahoma"/>
              </a:rPr>
              <a:t> </a:t>
            </a:r>
            <a:r>
              <a:rPr sz="2025" spc="-307" baseline="-4115" dirty="0">
                <a:latin typeface="Tahoma"/>
                <a:cs typeface="Tahoma"/>
              </a:rPr>
              <a:t>=</a:t>
            </a:r>
            <a:r>
              <a:rPr sz="2025" spc="22" baseline="-4115" dirty="0">
                <a:latin typeface="Tahoma"/>
                <a:cs typeface="Tahoma"/>
              </a:rPr>
              <a:t> </a:t>
            </a:r>
            <a:r>
              <a:rPr sz="1950" spc="-82" baseline="-4273" dirty="0">
                <a:latin typeface="Tahoma"/>
                <a:cs typeface="Tahoma"/>
              </a:rPr>
              <a:t>{</a:t>
            </a:r>
            <a:r>
              <a:rPr sz="1425" spc="-82" baseline="2923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, </a:t>
            </a:r>
            <a:r>
              <a:rPr sz="1275" spc="-15" baseline="3267" dirty="0">
                <a:latin typeface="Tahoma"/>
                <a:cs typeface="Tahoma"/>
              </a:rPr>
              <a:t>2</a:t>
            </a:r>
            <a:r>
              <a:rPr sz="1100" spc="-10" dirty="0">
                <a:latin typeface="Tahoma"/>
                <a:cs typeface="Tahoma"/>
              </a:rPr>
              <a:t>,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275" spc="-67" baseline="3267" dirty="0">
                <a:latin typeface="Tahoma"/>
                <a:cs typeface="Tahoma"/>
              </a:rPr>
              <a:t>3</a:t>
            </a:r>
            <a:r>
              <a:rPr sz="2100" spc="-67" baseline="-3968" dirty="0">
                <a:latin typeface="Tahoma"/>
                <a:cs typeface="Tahoma"/>
              </a:rPr>
              <a:t>}</a:t>
            </a:r>
            <a:r>
              <a:rPr sz="1000" spc="-45" dirty="0">
                <a:latin typeface="Tahoma"/>
                <a:cs typeface="Tahoma"/>
              </a:rPr>
              <a:t>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the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set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all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subsets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of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800" spc="75" baseline="-2314" dirty="0">
                <a:latin typeface="Tahoma"/>
                <a:cs typeface="Tahoma"/>
              </a:rPr>
              <a:t>A</a:t>
            </a:r>
            <a:r>
              <a:rPr sz="1800" spc="-30" baseline="-2314" dirty="0">
                <a:latin typeface="Tahoma"/>
                <a:cs typeface="Tahoma"/>
              </a:rPr>
              <a:t> </a:t>
            </a:r>
            <a:r>
              <a:rPr sz="1050" spc="-25" dirty="0">
                <a:latin typeface="Tahoma"/>
                <a:cs typeface="Tahoma"/>
              </a:rPr>
              <a:t>is:</a:t>
            </a:r>
            <a:endParaRPr sz="1050">
              <a:latin typeface="Tahoma"/>
              <a:cs typeface="Tahoma"/>
            </a:endParaRPr>
          </a:p>
        </p:txBody>
      </p:sp>
      <p:pic>
        <p:nvPicPr>
          <p:cNvPr id="7" name="object 7" descr="A sequence of numbers and decimal points arranged in a grid pattern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9150" y="2745719"/>
            <a:ext cx="3251200" cy="15253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Set</a:t>
            </a:r>
            <a:r>
              <a:rPr spc="5" dirty="0"/>
              <a:t> </a:t>
            </a:r>
            <a:r>
              <a:rPr spc="4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122" y="485823"/>
            <a:ext cx="4043679" cy="3714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00" dirty="0">
                <a:latin typeface="Tahoma"/>
                <a:cs typeface="Tahoma"/>
              </a:rPr>
              <a:t>The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65" dirty="0">
                <a:latin typeface="Tahoma"/>
                <a:cs typeface="Tahoma"/>
              </a:rPr>
              <a:t>union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of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two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operation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that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combines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two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to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get</a:t>
            </a:r>
            <a:endParaRPr sz="9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950" spc="55" dirty="0">
                <a:latin typeface="Tahoma"/>
                <a:cs typeface="Tahoma"/>
              </a:rPr>
              <a:t>the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collection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of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20" dirty="0">
                <a:latin typeface="Tahoma"/>
                <a:cs typeface="Tahoma"/>
              </a:rPr>
              <a:t>objects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that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are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in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either</a:t>
            </a:r>
            <a:r>
              <a:rPr sz="950" spc="-10" dirty="0">
                <a:latin typeface="Tahoma"/>
                <a:cs typeface="Tahoma"/>
              </a:rPr>
              <a:t> </a:t>
            </a:r>
            <a:r>
              <a:rPr sz="950" spc="-20" dirty="0">
                <a:latin typeface="Tahoma"/>
                <a:cs typeface="Tahoma"/>
              </a:rPr>
              <a:t>set.</a:t>
            </a:r>
            <a:endParaRPr sz="950">
              <a:latin typeface="Tahoma"/>
              <a:cs typeface="Tahoma"/>
            </a:endParaRPr>
          </a:p>
        </p:txBody>
      </p:sp>
      <p:pic>
        <p:nvPicPr>
          <p:cNvPr id="4" name="object 4" descr="Mathematical expression showing A equals B union C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17725" y="1045534"/>
            <a:ext cx="660400" cy="1271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3121" y="1236992"/>
            <a:ext cx="4040504" cy="618490"/>
          </a:xfrm>
          <a:prstGeom prst="rect">
            <a:avLst/>
          </a:prstGeom>
        </p:spPr>
        <p:txBody>
          <a:bodyPr vert="horz" wrap="square" lIns="0" tIns="393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0"/>
              </a:spcBef>
            </a:pPr>
            <a:r>
              <a:rPr sz="1650" baseline="2525" dirty="0">
                <a:latin typeface="Tahoma"/>
                <a:cs typeface="Tahoma"/>
              </a:rPr>
              <a:t>C</a:t>
            </a:r>
            <a:r>
              <a:rPr sz="1650" spc="-52" baseline="252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 a new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set, the </a:t>
            </a:r>
            <a:r>
              <a:rPr sz="1500" spc="75" baseline="5555" dirty="0">
                <a:latin typeface="Tahoma"/>
                <a:cs typeface="Tahoma"/>
              </a:rPr>
              <a:t>union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of</a:t>
            </a:r>
            <a:r>
              <a:rPr sz="1500" baseline="5555" dirty="0">
                <a:latin typeface="Tahoma"/>
                <a:cs typeface="Tahoma"/>
              </a:rPr>
              <a:t> sets</a:t>
            </a:r>
            <a:r>
              <a:rPr sz="1500" spc="97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  <a:spcBef>
                <a:spcPts val="2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intersection</a:t>
            </a:r>
            <a:r>
              <a:rPr sz="1575" spc="-52" baseline="2645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two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sets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89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results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another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with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52" baseline="5847" dirty="0">
                <a:latin typeface="Tahoma"/>
                <a:cs typeface="Tahoma"/>
              </a:rPr>
              <a:t>the</a:t>
            </a:r>
            <a:endParaRPr sz="1425" baseline="5847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that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are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exactly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elements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in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both</a:t>
            </a:r>
            <a:r>
              <a:rPr sz="1425" spc="127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20" baseline="5847" dirty="0">
                <a:latin typeface="Tahoma"/>
                <a:cs typeface="Tahoma"/>
              </a:rPr>
              <a:t> </a:t>
            </a:r>
            <a:r>
              <a:rPr sz="1200" spc="10" dirty="0">
                <a:latin typeface="Tahoma"/>
                <a:cs typeface="Tahoma"/>
              </a:rPr>
              <a:t>B</a:t>
            </a:r>
            <a:endParaRPr sz="1200">
              <a:latin typeface="Tahoma"/>
              <a:cs typeface="Tahoma"/>
            </a:endParaRPr>
          </a:p>
        </p:txBody>
      </p:sp>
      <p:pic>
        <p:nvPicPr>
          <p:cNvPr id="6" name="object 6" descr="A mathematical notation showing A equals A with a union symbol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17725" y="2027510"/>
            <a:ext cx="660400" cy="12711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3122" y="2244073"/>
            <a:ext cx="4048125" cy="38290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1400"/>
              </a:lnSpc>
              <a:spcBef>
                <a:spcPts val="11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complement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a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97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a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that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has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the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elements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not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in</a:t>
            </a:r>
            <a:r>
              <a:rPr sz="1500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set</a:t>
            </a:r>
            <a:endParaRPr sz="1500" baseline="5555">
              <a:latin typeface="Tahoma"/>
              <a:cs typeface="Tahoma"/>
            </a:endParaRPr>
          </a:p>
          <a:p>
            <a:pPr marL="12700">
              <a:lnSpc>
                <a:spcPts val="1400"/>
              </a:lnSpc>
            </a:pPr>
            <a:r>
              <a:rPr sz="1650" baseline="2525" dirty="0">
                <a:latin typeface="Tahoma"/>
                <a:cs typeface="Tahoma"/>
              </a:rPr>
              <a:t>A</a:t>
            </a:r>
            <a:r>
              <a:rPr sz="1500" baseline="2777" dirty="0">
                <a:latin typeface="Tahoma"/>
                <a:cs typeface="Tahoma"/>
              </a:rPr>
              <a:t>. </a:t>
            </a:r>
            <a:r>
              <a:rPr sz="1500" spc="89" baseline="2777" dirty="0">
                <a:latin typeface="Tahoma"/>
                <a:cs typeface="Tahoma"/>
              </a:rPr>
              <a:t>When</a:t>
            </a:r>
            <a:r>
              <a:rPr sz="1500" baseline="2777" dirty="0">
                <a:latin typeface="Tahoma"/>
                <a:cs typeface="Tahoma"/>
              </a:rPr>
              <a:t> set</a:t>
            </a:r>
            <a:r>
              <a:rPr sz="1500" spc="60" baseline="2777" dirty="0">
                <a:latin typeface="Tahoma"/>
                <a:cs typeface="Tahoma"/>
              </a:rPr>
              <a:t> </a:t>
            </a:r>
            <a:r>
              <a:rPr sz="1150" spc="65" dirty="0">
                <a:latin typeface="Tahoma"/>
                <a:cs typeface="Tahoma"/>
              </a:rPr>
              <a:t>D</a:t>
            </a:r>
            <a:r>
              <a:rPr sz="1150" spc="-60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the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complement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500" baseline="5555" dirty="0">
                <a:latin typeface="Tahoma"/>
                <a:cs typeface="Tahoma"/>
              </a:rPr>
              <a:t>,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it</a:t>
            </a:r>
            <a:r>
              <a:rPr sz="1500" spc="-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denoted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as:</a:t>
            </a:r>
            <a:endParaRPr sz="1500" baseline="5555">
              <a:latin typeface="Tahoma"/>
              <a:cs typeface="Tahoma"/>
            </a:endParaRPr>
          </a:p>
        </p:txBody>
      </p:sp>
      <p:pic>
        <p:nvPicPr>
          <p:cNvPr id="8" name="object 8" descr="A black and white dog lying on a grassy fiel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44725" y="2783854"/>
            <a:ext cx="406400" cy="1271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5" dirty="0"/>
              <a:t>More</a:t>
            </a:r>
            <a:r>
              <a:rPr spc="-25" dirty="0"/>
              <a:t> </a:t>
            </a:r>
            <a:r>
              <a:rPr dirty="0"/>
              <a:t>Set</a:t>
            </a:r>
            <a:r>
              <a:rPr spc="-20" dirty="0"/>
              <a:t> </a:t>
            </a:r>
            <a:r>
              <a:rPr spc="45" dirty="0"/>
              <a:t>Operations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3122" y="654279"/>
            <a:ext cx="3667760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425" baseline="5847" dirty="0">
                <a:latin typeface="Tahoma"/>
                <a:cs typeface="Tahoma"/>
              </a:rPr>
              <a:t>The </a:t>
            </a:r>
            <a:r>
              <a:rPr sz="1425" spc="82" baseline="5847" dirty="0">
                <a:latin typeface="Tahoma"/>
                <a:cs typeface="Tahoma"/>
              </a:rPr>
              <a:t>intersection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of</a:t>
            </a:r>
            <a:r>
              <a:rPr sz="1425" baseline="5847" dirty="0">
                <a:latin typeface="Tahoma"/>
                <a:cs typeface="Tahoma"/>
              </a:rPr>
              <a:t> 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80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and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complement</a:t>
            </a:r>
            <a:r>
              <a:rPr sz="142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of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5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60" baseline="5847" dirty="0">
                <a:latin typeface="Tahoma"/>
                <a:cs typeface="Tahoma"/>
              </a:rPr>
              <a:t>denoted:</a:t>
            </a:r>
            <a:endParaRPr sz="1425" baseline="5847">
              <a:latin typeface="Tahoma"/>
              <a:cs typeface="Tahoma"/>
            </a:endParaRPr>
          </a:p>
        </p:txBody>
      </p:sp>
      <p:pic>
        <p:nvPicPr>
          <p:cNvPr id="4" name="object 4" descr="A person holding a smartphone with a colorful background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7900" y="1023288"/>
            <a:ext cx="381000" cy="15254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03121" y="1251654"/>
            <a:ext cx="3815715" cy="37211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425" spc="82" baseline="2923" dirty="0">
                <a:latin typeface="Tahoma"/>
                <a:cs typeface="Tahoma"/>
              </a:rPr>
              <a:t>Another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way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to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write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previous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82" baseline="2923" dirty="0">
                <a:latin typeface="Tahoma"/>
                <a:cs typeface="Tahoma"/>
              </a:rPr>
              <a:t>operation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is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defined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baseline="2923" dirty="0">
                <a:latin typeface="Tahoma"/>
                <a:cs typeface="Tahoma"/>
              </a:rPr>
              <a:t>by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the </a:t>
            </a:r>
            <a:r>
              <a:rPr sz="1100" spc="-25" dirty="0">
                <a:latin typeface="Tahoma"/>
                <a:cs typeface="Tahoma"/>
              </a:rPr>
              <a:t>set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1000" spc="20" dirty="0">
                <a:latin typeface="Tahoma"/>
                <a:cs typeface="Tahoma"/>
              </a:rPr>
              <a:t>difference</a:t>
            </a:r>
            <a:r>
              <a:rPr sz="1000" spc="18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as:</a:t>
            </a:r>
            <a:endParaRPr sz="1000">
              <a:latin typeface="Tahoma"/>
              <a:cs typeface="Tahoma"/>
            </a:endParaRPr>
          </a:p>
        </p:txBody>
      </p:sp>
      <p:pic>
        <p:nvPicPr>
          <p:cNvPr id="6" name="object 6" descr="Mathematical expression showing A intersect B equals A minus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87550" y="1795522"/>
            <a:ext cx="914400" cy="17478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03122" y="2025139"/>
            <a:ext cx="3409315" cy="2108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Cartesian</a:t>
            </a:r>
            <a:r>
              <a:rPr sz="1575" spc="-7" baseline="2645" dirty="0">
                <a:latin typeface="Tahoma"/>
                <a:cs typeface="Tahoma"/>
              </a:rPr>
              <a:t> </a:t>
            </a:r>
            <a:r>
              <a:rPr sz="1575" spc="82" baseline="2645" dirty="0">
                <a:latin typeface="Tahoma"/>
                <a:cs typeface="Tahoma"/>
              </a:rPr>
              <a:t>product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of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sets</a:t>
            </a:r>
            <a:r>
              <a:rPr sz="1500" spc="89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is</a:t>
            </a:r>
            <a:r>
              <a:rPr sz="1500" spc="-15" baseline="5555" dirty="0">
                <a:latin typeface="Tahoma"/>
                <a:cs typeface="Tahoma"/>
              </a:rPr>
              <a:t> </a:t>
            </a:r>
            <a:r>
              <a:rPr sz="1500" spc="30" baseline="5555" dirty="0">
                <a:latin typeface="Tahoma"/>
                <a:cs typeface="Tahoma"/>
              </a:rPr>
              <a:t>defined</a:t>
            </a:r>
            <a:r>
              <a:rPr sz="1500" spc="-7" baseline="5555" dirty="0">
                <a:latin typeface="Tahoma"/>
                <a:cs typeface="Tahoma"/>
              </a:rPr>
              <a:t> </a:t>
            </a:r>
            <a:r>
              <a:rPr sz="1500" spc="-37" baseline="5555" dirty="0">
                <a:latin typeface="Tahoma"/>
                <a:cs typeface="Tahoma"/>
              </a:rPr>
              <a:t>by:</a:t>
            </a:r>
            <a:endParaRPr sz="1500" baseline="5555" dirty="0">
              <a:latin typeface="Tahoma"/>
              <a:cs typeface="Tahoma"/>
            </a:endParaRPr>
          </a:p>
        </p:txBody>
      </p:sp>
      <p:pic>
        <p:nvPicPr>
          <p:cNvPr id="8" name="object 8" descr="Mathematical notation showing the intersection of sets A and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47800" y="2399326"/>
            <a:ext cx="1981200" cy="17478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377722" y="2631253"/>
            <a:ext cx="4010025" cy="37655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8100">
              <a:lnSpc>
                <a:spcPts val="1305"/>
              </a:lnSpc>
              <a:spcBef>
                <a:spcPts val="130"/>
              </a:spcBef>
            </a:pPr>
            <a:r>
              <a:rPr sz="1500" baseline="2777" dirty="0">
                <a:latin typeface="Tahoma"/>
                <a:cs typeface="Tahoma"/>
              </a:rPr>
              <a:t>This is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 set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baseline="2777" dirty="0">
                <a:latin typeface="Tahoma"/>
                <a:cs typeface="Tahoma"/>
              </a:rPr>
              <a:t> all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ordered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pairs </a:t>
            </a:r>
            <a:r>
              <a:rPr sz="1500" spc="-44" baseline="2777" dirty="0">
                <a:latin typeface="Tahoma"/>
                <a:cs typeface="Tahoma"/>
              </a:rPr>
              <a:t>(</a:t>
            </a:r>
            <a:r>
              <a:rPr sz="1350" spc="-44" baseline="3086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,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425" baseline="2923" dirty="0">
                <a:latin typeface="Tahoma"/>
                <a:cs typeface="Tahoma"/>
              </a:rPr>
              <a:t>)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such</a:t>
            </a:r>
            <a:r>
              <a:rPr sz="1425" spc="15" baseline="2923" dirty="0">
                <a:latin typeface="Tahoma"/>
                <a:cs typeface="Tahoma"/>
              </a:rPr>
              <a:t> </a:t>
            </a:r>
            <a:r>
              <a:rPr sz="1425" spc="75" baseline="2923" dirty="0">
                <a:latin typeface="Tahoma"/>
                <a:cs typeface="Tahoma"/>
              </a:rPr>
              <a:t>that</a:t>
            </a:r>
            <a:r>
              <a:rPr sz="1425" spc="22" baseline="2923" dirty="0">
                <a:latin typeface="Tahoma"/>
                <a:cs typeface="Tahoma"/>
              </a:rPr>
              <a:t> </a:t>
            </a:r>
            <a:r>
              <a:rPr sz="1425" spc="89" baseline="2923" dirty="0">
                <a:latin typeface="Tahoma"/>
                <a:cs typeface="Tahoma"/>
              </a:rPr>
              <a:t>elements</a:t>
            </a:r>
            <a:r>
              <a:rPr sz="1425" spc="75" baseline="2923" dirty="0">
                <a:latin typeface="Tahoma"/>
                <a:cs typeface="Tahoma"/>
              </a:rPr>
              <a:t> </a:t>
            </a:r>
            <a:r>
              <a:rPr sz="1050" spc="55" dirty="0">
                <a:latin typeface="Tahoma"/>
                <a:cs typeface="Tahoma"/>
              </a:rPr>
              <a:t>a</a:t>
            </a:r>
            <a:r>
              <a:rPr sz="1050" spc="-15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are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00" spc="-37" baseline="2777" dirty="0">
                <a:latin typeface="Tahoma"/>
                <a:cs typeface="Tahoma"/>
              </a:rPr>
              <a:t>in</a:t>
            </a:r>
            <a:endParaRPr sz="1500" baseline="2777">
              <a:latin typeface="Tahoma"/>
              <a:cs typeface="Tahoma"/>
            </a:endParaRPr>
          </a:p>
          <a:p>
            <a:pPr marL="38100">
              <a:lnSpc>
                <a:spcPts val="1425"/>
              </a:lnSpc>
            </a:pPr>
            <a:r>
              <a:rPr sz="1350" spc="15" baseline="6172" dirty="0">
                <a:latin typeface="Tahoma"/>
                <a:cs typeface="Tahoma"/>
              </a:rPr>
              <a:t>set</a:t>
            </a:r>
            <a:r>
              <a:rPr sz="1350" spc="165" baseline="6172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and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15" baseline="5847" dirty="0">
                <a:latin typeface="Tahoma"/>
                <a:cs typeface="Tahoma"/>
              </a:rPr>
              <a:t>elements</a:t>
            </a:r>
            <a:r>
              <a:rPr sz="1425" spc="67" baseline="5847" dirty="0">
                <a:latin typeface="Tahoma"/>
                <a:cs typeface="Tahoma"/>
              </a:rPr>
              <a:t> </a:t>
            </a:r>
            <a:r>
              <a:rPr sz="1575" spc="104" baseline="2645" dirty="0">
                <a:latin typeface="Tahoma"/>
                <a:cs typeface="Tahoma"/>
              </a:rPr>
              <a:t>b</a:t>
            </a:r>
            <a:r>
              <a:rPr sz="1575" spc="-7" baseline="264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are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15" baseline="5555" dirty="0">
                <a:latin typeface="Tahoma"/>
                <a:cs typeface="Tahoma"/>
              </a:rPr>
              <a:t>in set</a:t>
            </a:r>
            <a:r>
              <a:rPr sz="1500" spc="112" baseline="5555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465"/>
            <a:ext cx="2854325" cy="54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250" spc="50" dirty="0">
                <a:latin typeface="Tahoma"/>
                <a:cs typeface="Tahoma"/>
              </a:rPr>
              <a:t>Cartesian</a:t>
            </a:r>
            <a:r>
              <a:rPr sz="1250" spc="-55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Product</a:t>
            </a:r>
            <a:endParaRPr sz="1250">
              <a:latin typeface="Tahoma"/>
              <a:cs typeface="Tahoma"/>
            </a:endParaRPr>
          </a:p>
          <a:p>
            <a:pPr marL="43180">
              <a:lnSpc>
                <a:spcPct val="100000"/>
              </a:lnSpc>
              <a:spcBef>
                <a:spcPts val="1170"/>
              </a:spcBef>
            </a:pPr>
            <a:r>
              <a:rPr sz="1425" baseline="5847" dirty="0">
                <a:latin typeface="Tahoma"/>
                <a:cs typeface="Tahoma"/>
              </a:rPr>
              <a:t>Given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sets</a:t>
            </a:r>
            <a:r>
              <a:rPr sz="1425" spc="135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27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425" spc="89" baseline="5847" dirty="0">
                <a:latin typeface="Tahoma"/>
                <a:cs typeface="Tahoma"/>
              </a:rPr>
              <a:t>,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the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following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set</a:t>
            </a:r>
            <a:r>
              <a:rPr sz="1425" spc="22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30" baseline="5847" dirty="0">
                <a:latin typeface="Tahoma"/>
                <a:cs typeface="Tahoma"/>
              </a:rPr>
              <a:t> </a:t>
            </a:r>
            <a:r>
              <a:rPr sz="1425" spc="-15" baseline="5847" dirty="0">
                <a:latin typeface="Tahoma"/>
                <a:cs typeface="Tahoma"/>
              </a:rPr>
              <a:t>defined:</a:t>
            </a:r>
            <a:endParaRPr sz="1425" baseline="5847">
              <a:latin typeface="Tahoma"/>
              <a:cs typeface="Tahoma"/>
            </a:endParaRPr>
          </a:p>
        </p:txBody>
      </p:sp>
      <p:pic>
        <p:nvPicPr>
          <p:cNvPr id="3" name="object 3" descr="Mathematical notation showing the intersection of sets A and B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8575" y="804012"/>
            <a:ext cx="1981200" cy="1525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0507" y="1101852"/>
            <a:ext cx="4382135" cy="89979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ts val="1400"/>
              </a:lnSpc>
              <a:spcBef>
                <a:spcPts val="115"/>
              </a:spcBef>
            </a:pPr>
            <a:r>
              <a:rPr sz="1500" baseline="5555" dirty="0">
                <a:latin typeface="Tahoma"/>
                <a:cs typeface="Tahoma"/>
              </a:rPr>
              <a:t>This</a:t>
            </a:r>
            <a:r>
              <a:rPr sz="1500" spc="15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the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set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of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all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75" baseline="5555" dirty="0">
                <a:latin typeface="Tahoma"/>
                <a:cs typeface="Tahoma"/>
              </a:rPr>
              <a:t>ordered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pairs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spc="-15" baseline="5555" dirty="0">
                <a:latin typeface="Tahoma"/>
                <a:cs typeface="Tahoma"/>
              </a:rPr>
              <a:t>(</a:t>
            </a:r>
            <a:r>
              <a:rPr sz="1425" spc="-15" baseline="5847" dirty="0">
                <a:latin typeface="Tahoma"/>
                <a:cs typeface="Tahoma"/>
              </a:rPr>
              <a:t>x</a:t>
            </a:r>
            <a:r>
              <a:rPr sz="1650" spc="-15" baseline="2525" dirty="0">
                <a:latin typeface="Tahoma"/>
                <a:cs typeface="Tahoma"/>
              </a:rPr>
              <a:t>,</a:t>
            </a:r>
            <a:r>
              <a:rPr sz="1650" spc="-82" baseline="252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y</a:t>
            </a:r>
            <a:r>
              <a:rPr sz="1275" spc="-179" baseline="6535" dirty="0">
                <a:latin typeface="Tahoma"/>
                <a:cs typeface="Tahoma"/>
              </a:rPr>
              <a:t> </a:t>
            </a:r>
            <a:r>
              <a:rPr sz="1425" spc="-112" baseline="5847" dirty="0">
                <a:latin typeface="Tahoma"/>
                <a:cs typeface="Tahoma"/>
              </a:rPr>
              <a:t>)</a:t>
            </a:r>
            <a:r>
              <a:rPr sz="1425" spc="37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where</a:t>
            </a:r>
            <a:r>
              <a:rPr sz="1425" spc="97" baseline="5847" dirty="0">
                <a:latin typeface="Tahoma"/>
                <a:cs typeface="Tahoma"/>
              </a:rPr>
              <a:t> </a:t>
            </a:r>
            <a:r>
              <a:rPr sz="1650" baseline="2525" dirty="0">
                <a:latin typeface="Tahoma"/>
                <a:cs typeface="Tahoma"/>
              </a:rPr>
              <a:t>x</a:t>
            </a:r>
            <a:r>
              <a:rPr sz="1650" spc="-22" baseline="252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is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an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element</a:t>
            </a:r>
            <a:r>
              <a:rPr sz="1500" spc="22" baseline="555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Tahoma"/>
                <a:cs typeface="Tahoma"/>
              </a:rPr>
              <a:t>of</a:t>
            </a:r>
            <a:r>
              <a:rPr sz="1500" spc="120" baseline="5555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650" spc="-75" baseline="2525" dirty="0">
                <a:latin typeface="Tahoma"/>
                <a:cs typeface="Tahoma"/>
              </a:rPr>
              <a:t>y</a:t>
            </a:r>
            <a:endParaRPr sz="1650" baseline="2525">
              <a:latin typeface="Tahoma"/>
              <a:cs typeface="Tahoma"/>
            </a:endParaRPr>
          </a:p>
          <a:p>
            <a:pPr marL="38100">
              <a:lnSpc>
                <a:spcPts val="1400"/>
              </a:lnSpc>
            </a:pPr>
            <a:r>
              <a:rPr sz="1425" spc="30" baseline="5847" dirty="0">
                <a:latin typeface="Tahoma"/>
                <a:cs typeface="Tahoma"/>
              </a:rPr>
              <a:t>is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82" baseline="5847" dirty="0">
                <a:latin typeface="Tahoma"/>
                <a:cs typeface="Tahoma"/>
              </a:rPr>
              <a:t>an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element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of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500" spc="89" baseline="2777" dirty="0">
                <a:latin typeface="Tahoma"/>
                <a:cs typeface="Tahoma"/>
              </a:rPr>
              <a:t>.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This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is</a:t>
            </a:r>
            <a:r>
              <a:rPr sz="1500" spc="-22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Cartesian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product</a:t>
            </a:r>
            <a:r>
              <a:rPr sz="1500" spc="-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of</a:t>
            </a:r>
            <a:r>
              <a:rPr sz="1500" spc="52" baseline="2777" dirty="0">
                <a:latin typeface="Tahoma"/>
                <a:cs typeface="Tahoma"/>
              </a:rPr>
              <a:t> </a:t>
            </a:r>
            <a:r>
              <a:rPr sz="1200" spc="20" dirty="0">
                <a:latin typeface="Tahoma"/>
                <a:cs typeface="Tahoma"/>
              </a:rPr>
              <a:t>A</a:t>
            </a:r>
            <a:r>
              <a:rPr sz="1200" spc="-9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75" baseline="584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10"/>
              </a:spcBef>
            </a:pPr>
            <a:r>
              <a:rPr sz="1500" baseline="2777" dirty="0">
                <a:latin typeface="Tahoma"/>
                <a:cs typeface="Tahoma"/>
              </a:rPr>
              <a:t>Let</a:t>
            </a:r>
            <a:r>
              <a:rPr sz="1500" spc="37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15" dirty="0">
                <a:latin typeface="Tahoma"/>
                <a:cs typeface="Tahoma"/>
              </a:rPr>
              <a:t> </a:t>
            </a:r>
            <a:r>
              <a:rPr sz="2025" spc="-307" baseline="-2057" dirty="0">
                <a:latin typeface="Tahoma"/>
                <a:cs typeface="Tahoma"/>
              </a:rPr>
              <a:t>=</a:t>
            </a:r>
            <a:r>
              <a:rPr sz="2025" spc="-75" baseline="-2057" dirty="0">
                <a:latin typeface="Tahoma"/>
                <a:cs typeface="Tahoma"/>
              </a:rPr>
              <a:t> </a:t>
            </a:r>
            <a:r>
              <a:rPr sz="1950" spc="-37" baseline="-2136" dirty="0">
                <a:latin typeface="Tahoma"/>
                <a:cs typeface="Tahoma"/>
              </a:rPr>
              <a:t>{</a:t>
            </a:r>
            <a:r>
              <a:rPr sz="1350" spc="-37" baseline="6172" dirty="0">
                <a:latin typeface="Tahoma"/>
                <a:cs typeface="Tahoma"/>
              </a:rPr>
              <a:t>a</a:t>
            </a:r>
            <a:r>
              <a:rPr sz="1125" spc="-37" baseline="-7407" dirty="0">
                <a:latin typeface="Tahoma"/>
                <a:cs typeface="Tahoma"/>
              </a:rPr>
              <a:t>1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125" baseline="-740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125" baseline="-7407" dirty="0">
                <a:latin typeface="Tahoma"/>
                <a:cs typeface="Tahoma"/>
              </a:rPr>
              <a:t>3</a:t>
            </a:r>
            <a:r>
              <a:rPr sz="1425" baseline="5847" dirty="0">
                <a:latin typeface="Tahoma"/>
                <a:cs typeface="Tahoma"/>
              </a:rPr>
              <a:t>,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44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7" baseline="5847" dirty="0">
                <a:latin typeface="Tahoma"/>
                <a:cs typeface="Tahoma"/>
              </a:rPr>
              <a:t>,</a:t>
            </a:r>
            <a:r>
              <a:rPr sz="1425" spc="-89" baseline="5847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a</a:t>
            </a:r>
            <a:r>
              <a:rPr sz="1050" baseline="-7936" dirty="0">
                <a:latin typeface="Tahoma"/>
                <a:cs typeface="Tahoma"/>
              </a:rPr>
              <a:t>m</a:t>
            </a:r>
            <a:r>
              <a:rPr sz="2100" baseline="-1984" dirty="0">
                <a:latin typeface="Tahoma"/>
                <a:cs typeface="Tahoma"/>
              </a:rPr>
              <a:t>}</a:t>
            </a:r>
            <a:r>
              <a:rPr sz="2100" spc="-240" baseline="-1984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52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40" dirty="0">
                <a:latin typeface="Tahoma"/>
                <a:cs typeface="Tahoma"/>
              </a:rPr>
              <a:t> </a:t>
            </a:r>
            <a:r>
              <a:rPr sz="2250" spc="-367" baseline="-3703" dirty="0">
                <a:latin typeface="Tahoma"/>
                <a:cs typeface="Tahoma"/>
              </a:rPr>
              <a:t>=</a:t>
            </a:r>
            <a:r>
              <a:rPr sz="2250" spc="-142" baseline="-3703" dirty="0">
                <a:latin typeface="Tahoma"/>
                <a:cs typeface="Tahoma"/>
              </a:rPr>
              <a:t> </a:t>
            </a:r>
            <a:r>
              <a:rPr sz="1950" spc="-30" baseline="-2136" dirty="0">
                <a:latin typeface="Tahoma"/>
                <a:cs typeface="Tahoma"/>
              </a:rPr>
              <a:t>{</a:t>
            </a:r>
            <a:r>
              <a:rPr sz="1350" spc="-30" baseline="6172" dirty="0">
                <a:latin typeface="Tahoma"/>
                <a:cs typeface="Tahoma"/>
              </a:rPr>
              <a:t>b</a:t>
            </a:r>
            <a:r>
              <a:rPr sz="1125" spc="-30" baseline="-7407" dirty="0">
                <a:latin typeface="Tahoma"/>
                <a:cs typeface="Tahoma"/>
              </a:rPr>
              <a:t>1</a:t>
            </a:r>
            <a:r>
              <a:rPr sz="1100" spc="-20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25" baseline="-7407" dirty="0">
                <a:latin typeface="Tahoma"/>
                <a:cs typeface="Tahoma"/>
              </a:rPr>
              <a:t>2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275" baseline="6535" dirty="0">
                <a:latin typeface="Tahoma"/>
                <a:cs typeface="Tahoma"/>
              </a:rPr>
              <a:t>b</a:t>
            </a:r>
            <a:r>
              <a:rPr sz="1125" baseline="-7407" dirty="0">
                <a:latin typeface="Tahoma"/>
                <a:cs typeface="Tahoma"/>
              </a:rPr>
              <a:t>3</a:t>
            </a:r>
            <a:r>
              <a:rPr sz="1425" baseline="5847" dirty="0">
                <a:latin typeface="Tahoma"/>
                <a:cs typeface="Tahoma"/>
              </a:rPr>
              <a:t>,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0" baseline="5847" dirty="0">
                <a:latin typeface="Tahoma"/>
                <a:cs typeface="Tahoma"/>
              </a:rPr>
              <a:t>.</a:t>
            </a:r>
            <a:r>
              <a:rPr sz="1425" spc="-52" baseline="5847" dirty="0">
                <a:latin typeface="Tahoma"/>
                <a:cs typeface="Tahoma"/>
              </a:rPr>
              <a:t> </a:t>
            </a:r>
            <a:r>
              <a:rPr sz="1425" spc="-67" baseline="5847" dirty="0">
                <a:latin typeface="Tahoma"/>
                <a:cs typeface="Tahoma"/>
              </a:rPr>
              <a:t>,</a:t>
            </a:r>
            <a:r>
              <a:rPr sz="1425" spc="-89" baseline="5847" dirty="0">
                <a:latin typeface="Tahoma"/>
                <a:cs typeface="Tahoma"/>
              </a:rPr>
              <a:t> </a:t>
            </a:r>
            <a:r>
              <a:rPr sz="1275" spc="-37" baseline="6535" dirty="0">
                <a:latin typeface="Tahoma"/>
                <a:cs typeface="Tahoma"/>
              </a:rPr>
              <a:t>b</a:t>
            </a:r>
            <a:r>
              <a:rPr sz="1050" spc="-37" baseline="-3968" dirty="0">
                <a:latin typeface="Tahoma"/>
                <a:cs typeface="Tahoma"/>
              </a:rPr>
              <a:t>n</a:t>
            </a:r>
            <a:r>
              <a:rPr sz="2100" spc="-37" baseline="-1984" dirty="0">
                <a:latin typeface="Tahoma"/>
                <a:cs typeface="Tahoma"/>
              </a:rPr>
              <a:t>}</a:t>
            </a:r>
            <a:endParaRPr sz="2100" baseline="-1984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260"/>
              </a:spcBef>
            </a:pPr>
            <a:r>
              <a:rPr sz="1650" spc="82" baseline="7575" dirty="0">
                <a:latin typeface="Tahoma"/>
                <a:cs typeface="Tahoma"/>
              </a:rPr>
              <a:t>A</a:t>
            </a:r>
            <a:r>
              <a:rPr sz="1650" spc="-7" baseline="7575" dirty="0">
                <a:latin typeface="Tahoma"/>
                <a:cs typeface="Tahoma"/>
              </a:rPr>
              <a:t> </a:t>
            </a:r>
            <a:r>
              <a:rPr sz="1950" spc="-322" baseline="4273" dirty="0">
                <a:latin typeface="Tahoma"/>
                <a:cs typeface="Tahoma"/>
              </a:rPr>
              <a:t>×</a:t>
            </a:r>
            <a:r>
              <a:rPr sz="1950" spc="-187" baseline="4273" dirty="0">
                <a:latin typeface="Tahoma"/>
                <a:cs typeface="Tahoma"/>
              </a:rPr>
              <a:t> </a:t>
            </a:r>
            <a:r>
              <a:rPr sz="1575" spc="89" baseline="7936" dirty="0">
                <a:latin typeface="Tahoma"/>
                <a:cs typeface="Tahoma"/>
              </a:rPr>
              <a:t>B</a:t>
            </a:r>
            <a:r>
              <a:rPr sz="1575" spc="97" baseline="7936" dirty="0">
                <a:latin typeface="Tahoma"/>
                <a:cs typeface="Tahoma"/>
              </a:rPr>
              <a:t> </a:t>
            </a:r>
            <a:r>
              <a:rPr sz="1500" spc="-245" dirty="0">
                <a:latin typeface="Tahoma"/>
                <a:cs typeface="Tahoma"/>
              </a:rPr>
              <a:t>=</a:t>
            </a:r>
            <a:r>
              <a:rPr sz="1500" spc="-120" dirty="0">
                <a:latin typeface="Tahoma"/>
                <a:cs typeface="Tahoma"/>
              </a:rPr>
              <a:t> </a:t>
            </a:r>
            <a:r>
              <a:rPr sz="1950" spc="-75" baseline="2136" dirty="0">
                <a:latin typeface="Tahoma"/>
                <a:cs typeface="Tahoma"/>
              </a:rPr>
              <a:t>{</a:t>
            </a:r>
            <a:endParaRPr sz="1950" baseline="2136">
              <a:latin typeface="Tahoma"/>
              <a:cs typeface="Tahoma"/>
            </a:endParaRPr>
          </a:p>
        </p:txBody>
      </p:sp>
      <p:pic>
        <p:nvPicPr>
          <p:cNvPr id="5" name="object 5" descr="A black and white image with rows of text and symbols, possibly a printed or handwritten document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6950" y="2100602"/>
            <a:ext cx="2667000" cy="11821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 idx="4294967295"/>
          </p:nvPr>
        </p:nvSpPr>
        <p:spPr>
          <a:xfrm>
            <a:off x="680346" y="3064906"/>
            <a:ext cx="95250" cy="2444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14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0" cap="none" spc="-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}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49" y="88706"/>
            <a:ext cx="4276725" cy="8463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85" dirty="0">
                <a:latin typeface="Tahoma"/>
                <a:cs typeface="Tahoma"/>
              </a:rPr>
              <a:t>More</a:t>
            </a:r>
            <a:r>
              <a:rPr sz="1250" spc="-25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Operations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50" dirty="0">
              <a:latin typeface="Tahoma"/>
              <a:cs typeface="Tahoma"/>
            </a:endParaRPr>
          </a:p>
          <a:p>
            <a:pPr marL="320040">
              <a:lnSpc>
                <a:spcPts val="1455"/>
              </a:lnSpc>
            </a:pP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30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difference</a:t>
            </a:r>
            <a:r>
              <a:rPr sz="1500" spc="120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30" dirty="0">
                <a:latin typeface="Tahoma"/>
                <a:cs typeface="Tahoma"/>
              </a:rPr>
              <a:t> </a:t>
            </a:r>
            <a:r>
              <a:rPr sz="1250" spc="-20" dirty="0">
                <a:latin typeface="Tahoma"/>
                <a:cs typeface="Tahoma"/>
              </a:rPr>
              <a:t>\</a:t>
            </a:r>
            <a:r>
              <a:rPr sz="1250" spc="-45" dirty="0">
                <a:latin typeface="Tahoma"/>
                <a:cs typeface="Tahoma"/>
              </a:rPr>
              <a:t> </a:t>
            </a:r>
            <a:r>
              <a:rPr sz="1575" spc="89" baseline="2645" dirty="0">
                <a:latin typeface="Tahoma"/>
                <a:cs typeface="Tahoma"/>
              </a:rPr>
              <a:t>B</a:t>
            </a:r>
            <a:r>
              <a:rPr sz="1575" baseline="2645" dirty="0">
                <a:latin typeface="Tahoma"/>
                <a:cs typeface="Tahoma"/>
              </a:rPr>
              <a:t> </a:t>
            </a:r>
            <a:r>
              <a:rPr sz="1500" spc="82" baseline="2777" dirty="0">
                <a:latin typeface="Tahoma"/>
                <a:cs typeface="Tahoma"/>
              </a:rPr>
              <a:t>of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sets</a:t>
            </a:r>
            <a:r>
              <a:rPr sz="1500" spc="120" baseline="277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55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35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200" spc="-50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is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the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set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that</a:t>
            </a:r>
            <a:r>
              <a:rPr sz="1500" spc="22" baseline="2777" dirty="0">
                <a:latin typeface="Tahoma"/>
                <a:cs typeface="Tahoma"/>
              </a:rPr>
              <a:t> </a:t>
            </a:r>
            <a:r>
              <a:rPr sz="1500" baseline="2777" dirty="0">
                <a:latin typeface="Tahoma"/>
                <a:cs typeface="Tahoma"/>
              </a:rPr>
              <a:t>consists</a:t>
            </a:r>
            <a:r>
              <a:rPr sz="1500" spc="15" baseline="2777" dirty="0">
                <a:latin typeface="Tahoma"/>
                <a:cs typeface="Tahoma"/>
              </a:rPr>
              <a:t> </a:t>
            </a:r>
            <a:r>
              <a:rPr sz="1500" spc="37" baseline="2777" dirty="0">
                <a:latin typeface="Tahoma"/>
                <a:cs typeface="Tahoma"/>
              </a:rPr>
              <a:t>of</a:t>
            </a:r>
            <a:endParaRPr sz="1500" baseline="2777" dirty="0">
              <a:latin typeface="Tahoma"/>
              <a:cs typeface="Tahoma"/>
            </a:endParaRPr>
          </a:p>
          <a:p>
            <a:pPr marL="320040">
              <a:lnSpc>
                <a:spcPts val="1395"/>
              </a:lnSpc>
            </a:pPr>
            <a:r>
              <a:rPr sz="1425" spc="30" baseline="5847" dirty="0">
                <a:latin typeface="Tahoma"/>
                <a:cs typeface="Tahoma"/>
              </a:rPr>
              <a:t>all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those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elements</a:t>
            </a:r>
            <a:r>
              <a:rPr sz="1425" spc="-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in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65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that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are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75" baseline="2777" dirty="0">
                <a:latin typeface="Tahoma"/>
                <a:cs typeface="Tahoma"/>
              </a:rPr>
              <a:t>not</a:t>
            </a:r>
            <a:r>
              <a:rPr sz="1500" spc="-15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in</a:t>
            </a:r>
            <a:r>
              <a:rPr sz="1500" spc="-7" baseline="2777" dirty="0">
                <a:latin typeface="Tahoma"/>
                <a:cs typeface="Tahoma"/>
              </a:rPr>
              <a:t> </a:t>
            </a:r>
            <a:r>
              <a:rPr sz="1500" spc="30" baseline="2777" dirty="0">
                <a:latin typeface="Tahoma"/>
                <a:cs typeface="Tahoma"/>
              </a:rPr>
              <a:t>set</a:t>
            </a:r>
            <a:r>
              <a:rPr sz="1500" spc="75" baseline="2777" dirty="0">
                <a:latin typeface="Tahoma"/>
                <a:cs typeface="Tahoma"/>
              </a:rPr>
              <a:t> </a:t>
            </a:r>
            <a:r>
              <a:rPr sz="1200" spc="30" dirty="0">
                <a:latin typeface="Tahoma"/>
                <a:cs typeface="Tahoma"/>
              </a:rPr>
              <a:t>B</a:t>
            </a:r>
            <a:r>
              <a:rPr sz="1650" spc="44" baseline="2525" dirty="0">
                <a:latin typeface="Tahoma"/>
                <a:cs typeface="Tahoma"/>
              </a:rPr>
              <a:t>.</a:t>
            </a:r>
            <a:endParaRPr sz="1650" baseline="2525" dirty="0">
              <a:latin typeface="Tahoma"/>
              <a:cs typeface="Tahoma"/>
            </a:endParaRPr>
          </a:p>
        </p:txBody>
      </p:sp>
      <p:pic>
        <p:nvPicPr>
          <p:cNvPr id="1026" name="Picture 2" descr="Set difference - Discrete Structures for Computer Science - Obsidian Publish">
            <a:extLst>
              <a:ext uri="{FF2B5EF4-FFF2-40B4-BE49-F238E27FC236}">
                <a16:creationId xmlns:a16="http://schemas.microsoft.com/office/drawing/2014/main" id="{174EB27C-F3C0-85EA-963C-5239BFB751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650" y="1196975"/>
            <a:ext cx="1676400" cy="1169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398008B-D636-7542-8A6C-03D6F3C1E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550C795-77F5-02E6-603C-A770008EA17D}"/>
              </a:ext>
            </a:extLst>
          </p:cNvPr>
          <p:cNvSpPr txBox="1"/>
          <p:nvPr/>
        </p:nvSpPr>
        <p:spPr>
          <a:xfrm>
            <a:off x="95349" y="88706"/>
            <a:ext cx="4276725" cy="9971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85" dirty="0">
                <a:latin typeface="Tahoma"/>
                <a:cs typeface="Tahoma"/>
              </a:rPr>
              <a:t>More</a:t>
            </a:r>
            <a:r>
              <a:rPr sz="1250" spc="-25" dirty="0">
                <a:latin typeface="Tahoma"/>
                <a:cs typeface="Tahoma"/>
              </a:rPr>
              <a:t> </a:t>
            </a:r>
            <a:r>
              <a:rPr sz="1250" dirty="0">
                <a:latin typeface="Tahoma"/>
                <a:cs typeface="Tahoma"/>
              </a:rPr>
              <a:t>Set</a:t>
            </a:r>
            <a:r>
              <a:rPr sz="1250" spc="-20" dirty="0">
                <a:latin typeface="Tahoma"/>
                <a:cs typeface="Tahoma"/>
              </a:rPr>
              <a:t> </a:t>
            </a:r>
            <a:r>
              <a:rPr sz="1250" spc="45" dirty="0">
                <a:latin typeface="Tahoma"/>
                <a:cs typeface="Tahoma"/>
              </a:rPr>
              <a:t>Operations</a:t>
            </a:r>
            <a:endParaRPr sz="125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250" dirty="0">
              <a:latin typeface="Tahoma"/>
              <a:cs typeface="Tahoma"/>
            </a:endParaRPr>
          </a:p>
          <a:p>
            <a:pPr marL="320040" marR="22860">
              <a:lnSpc>
                <a:spcPct val="112500"/>
              </a:lnSpc>
              <a:spcBef>
                <a:spcPts val="35"/>
              </a:spcBef>
            </a:pPr>
            <a:r>
              <a:rPr sz="1500" spc="30" baseline="2777" dirty="0">
                <a:latin typeface="Tahoma"/>
                <a:cs typeface="Tahoma"/>
              </a:rPr>
              <a:t>The</a:t>
            </a:r>
            <a:r>
              <a:rPr sz="1500" spc="7" baseline="2777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symmetric</a:t>
            </a:r>
            <a:r>
              <a:rPr sz="1575" spc="-15" baseline="2645" dirty="0">
                <a:latin typeface="Tahoma"/>
                <a:cs typeface="Tahoma"/>
              </a:rPr>
              <a:t> </a:t>
            </a:r>
            <a:r>
              <a:rPr sz="1575" spc="30" baseline="2645" dirty="0">
                <a:latin typeface="Tahoma"/>
                <a:cs typeface="Tahoma"/>
              </a:rPr>
              <a:t>difference</a:t>
            </a:r>
            <a:r>
              <a:rPr sz="1575" spc="-37" baseline="2645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of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two</a:t>
            </a:r>
            <a:r>
              <a:rPr sz="1425" spc="15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sets</a:t>
            </a:r>
            <a:r>
              <a:rPr sz="1425" spc="112" baseline="5847" dirty="0">
                <a:latin typeface="Tahoma"/>
                <a:cs typeface="Tahoma"/>
              </a:rPr>
              <a:t> </a:t>
            </a:r>
            <a:r>
              <a:rPr sz="1200" spc="50" dirty="0">
                <a:latin typeface="Tahoma"/>
                <a:cs typeface="Tahoma"/>
              </a:rPr>
              <a:t>A</a:t>
            </a:r>
            <a:r>
              <a:rPr sz="1200" spc="-70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and</a:t>
            </a:r>
            <a:r>
              <a:rPr sz="1425" spc="104" baseline="5847" dirty="0">
                <a:latin typeface="Tahoma"/>
                <a:cs typeface="Tahoma"/>
              </a:rPr>
              <a:t> </a:t>
            </a:r>
            <a:r>
              <a:rPr sz="1200" spc="60" dirty="0">
                <a:latin typeface="Tahoma"/>
                <a:cs typeface="Tahoma"/>
              </a:rPr>
              <a:t>B</a:t>
            </a:r>
            <a:r>
              <a:rPr sz="1425" spc="89" baseline="5847" dirty="0">
                <a:latin typeface="Tahoma"/>
                <a:cs typeface="Tahoma"/>
              </a:rPr>
              <a:t>,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also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known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30" baseline="5847" dirty="0">
                <a:latin typeface="Tahoma"/>
                <a:cs typeface="Tahoma"/>
              </a:rPr>
              <a:t>as</a:t>
            </a:r>
            <a:r>
              <a:rPr sz="1425" spc="7" baseline="5847" dirty="0">
                <a:latin typeface="Tahoma"/>
                <a:cs typeface="Tahoma"/>
              </a:rPr>
              <a:t> </a:t>
            </a:r>
            <a:r>
              <a:rPr sz="1425" spc="44" baseline="5847" dirty="0">
                <a:latin typeface="Tahoma"/>
                <a:cs typeface="Tahoma"/>
              </a:rPr>
              <a:t>the </a:t>
            </a:r>
            <a:r>
              <a:rPr sz="950" spc="30" dirty="0">
                <a:latin typeface="Tahoma"/>
                <a:cs typeface="Tahoma"/>
              </a:rPr>
              <a:t>disjunctive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union,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is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the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30" dirty="0">
                <a:latin typeface="Tahoma"/>
                <a:cs typeface="Tahoma"/>
              </a:rPr>
              <a:t>set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elements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which</a:t>
            </a:r>
            <a:r>
              <a:rPr sz="950" spc="-1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are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in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either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of</a:t>
            </a:r>
            <a:r>
              <a:rPr sz="950" spc="-20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the </a:t>
            </a:r>
            <a:r>
              <a:rPr sz="950" dirty="0">
                <a:latin typeface="Tahoma"/>
                <a:cs typeface="Tahoma"/>
              </a:rPr>
              <a:t>sets, </a:t>
            </a:r>
            <a:r>
              <a:rPr sz="950" spc="65" dirty="0">
                <a:latin typeface="Tahoma"/>
                <a:cs typeface="Tahoma"/>
              </a:rPr>
              <a:t>but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not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0" dirty="0">
                <a:latin typeface="Tahoma"/>
                <a:cs typeface="Tahoma"/>
              </a:rPr>
              <a:t>in</a:t>
            </a:r>
            <a:r>
              <a:rPr sz="950" dirty="0">
                <a:latin typeface="Tahoma"/>
                <a:cs typeface="Tahoma"/>
              </a:rPr>
              <a:t> </a:t>
            </a:r>
            <a:r>
              <a:rPr sz="950" spc="55" dirty="0">
                <a:latin typeface="Tahoma"/>
                <a:cs typeface="Tahoma"/>
              </a:rPr>
              <a:t>their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50" dirty="0">
                <a:latin typeface="Tahoma"/>
                <a:cs typeface="Tahoma"/>
              </a:rPr>
              <a:t>intersection.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operation</a:t>
            </a:r>
            <a:r>
              <a:rPr sz="950" dirty="0">
                <a:latin typeface="Tahoma"/>
                <a:cs typeface="Tahoma"/>
              </a:rPr>
              <a:t> is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65" dirty="0">
                <a:latin typeface="Tahoma"/>
                <a:cs typeface="Tahoma"/>
              </a:rPr>
              <a:t>denoted</a:t>
            </a:r>
            <a:r>
              <a:rPr sz="950" spc="5" dirty="0">
                <a:latin typeface="Tahoma"/>
                <a:cs typeface="Tahoma"/>
              </a:rPr>
              <a:t> </a:t>
            </a:r>
            <a:r>
              <a:rPr sz="950" spc="25" dirty="0">
                <a:latin typeface="Tahoma"/>
                <a:cs typeface="Tahoma"/>
              </a:rPr>
              <a:t>as</a:t>
            </a:r>
            <a:endParaRPr sz="950" dirty="0">
              <a:latin typeface="Tahoma"/>
              <a:cs typeface="Tahoma"/>
            </a:endParaRPr>
          </a:p>
        </p:txBody>
      </p:sp>
      <p:pic>
        <p:nvPicPr>
          <p:cNvPr id="3" name="object 3" descr="Mathematical notation showing the symmetric difference of sets A and B.">
            <a:extLst>
              <a:ext uri="{FF2B5EF4-FFF2-40B4-BE49-F238E27FC236}">
                <a16:creationId xmlns:a16="http://schemas.microsoft.com/office/drawing/2014/main" id="{68E5C1B7-06ED-485E-136D-B0D5C3F0A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7175" y="1473704"/>
            <a:ext cx="2159000" cy="152540"/>
          </a:xfrm>
          <a:prstGeom prst="rect">
            <a:avLst/>
          </a:prstGeom>
        </p:spPr>
      </p:pic>
      <p:sp>
        <p:nvSpPr>
          <p:cNvPr id="4" name="object 4">
            <a:extLst>
              <a:ext uri="{FF2B5EF4-FFF2-40B4-BE49-F238E27FC236}">
                <a16:creationId xmlns:a16="http://schemas.microsoft.com/office/drawing/2014/main" id="{815CCA75-799C-217F-1861-F04556851081}"/>
              </a:ext>
            </a:extLst>
          </p:cNvPr>
          <p:cNvSpPr txBox="1"/>
          <p:nvPr/>
        </p:nvSpPr>
        <p:spPr>
          <a:xfrm>
            <a:off x="408676" y="2062487"/>
            <a:ext cx="2804795" cy="2108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425" baseline="5847" dirty="0">
                <a:latin typeface="Tahoma"/>
                <a:cs typeface="Tahoma"/>
              </a:rPr>
              <a:t>The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104" baseline="5847" dirty="0">
                <a:latin typeface="Tahoma"/>
                <a:cs typeface="Tahoma"/>
              </a:rPr>
              <a:t>main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property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baseline="5847" dirty="0">
                <a:latin typeface="Tahoma"/>
                <a:cs typeface="Tahoma"/>
              </a:rPr>
              <a:t>is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75" baseline="5847" dirty="0">
                <a:latin typeface="Tahoma"/>
                <a:cs typeface="Tahoma"/>
              </a:rPr>
              <a:t>that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97" baseline="5847" dirty="0">
                <a:latin typeface="Tahoma"/>
                <a:cs typeface="Tahoma"/>
              </a:rPr>
              <a:t>an</a:t>
            </a:r>
            <a:r>
              <a:rPr sz="1425" spc="-15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element</a:t>
            </a:r>
            <a:r>
              <a:rPr sz="1425" spc="-22" baseline="5847" dirty="0">
                <a:latin typeface="Tahoma"/>
                <a:cs typeface="Tahoma"/>
              </a:rPr>
              <a:t> </a:t>
            </a:r>
            <a:r>
              <a:rPr sz="1425" spc="89" baseline="5847" dirty="0">
                <a:latin typeface="Tahoma"/>
                <a:cs typeface="Tahoma"/>
              </a:rPr>
              <a:t>in </a:t>
            </a:r>
            <a:r>
              <a:rPr sz="1200" dirty="0">
                <a:latin typeface="Tahoma"/>
                <a:cs typeface="Tahoma"/>
              </a:rPr>
              <a:t>A</a:t>
            </a:r>
            <a:r>
              <a:rPr sz="1200" spc="-85" dirty="0">
                <a:latin typeface="Tahoma"/>
                <a:cs typeface="Tahoma"/>
              </a:rPr>
              <a:t> </a:t>
            </a:r>
            <a:r>
              <a:rPr sz="1500" baseline="5555" dirty="0">
                <a:latin typeface="Lucida Sans Unicode"/>
                <a:cs typeface="Lucida Sans Unicode"/>
              </a:rPr>
              <a:t>⊕</a:t>
            </a:r>
            <a:r>
              <a:rPr sz="1500" spc="-67" baseline="5555" dirty="0">
                <a:latin typeface="Lucida Sans Unicode"/>
                <a:cs typeface="Lucida Sans Unicode"/>
              </a:rPr>
              <a:t> </a:t>
            </a:r>
            <a:r>
              <a:rPr sz="1650" spc="-37" baseline="2525" dirty="0">
                <a:latin typeface="Tahoma"/>
                <a:cs typeface="Tahoma"/>
              </a:rPr>
              <a:t>B:</a:t>
            </a:r>
            <a:endParaRPr sz="1650" baseline="2525" dirty="0">
              <a:latin typeface="Tahoma"/>
              <a:cs typeface="Tahoma"/>
            </a:endParaRPr>
          </a:p>
        </p:txBody>
      </p:sp>
      <p:pic>
        <p:nvPicPr>
          <p:cNvPr id="5" name="object 5" descr="A mathematical diagram showing set relations with unions and intersections.">
            <a:extLst>
              <a:ext uri="{FF2B5EF4-FFF2-40B4-BE49-F238E27FC236}">
                <a16:creationId xmlns:a16="http://schemas.microsoft.com/office/drawing/2014/main" id="{B64F9DE6-2E7B-9F9F-58E4-097A180BE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2529" y="2403084"/>
            <a:ext cx="2489200" cy="177963"/>
          </a:xfrm>
          <a:prstGeom prst="rect">
            <a:avLst/>
          </a:prstGeom>
        </p:spPr>
      </p:pic>
      <p:sp>
        <p:nvSpPr>
          <p:cNvPr id="6" name="object 6">
            <a:extLst>
              <a:ext uri="{FF2B5EF4-FFF2-40B4-BE49-F238E27FC236}">
                <a16:creationId xmlns:a16="http://schemas.microsoft.com/office/drawing/2014/main" id="{07929E11-44A4-A9FC-0BD1-D0C29E340C2F}"/>
              </a:ext>
            </a:extLst>
          </p:cNvPr>
          <p:cNvSpPr txBox="1"/>
          <p:nvPr/>
        </p:nvSpPr>
        <p:spPr>
          <a:xfrm>
            <a:off x="370576" y="2647073"/>
            <a:ext cx="4007485" cy="4248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50800">
              <a:lnSpc>
                <a:spcPts val="1495"/>
              </a:lnSpc>
              <a:spcBef>
                <a:spcPts val="135"/>
              </a:spcBef>
            </a:pPr>
            <a:r>
              <a:rPr sz="950" dirty="0">
                <a:latin typeface="Tahoma"/>
                <a:cs typeface="Tahoma"/>
              </a:rPr>
              <a:t>For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example,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symmetric</a:t>
            </a:r>
            <a:r>
              <a:rPr sz="950" spc="95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difference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of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the</a:t>
            </a:r>
            <a:r>
              <a:rPr sz="950" spc="90" dirty="0">
                <a:latin typeface="Tahoma"/>
                <a:cs typeface="Tahoma"/>
              </a:rPr>
              <a:t> </a:t>
            </a:r>
            <a:r>
              <a:rPr sz="950" dirty="0">
                <a:latin typeface="Tahoma"/>
                <a:cs typeface="Tahoma"/>
              </a:rPr>
              <a:t>sets</a:t>
            </a:r>
            <a:r>
              <a:rPr sz="950" spc="204" dirty="0">
                <a:latin typeface="Tahoma"/>
                <a:cs typeface="Tahoma"/>
              </a:rPr>
              <a:t> </a:t>
            </a:r>
            <a:r>
              <a:rPr sz="1800" spc="75" baseline="-4629" dirty="0">
                <a:latin typeface="Tahoma"/>
                <a:cs typeface="Tahoma"/>
              </a:rPr>
              <a:t>A</a:t>
            </a:r>
            <a:r>
              <a:rPr sz="1800" spc="277" baseline="-4629" dirty="0">
                <a:latin typeface="Tahoma"/>
                <a:cs typeface="Tahoma"/>
              </a:rPr>
              <a:t> </a:t>
            </a:r>
            <a:r>
              <a:rPr sz="2025" spc="-307" baseline="-6172" dirty="0">
                <a:latin typeface="Tahoma"/>
                <a:cs typeface="Tahoma"/>
              </a:rPr>
              <a:t>=</a:t>
            </a:r>
            <a:r>
              <a:rPr sz="2025" spc="172" baseline="-6172" dirty="0">
                <a:latin typeface="Tahoma"/>
                <a:cs typeface="Tahoma"/>
              </a:rPr>
              <a:t> </a:t>
            </a:r>
            <a:r>
              <a:rPr sz="1950" spc="-82" baseline="-4273" dirty="0">
                <a:latin typeface="Tahoma"/>
                <a:cs typeface="Tahoma"/>
              </a:rPr>
              <a:t>{</a:t>
            </a:r>
            <a:r>
              <a:rPr sz="950" spc="-55" dirty="0">
                <a:latin typeface="Tahoma"/>
                <a:cs typeface="Tahoma"/>
              </a:rPr>
              <a:t>1</a:t>
            </a:r>
            <a:r>
              <a:rPr sz="1650" spc="-82" baseline="-2525" dirty="0">
                <a:latin typeface="Tahoma"/>
                <a:cs typeface="Tahoma"/>
              </a:rPr>
              <a:t>,</a:t>
            </a:r>
            <a:r>
              <a:rPr sz="1650" spc="15" baseline="-2525" dirty="0">
                <a:latin typeface="Tahoma"/>
                <a:cs typeface="Tahoma"/>
              </a:rPr>
              <a:t> </a:t>
            </a:r>
            <a:r>
              <a:rPr sz="1275" spc="-15" baseline="3267" dirty="0">
                <a:latin typeface="Tahoma"/>
                <a:cs typeface="Tahoma"/>
              </a:rPr>
              <a:t>2</a:t>
            </a:r>
            <a:r>
              <a:rPr sz="1650" spc="-15" baseline="-2525" dirty="0">
                <a:latin typeface="Tahoma"/>
                <a:cs typeface="Tahoma"/>
              </a:rPr>
              <a:t>,</a:t>
            </a:r>
            <a:r>
              <a:rPr sz="1650" spc="15" baseline="-2525" dirty="0">
                <a:latin typeface="Tahoma"/>
                <a:cs typeface="Tahoma"/>
              </a:rPr>
              <a:t> </a:t>
            </a:r>
            <a:r>
              <a:rPr sz="1275" spc="-89" baseline="3267" dirty="0">
                <a:latin typeface="Tahoma"/>
                <a:cs typeface="Tahoma"/>
              </a:rPr>
              <a:t>3</a:t>
            </a:r>
            <a:r>
              <a:rPr sz="2100" spc="-89" baseline="-5952" dirty="0">
                <a:latin typeface="Tahoma"/>
                <a:cs typeface="Tahoma"/>
              </a:rPr>
              <a:t>}</a:t>
            </a:r>
            <a:r>
              <a:rPr sz="2100" spc="-60" baseline="-5952" dirty="0">
                <a:latin typeface="Tahoma"/>
                <a:cs typeface="Tahoma"/>
              </a:rPr>
              <a:t> </a:t>
            </a:r>
            <a:r>
              <a:rPr sz="950" spc="40" dirty="0">
                <a:latin typeface="Tahoma"/>
                <a:cs typeface="Tahoma"/>
              </a:rPr>
              <a:t>and</a:t>
            </a:r>
            <a:endParaRPr sz="950" dirty="0">
              <a:latin typeface="Tahoma"/>
              <a:cs typeface="Tahoma"/>
            </a:endParaRPr>
          </a:p>
          <a:p>
            <a:pPr marL="50800">
              <a:lnSpc>
                <a:spcPts val="1614"/>
              </a:lnSpc>
            </a:pPr>
            <a:r>
              <a:rPr sz="1100" spc="70" dirty="0">
                <a:latin typeface="Tahoma"/>
                <a:cs typeface="Tahoma"/>
              </a:rPr>
              <a:t>B</a:t>
            </a:r>
            <a:r>
              <a:rPr sz="1100" spc="55" dirty="0">
                <a:latin typeface="Tahoma"/>
                <a:cs typeface="Tahoma"/>
              </a:rPr>
              <a:t> </a:t>
            </a:r>
            <a:r>
              <a:rPr sz="2250" spc="-367" baseline="-5555" dirty="0">
                <a:latin typeface="Tahoma"/>
                <a:cs typeface="Tahoma"/>
              </a:rPr>
              <a:t>=</a:t>
            </a:r>
            <a:r>
              <a:rPr sz="2250" spc="-165" baseline="-5555" dirty="0">
                <a:latin typeface="Tahoma"/>
                <a:cs typeface="Tahoma"/>
              </a:rPr>
              <a:t> </a:t>
            </a:r>
            <a:r>
              <a:rPr sz="1950" spc="-82" baseline="-2136" dirty="0">
                <a:latin typeface="Tahoma"/>
                <a:cs typeface="Tahoma"/>
              </a:rPr>
              <a:t>{</a:t>
            </a:r>
            <a:r>
              <a:rPr sz="1425" spc="-82" baseline="2923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,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275" spc="-89" baseline="6535" dirty="0">
                <a:latin typeface="Tahoma"/>
                <a:cs typeface="Tahoma"/>
              </a:rPr>
              <a:t>4</a:t>
            </a:r>
            <a:r>
              <a:rPr sz="2100" spc="-89" baseline="-3968" dirty="0">
                <a:latin typeface="Tahoma"/>
                <a:cs typeface="Tahoma"/>
              </a:rPr>
              <a:t>}</a:t>
            </a:r>
            <a:r>
              <a:rPr sz="2100" spc="-240" baseline="-3968" dirty="0">
                <a:latin typeface="Tahoma"/>
                <a:cs typeface="Tahoma"/>
              </a:rPr>
              <a:t> </a:t>
            </a:r>
            <a:r>
              <a:rPr sz="1575" spc="-37" baseline="2645" dirty="0">
                <a:latin typeface="Tahoma"/>
                <a:cs typeface="Tahoma"/>
              </a:rPr>
              <a:t>is</a:t>
            </a:r>
            <a:endParaRPr sz="1575" baseline="2645" dirty="0">
              <a:latin typeface="Tahoma"/>
              <a:cs typeface="Tahoma"/>
            </a:endParaRPr>
          </a:p>
        </p:txBody>
      </p:sp>
      <p:pic>
        <p:nvPicPr>
          <p:cNvPr id="7" name="object 7" descr="Mathematical notation showing the union of sets A and B with elements 1, 2, 4.">
            <a:extLst>
              <a:ext uri="{FF2B5EF4-FFF2-40B4-BE49-F238E27FC236}">
                <a16:creationId xmlns:a16="http://schemas.microsoft.com/office/drawing/2014/main" id="{5B2569F8-C031-3261-C3C0-8C4A2CAC9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23254" y="3070446"/>
            <a:ext cx="1041400" cy="152540"/>
          </a:xfrm>
          <a:prstGeom prst="rect">
            <a:avLst/>
          </a:prstGeom>
        </p:spPr>
      </p:pic>
      <p:pic>
        <p:nvPicPr>
          <p:cNvPr id="3074" name="Picture 2" descr="Symmetric Difference: Definition, Symbol &amp; Examples">
            <a:extLst>
              <a:ext uri="{FF2B5EF4-FFF2-40B4-BE49-F238E27FC236}">
                <a16:creationId xmlns:a16="http://schemas.microsoft.com/office/drawing/2014/main" id="{E24AF349-30FC-2A0A-E19D-1D407E5D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" y="1166965"/>
            <a:ext cx="1277014" cy="718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B8D1B51-E34E-300F-BD1A-FFE3AB120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3971" y="2370227"/>
            <a:ext cx="465561" cy="210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887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9853"/>
            <a:ext cx="1161415" cy="2146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778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4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6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00" b="0" i="0" u="none" strike="noStrike" kern="0" cap="none" spc="-4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00" b="0" i="0" u="none" strike="noStrike" kern="0" cap="none" spc="7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Venn diagram showing the relationship between set A and its complement A'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5325" y="451264"/>
            <a:ext cx="3152775" cy="266944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9210"/>
            <a:ext cx="2148840" cy="2159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2065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50" b="0" i="0" u="none" strike="noStrike" kern="0" cap="none" spc="114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Diagrams:</a:t>
            </a:r>
            <a:r>
              <a:rPr kumimoji="0" lang="en-US" sz="1250" b="0" i="0" u="none" strike="noStrike" kern="0" cap="none" spc="12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-1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Intersection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Venn diagram with two overlapping circles labeled A and B, with the intersection shade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915239"/>
            <a:ext cx="2311400" cy="1627092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5349" y="87765"/>
            <a:ext cx="1669414" cy="21844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14604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5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Venn</a:t>
            </a:r>
            <a:r>
              <a:rPr kumimoji="0" lang="en-US" sz="125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5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Diagrams:</a:t>
            </a:r>
            <a:r>
              <a:rPr kumimoji="0" lang="en-US" sz="1250" b="0" i="0" u="none" strike="noStrike" kern="0" cap="none" spc="3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lang="en-US" sz="1250" b="0" i="0" u="none" strike="noStrike" kern="0" cap="none" spc="75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More</a:t>
            </a:r>
            <a:endParaRPr kumimoji="0" lang="en-US" sz="12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3" name="object 3" descr="A handwritten note with the text (Bn)c(μn)A in black ink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525" y="683251"/>
            <a:ext cx="1092200" cy="177963"/>
          </a:xfrm>
          <a:prstGeom prst="rect">
            <a:avLst/>
          </a:prstGeom>
        </p:spPr>
      </p:pic>
      <p:pic>
        <p:nvPicPr>
          <p:cNvPr id="4" name="object 4" descr="Venn diagram with three circles labeled A, B, and C, showing overlapping shaded areas.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95450" y="1273175"/>
            <a:ext cx="1450975" cy="105630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619013" y="1264525"/>
            <a:ext cx="1372870" cy="3365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050" spc="55" dirty="0"/>
              <a:t>Questions?</a:t>
            </a:r>
            <a:endParaRPr sz="20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8902065-2CDA-F14C-AB53-9AE57962C5A9}">
  <we:reference id="WA200010215" version="2.0.0.0" store="Omex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379</TotalTime>
  <Words>2386</Words>
  <Application>Microsoft Macintosh PowerPoint</Application>
  <PresentationFormat>Custom</PresentationFormat>
  <Paragraphs>397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Cambria Math</vt:lpstr>
      <vt:lpstr>Lucida Sans Unicode</vt:lpstr>
      <vt:lpstr>Tahoma</vt:lpstr>
      <vt:lpstr>Office Theme</vt:lpstr>
      <vt:lpstr>PowerPoint Presentation</vt:lpstr>
      <vt:lpstr>Basic Definitions</vt:lpstr>
      <vt:lpstr>Basic Definitions..</vt:lpstr>
      <vt:lpstr>The logical connectives are: ∧, ∨, ⟹, ⟺, ¬ . Examples:</vt:lpstr>
      <vt:lpstr>P ∧ Q is true when both P and Q are true (logical and) P ∨ Q is true when P or Q, or both are true, (inclusive or) P ⊕ Q is true when exactly one P or Q are true. and is false otherwise (exclusive or) P ⟹ Q is true when P is false or Q is true or both are true P ⟺ Q is true when P and Q are both true, or both false ¬P is true when P is false</vt:lpstr>
      <vt:lpstr>Example</vt:lpstr>
      <vt:lpstr>Example</vt:lpstr>
      <vt:lpstr>Example</vt:lpstr>
      <vt:lpstr>PowerPoint Presentation</vt:lpstr>
      <vt:lpstr>Direct Proofs of Implications</vt:lpstr>
      <vt:lpstr>DeMorgan’s Law</vt:lpstr>
      <vt:lpstr>The converse of an implication P ⟹ Q, is the implication Q ⟹ P </vt:lpstr>
      <vt:lpstr>When the implication P ⟹ Q and the implication Q ⟹ P are</vt:lpstr>
      <vt:lpstr>Example</vt:lpstr>
      <vt:lpstr>Truth Tables</vt:lpstr>
      <vt:lpstr>Predicates and Quantifiers</vt:lpstr>
      <vt:lpstr>Quantifiers and Negation</vt:lpstr>
      <vt:lpstr>Sets</vt:lpstr>
      <vt:lpstr>Set of Natural Numbers</vt:lpstr>
      <vt:lpstr>N is the set of natural numbers Z is the set of integer numbers R is a set of real numbers</vt:lpstr>
      <vt:lpstr>Given sets A = {1, 2, 3} and B = {1, 2, 3, 4}, clearly: A ≠ B and A ⊂ B</vt:lpstr>
      <vt:lpstr>Set Operations</vt:lpstr>
      <vt:lpstr>More Set Operations</vt:lpstr>
      <vt:lpstr>}</vt:lpstr>
      <vt:lpstr>PowerPoint Presentation</vt:lpstr>
      <vt:lpstr>PowerPoint Presentation</vt:lpstr>
      <vt:lpstr>Venn Diagrams</vt:lpstr>
      <vt:lpstr>Venn Diagrams: Intersection</vt:lpstr>
      <vt:lpstr>Venn Diagrams: More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CS5070 Mathematical Structures for Computer Science - Notes 1</dc:title>
  <dc:creator>Jose Garrido</dc:creator>
  <cp:lastModifiedBy>Kun Suo</cp:lastModifiedBy>
  <cp:revision>48</cp:revision>
  <dcterms:created xsi:type="dcterms:W3CDTF">2026-04-20T17:46:51Z</dcterms:created>
  <dcterms:modified xsi:type="dcterms:W3CDTF">2026-05-27T17:22:04Z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2021-08-17T00:00:00Z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2026-04-20T00:00:00Z</vt:filetime>
  </property>
  <property fmtid="{D5CDD505-2E9C-101B-9397-08002B2CF9AE}" pid="6" name="Producer">
    <vt:lpwstr>pdfTeX-1.40.19</vt:lpwstr>
  </property>
  <property fmtid="{D5CDD505-2E9C-101B-9397-08002B2CF9AE}" pid="7" name="data-panorama-remediation-history">
    <vt:lpwstr>[{"altText":"Venn diagram of sets A, B, their complement, disjoint sets, and subset relations.","pageNumber":0,"geomIndex":-1,"decorative":false,"imageIndex":-1,"identifiers":{"ELEMENT_ID":"252","ELEMENT_INDICES":"[1, 22, 2]"},"issueTypeId":"MissingAlternativeTextIssue:PDF","dismiss":false,"pageNumbers":[22],"coordinatesList":[[54.75,254.23324584960938,249.75,218.70065307617188]]},{"pageNumber":0,"geomIndex":-1,"decorative":true,"imageIndex":-1,"identifiers":{"ELEMENT_ID":"253","ELEMENT_INDICES":"[1, 22, 3]"},"issueTypeId":"MissingAlternativeTextIssue:PDF","dismiss":false,"pageNumbers":[22],"coordinatesList":[[0.0,272.5,362.75,12.761719703674316]]},{"altText":"A Venn diagram with two overlapping circles labeled A and B, with the intersection shaded.","pageNumber":0,"geomIndex":-1,"decorative":false,"imageIndex":-1,"identifiers":{"ELEMENT_ID":"256","ELEMENT_INDICES":"[1, 23, 2]"},"issueTypeId":"MissingAlternativeTextIssue:PDF","dismiss":false,"pageNumbers":[23],"coordinatesList":[[90.0,200.68411254882812,183.25,128.6179962158203]]},{"isReadingOrderVerified":"true","pageNumber":0,"geomIndex":-1,"issueTypeId":"ReadingOrderIssue:PPTX","dismiss":false,"pageNumbers":[1],"coordinatesList":[[10.0,10.0,2.0,2.0]]},{"isReadingOrderVerified":"true","pageNumber":0,"geomIndex":-1,"issueTypeId":"ReadingOrderIssue:PPTX","dismiss":false,"pageNumbers":[2],"coordinatesList":[[10.0,10.0,2.0,2.0]]},{"isReadingOrderVerified":"true","pageNumber":0,"geomIndex":-1,"issueTypeId":"ReadingOrderIssue:PPTX","dismiss":false,"pageNumbers":[4],"coordinatesList":[[10.0,10.0,2.0,2.0]]},{"isReadingOrderVerified":"true","pageNumber":0,"geomIndex":-1,"issueTypeId":"ReadingOrderIssue:PPTX","dismiss":false,"pageNumbers":[5],"coordinatesList":[[10.0,10.0,2.0,2.0]]},{"pageNumber":0,"geomIndex":-1,"decorative":true,"imageIndex":3,"identifiers":{},"issueTypeId":"MissingAlternativeTextIssue:PPTX","dismiss":false,"pageNumbers":[6],"coordinatesList":[[169.25,110.34999084472656,46.0,12.01099967956543]]},{"isReadingOrderVerified":"true","pageNumber":0,"geomIndex":-1,"issueTypeId":"ReadingOrderIssue:PPTX","dismiss":false,"pageNumbers":[6],"coordinatesList":[[10.0,10.0,2.0,2.0]]},{"isReadingOrderVerified":"true","pageNumber":0,"geomIndex":-1,"issueTypeId":"ReadingOrderIssue:PPTX","dismiss":false,"pageNumbers":[7],"coordinatesList":[[10.0,10.0,2.0,2.0]]},{"isReadingOrderVerified":"true","pageNumber":0,"geomIndex":-1,"issueTypeId":"ReadingOrderIssue:PPTX","dismiss":false,"pageNumbers":[8],"coordinatesList":[[10.0,10.0,2.0,2.0]]},{"isReadingOrderVerified":"true","pageNumber":0,"geomIndex":-1,"issueTypeId":"ReadingOrderIssue:PPTX","dismiss":false,"pageNumbers":[9],"coordinatesList":[[10.0,10.0,2.0,2.0]]},{"isReadingOrderVerified":"true","pageNumber":0,"geomIndex":-1,"issueTypeId":"ReadingOrderIssue:PPTX","dismiss":false,"pageNumbers":[10],"coordinatesList":[[10.0,10.0,2.0,2.0]]},{"isReadingOrderVerified":"true","pageNumber":0,"geomIndex":-1,"issueTypeId":"ReadingOrderIssue:PPTX","dismiss":false,"pageNumbers":[11],"coordinatesList":[[10.0,10.0,2.0,2.0]]},{"isReadingOrderVerified":"true","pageNumber":0,"geomIndex":-1,"issueTypeId":"ReadingOrderIssue:PPTX","dismiss":false,"pageNumbers":[12],"coordinatesList":[[10.0,10.0,2.0,2.0]]},{"isReadingOrderVerified":"true","pageNumber":0,"geomIndex":-1,"issueTypeId":"ReadingOrderIssue:PPTX","dismiss":false,"pageNumbers":[13],"coordinatesList":[[10.0,10.0,2.0,2.0]]},{"isReadingOrderVerified":"true","pageNumber":0,"geomIndex":-1,"issueTypeId":"ReadingOrderIssue:PPTX","dismiss":false,"pageNumbers":[14],"coordinatesList":[[10.0,10.0,2.0,2.0]]},{"isReadingOrderVerified":"true","pageNumber":0,"geomIndex":-1,"issueTypeId":"ReadingOrderIssue:PPTX","dismiss":false,"pageNumbers":[15],"coordinatesList":[[10.0,10.0,2.0,2.0]]},{"isReadingOrderVerified":"true","pageNumber":0,"geomIndex":-1,"issueTypeId":"ReadingOrderIssue:PPTX","dismiss":false,"pageNumbers":[16],"coordinatesList":[[10.0,10.0,2.0,2.0]]},{"isReadingOrderVerified":"true","pageNumber":0,"geomIndex":-1,"issueTypeId":"ReadingOrderIssue:PPTX","dismiss":false,"pageNumbers":[17],"coordinatesList":[[10.0,10.0,2.0,2.0]]},{"isReadingOrderVerified":"true","pageNumber":0,"geomIndex":-1,"issueTypeId":"ReadingOrderIssue:PPTX","dismiss":false,"pageNumbers":[18],"coordinatesList":[[10.0,10.0,2.0,2.0]]},{"isReadingOrderVerified":"true","pageNumber":0,"geomIndex":-1,"issueTypeId":"ReadingOrderIssue:PPTX","dismiss":false,"pageNumbers":[19],"coordinatesList":[[10.0,10.0,2.0,2.0]]},{"isReadingOrderVerified":"true","pageNumber":0,"geomIndex":-1,"issueTypeId":"ReadingOrderIssue:PPTX","dismiss":false,"pageNumbers":[20],"coordinatesList":[[10.0,10.0,2.0,2.0]]},{"isReadingOrderVerified":"true","pageNumber":0,"geomIndex":-1,"issueTypeId":"ReadingOrderIssue:PPTX","dismiss":false,"pageNumbers":[21],"coordinatesList":[[10.0,10.0,2.0,2.0]]},{"isReadingOrderVerified":"true","pageNumber":0,"geomIndex":-1,"issueTypeId":"ReadingOrderIssue:PPTX","dismiss":false,"pageNumbers":[25],"coordinatesList":[[10.0,10.0,2.0,2.0]]},{"languageSet":"default","pageNumber":0,"geomIndex":-1,"identifiers":{},"issueTypeId":"MissingLanguageSetIssue:PPTX","dismiss":false,"pageNumbers":[1],"coordinatesList":[[10.0,10.0,2.0,2.0]]},{"pageNumber":0,"geomIndex":-1,"decorative":true,"imageIndex":2,"identifiers":{},"issueTypeId":"MissingAlternativeTextIssue:PPTX","dismiss":false,"pageNumbers":[8],"coordinatesList":[[130.25,116.6099853515625,102.0,14.012999534606934]]},{"pageNumber":0,"geomIndex":-1,"decorative":true,"imageIndex":3,"identifiers":{},"issueTypeId":"MissingAlternativeTextIssue:PPTX","dismiss":false,"pageNumbers":[8],"coordinatesList":[[130.0,154.38998413085938,104.0,12.01099967956543]]},{"pageNumber":0,"geomIndex":-1,"decorative":true,"imageIndex":3,"identifiers":{},"issueTypeId":"MissingAlternativeTextIssue:PPTX","dismiss":false,"pageNumbers":[12],"coordinatesList":[[168.75,139.87998962402344,48.0,12.01099967956543]]},{"pageNumber":0,"geomIndex":-1,"decorative":true,"imageIndex":4,"identifiers":{},"issueTypeId":"MissingAlternativeTextIssue:PPTX","dismiss":false,"pageNumbers":[12],"coordinatesList":[[166.75,203.93698120117188,50.0,12.01099967956543]]},{"pageNumber":0,"geomIndex":-1,"decorative":true,"imageIndex":2,"identifiers":{},"issueTypeId":"MissingAlternativeTextIssue:PPTX","dismiss":false,"pageNumbers":[13],"coordinatesList":[[162.25,139.87998962402344,60.0,12.01099967956543]]},{"pageNumber":0,"geomIndex":-1,"decorative":true,"imageIndex":4,"identifiers":{},"issueTypeId":"MissingAlternativeTextIssue:PPTX","dismiss":false,"pageNumbers":[13],"coordinatesList":[[143.5,204.18698120117188,96.0,12.01099967956543]]},{"pageNumber":0,"geomIndex":-1,"decorative":true,"imageIndex":3,"identifiers":{},"issueTypeId":"MissingAlternativeTextIssue:PPTX","dismiss":false,"pageNumbers":[14],"coordinatesList":[[163.0,109.09999084472656,58.0,14.012999534606934]]},{"pageNumber":0,"geomIndex":-1,"decorative":true,"imageIndex":4,"identifiers":{},"issueTypeId":"MissingAlternativeTextIssue:PPTX","dismiss":false,"pageNumbers":[14],"coordinatesList":[[164.5,160.39999389648438,56.0,13.51200008392334]]},{"pageNumber":0,"geomIndex":-1,"decorative":true,"imageIndex":6,"identifiers":{},"issueTypeId":"MissingAlternativeTextIssue:PPTX","dismiss":false,"pageNumbers":[14],"coordinatesList":[[162.5,206.9399871826172,58.0,12.01099967956543]]},{"pageNumber":0,"geomIndex":-1,"decorative":true,"imageIndex":8,"identifiers":{},"issueTypeId":"MissingAlternativeTextIssue:PPTX","dismiss":false,"pageNumbers":[14],"coordinatesList":[[178.25,251.73098754882812,28.0,13.51200008392334]]},{"pageNumber":0,"geomIndex":-1,"decorative":true,"imageIndex":3,"identifiers":{},"issueTypeId":"MissingAlternativeTextIssue:PPTX","dismiss":false,"pageNumbers":[15],"coordinatesList":[[150.5,75.56999206542969,84.0,12.01099967956543]]},{"pageNumber":0,"geomIndex":-1,"decorative":true,"imageIndex":4,"identifiers":{},"issueTypeId":"MissingAlternativeTextIssue:PPTX","dismiss":false,"pageNumbers":[15],"coordinatesList":[[148.0,115.6099853515625,88.0,12.01099967956543]]},{"pageNumber":0,"geomIndex":-1,"decorative":true,"imageIndex":6,"identifiers":{},"issueTypeId":"MissingAlternativeTextIssue:PPTX","dismiss":false,"pageNumbers":[15],"coordinatesList":[[118.75,164.14999389648438,146.0,12.01099967956543]]},{"pageNumber":0,"geomIndex":-1,"decorative":true,"imageIndex":7,"identifiers":{},"issueTypeId":"MissingAlternativeTextIssue:PPTX","dismiss":false,"pageNumbers":[15],"coordinatesList":[[135.75,196.42999267578125,112.0,12.01099967956543]]},{"pageNumber":0,"geomIndex":-1,"decorative":true,"imageIndex":9,"identifiers":{},"issueTypeId":"MissingAlternativeTextIssue:PPTX","dismiss":false,"pageNumbers":[15],"coordinatesList":[[142.25,260.2389831542969,104.0,18.767000198364258]]},{"pageNumber":0,"geomIndex":-1,"decorative":true,"imageIndex":4,"identifiers":{},"issueTypeId":"MissingAlternativeTextIssue:PPTX","dismiss":false,"pageNumbers":[17],"coordinatesList":[[149.25,155.38998413085938,88.0,14.012999534606934]]},{"pageNumber":0,"geomIndex":-1,"decorative":true,"imageIndex":6,"identifiers":{},"issueTypeId":"MissingAlternativeTextIssue:PPTX","dismiss":false,"pageNumbers":[17],"coordinatesList":[[64.5,228.208984375,256.0,12.01099967956543]]},{"pageNumber":0,"geomIndex":-1,"decorative":true,"imageIndex":3,"identifiers":{},"issueTypeId":"MissingAlternativeTextIssue:PPTX","dismiss":false,"pageNumbers":[18],"coordinatesList":[[166.75,92.32998657226562,52.0,10.008999824523926]]},{"pageNumber":0,"geomIndex":-1,"decorative":true,"imageIndex":5,"identifiers":{},"issueTypeId":"MissingAlternativeTextIssue:PPTX","dismiss":false,"pageNumbers":[18],"coordinatesList":[[166.75,169.6599884033203,52.0,10.008999824523926]]},{"pageNumber":0,"geomIndex":-1,"decorative":true,"imageIndex":7,"identifiers":{},"issueTypeId":"MissingAlternativeTextIssue:PPTX","dismiss":false,"pageNumbers":[18],"coordinatesList":[[176.75,229.20999145507812,32.0,10.008999824523926]]},{"pageNumber":0,"geomIndex":-1,"decorative":true,"imageIndex":4,"identifiers":{},"issueTypeId":"MissingAlternativeTextIssue:PPTX","dismiss":false,"pageNumbers":[19],"coordinatesList":[[177.0,92.57998657226562,30.0,12.01099967956543]]},{"pageNumber":0,"geomIndex":-1,"decorative":true,"imageIndex":6,"identifiers":{},"issueTypeId":"MissingAlternativeTextIssue:PPTX","dismiss":false,"pageNumbers":[19],"coordinatesList":[[156.5,155.13998413085938,72.0,13.762999534606934]]},{"pageNumber":0,"geomIndex":-1,"decorative":true,"imageIndex":8,"identifiers":{},"issueTypeId":"MissingAlternativeTextIssue:PPTX","dismiss":false,"pageNumbers":[19],"coordinatesList":[[114.0,202.6859893798828,156.0,13.762999534606934]]},{"pageNumber":0,"geomIndex":-1,"decorative":true,"imageIndex":3,"identifiers":{},"issueTypeId":"MissingAlternativeTextIssue:PPTX","dismiss":false,"pageNumbers":[20],"coordinatesList":[[102.25,75.31999206542969,156.0,12.01099967956543]]},{"pageNumber":0,"geomIndex":-1,"decorative":true,"imageIndex":5,"identifiers":{},"issueTypeId":"MissingAlternativeTextIssue:PPTX","dismiss":false,"pageNumbers":[20],"coordinatesList":[[78.5,258.48699951171875,210.0,93.08499908447266]]},{"pageNumber":0,"geomIndex":-1,"decorative":true,"imageIndex":2,"identifiers":{},"issueTypeId":"MissingAlternativeTextIssue:PPTX","dismiss":false,"pageNumbers":[21],"coordinatesList":[[106.75,139.87998962402344,170.0,12.01099967956543]]},{"pageNumber":0,"geomIndex":-1,"decorative":true,"imageIndex":6,"identifiers":{},"issueTypeId":"MissingAlternativeTextIssue:PPTX","dismiss":false,"pageNumbers":[21],"coordinatesList":[[94.25,190.67498779296875,196.0,14.012999534606934]]},{"pageNumber":0,"geomIndex":-1,"decorative":true,"imageIndex":4,"identifiers":{},"issueTypeId":"MissingAlternativeTextIssue:PPTX","dismiss":false,"pageNumbers":[21],"coordinatesList":[[151.0,241.2209930419922,82.0,12.01099967956543]]},{"pageNumber":0,"geomIndex":-1,"decorative":true,"imageIndex":3,"identifiers":{},"issueTypeId":"MissingAlternativeTextIssue:PPTX","dismiss":false,"pageNumbers":[22],"coordinatesList":[[0.0,272.4998474121094,362.75,12.76200008392334]]},{"pageNumber":0,"geomIndex":-1,"decorative":true,"imageIndex":2,"identifiers":{},"issueTypeId":"MissingAlternativeTextIssue:PPTX","dismiss":false,"pageNumbers":[24],"coordinatesList":[[10.75,67.80998229980469,86.0,14.012999534606934]]},{"pageNumber":0,"geomIndex":-1,"decorative":true,"imageIndex":3,"identifiers":{},"issueTypeId":"MissingAlternativeTextIssue:PPTX","dismiss":false,"pageNumbers":[24],"coordinatesList":[[91.25,220.95298767089844,179.5,137.8800048828125]]},{"isReadingOrderVerified":"true","pageNumber":0,"geomIndex":-1,"issueTypeId":"ReadingOrderIssue:PPTX","dismiss":false,"pageNumbers":[24],"coordinatesList":[[10.0,10.0,2.0,2.0]]},{"altText":"A mathematical expression showing the symbol for \u0027p\u0027 with an arrow pointing to an equal sign.","pageNumber":6,"geomIndex":0,"decorative":false,"imageIndex":3,"issueTypeId":"MissingAlternativeTextIssue:PPTX","dismiss":false},{"altText":"A mathematical expression showing the negation of a conjunction inside parentheses.","pageNumber":8,"geomIndex":0,"decorative":false,"imageIndex":2,"issueTypeId":"MissingAlternativeTextIssue:PPTX","dismiss":false},{"altText":"A mathematical equation involving logical symbols and variables.","pageNumber":8,"geomIndex":0,"decorative":false,"imageIndex":3,"issueTypeId":"MissingAlternativeTextIssue:PPTX","dismiss":false},{"altText":"A simple mathematical expression showing an inequality with variables x and y.","pageNumber":12,"geomIndex":0,"decorative":false,"imageIndex":3,"issueTypeId":"MissingAlternativeTextIssue:PPTX","dismiss":false},{"altText":"Mathematical notation showing the function x mapped to itself.","pageNumber":12,"geomIndex":0,"decorative":false,"imageIndex":4,"issueTypeId":"MissingAlternativeTextIssue:PPTX","dismiss":false},{"altText":"A blank white square with some black scribbles or marks.","pageNumber":13,"geomIndex":0,"decorative":false,"imageIndex":2,"issueTypeId":"MissingAlternativeTextIssue:PPTX","dismiss":false},{"altText":"Mathematical notation showing a function applied to five, resulting in R.","pageNumber":13,"geomIndex":0,"decorative":false,"imageIndex":4,"issueTypeId":"MissingAlternativeTextIssue:PPTX","dismiss":false},{"altText":"A mathematical expression showing a set with elements 1, 2, and 3.","pageNumber":14,"geomIndex":0,"decorative":false,"imageIndex":3,"issueTypeId":"MissingAlternativeTextIssue:PPTX","dismiss":false},{"altText":"Mathematical notation showing a set with elements a, b, c, d.","pageNumber":14,"geomIndex":0,"decorative":false,"imageIndex":4,"issueTypeId":"MissingAlternativeTextIssue:PPTX","dismiss":false},{"altText":"A mathematical expression showing the set of all x in the complex numbers such that x squared equals b.","pageNumber":14,"geomIndex":0,"decorative":false,"imageIndex":6,"issueTypeId":"MissingAlternativeTextIssue:PPTX","dismiss":false},{"altText":"A person holding a smartphone in front of a laptop keyboard.","pageNumber":14,"geomIndex":0,"decorative":false,"imageIndex":8,"issueTypeId":"MissingAlternativeTextIssue:PPTX","dismiss":false},{"altText":"A mathematical set notation showing elements 1, 2, and 3.","pageNumber":15,"geomIndex":0,"decorative":false,"imageIndex":3,"issueTypeId":"MissingAlternativeTextIssue:PPTX","dismiss":false},{"altText":"A coordinate point at (0, 2, 4, 6).","pageNumber":15,"geomIndex":0,"decorative":false,"imageIndex":4,"issueTypeId":"MissingAlternativeTextIssue:PPTX","dismiss":false},{"altText":"Mathematical set notation showing elements of set N and a condition involving x and y.","pageNumber":15,"geomIndex":0,"decorative":false,"imageIndex":6,"issueTypeId":"MissingAlternativeTextIssue:PPTX","dismiss":false},{"altText":"Mathematical set notation showing even numbers within the natural numbers.","pageNumber":15,"geomIndex":0,"decorative":false,"imageIndex":7,"issueTypeId":"MissingAlternativeTextIssue:PPTX","dismiss":false},{"altText":"Mathematical set notation showing the set of all integers.","pageNumber":15,"geomIndex":0,"decorative":false,"imageIndex":9,"issueTypeId":"MissingAlternativeTextIssue:PPTX","dismiss":false},{"altText":"Mathematical expression showing absolute value of negative three equals three.","pageNumber":17,"geomIndex":0,"decorative":false,"imageIndex":4,"issueTypeId":"MissingAlternativeTextIssue:PPTX","dismiss":false},{"altText":"A sequence of numbers and decimal points arranged in a grid pattern.","pageNumber":17,"geomIndex":0,"decorative":false,"imageIndex":6,"issueTypeId":"MissingAlternativeTextIssue:PPTX","dismiss":false},{"altText":"Mathematical expression showing A equals B union C.","pageNumber":18,"geomIndex":0,"decorative":false,"imageIndex":3,"issueTypeId":"MissingAlternativeTextIssue:PPTX","dismiss":false},{"altText":"A mathematical notation showing A equals A with a union symbol.","pageNumber":18,"geomIndex":0,"decorative":false,"imageIndex":5,"issueTypeId":"MissingAlternativeTextIssue:PPTX","dismiss":false},{"altText":"A black and white dog lying on a grassy field.","pageNumber":18,"geomIndex":0,"decorative":false,"imageIndex":7,"issueTypeId":"MissingAlternativeTextIssue:PPTX","dismiss":false},{"altText":"A person holding a smartphone with a colorful background.","pageNumber":19,"geomIndex":0,"decorative":false,"imageIndex":4,"issueTypeId":"MissingAlternativeTextIssue:PPTX","dismiss":false},{"altText":"Mathematical expression showing A intersect B equals A minus B.","pageNumber":19,"geomIndex":0,"decorative":false,"imageIndex":6,"issueTypeId":"MissingAlternativeTextIssue:PPTX","dismiss":false},{"altText":"Mathematical notation showing the intersection of sets A and B.","pageNumber":19,"geomIndex":0,"decorative":false,"imageIndex":8,"issueTypeId":"MissingAlternativeTextIssue:PPTX","dismiss":false},{"altText":"Mathematical notation showing the intersection of sets A and B.","pageNumber":20,"geomIndex":0,"decorative":false,"imageIndex":3,"issueTypeId":"MissingAlternativeTextIssue:PPTX","dismiss":false},{"altText":"A black and white image with rows of text and symbols, possibly a printed or handwritten document.","pageNumber":20,"geomIndex":0,"decorative":false,"imageIndex":5,"issueTypeId":"MissingAlternativeTextIssue:PPTX","dismiss":false},{"altText":"Mathematical notation showing the symmetric difference of sets A and B.","pageNumber":21,"geomIndex":0,"decorative":false,"imageIndex":2,"issueTypeId":"MissingAlternativeTextIssue:PPTX","dismiss":false},{"altText":"A mathematical diagram showing set relations with unions and intersections.","pageNumber":21,"geomIndex":0,"decorative":false,"imageIndex":4,"issueTypeId":"MissingAlternativeTextIssue:PPTX","dismiss":false},{"altText":"Mathematical notation showing the union of sets A and B with elements 1, 2, 4.","pageNumber":21,"geomIndex":0,"decorative":false,"imageIndex":6,"issueTypeId":"MissingAlternativeTextIssue:PPTX","dismiss":false},{"altText":"Venn diagram showing the relationship between set A and its complement A\u0027.","pageNumber":22,"geomIndex":0,"decorative":false,"imageIndex":2,"issueTypeId":"MissingAlternativeTextIssue:PPTX","dismiss":false},{"altText":"A computer screen displaying a code editor with lines of code.","pageNumber":22,"geomIndex":0,"decorative":false,"imageIndex":3,"issueTypeId":"MissingAlternativeTextIssue:PPTX","dismiss":false},{"altText":"Venn diagram with two overlapping circles labeled A and B, with the intersection shaded.","pageNumber":23,"geomIndex":0,"decorative":false,"imageIndex":2,"issueTypeId":"MissingAlternativeTextIssue:PPTX","dismiss":false},{"altText":"A handwritten note with the text (Bn)c(μn)A in black ink.","pageNumber":24,"geomIndex":0,"decorative":false,"imageIndex":2,"issueTypeId":"MissingAlternativeTextIssue:PPTX","dismiss":false},{"altText":"Venn diagram with three circles labeled A, B, and C, showing overlapping shaded areas.","pageNumber":24,"geomIndex":0,"decorative":false,"imageIndex":3,"issueTypeId":"MissingAlternativeTextIssue:PPTX","dismiss":false}]</vt:lpwstr>
  </property>
  <property fmtid="{D5CDD505-2E9C-101B-9397-08002B2CF9AE}" pid="8" name="ReadingOrderVerifiedPages">
    <vt:lpwstr>1,2,4,5,6,7,8,9,10,11,12,13,14,15,16,17,18,19,20,21,25,24</vt:lpwstr>
  </property>
</Properties>
</file>