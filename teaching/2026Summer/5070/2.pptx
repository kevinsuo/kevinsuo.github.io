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8" r:id="rId15"/>
    <p:sldId id="274" r:id="rId16"/>
    <p:sldId id="269" r:id="rId17"/>
    <p:sldId id="275" r:id="rId18"/>
    <p:sldId id="270" r:id="rId19"/>
    <p:sldId id="271" r:id="rId20"/>
    <p:sldId id="272" r:id="rId21"/>
  </p:sldIdLst>
  <p:sldSz cx="4610100" cy="3460750"/>
  <p:notesSz cx="4610100" cy="3460750"/>
  <p:defaultTextStyle>
    <a:defPPr>
      <a:defRPr lang="en"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312"/>
    <p:restoredTop sz="86374"/>
  </p:normalViewPr>
  <p:slideViewPr>
    <p:cSldViewPr>
      <p:cViewPr varScale="1">
        <p:scale>
          <a:sx n="195" d="100"/>
          <a:sy n="195" d="100"/>
        </p:scale>
        <p:origin x="168" y="84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65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3ACEA-2189-BE4B-B950-ABFDE76EC0B3}" type="datetimeFigureOut">
              <a:rPr lang="en-US" smtClean="0"/>
              <a:t>5/23/26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73DB5-56A1-474B-8FB3-E15779DE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37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笛卡尔积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73DB5-56A1-474B-8FB3-E15779DE729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36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5" dirty="0"/>
              <a:t> </a:t>
            </a:r>
            <a:r>
              <a:rPr dirty="0"/>
              <a:t>14,</a:t>
            </a:r>
            <a:r>
              <a:rPr spc="2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5" dirty="0"/>
              <a:t>Jose</a:t>
            </a:r>
            <a:r>
              <a:rPr dirty="0"/>
              <a:t> Garrido</a:t>
            </a:r>
            <a:r>
              <a:rPr spc="16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5" dirty="0"/>
              <a:t> </a:t>
            </a:r>
            <a:r>
              <a:rPr dirty="0"/>
              <a:t>14,</a:t>
            </a:r>
            <a:r>
              <a:rPr spc="2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5" dirty="0"/>
              <a:t>Jose</a:t>
            </a:r>
            <a:r>
              <a:rPr dirty="0"/>
              <a:t> Garrido</a:t>
            </a:r>
            <a:r>
              <a:rPr spc="16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5" dirty="0"/>
              <a:t> </a:t>
            </a:r>
            <a:r>
              <a:rPr dirty="0"/>
              <a:t>14,</a:t>
            </a:r>
            <a:r>
              <a:rPr spc="2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5" dirty="0"/>
              <a:t>Jose</a:t>
            </a:r>
            <a:r>
              <a:rPr dirty="0"/>
              <a:t> Garrido</a:t>
            </a:r>
            <a:r>
              <a:rPr spc="165" dirty="0"/>
              <a:t> </a:t>
            </a:r>
            <a:r>
              <a:rPr spc="-10" dirty="0"/>
              <a:t>(KSU)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5" dirty="0"/>
              <a:t> </a:t>
            </a:r>
            <a:r>
              <a:rPr dirty="0"/>
              <a:t>14,</a:t>
            </a:r>
            <a:r>
              <a:rPr spc="20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5" dirty="0"/>
              <a:t>Jose</a:t>
            </a:r>
            <a:r>
              <a:rPr dirty="0"/>
              <a:t> Garrido</a:t>
            </a:r>
            <a:r>
              <a:rPr spc="16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5" dirty="0"/>
              <a:t> </a:t>
            </a:r>
            <a:r>
              <a:rPr dirty="0"/>
              <a:t>14,</a:t>
            </a:r>
            <a:r>
              <a:rPr spc="20" dirty="0"/>
              <a:t> </a:t>
            </a:r>
            <a:r>
              <a:rPr spc="-20" dirty="0"/>
              <a:t>2021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5" dirty="0"/>
              <a:t>Jose</a:t>
            </a:r>
            <a:r>
              <a:rPr dirty="0"/>
              <a:t> Garrido</a:t>
            </a:r>
            <a:r>
              <a:rPr spc="165" dirty="0"/>
              <a:t> </a:t>
            </a:r>
            <a:r>
              <a:rPr spc="-10" dirty="0"/>
              <a:t>(KSU)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83083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820799"/>
            <a:ext cx="4077335" cy="188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55377" y="3351784"/>
            <a:ext cx="62199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5" dirty="0"/>
              <a:t> </a:t>
            </a:r>
            <a:r>
              <a:rPr dirty="0"/>
              <a:t>14,</a:t>
            </a:r>
            <a:r>
              <a:rPr spc="2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9600" y="3351784"/>
            <a:ext cx="7169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5" dirty="0"/>
              <a:t>Jose</a:t>
            </a:r>
            <a:r>
              <a:rPr dirty="0"/>
              <a:t> Garrido</a:t>
            </a:r>
            <a:r>
              <a:rPr spc="16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3851" y="3351784"/>
            <a:ext cx="2797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ksuo@kennesaw.edu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43" y="46409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08509"/>
            <a:ext cx="4483735" cy="677545"/>
            <a:chOff x="87743" y="508509"/>
            <a:chExt cx="4483735" cy="677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84161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71460"/>
              <a:ext cx="4381765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514654"/>
              <a:ext cx="50800" cy="5695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08509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552747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40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27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14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30250" y="566671"/>
            <a:ext cx="4147820" cy="471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" spc="-10" dirty="0">
                <a:solidFill>
                  <a:srgbClr val="B30000"/>
                </a:solidFill>
              </a:rPr>
              <a:t>CS5070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Mathematical</a:t>
            </a:r>
            <a:r>
              <a:rPr spc="-70" dirty="0"/>
              <a:t> </a:t>
            </a:r>
            <a:r>
              <a:rPr lang="en" spc="-25" dirty="0">
                <a:solidFill>
                  <a:srgbClr val="B30000"/>
                </a:solidFill>
              </a:rPr>
              <a:t>Structures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for</a:t>
            </a:r>
            <a:r>
              <a:rPr spc="-70" dirty="0"/>
              <a:t> </a:t>
            </a:r>
            <a:r>
              <a:rPr lang="en" spc="-30" dirty="0">
                <a:solidFill>
                  <a:srgbClr val="B30000"/>
                </a:solidFill>
              </a:rPr>
              <a:t>Computer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" dirty="0">
                <a:solidFill>
                  <a:srgbClr val="B30000"/>
                </a:solidFill>
              </a:rPr>
              <a:t>-</a:t>
            </a:r>
            <a:r>
              <a:rPr spc="-60" dirty="0"/>
              <a:t> </a:t>
            </a:r>
            <a:r>
              <a:rPr lang="en" spc="-10" dirty="0">
                <a:solidFill>
                  <a:srgbClr val="B30000"/>
                </a:solidFill>
              </a:rPr>
              <a:t>Notes</a:t>
            </a:r>
            <a:r>
              <a:rPr spc="-55" dirty="0"/>
              <a:t> </a:t>
            </a:r>
            <a:r>
              <a:rPr lang="en" spc="-50" dirty="0">
                <a:solidFill>
                  <a:srgbClr val="B30000"/>
                </a:solidFill>
              </a:rPr>
              <a:t>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07935" y="1345043"/>
            <a:ext cx="2992755" cy="1134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25" dirty="0">
                <a:latin typeface="Tahoma"/>
                <a:cs typeface="Tahoma"/>
              </a:rPr>
              <a:t>Kun Suo</a:t>
            </a:r>
            <a:endParaRPr sz="1100" dirty="0">
              <a:latin typeface="Tahoma"/>
              <a:cs typeface="Tahoma"/>
            </a:endParaRPr>
          </a:p>
          <a:p>
            <a:pPr marL="12700" marR="5080" indent="447675">
              <a:lnSpc>
                <a:spcPts val="1390"/>
              </a:lnSpc>
              <a:spcBef>
                <a:spcPts val="1190"/>
              </a:spcBef>
            </a:pPr>
            <a:r>
              <a:rPr lang="en" sz="1200" spc="-50" dirty="0">
                <a:latin typeface="Tahoma"/>
                <a:cs typeface="Tahoma"/>
              </a:rPr>
              <a:t>Department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lang="en" sz="1200" spc="-45" dirty="0">
                <a:latin typeface="Tahoma"/>
                <a:cs typeface="Tahoma"/>
              </a:rPr>
              <a:t>Computer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Science </a:t>
            </a:r>
            <a:r>
              <a:rPr lang="en" sz="1200" spc="-55" dirty="0">
                <a:latin typeface="Tahoma"/>
                <a:cs typeface="Tahoma"/>
              </a:rPr>
              <a:t>College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40" dirty="0">
                <a:latin typeface="Tahoma"/>
                <a:cs typeface="Tahoma"/>
              </a:rPr>
              <a:t>Computing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lang="en" sz="1200" spc="-55" dirty="0">
                <a:latin typeface="Tahoma"/>
                <a:cs typeface="Tahoma"/>
              </a:rPr>
              <a:t>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70" dirty="0">
                <a:latin typeface="Tahoma"/>
                <a:cs typeface="Tahoma"/>
              </a:rPr>
              <a:t>Software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60" dirty="0">
                <a:latin typeface="Tahoma"/>
                <a:cs typeface="Tahoma"/>
              </a:rPr>
              <a:t>Engineering</a:t>
            </a:r>
            <a:endParaRPr sz="1200" dirty="0">
              <a:latin typeface="Tahoma"/>
              <a:cs typeface="Tahoma"/>
            </a:endParaRPr>
          </a:p>
          <a:p>
            <a:pPr marL="673100">
              <a:lnSpc>
                <a:spcPts val="1360"/>
              </a:lnSpc>
            </a:pPr>
            <a:r>
              <a:rPr lang="en" sz="1200" spc="-75" dirty="0">
                <a:latin typeface="Tahoma"/>
                <a:cs typeface="Tahoma"/>
              </a:rPr>
              <a:t>Kennesaw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lang="en" sz="1200" spc="-20" dirty="0">
                <a:latin typeface="Tahoma"/>
                <a:cs typeface="Tahoma"/>
              </a:rPr>
              <a:t>State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University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" sz="1200" i="1" spc="-50" dirty="0">
                <a:latin typeface="Trebuchet MS"/>
                <a:cs typeface="Trebuchet MS"/>
                <a:hlinkClick r:id="rId5"/>
              </a:rPr>
              <a:t>ksuo@kennesaw.edu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Cartesian</a:t>
            </a:r>
            <a:r>
              <a:rPr spc="-45" dirty="0"/>
              <a:t> </a:t>
            </a:r>
            <a:r>
              <a:rPr spc="-10" dirty="0"/>
              <a:t>Product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44" y="405585"/>
            <a:ext cx="4172585" cy="1530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Given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operation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defined: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ahoma"/>
              <a:cs typeface="Tahoma"/>
            </a:endParaRPr>
          </a:p>
          <a:p>
            <a:pPr marL="1229360">
              <a:lnSpc>
                <a:spcPct val="100000"/>
              </a:lnSpc>
            </a:pPr>
            <a:r>
              <a:rPr sz="1100" i="1" spc="-20" dirty="0">
                <a:latin typeface="Arial"/>
                <a:cs typeface="Arial"/>
              </a:rPr>
              <a:t>A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: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∧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Arial"/>
                <a:cs typeface="Arial"/>
              </a:rPr>
              <a:t>B</a:t>
            </a:r>
            <a:r>
              <a:rPr sz="1100" spc="100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50800" marR="43180">
              <a:lnSpc>
                <a:spcPct val="102699"/>
              </a:lnSpc>
              <a:spcBef>
                <a:spcPts val="12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Cartesian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ordered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pairs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element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element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Tahoma"/>
                <a:cs typeface="Tahoma"/>
              </a:rPr>
              <a:t>Let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Arial MT"/>
                <a:cs typeface="Arial MT"/>
              </a:rPr>
              <a:t>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65" dirty="0">
                <a:latin typeface="Arial"/>
                <a:cs typeface="Arial"/>
              </a:rPr>
              <a:t>a</a:t>
            </a:r>
            <a:r>
              <a:rPr sz="1200" spc="-97" baseline="-10416" dirty="0">
                <a:latin typeface="Arial MT"/>
                <a:cs typeface="Arial MT"/>
              </a:rPr>
              <a:t>2</a:t>
            </a:r>
            <a:r>
              <a:rPr sz="1100" i="1" spc="-65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65" dirty="0">
                <a:latin typeface="Arial"/>
                <a:cs typeface="Arial"/>
              </a:rPr>
              <a:t>a</a:t>
            </a:r>
            <a:r>
              <a:rPr sz="1200" spc="-97" baseline="-10416" dirty="0">
                <a:latin typeface="Arial MT"/>
                <a:cs typeface="Arial MT"/>
              </a:rPr>
              <a:t>3</a:t>
            </a:r>
            <a:r>
              <a:rPr sz="1100" i="1" spc="-65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Franklin Gothic Medium"/>
                <a:cs typeface="Franklin Gothic Medium"/>
              </a:rPr>
              <a:t>m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spc="3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Arial MT"/>
                <a:cs typeface="Arial MT"/>
              </a:rPr>
              <a:t>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200" spc="-75" baseline="-10416" dirty="0">
                <a:latin typeface="Arial MT"/>
                <a:cs typeface="Arial MT"/>
              </a:rPr>
              <a:t>2</a:t>
            </a:r>
            <a:r>
              <a:rPr sz="1100" i="1" spc="-50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200" spc="-75" baseline="-10416" dirty="0">
                <a:latin typeface="Arial MT"/>
                <a:cs typeface="Arial MT"/>
              </a:rPr>
              <a:t>3</a:t>
            </a:r>
            <a:r>
              <a:rPr sz="1100" i="1" spc="-50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35" dirty="0">
                <a:latin typeface="Arial"/>
                <a:cs typeface="Arial"/>
              </a:rPr>
              <a:t>b</a:t>
            </a:r>
            <a:r>
              <a:rPr sz="1200" i="1" spc="52" baseline="-10416" dirty="0">
                <a:latin typeface="Franklin Gothic Medium"/>
                <a:cs typeface="Franklin Gothic Medium"/>
              </a:rPr>
              <a:t>n</a:t>
            </a:r>
            <a:r>
              <a:rPr sz="1100" spc="3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625"/>
              </a:spcBef>
            </a:pPr>
            <a:r>
              <a:rPr sz="1100" i="1" spc="-20" dirty="0">
                <a:latin typeface="Arial"/>
                <a:cs typeface="Arial"/>
              </a:rPr>
              <a:t>A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130" dirty="0">
                <a:latin typeface="Lucida Sans Unicode"/>
                <a:cs typeface="Lucida Sans Unicode"/>
              </a:rPr>
              <a:t>{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378" y="2632975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208005"/>
              </p:ext>
            </p:extLst>
          </p:nvPr>
        </p:nvGraphicFramePr>
        <p:xfrm>
          <a:off x="95300" y="2028773"/>
          <a:ext cx="3103880" cy="12084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R="88900" algn="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05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050"/>
                        </a:lnSpc>
                        <a:tabLst>
                          <a:tab pos="638810" algn="l"/>
                        </a:tabLst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i="1" spc="-100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100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70" dirty="0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2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i="1" spc="-30" baseline="-10416" dirty="0">
                          <a:latin typeface="Franklin Gothic Medium"/>
                          <a:cs typeface="Franklin Gothic Medium"/>
                        </a:rPr>
                        <a:t>n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88900" algn="r">
                        <a:lnSpc>
                          <a:spcPts val="113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3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30"/>
                        </a:lnSpc>
                        <a:tabLst>
                          <a:tab pos="638810" algn="l"/>
                        </a:tabLst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i="1" spc="-100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100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70" dirty="0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2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i="1" spc="-30" baseline="-10416" dirty="0">
                          <a:latin typeface="Franklin Gothic Medium"/>
                          <a:cs typeface="Franklin Gothic Medium"/>
                        </a:rPr>
                        <a:t>n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R="88900" algn="r">
                        <a:lnSpc>
                          <a:spcPts val="113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3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30"/>
                        </a:lnSpc>
                        <a:tabLst>
                          <a:tab pos="638810" algn="l"/>
                        </a:tabLst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i="1" spc="-100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100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70" dirty="0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baseline="-10416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100" i="1" spc="-5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2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i="1" spc="-30" baseline="-10416" dirty="0">
                          <a:latin typeface="Franklin Gothic Medium"/>
                          <a:cs typeface="Franklin Gothic Medium"/>
                        </a:rPr>
                        <a:t>n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R="99060" algn="ctr">
                        <a:lnSpc>
                          <a:spcPts val="120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.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45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4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67" baseline="-10416" dirty="0">
                          <a:latin typeface="Franklin Gothic Medium"/>
                          <a:cs typeface="Franklin Gothic Medium"/>
                        </a:rPr>
                        <a:t>m</a:t>
                      </a:r>
                      <a:r>
                        <a:rPr sz="1100" i="1" spc="-4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45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4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67" baseline="-10416" dirty="0">
                          <a:latin typeface="Franklin Gothic Medium"/>
                          <a:cs typeface="Franklin Gothic Medium"/>
                        </a:rPr>
                        <a:t>m</a:t>
                      </a:r>
                      <a:r>
                        <a:rPr sz="1100" i="1" spc="-4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Verdana"/>
                          <a:cs typeface="Verdana"/>
                        </a:rPr>
                        <a:t>,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45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4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67" baseline="-10416" dirty="0">
                          <a:latin typeface="Franklin Gothic Medium"/>
                          <a:cs typeface="Franklin Gothic Medium"/>
                        </a:rPr>
                        <a:t>m</a:t>
                      </a:r>
                      <a:r>
                        <a:rPr sz="1100" i="1" spc="-4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baseline="-10416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48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100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100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-20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100" i="1" spc="75" dirty="0">
                          <a:latin typeface="Verdana"/>
                          <a:cs typeface="Verdana"/>
                        </a:rPr>
                        <a:t> 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4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67" baseline="-10416" dirty="0">
                          <a:latin typeface="Franklin Gothic Medium"/>
                          <a:cs typeface="Franklin Gothic Medium"/>
                        </a:rPr>
                        <a:t>m</a:t>
                      </a:r>
                      <a:r>
                        <a:rPr sz="1100" i="1" spc="-4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2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i="1" spc="-37" baseline="-10416" dirty="0">
                          <a:latin typeface="Franklin Gothic Medium"/>
                          <a:cs typeface="Franklin Gothic Medium"/>
                        </a:rPr>
                        <a:t>n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32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130" dirty="0">
                          <a:latin typeface="Lucida Sans Unicode"/>
                          <a:cs typeface="Lucida Sans Unicode"/>
                        </a:rPr>
                        <a:t>}</a:t>
                      </a:r>
                      <a:endParaRPr sz="1100">
                        <a:latin typeface="Lucida Sans Unicode"/>
                        <a:cs typeface="Lucida Sans Unicode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290" name="Picture 2" descr="Cartesian product - Wikipedia">
            <a:extLst>
              <a:ext uri="{FF2B5EF4-FFF2-40B4-BE49-F238E27FC236}">
                <a16:creationId xmlns:a16="http://schemas.microsoft.com/office/drawing/2014/main" id="{F7EE4E4F-4782-9588-2504-760DCBA21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097" y="1967518"/>
            <a:ext cx="1372802" cy="104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75" dirty="0"/>
              <a:t> </a:t>
            </a:r>
            <a:r>
              <a:rPr dirty="0"/>
              <a:t>on</a:t>
            </a:r>
            <a:r>
              <a:rPr spc="-75" dirty="0"/>
              <a:t> </a:t>
            </a:r>
            <a:r>
              <a:rPr spc="-35" dirty="0"/>
              <a:t>Cartesian</a:t>
            </a:r>
            <a:r>
              <a:rPr spc="-75" dirty="0"/>
              <a:t> </a:t>
            </a:r>
            <a:r>
              <a:rPr spc="-10" dirty="0"/>
              <a:t>Product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5004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4832" y="766596"/>
            <a:ext cx="4155440" cy="1892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Notice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Cartesian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m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spc="-60" dirty="0">
                <a:latin typeface="Tahoma"/>
                <a:cs typeface="Tahoma"/>
              </a:rPr>
              <a:t>rows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pairs,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m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pairs.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Tahoma"/>
                <a:cs typeface="Tahoma"/>
              </a:rPr>
              <a:t>Each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above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really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Franklin Gothic Medium"/>
                <a:cs typeface="Franklin Gothic Medium"/>
              </a:rPr>
              <a:t>i</a:t>
            </a:r>
            <a:r>
              <a:rPr sz="1200" i="1" spc="-112" baseline="-10416" dirty="0">
                <a:latin typeface="Franklin Gothic Medium"/>
                <a:cs typeface="Franklin Gothic Medium"/>
              </a:rPr>
              <a:t> </a:t>
            </a:r>
            <a:r>
              <a:rPr sz="1100" spc="180" dirty="0">
                <a:latin typeface="Lucida Sans Unicode"/>
                <a:cs typeface="Lucida Sans Unicode"/>
              </a:rPr>
              <a:t>}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Franklin Gothic Medium"/>
                <a:cs typeface="Franklin Gothic Medium"/>
              </a:rPr>
              <a:t>i</a:t>
            </a:r>
            <a:r>
              <a:rPr sz="1200" i="1" spc="277" baseline="-10416" dirty="0">
                <a:latin typeface="Franklin Gothic Medium"/>
                <a:cs typeface="Franklin Gothic Medium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</a:pPr>
            <a:r>
              <a:rPr sz="1100" i="1" spc="-20" dirty="0">
                <a:latin typeface="Arial"/>
                <a:cs typeface="Arial"/>
              </a:rPr>
              <a:t>A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(</a:t>
            </a:r>
            <a:r>
              <a:rPr sz="1100" spc="55" dirty="0">
                <a:latin typeface="Lucida Sans Unicode"/>
                <a:cs typeface="Lucida Sans Unicode"/>
              </a:rPr>
              <a:t>{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spc="82" baseline="-10416" dirty="0">
                <a:latin typeface="Arial MT"/>
                <a:cs typeface="Arial MT"/>
              </a:rPr>
              <a:t>1</a:t>
            </a:r>
            <a:r>
              <a:rPr sz="1100" spc="55" dirty="0">
                <a:latin typeface="Lucida Sans Unicode"/>
                <a:cs typeface="Lucida Sans Unicode"/>
              </a:rPr>
              <a:t>}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55" dirty="0">
                <a:latin typeface="Tahoma"/>
                <a:cs typeface="Tahoma"/>
              </a:rPr>
              <a:t>(</a:t>
            </a:r>
            <a:r>
              <a:rPr sz="1100" spc="55" dirty="0">
                <a:latin typeface="Lucida Sans Unicode"/>
                <a:cs typeface="Lucida Sans Unicode"/>
              </a:rPr>
              <a:t>{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spc="82" baseline="-10416" dirty="0">
                <a:latin typeface="Arial MT"/>
                <a:cs typeface="Arial MT"/>
              </a:rPr>
              <a:t>2</a:t>
            </a:r>
            <a:r>
              <a:rPr sz="1100" spc="55" dirty="0">
                <a:latin typeface="Lucida Sans Unicode"/>
                <a:cs typeface="Lucida Sans Unicode"/>
              </a:rPr>
              <a:t>}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55" dirty="0">
                <a:latin typeface="Tahoma"/>
                <a:cs typeface="Tahoma"/>
              </a:rPr>
              <a:t>(</a:t>
            </a:r>
            <a:r>
              <a:rPr sz="1100" spc="55" dirty="0">
                <a:latin typeface="Lucida Sans Unicode"/>
                <a:cs typeface="Lucida Sans Unicode"/>
              </a:rPr>
              <a:t>{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spc="82" baseline="-10416" dirty="0">
                <a:latin typeface="Arial MT"/>
                <a:cs typeface="Arial MT"/>
              </a:rPr>
              <a:t>3</a:t>
            </a:r>
            <a:r>
              <a:rPr sz="1100" spc="55" dirty="0">
                <a:latin typeface="Lucida Sans Unicode"/>
                <a:cs typeface="Lucida Sans Unicode"/>
              </a:rPr>
              <a:t>}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30" dirty="0">
                <a:latin typeface="Verdana"/>
                <a:cs typeface="Verdan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spc="60" dirty="0">
                <a:latin typeface="Lucida Sans Unicode"/>
                <a:cs typeface="Lucida Sans Unicode"/>
              </a:rPr>
              <a:t>{</a:t>
            </a:r>
            <a:r>
              <a:rPr sz="1100" i="1" spc="60" dirty="0">
                <a:latin typeface="Arial"/>
                <a:cs typeface="Arial"/>
              </a:rPr>
              <a:t>a</a:t>
            </a:r>
            <a:r>
              <a:rPr sz="1200" i="1" spc="89" baseline="-10416" dirty="0">
                <a:latin typeface="Franklin Gothic Medium"/>
                <a:cs typeface="Franklin Gothic Medium"/>
              </a:rPr>
              <a:t>m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So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100" i="1" spc="-8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2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really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union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disjoint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sets.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those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has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them.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(using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additive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principle)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5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m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summarize,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Tahoma"/>
                <a:cs typeface="Tahoma"/>
              </a:rPr>
              <a:t>,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i="1" spc="-65" dirty="0">
                <a:latin typeface="Arial"/>
                <a:cs typeface="Arial"/>
              </a:rPr>
              <a:t>A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85" dirty="0">
                <a:latin typeface="Lucida Sans Unicode"/>
                <a:cs typeface="Lucida Sans Unicode"/>
              </a:rPr>
              <a:t>|</a:t>
            </a:r>
            <a:r>
              <a:rPr sz="1100" i="1" spc="-85" dirty="0">
                <a:latin typeface="Arial"/>
                <a:cs typeface="Arial"/>
              </a:rPr>
              <a:t>A</a:t>
            </a:r>
            <a:r>
              <a:rPr sz="1100" spc="-85" dirty="0">
                <a:latin typeface="Lucida Sans Unicode"/>
                <a:cs typeface="Lucida Sans Unicode"/>
              </a:rPr>
              <a:t>|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32154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52219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206409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Relations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8599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43180">
              <a:lnSpc>
                <a:spcPct val="102600"/>
              </a:lnSpc>
              <a:spcBef>
                <a:spcPts val="55"/>
              </a:spcBef>
            </a:pPr>
            <a:r>
              <a:rPr spc="-25" dirty="0"/>
              <a:t>Relations</a:t>
            </a:r>
            <a:r>
              <a:rPr spc="-65" dirty="0"/>
              <a:t> </a:t>
            </a:r>
            <a:r>
              <a:rPr spc="-50" dirty="0"/>
              <a:t>may</a:t>
            </a:r>
            <a:r>
              <a:rPr spc="-35" dirty="0"/>
              <a:t> </a:t>
            </a:r>
            <a:r>
              <a:rPr spc="-25" dirty="0"/>
              <a:t>exist</a:t>
            </a:r>
            <a:r>
              <a:rPr spc="-60" dirty="0"/>
              <a:t> </a:t>
            </a:r>
            <a:r>
              <a:rPr spc="-70" dirty="0"/>
              <a:t>between</a:t>
            </a:r>
            <a:r>
              <a:rPr spc="-15" dirty="0"/>
              <a:t> </a:t>
            </a:r>
            <a:r>
              <a:rPr spc="-35" dirty="0"/>
              <a:t>objects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35" dirty="0"/>
              <a:t> </a:t>
            </a:r>
            <a:r>
              <a:rPr spc="-60" dirty="0"/>
              <a:t>same</a:t>
            </a:r>
            <a:r>
              <a:rPr spc="-30" dirty="0"/>
              <a:t> </a:t>
            </a:r>
            <a:r>
              <a:rPr spc="-20" dirty="0"/>
              <a:t>set</a:t>
            </a:r>
            <a:r>
              <a:rPr spc="-40" dirty="0"/>
              <a:t> </a:t>
            </a:r>
            <a:r>
              <a:rPr spc="-20" dirty="0"/>
              <a:t>or</a:t>
            </a:r>
            <a:r>
              <a:rPr spc="-40" dirty="0"/>
              <a:t> </a:t>
            </a:r>
            <a:r>
              <a:rPr spc="-10" dirty="0"/>
              <a:t>between </a:t>
            </a:r>
            <a:r>
              <a:rPr spc="-35" dirty="0"/>
              <a:t>objects</a:t>
            </a:r>
            <a:r>
              <a:rPr spc="-55" dirty="0"/>
              <a:t> </a:t>
            </a:r>
            <a:r>
              <a:rPr dirty="0"/>
              <a:t>of</a:t>
            </a:r>
            <a:r>
              <a:rPr spc="-40" dirty="0"/>
              <a:t> two </a:t>
            </a:r>
            <a:r>
              <a:rPr spc="-20" dirty="0"/>
              <a:t>or</a:t>
            </a:r>
            <a:r>
              <a:rPr spc="-40" dirty="0"/>
              <a:t> </a:t>
            </a:r>
            <a:r>
              <a:rPr spc="-60" dirty="0"/>
              <a:t>more</a:t>
            </a:r>
            <a:r>
              <a:rPr spc="-25" dirty="0"/>
              <a:t> sets.</a:t>
            </a:r>
            <a:r>
              <a:rPr spc="60" dirty="0"/>
              <a:t> </a:t>
            </a:r>
            <a:r>
              <a:rPr spc="55" dirty="0"/>
              <a:t>A</a:t>
            </a:r>
            <a:r>
              <a:rPr spc="-45" dirty="0"/>
              <a:t> </a:t>
            </a:r>
            <a:r>
              <a:rPr b="1" spc="-30" dirty="0">
                <a:latin typeface="Trebuchet MS"/>
                <a:cs typeface="Trebuchet MS"/>
              </a:rPr>
              <a:t>binary</a:t>
            </a:r>
            <a:r>
              <a:rPr b="1" spc="5" dirty="0">
                <a:latin typeface="Trebuchet MS"/>
                <a:cs typeface="Trebuchet MS"/>
              </a:rPr>
              <a:t> </a:t>
            </a:r>
            <a:r>
              <a:rPr b="1" spc="-35" dirty="0">
                <a:latin typeface="Trebuchet MS"/>
                <a:cs typeface="Trebuchet MS"/>
              </a:rPr>
              <a:t>relation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75" dirty="0">
                <a:latin typeface="Arial"/>
                <a:cs typeface="Arial"/>
              </a:rPr>
              <a:t> </a:t>
            </a:r>
            <a:r>
              <a:rPr spc="-20" dirty="0"/>
              <a:t>from</a:t>
            </a:r>
            <a:r>
              <a:rPr spc="-40" dirty="0"/>
              <a:t> </a:t>
            </a:r>
            <a:r>
              <a:rPr spc="-20" dirty="0"/>
              <a:t>set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U</a:t>
            </a:r>
            <a:r>
              <a:rPr i="1" spc="75" dirty="0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V</a:t>
            </a:r>
            <a:r>
              <a:rPr i="1" spc="140" dirty="0">
                <a:latin typeface="Arial"/>
                <a:cs typeface="Arial"/>
              </a:rPr>
              <a:t> </a:t>
            </a:r>
            <a:r>
              <a:rPr spc="-25" dirty="0"/>
              <a:t>is </a:t>
            </a:r>
            <a:r>
              <a:rPr dirty="0"/>
              <a:t>a</a:t>
            </a:r>
            <a:r>
              <a:rPr spc="-60" dirty="0"/>
              <a:t> </a:t>
            </a:r>
            <a:r>
              <a:rPr spc="-50" dirty="0"/>
              <a:t>subset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the</a:t>
            </a:r>
            <a:r>
              <a:rPr spc="-25" dirty="0"/>
              <a:t> </a:t>
            </a:r>
            <a:r>
              <a:rPr spc="-35" dirty="0"/>
              <a:t>Cartesian</a:t>
            </a:r>
            <a:r>
              <a:rPr spc="-25" dirty="0"/>
              <a:t> </a:t>
            </a:r>
            <a:r>
              <a:rPr spc="-30" dirty="0"/>
              <a:t>product</a:t>
            </a:r>
            <a:r>
              <a:rPr spc="-25" dirty="0"/>
              <a:t> </a:t>
            </a:r>
            <a:r>
              <a:rPr i="1" dirty="0">
                <a:latin typeface="Arial"/>
                <a:cs typeface="Arial"/>
              </a:rPr>
              <a:t>U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×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Arial"/>
                <a:cs typeface="Arial"/>
              </a:rPr>
              <a:t>B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/>
              <a:t>An</a:t>
            </a:r>
            <a:r>
              <a:rPr spc="-80" dirty="0"/>
              <a:t> </a:t>
            </a:r>
            <a:r>
              <a:rPr i="1" spc="-45" dirty="0">
                <a:latin typeface="Arial"/>
                <a:cs typeface="Arial"/>
              </a:rPr>
              <a:t>n</a:t>
            </a:r>
            <a:r>
              <a:rPr spc="-45" dirty="0"/>
              <a:t>-</a:t>
            </a:r>
            <a:r>
              <a:rPr spc="-35" dirty="0"/>
              <a:t>ary</a:t>
            </a:r>
            <a:r>
              <a:rPr spc="-5" dirty="0"/>
              <a:t> </a:t>
            </a:r>
            <a:r>
              <a:rPr spc="-25" dirty="0"/>
              <a:t>relation</a:t>
            </a:r>
            <a:r>
              <a:rPr spc="-5" dirty="0"/>
              <a:t> </a:t>
            </a:r>
            <a:r>
              <a:rPr spc="-10" dirty="0"/>
              <a:t>on</a:t>
            </a:r>
            <a:r>
              <a:rPr spc="-5" dirty="0"/>
              <a:t> </a:t>
            </a:r>
            <a:r>
              <a:rPr spc="-45" dirty="0"/>
              <a:t>sets</a:t>
            </a:r>
            <a:r>
              <a:rPr spc="-10" dirty="0"/>
              <a:t> </a:t>
            </a:r>
            <a:r>
              <a:rPr i="1" spc="-40" dirty="0">
                <a:latin typeface="Arial"/>
                <a:cs typeface="Arial"/>
              </a:rPr>
              <a:t>A</a:t>
            </a:r>
            <a:r>
              <a:rPr sz="1200" spc="-60" baseline="-10416" dirty="0">
                <a:latin typeface="Arial MT"/>
                <a:cs typeface="Arial MT"/>
              </a:rPr>
              <a:t>1</a:t>
            </a:r>
            <a:r>
              <a:rPr sz="1100" i="1" spc="-4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40" dirty="0">
                <a:latin typeface="Arial"/>
                <a:cs typeface="Arial"/>
              </a:rPr>
              <a:t>A</a:t>
            </a:r>
            <a:r>
              <a:rPr sz="1200" spc="-60" baseline="-10416" dirty="0">
                <a:latin typeface="Arial MT"/>
                <a:cs typeface="Arial MT"/>
              </a:rPr>
              <a:t>2</a:t>
            </a:r>
            <a:r>
              <a:rPr sz="1100" i="1" spc="-4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Franklin Gothic Medium"/>
                <a:cs typeface="Franklin Gothic Medium"/>
              </a:rPr>
              <a:t>n</a:t>
            </a:r>
            <a:r>
              <a:rPr sz="1200" i="1" spc="300" baseline="-10416" dirty="0">
                <a:latin typeface="Franklin Gothic Medium"/>
                <a:cs typeface="Franklin Gothic Medium"/>
              </a:rPr>
              <a:t> </a:t>
            </a:r>
            <a:r>
              <a:rPr sz="1100" dirty="0"/>
              <a:t>is</a:t>
            </a:r>
            <a:r>
              <a:rPr sz="1100" spc="-10" dirty="0"/>
              <a:t> </a:t>
            </a:r>
            <a:r>
              <a:rPr sz="1100" dirty="0"/>
              <a:t>a</a:t>
            </a:r>
            <a:r>
              <a:rPr sz="1100" spc="-5" dirty="0"/>
              <a:t> </a:t>
            </a:r>
            <a:r>
              <a:rPr sz="1100" spc="-45" dirty="0"/>
              <a:t>subset</a:t>
            </a:r>
            <a:r>
              <a:rPr sz="1100" spc="-10" dirty="0"/>
              <a:t> </a:t>
            </a:r>
            <a:r>
              <a:rPr sz="1100" spc="-25" dirty="0"/>
              <a:t>of</a:t>
            </a:r>
            <a:endParaRPr sz="1100" dirty="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Arial MT"/>
                <a:cs typeface="Arial MT"/>
              </a:rPr>
              <a:t>1</a:t>
            </a:r>
            <a:r>
              <a:rPr sz="1200" spc="82" baseline="-10416" dirty="0">
                <a:latin typeface="Arial MT"/>
                <a:cs typeface="Arial MT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40" dirty="0">
                <a:latin typeface="Arial"/>
                <a:cs typeface="Arial"/>
              </a:rPr>
              <a:t>A</a:t>
            </a:r>
            <a:r>
              <a:rPr sz="1200" spc="-60" baseline="-10416" dirty="0">
                <a:latin typeface="Arial MT"/>
                <a:cs typeface="Arial MT"/>
              </a:rPr>
              <a:t>2</a:t>
            </a:r>
            <a:r>
              <a:rPr sz="1100" i="1" spc="-4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i="1" spc="-37" baseline="-10416" dirty="0">
                <a:latin typeface="Franklin Gothic Medium"/>
                <a:cs typeface="Franklin Gothic Medium"/>
              </a:rPr>
              <a:t>n</a:t>
            </a:r>
            <a:r>
              <a:rPr sz="1100" spc="-25" dirty="0"/>
              <a:t>.</a:t>
            </a:r>
            <a:endParaRPr sz="1100" dirty="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pc="55" dirty="0"/>
              <a:t>A</a:t>
            </a:r>
            <a:r>
              <a:rPr spc="-90" dirty="0"/>
              <a:t> </a:t>
            </a:r>
            <a:r>
              <a:rPr spc="-30" dirty="0"/>
              <a:t>binary</a:t>
            </a:r>
            <a:r>
              <a:rPr spc="-55" dirty="0"/>
              <a:t> </a:t>
            </a:r>
            <a:r>
              <a:rPr spc="-25" dirty="0"/>
              <a:t>relation</a:t>
            </a:r>
            <a:r>
              <a:rPr spc="-35" dirty="0"/>
              <a:t> 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80" dirty="0">
                <a:latin typeface="Arial"/>
                <a:cs typeface="Arial"/>
              </a:rPr>
              <a:t> </a:t>
            </a:r>
            <a:r>
              <a:rPr spc="-20" dirty="0"/>
              <a:t>can</a:t>
            </a:r>
            <a:r>
              <a:rPr spc="-30" dirty="0"/>
              <a:t> </a:t>
            </a:r>
            <a:r>
              <a:rPr spc="-10" dirty="0"/>
              <a:t>be</a:t>
            </a:r>
            <a:r>
              <a:rPr spc="-30" dirty="0"/>
              <a:t> </a:t>
            </a:r>
            <a:r>
              <a:rPr spc="-45" dirty="0"/>
              <a:t>denoted</a:t>
            </a:r>
            <a:r>
              <a:rPr spc="-35" dirty="0"/>
              <a:t> </a:t>
            </a:r>
            <a:r>
              <a:rPr spc="-30" dirty="0"/>
              <a:t>as</a:t>
            </a:r>
            <a:r>
              <a:rPr spc="-35" dirty="0"/>
              <a:t> </a:t>
            </a:r>
            <a:r>
              <a:rPr spc="-25" dirty="0"/>
              <a:t>(</a:t>
            </a:r>
            <a:r>
              <a:rPr i="1" spc="-25" dirty="0">
                <a:latin typeface="Arial"/>
                <a:cs typeface="Arial"/>
              </a:rPr>
              <a:t>x</a:t>
            </a:r>
            <a:r>
              <a:rPr i="1" spc="-25" dirty="0">
                <a:latin typeface="Verdana"/>
                <a:cs typeface="Verdana"/>
              </a:rPr>
              <a:t>,</a:t>
            </a:r>
            <a:r>
              <a:rPr i="1" spc="-204" dirty="0">
                <a:latin typeface="Verdana"/>
                <a:cs typeface="Verdana"/>
              </a:rPr>
              <a:t> </a:t>
            </a:r>
            <a:r>
              <a:rPr i="1" spc="-55" dirty="0">
                <a:latin typeface="Arial"/>
                <a:cs typeface="Arial"/>
              </a:rPr>
              <a:t>y</a:t>
            </a:r>
            <a:r>
              <a:rPr i="1" spc="-190" dirty="0">
                <a:latin typeface="Arial"/>
                <a:cs typeface="Arial"/>
              </a:rPr>
              <a:t> </a:t>
            </a:r>
            <a:r>
              <a:rPr dirty="0"/>
              <a:t>)</a:t>
            </a:r>
            <a:r>
              <a:rPr spc="-85" dirty="0"/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85" dirty="0">
                <a:latin typeface="Arial"/>
                <a:cs typeface="Arial"/>
              </a:rPr>
              <a:t> </a:t>
            </a:r>
            <a:r>
              <a:rPr spc="-35" dirty="0"/>
              <a:t>and</a:t>
            </a:r>
            <a:r>
              <a:rPr spc="-30" dirty="0"/>
              <a:t> by</a:t>
            </a:r>
            <a:r>
              <a:rPr spc="-35" dirty="0"/>
              <a:t> </a:t>
            </a:r>
            <a:r>
              <a:rPr i="1" spc="-25" dirty="0">
                <a:latin typeface="Arial"/>
                <a:cs typeface="Arial"/>
              </a:rPr>
              <a:t>xRy</a:t>
            </a:r>
          </a:p>
          <a:p>
            <a:pPr marL="12700" marR="440055">
              <a:lnSpc>
                <a:spcPct val="102699"/>
              </a:lnSpc>
              <a:spcBef>
                <a:spcPts val="295"/>
              </a:spcBef>
            </a:pPr>
            <a:r>
              <a:rPr spc="55" dirty="0"/>
              <a:t>A</a:t>
            </a:r>
            <a:r>
              <a:rPr spc="-30" dirty="0"/>
              <a:t> binary </a:t>
            </a:r>
            <a:r>
              <a:rPr spc="-25" dirty="0"/>
              <a:t>relation</a:t>
            </a:r>
            <a:r>
              <a:rPr spc="-30" dirty="0"/>
              <a:t> </a:t>
            </a:r>
            <a:r>
              <a:rPr dirty="0"/>
              <a:t>‘</a:t>
            </a:r>
            <a:r>
              <a:rPr i="1" dirty="0">
                <a:latin typeface="Verdana"/>
                <a:cs typeface="Verdana"/>
              </a:rPr>
              <a:t>&lt;</a:t>
            </a:r>
            <a:r>
              <a:rPr dirty="0"/>
              <a:t>‘</a:t>
            </a:r>
            <a:r>
              <a:rPr spc="-25" dirty="0"/>
              <a:t> </a:t>
            </a:r>
            <a:r>
              <a:rPr spc="-20" dirty="0"/>
              <a:t>can</a:t>
            </a:r>
            <a:r>
              <a:rPr spc="-30" dirty="0"/>
              <a:t> </a:t>
            </a:r>
            <a:r>
              <a:rPr spc="-10" dirty="0"/>
              <a:t>be</a:t>
            </a:r>
            <a:r>
              <a:rPr spc="-30" dirty="0"/>
              <a:t> </a:t>
            </a:r>
            <a:r>
              <a:rPr spc="-60" dirty="0"/>
              <a:t>represented</a:t>
            </a:r>
            <a:r>
              <a:rPr spc="-25" dirty="0"/>
              <a:t> </a:t>
            </a:r>
            <a:r>
              <a:rPr spc="-35" dirty="0"/>
              <a:t>by </a:t>
            </a:r>
            <a:r>
              <a:rPr spc="-10" dirty="0"/>
              <a:t>listing</a:t>
            </a:r>
            <a:r>
              <a:rPr spc="-30" dirty="0"/>
              <a:t> </a:t>
            </a:r>
            <a:r>
              <a:rPr spc="-10" dirty="0"/>
              <a:t>the</a:t>
            </a:r>
            <a:r>
              <a:rPr spc="-30" dirty="0"/>
              <a:t> </a:t>
            </a:r>
            <a:r>
              <a:rPr spc="-25" dirty="0"/>
              <a:t>pairs</a:t>
            </a:r>
            <a:r>
              <a:rPr spc="-30" dirty="0"/>
              <a:t> </a:t>
            </a:r>
            <a:r>
              <a:rPr spc="-25" dirty="0"/>
              <a:t>of </a:t>
            </a:r>
            <a:r>
              <a:rPr spc="-50" dirty="0"/>
              <a:t>elements</a:t>
            </a:r>
            <a:r>
              <a:rPr spc="-40" dirty="0"/>
              <a:t> </a:t>
            </a:r>
            <a:r>
              <a:rPr spc="-30" dirty="0"/>
              <a:t>as</a:t>
            </a:r>
            <a:r>
              <a:rPr spc="-5" dirty="0"/>
              <a:t> </a:t>
            </a:r>
            <a:r>
              <a:rPr dirty="0"/>
              <a:t>in</a:t>
            </a:r>
            <a:r>
              <a:rPr spc="5" dirty="0"/>
              <a:t> </a:t>
            </a:r>
            <a:r>
              <a:rPr dirty="0">
                <a:latin typeface="Lucida Sans Unicode"/>
                <a:cs typeface="Lucida Sans Unicode"/>
              </a:rPr>
              <a:t>{</a:t>
            </a:r>
            <a:r>
              <a:rPr dirty="0"/>
              <a:t>(0</a:t>
            </a:r>
            <a:r>
              <a:rPr i="1" dirty="0">
                <a:latin typeface="Verdana"/>
                <a:cs typeface="Verdana"/>
              </a:rPr>
              <a:t>,</a:t>
            </a:r>
            <a:r>
              <a:rPr i="1" spc="-204" dirty="0">
                <a:latin typeface="Verdana"/>
                <a:cs typeface="Verdana"/>
              </a:rPr>
              <a:t> </a:t>
            </a:r>
            <a:r>
              <a:rPr spc="-60" dirty="0"/>
              <a:t>1)</a:t>
            </a:r>
            <a:r>
              <a:rPr i="1" spc="-60" dirty="0">
                <a:latin typeface="Verdana"/>
                <a:cs typeface="Verdana"/>
              </a:rPr>
              <a:t>,</a:t>
            </a:r>
            <a:r>
              <a:rPr i="1" spc="-204" dirty="0">
                <a:latin typeface="Verdana"/>
                <a:cs typeface="Verdana"/>
              </a:rPr>
              <a:t> </a:t>
            </a:r>
            <a:r>
              <a:rPr spc="-60" dirty="0"/>
              <a:t>(0</a:t>
            </a:r>
            <a:r>
              <a:rPr i="1" spc="-60" dirty="0">
                <a:latin typeface="Verdana"/>
                <a:cs typeface="Verdana"/>
              </a:rPr>
              <a:t>,</a:t>
            </a:r>
            <a:r>
              <a:rPr i="1" spc="-204" dirty="0">
                <a:latin typeface="Verdana"/>
                <a:cs typeface="Verdana"/>
              </a:rPr>
              <a:t> </a:t>
            </a:r>
            <a:r>
              <a:rPr spc="-60" dirty="0"/>
              <a:t>2)</a:t>
            </a:r>
            <a:r>
              <a:rPr i="1" spc="-60" dirty="0">
                <a:latin typeface="Verdana"/>
                <a:cs typeface="Verdana"/>
              </a:rPr>
              <a:t>,</a:t>
            </a:r>
            <a:r>
              <a:rPr i="1" spc="-204" dirty="0">
                <a:latin typeface="Verdana"/>
                <a:cs typeface="Verdana"/>
              </a:rPr>
              <a:t> </a:t>
            </a:r>
            <a:r>
              <a:rPr spc="-60" dirty="0"/>
              <a:t>(1</a:t>
            </a:r>
            <a:r>
              <a:rPr i="1" spc="-60" dirty="0">
                <a:latin typeface="Verdana"/>
                <a:cs typeface="Verdana"/>
              </a:rPr>
              <a:t>,</a:t>
            </a:r>
            <a:r>
              <a:rPr i="1" spc="-204" dirty="0">
                <a:latin typeface="Verdana"/>
                <a:cs typeface="Verdana"/>
              </a:rPr>
              <a:t> </a:t>
            </a:r>
            <a:r>
              <a:rPr dirty="0"/>
              <a:t>2)</a:t>
            </a:r>
            <a:r>
              <a:rPr dirty="0">
                <a:latin typeface="Lucida Sans Unicode"/>
                <a:cs typeface="Lucida Sans Unicode"/>
              </a:rPr>
              <a:t>} </a:t>
            </a:r>
            <a:r>
              <a:rPr spc="-20" dirty="0"/>
              <a:t>or</a:t>
            </a:r>
            <a:r>
              <a:rPr dirty="0"/>
              <a:t> </a:t>
            </a:r>
            <a:r>
              <a:rPr spc="-20" dirty="0"/>
              <a:t>as</a:t>
            </a:r>
            <a:r>
              <a:rPr spc="5" dirty="0"/>
              <a:t> </a:t>
            </a:r>
            <a:r>
              <a:rPr dirty="0"/>
              <a:t>a </a:t>
            </a:r>
            <a:r>
              <a:rPr spc="-10" dirty="0"/>
              <a:t>rule,</a:t>
            </a:r>
          </a:p>
          <a:p>
            <a:pPr marL="1158240">
              <a:lnSpc>
                <a:spcPct val="100000"/>
              </a:lnSpc>
              <a:spcBef>
                <a:spcPts val="1130"/>
              </a:spcBef>
            </a:pPr>
            <a:r>
              <a:rPr i="1" spc="-55" dirty="0">
                <a:latin typeface="Arial"/>
                <a:cs typeface="Arial"/>
              </a:rPr>
              <a:t>xRy</a:t>
            </a:r>
            <a:r>
              <a:rPr i="1" spc="-55" dirty="0">
                <a:latin typeface="Verdana"/>
                <a:cs typeface="Verdana"/>
              </a:rPr>
              <a:t>,</a:t>
            </a:r>
            <a:r>
              <a:rPr i="1" spc="-190" dirty="0">
                <a:latin typeface="Verdana"/>
                <a:cs typeface="Verdana"/>
              </a:rPr>
              <a:t> </a:t>
            </a:r>
            <a:r>
              <a:rPr dirty="0">
                <a:latin typeface="Calibri"/>
                <a:cs typeface="Calibri"/>
              </a:rPr>
              <a:t>such</a:t>
            </a:r>
            <a:r>
              <a:rPr spc="1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150" dirty="0">
                <a:latin typeface="Calibri"/>
                <a:cs typeface="Calibri"/>
              </a:rPr>
              <a:t> </a:t>
            </a:r>
            <a:r>
              <a:rPr i="1" spc="-30" dirty="0">
                <a:latin typeface="Arial"/>
                <a:cs typeface="Arial"/>
              </a:rPr>
              <a:t>x</a:t>
            </a:r>
            <a:r>
              <a:rPr i="1" spc="-30" dirty="0">
                <a:latin typeface="Verdana"/>
                <a:cs typeface="Verdana"/>
              </a:rPr>
              <a:t>,</a:t>
            </a:r>
            <a:r>
              <a:rPr i="1" spc="-190" dirty="0">
                <a:latin typeface="Verdana"/>
                <a:cs typeface="Verdana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155" dirty="0">
                <a:latin typeface="Arial"/>
                <a:cs typeface="Arial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15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{</a:t>
            </a:r>
            <a:r>
              <a:rPr dirty="0"/>
              <a:t>0</a:t>
            </a:r>
            <a:r>
              <a:rPr i="1" dirty="0">
                <a:latin typeface="Verdana"/>
                <a:cs typeface="Verdana"/>
              </a:rPr>
              <a:t>,</a:t>
            </a:r>
            <a:r>
              <a:rPr i="1" spc="-190" dirty="0">
                <a:latin typeface="Verdana"/>
                <a:cs typeface="Verdana"/>
              </a:rPr>
              <a:t> </a:t>
            </a:r>
            <a:r>
              <a:rPr spc="-80" dirty="0"/>
              <a:t>1</a:t>
            </a:r>
            <a:r>
              <a:rPr i="1" spc="-80" dirty="0">
                <a:latin typeface="Verdana"/>
                <a:cs typeface="Verdana"/>
              </a:rPr>
              <a:t>,</a:t>
            </a:r>
            <a:r>
              <a:rPr i="1" spc="-185" dirty="0">
                <a:latin typeface="Verdana"/>
                <a:cs typeface="Verdana"/>
              </a:rPr>
              <a:t> </a:t>
            </a:r>
            <a:r>
              <a:rPr spc="35" dirty="0"/>
              <a:t>2</a:t>
            </a:r>
            <a:r>
              <a:rPr spc="35" dirty="0">
                <a:latin typeface="Lucida Sans Unicode"/>
                <a:cs typeface="Lucida Sans Unicode"/>
              </a:rPr>
              <a:t>}</a:t>
            </a: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40167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22272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32304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Example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30" dirty="0"/>
              <a:t>Relations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2111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37665"/>
            <a:ext cx="3735704" cy="1584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Cartesian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product:</a:t>
            </a:r>
            <a:endParaRPr sz="1100" dirty="0">
              <a:latin typeface="Tahoma"/>
              <a:cs typeface="Tahoma"/>
            </a:endParaRPr>
          </a:p>
          <a:p>
            <a:pPr marL="343535" algn="ctr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3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4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(1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2)</a:t>
            </a:r>
            <a:r>
              <a:rPr sz="1100" i="1" spc="-60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(1</a:t>
            </a:r>
            <a:r>
              <a:rPr sz="1100" i="1" spc="-60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4)</a:t>
            </a:r>
            <a:r>
              <a:rPr sz="1100" i="1" spc="-60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(3</a:t>
            </a:r>
            <a:r>
              <a:rPr sz="1100" i="1" spc="-60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2)</a:t>
            </a:r>
            <a:r>
              <a:rPr sz="1100" i="1" spc="-60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(3</a:t>
            </a:r>
            <a:r>
              <a:rPr sz="1100" i="1" spc="-60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spc="-25" dirty="0">
                <a:latin typeface="Tahoma"/>
                <a:cs typeface="Tahoma"/>
              </a:rPr>
              <a:t>4)</a:t>
            </a:r>
            <a:r>
              <a:rPr sz="1100" spc="-2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2600"/>
              </a:lnSpc>
              <a:spcBef>
                <a:spcPts val="109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ordered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(3</a:t>
            </a:r>
            <a:r>
              <a:rPr sz="1100" i="1" spc="-6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2)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member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cross</a:t>
            </a:r>
            <a:r>
              <a:rPr sz="1100" spc="-30" dirty="0">
                <a:latin typeface="Tahoma"/>
                <a:cs typeface="Tahoma"/>
              </a:rPr>
              <a:t> product,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spc="-10" dirty="0">
                <a:latin typeface="Tahoma"/>
                <a:cs typeface="Tahoma"/>
              </a:rPr>
              <a:t>denoted: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Tahoma"/>
              <a:cs typeface="Tahoma"/>
            </a:endParaRPr>
          </a:p>
          <a:p>
            <a:pPr marL="343535" algn="ctr">
              <a:lnSpc>
                <a:spcPct val="100000"/>
              </a:lnSpc>
            </a:pPr>
            <a:r>
              <a:rPr sz="1100" spc="-60" dirty="0">
                <a:latin typeface="Tahoma"/>
                <a:cs typeface="Tahoma"/>
              </a:rPr>
              <a:t>(3</a:t>
            </a:r>
            <a:r>
              <a:rPr sz="1100" i="1" spc="-6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20" dirty="0">
                <a:latin typeface="Tahoma"/>
                <a:cs typeface="Tahoma"/>
              </a:rPr>
              <a:t>2)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55" dirty="0">
                <a:latin typeface="Tahoma"/>
                <a:cs typeface="Tahoma"/>
              </a:rPr>
              <a:t>3</a:t>
            </a:r>
            <a:r>
              <a:rPr sz="1100" spc="55" dirty="0">
                <a:latin typeface="Lucida Sans Unicode"/>
                <a:cs typeface="Lucida Sans Unicode"/>
              </a:rPr>
              <a:t>}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30" dirty="0">
                <a:latin typeface="Tahoma"/>
                <a:cs typeface="Tahoma"/>
              </a:rPr>
              <a:t>4</a:t>
            </a:r>
            <a:r>
              <a:rPr sz="1100" spc="30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ordered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60" dirty="0">
                <a:latin typeface="Tahoma"/>
                <a:cs typeface="Tahoma"/>
              </a:rPr>
              <a:t> (3</a:t>
            </a:r>
            <a:r>
              <a:rPr sz="1100" i="1" spc="-6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2)</a:t>
            </a:r>
            <a:r>
              <a:rPr sz="1100" spc="-20" dirty="0">
                <a:latin typeface="Tahoma"/>
                <a:cs typeface="Tahoma"/>
              </a:rPr>
              <a:t> can</a:t>
            </a:r>
            <a:r>
              <a:rPr sz="1100" spc="-25" dirty="0">
                <a:latin typeface="Tahoma"/>
                <a:cs typeface="Tahoma"/>
              </a:rPr>
              <a:t> also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expressed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as: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10" dirty="0">
                <a:latin typeface="Lucida Sans Unicode"/>
                <a:cs typeface="Lucida Sans Unicode"/>
              </a:rPr>
              <a:t>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2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43621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414155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Other</a:t>
            </a:r>
            <a:r>
              <a:rPr spc="-70" dirty="0"/>
              <a:t> </a:t>
            </a:r>
            <a:r>
              <a:rPr spc="-30" dirty="0"/>
              <a:t>Concepts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30" dirty="0"/>
              <a:t>Relations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6005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76604"/>
            <a:ext cx="4005579" cy="26365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43815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subset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Cartesian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denoted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⊆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type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0" dirty="0">
                <a:latin typeface="Tahoma"/>
                <a:cs typeface="Tahoma"/>
              </a:rPr>
              <a:t> from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denoted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spc="-245" dirty="0">
                <a:latin typeface="Lucida Sans Unicode"/>
                <a:cs typeface="Lucida Sans Unicode"/>
              </a:rPr>
              <a:t>↔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 dirty="0">
              <a:latin typeface="Arial"/>
              <a:cs typeface="Arial"/>
            </a:endParaRPr>
          </a:p>
          <a:p>
            <a:pPr marL="73660" algn="ctr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spc="-245" dirty="0">
                <a:latin typeface="Lucida Sans Unicode"/>
                <a:cs typeface="Lucida Sans Unicode"/>
              </a:rPr>
              <a:t>↔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7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≡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P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Arial"/>
                <a:cs typeface="Arial"/>
              </a:rPr>
              <a:t>X</a:t>
            </a:r>
            <a:r>
              <a:rPr sz="1100" i="1" spc="6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spc="-35" dirty="0">
                <a:latin typeface="Tahoma"/>
                <a:cs typeface="Tahoma"/>
              </a:rPr>
              <a:t>Examples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mathematical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relations</a:t>
            </a:r>
            <a:r>
              <a:rPr sz="1100" spc="-20" dirty="0">
                <a:latin typeface="Tahoma"/>
                <a:cs typeface="Tahoma"/>
              </a:rPr>
              <a:t> are: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-85" dirty="0">
                <a:latin typeface="Verdana"/>
                <a:cs typeface="Verdana"/>
              </a:rPr>
              <a:t>&lt;,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85" dirty="0">
                <a:latin typeface="Verdana"/>
                <a:cs typeface="Verdana"/>
              </a:rPr>
              <a:t>&gt;,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spc="-75" dirty="0">
                <a:latin typeface="Lucida Sans Unicode"/>
                <a:cs typeface="Lucida Sans Unicode"/>
              </a:rPr>
              <a:t>≤</a:t>
            </a:r>
            <a:r>
              <a:rPr sz="1100" i="1" spc="-75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spc="-75" dirty="0">
                <a:latin typeface="Lucida Sans Unicode"/>
                <a:cs typeface="Lucida Sans Unicode"/>
              </a:rPr>
              <a:t>≥</a:t>
            </a:r>
            <a:r>
              <a:rPr sz="1100" i="1" spc="-75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spc="-30" dirty="0">
                <a:latin typeface="Tahoma"/>
                <a:cs typeface="Tahoma"/>
              </a:rPr>
              <a:t>=</a:t>
            </a:r>
            <a:r>
              <a:rPr sz="1100" i="1" spc="-30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spc="-620" dirty="0">
                <a:latin typeface="Lucida Sans Unicode"/>
                <a:cs typeface="Lucida Sans Unicode"/>
              </a:rPr>
              <a:t>/</a:t>
            </a:r>
            <a:r>
              <a:rPr sz="1100" spc="-35" dirty="0">
                <a:latin typeface="Tahoma"/>
                <a:cs typeface="Tahoma"/>
              </a:rPr>
              <a:t>=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spc="-75" dirty="0">
                <a:latin typeface="Lucida Sans Unicode"/>
                <a:cs typeface="Lucida Sans Unicode"/>
              </a:rPr>
              <a:t>⊂</a:t>
            </a:r>
            <a:r>
              <a:rPr sz="1100" i="1" spc="-75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⊆</a:t>
            </a: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domain</a:t>
            </a:r>
            <a:r>
              <a:rPr sz="1100" b="1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73660" algn="ctr">
              <a:lnSpc>
                <a:spcPct val="100000"/>
              </a:lnSpc>
            </a:pPr>
            <a:r>
              <a:rPr sz="1100" i="1" spc="-65" dirty="0">
                <a:latin typeface="Arial"/>
                <a:cs typeface="Arial"/>
              </a:rPr>
              <a:t>dom</a:t>
            </a:r>
            <a:r>
              <a:rPr sz="1100" i="1" spc="-1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70" dirty="0">
                <a:latin typeface="Tahoma"/>
                <a:cs typeface="Tahoma"/>
              </a:rPr>
              <a:t>(</a:t>
            </a:r>
            <a:r>
              <a:rPr sz="1100" i="1" spc="-70" dirty="0">
                <a:latin typeface="Arial"/>
                <a:cs typeface="Arial"/>
              </a:rPr>
              <a:t>a</a:t>
            </a:r>
            <a:r>
              <a:rPr sz="1100" i="1" spc="-7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for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spc="-65" dirty="0">
                <a:latin typeface="Arial"/>
                <a:cs typeface="Arial"/>
              </a:rPr>
              <a:t>some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Arial"/>
                <a:cs typeface="Arial"/>
              </a:rPr>
              <a:t>B</a:t>
            </a:r>
            <a:r>
              <a:rPr sz="1100" spc="100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range</a:t>
            </a:r>
            <a:r>
              <a:rPr sz="1100" b="1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  <a:p>
            <a:pPr marL="73660" algn="ctr">
              <a:lnSpc>
                <a:spcPct val="100000"/>
              </a:lnSpc>
              <a:spcBef>
                <a:spcPts val="1130"/>
              </a:spcBef>
            </a:pPr>
            <a:r>
              <a:rPr sz="1100" i="1" spc="-70" dirty="0">
                <a:latin typeface="Arial"/>
                <a:cs typeface="Arial"/>
              </a:rPr>
              <a:t>range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{</a:t>
            </a:r>
            <a:r>
              <a:rPr sz="1100" i="1" spc="60" dirty="0">
                <a:latin typeface="Arial"/>
                <a:cs typeface="Arial"/>
              </a:rPr>
              <a:t>b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70" dirty="0">
                <a:latin typeface="Tahoma"/>
                <a:cs typeface="Tahoma"/>
              </a:rPr>
              <a:t>(</a:t>
            </a:r>
            <a:r>
              <a:rPr sz="1100" i="1" spc="-70" dirty="0">
                <a:latin typeface="Arial"/>
                <a:cs typeface="Arial"/>
              </a:rPr>
              <a:t>a</a:t>
            </a:r>
            <a:r>
              <a:rPr sz="1100" i="1" spc="-7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for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spc="-65" dirty="0">
                <a:latin typeface="Arial"/>
                <a:cs typeface="Arial"/>
              </a:rPr>
              <a:t>some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i="1" spc="-100" dirty="0">
                <a:latin typeface="Arial"/>
                <a:cs typeface="Arial"/>
              </a:rPr>
              <a:t>a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100" spc="5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42162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12709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94814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693276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Functions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1641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4832" y="532966"/>
            <a:ext cx="4155440" cy="26314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58115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mapping</a:t>
            </a:r>
            <a:r>
              <a:rPr sz="1100" b="1" spc="-2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input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one </a:t>
            </a:r>
            <a:r>
              <a:rPr sz="1100" spc="-10" dirty="0">
                <a:latin typeface="Tahoma"/>
                <a:cs typeface="Tahoma"/>
              </a:rPr>
              <a:t>output.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inputs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domain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function.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5" dirty="0">
                <a:latin typeface="Tahoma"/>
                <a:cs typeface="Tahoma"/>
              </a:rPr>
              <a:t> allowable </a:t>
            </a:r>
            <a:r>
              <a:rPr sz="1100" spc="-25" dirty="0">
                <a:latin typeface="Tahoma"/>
                <a:cs typeface="Tahoma"/>
              </a:rPr>
              <a:t>outputs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b="1" spc="-10" dirty="0">
                <a:latin typeface="Trebuchet MS"/>
                <a:cs typeface="Trebuchet MS"/>
              </a:rPr>
              <a:t>codomain</a:t>
            </a:r>
            <a:r>
              <a:rPr sz="1100" spc="-10" dirty="0">
                <a:latin typeface="Tahoma"/>
                <a:cs typeface="Tahoma"/>
              </a:rPr>
              <a:t>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defined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R="15875" algn="ctr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 dirty="0">
              <a:latin typeface="Arial"/>
              <a:cs typeface="Arial"/>
            </a:endParaRPr>
          </a:p>
          <a:p>
            <a:pPr marL="50800" marR="1288415">
              <a:lnSpc>
                <a:spcPct val="125299"/>
              </a:lnSpc>
              <a:spcBef>
                <a:spcPts val="350"/>
              </a:spcBef>
            </a:pPr>
            <a:r>
              <a:rPr sz="1100" dirty="0">
                <a:latin typeface="Tahoma"/>
                <a:cs typeface="Tahoma"/>
              </a:rPr>
              <a:t>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domain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codomain.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example,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1275080">
              <a:lnSpc>
                <a:spcPct val="100000"/>
              </a:lnSpc>
              <a:spcBef>
                <a:spcPts val="5"/>
              </a:spcBef>
              <a:tabLst>
                <a:tab pos="2063114" algn="l"/>
              </a:tabLst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N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baseline="31250" dirty="0">
                <a:latin typeface="Arial MT"/>
                <a:cs typeface="Arial MT"/>
              </a:rPr>
              <a:t>3</a:t>
            </a:r>
            <a:r>
              <a:rPr sz="1200" spc="127" baseline="3125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  <a:p>
            <a:pPr marL="50800" marR="43180">
              <a:lnSpc>
                <a:spcPct val="102600"/>
              </a:lnSpc>
              <a:spcBef>
                <a:spcPts val="645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example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domain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codomain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natural </a:t>
            </a:r>
            <a:r>
              <a:rPr sz="1100" spc="-40" dirty="0">
                <a:latin typeface="Tahoma"/>
                <a:cs typeface="Tahoma"/>
              </a:rPr>
              <a:t>numbers.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known</a:t>
            </a:r>
            <a:r>
              <a:rPr sz="1100" spc="-35" dirty="0">
                <a:latin typeface="Tahoma"/>
                <a:cs typeface="Tahoma"/>
              </a:rPr>
              <a:t> as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image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20" dirty="0">
                <a:latin typeface="Tahoma"/>
                <a:cs typeface="Tahoma"/>
              </a:rPr>
              <a:t>natural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actual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known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range</a:t>
            </a:r>
            <a:r>
              <a:rPr sz="1100" b="1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10" dirty="0">
                <a:latin typeface="Tahoma"/>
                <a:cs typeface="Tahoma"/>
              </a:rPr>
              <a:t>function.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41144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90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spc="-25" dirty="0"/>
              <a:t>Functions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2892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61515" y="717548"/>
            <a:ext cx="1216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00735" algn="l"/>
              </a:tabLst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N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9107" y="834161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06394" y="601317"/>
            <a:ext cx="9842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70"/>
              </a:spcBef>
            </a:pPr>
            <a:r>
              <a:rPr sz="1100" spc="-5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7532" y="1055875"/>
            <a:ext cx="4119879" cy="903324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62380">
              <a:lnSpc>
                <a:spcPct val="100000"/>
              </a:lnSpc>
              <a:spcBef>
                <a:spcPts val="785"/>
              </a:spcBef>
              <a:tabLst>
                <a:tab pos="2050414" algn="l"/>
              </a:tabLst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N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baseline="31250" dirty="0">
                <a:latin typeface="Arial MT"/>
                <a:cs typeface="Arial MT"/>
              </a:rPr>
              <a:t>3</a:t>
            </a:r>
            <a:r>
              <a:rPr sz="1200" spc="127" baseline="3125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  <a:p>
            <a:pPr marL="38100" marR="206375">
              <a:lnSpc>
                <a:spcPct val="102600"/>
              </a:lnSpc>
              <a:spcBef>
                <a:spcPts val="64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40" dirty="0">
                <a:latin typeface="Tahoma"/>
                <a:cs typeface="Tahoma"/>
              </a:rPr>
              <a:t> 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 </a:t>
            </a:r>
            <a:r>
              <a:rPr sz="1100" spc="-10" dirty="0">
                <a:latin typeface="Tahoma"/>
                <a:cs typeface="Tahoma"/>
              </a:rPr>
              <a:t>input</a:t>
            </a:r>
            <a:r>
              <a:rPr sz="1100" spc="-35" dirty="0">
                <a:latin typeface="Tahoma"/>
                <a:cs typeface="Tahoma"/>
              </a:rPr>
              <a:t> value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rebuchet MS"/>
                <a:cs typeface="Trebuchet MS"/>
              </a:rPr>
              <a:t>partial</a:t>
            </a:r>
            <a:r>
              <a:rPr sz="1100" b="1" spc="-10" dirty="0">
                <a:latin typeface="Trebuchet MS"/>
                <a:cs typeface="Trebuchet MS"/>
              </a:rPr>
              <a:t> function</a:t>
            </a:r>
            <a:endParaRPr sz="1100" dirty="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partial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total</a:t>
            </a:r>
            <a:r>
              <a:rPr sz="1100" b="1" spc="5" dirty="0">
                <a:latin typeface="Trebuchet MS"/>
                <a:cs typeface="Trebuchet MS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function</a:t>
            </a:r>
            <a:endParaRPr sz="1100" dirty="0">
              <a:latin typeface="Trebuchet MS"/>
              <a:cs typeface="Trebuchet MS"/>
            </a:endParaRPr>
          </a:p>
        </p:txBody>
      </p:sp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63813"/>
            <a:ext cx="65265" cy="65265"/>
          </a:xfrm>
          <a:prstGeom prst="rect">
            <a:avLst/>
          </a:prstGeom>
        </p:spPr>
      </p:pic>
      <p:pic>
        <p:nvPicPr>
          <p:cNvPr id="1026" name="Picture 2" descr="total function">
            <a:extLst>
              <a:ext uri="{FF2B5EF4-FFF2-40B4-BE49-F238E27FC236}">
                <a16:creationId xmlns:a16="http://schemas.microsoft.com/office/drawing/2014/main" id="{34970D01-3789-73CE-DB73-D2B5DB2F84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19"/>
          <a:stretch>
            <a:fillRect/>
          </a:stretch>
        </p:blipFill>
        <p:spPr bwMode="auto">
          <a:xfrm>
            <a:off x="305454" y="2100663"/>
            <a:ext cx="1999595" cy="93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total function">
            <a:extLst>
              <a:ext uri="{FF2B5EF4-FFF2-40B4-BE49-F238E27FC236}">
                <a16:creationId xmlns:a16="http://schemas.microsoft.com/office/drawing/2014/main" id="{93DF47CF-DB41-A671-AF68-B70DD4637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 bwMode="auto">
          <a:xfrm>
            <a:off x="2369845" y="2077354"/>
            <a:ext cx="1999595" cy="955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CB637-BD07-3DAE-7746-32156A93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0FF911-EA1C-494B-7F7B-C3755416B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4D7B44C-71BF-0506-D00B-EE3D5250DD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90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spc="-25" dirty="0"/>
              <a:t>Functions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877A982-6F00-1C17-D4DE-2D9C8AA85E92}"/>
              </a:ext>
            </a:extLst>
          </p:cNvPr>
          <p:cNvSpPr txBox="1"/>
          <p:nvPr/>
        </p:nvSpPr>
        <p:spPr>
          <a:xfrm>
            <a:off x="323850" y="410398"/>
            <a:ext cx="4119879" cy="1218603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30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special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type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relation.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0" dirty="0">
                <a:latin typeface="Tahoma"/>
                <a:cs typeface="Tahoma"/>
              </a:rPr>
              <a:t> implies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functions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however,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relations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functions.</a:t>
            </a:r>
            <a:endParaRPr sz="1100" dirty="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  <a:spcBef>
                <a:spcPts val="295"/>
              </a:spcBef>
            </a:pPr>
            <a:r>
              <a:rPr sz="1100" spc="-20" dirty="0">
                <a:latin typeface="Tahoma"/>
                <a:cs typeface="Tahoma"/>
              </a:rPr>
              <a:t>Function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8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for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there </a:t>
            </a:r>
            <a:r>
              <a:rPr sz="1100" spc="-30" dirty="0">
                <a:latin typeface="Tahoma"/>
                <a:cs typeface="Tahoma"/>
              </a:rPr>
              <a:t>exists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unique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9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pre-</a:t>
            </a:r>
            <a:r>
              <a:rPr sz="1100" spc="-55" dirty="0">
                <a:latin typeface="Tahoma"/>
                <a:cs typeface="Tahoma"/>
              </a:rPr>
              <a:t>image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many.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C61B417F-62B5-7C97-636D-61BEA3B44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540538"/>
            <a:ext cx="65265" cy="65265"/>
          </a:xfrm>
          <a:prstGeom prst="rect">
            <a:avLst/>
          </a:prstGeom>
        </p:spPr>
      </p:pic>
      <p:pic>
        <p:nvPicPr>
          <p:cNvPr id="11" name="object 11">
            <a:extLst>
              <a:ext uri="{FF2B5EF4-FFF2-40B4-BE49-F238E27FC236}">
                <a16:creationId xmlns:a16="http://schemas.microsoft.com/office/drawing/2014/main" id="{0AC7BB9D-1769-F165-F74B-F1B03A1A4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07" y="922643"/>
            <a:ext cx="65265" cy="65265"/>
          </a:xfrm>
          <a:prstGeom prst="rect">
            <a:avLst/>
          </a:prstGeom>
        </p:spPr>
      </p:pic>
      <p:pic>
        <p:nvPicPr>
          <p:cNvPr id="12" name="object 12">
            <a:extLst>
              <a:ext uri="{FF2B5EF4-FFF2-40B4-BE49-F238E27FC236}">
                <a16:creationId xmlns:a16="http://schemas.microsoft.com/office/drawing/2014/main" id="{950C21BB-CBEA-1B0D-11A0-C32928050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407" y="1476833"/>
            <a:ext cx="65265" cy="65265"/>
          </a:xfrm>
          <a:prstGeom prst="rect">
            <a:avLst/>
          </a:prstGeom>
        </p:spPr>
      </p:pic>
      <p:pic>
        <p:nvPicPr>
          <p:cNvPr id="2052" name="Picture 4" descr="When Is a Relation a Function? - Expii">
            <a:extLst>
              <a:ext uri="{FF2B5EF4-FFF2-40B4-BE49-F238E27FC236}">
                <a16:creationId xmlns:a16="http://schemas.microsoft.com/office/drawing/2014/main" id="{B46CC9D0-555E-3B33-B09C-298D44867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4" y="1654176"/>
            <a:ext cx="1681432" cy="168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rrespondences">
            <a:extLst>
              <a:ext uri="{FF2B5EF4-FFF2-40B4-BE49-F238E27FC236}">
                <a16:creationId xmlns:a16="http://schemas.microsoft.com/office/drawing/2014/main" id="{63B73654-A83C-6DFE-9BF0-0DD46C793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69" y="1997743"/>
            <a:ext cx="2228850" cy="115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961838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Functions</a:t>
            </a:r>
            <a:r>
              <a:rPr spc="-60" dirty="0"/>
              <a:t> </a:t>
            </a:r>
            <a:r>
              <a:rPr spc="-30" dirty="0"/>
              <a:t>as</a:t>
            </a:r>
            <a:r>
              <a:rPr spc="-45" dirty="0"/>
              <a:t> </a:t>
            </a:r>
            <a:r>
              <a:rPr spc="-40" dirty="0"/>
              <a:t>Tables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07" y="594628"/>
            <a:ext cx="65265" cy="65265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07" y="1148818"/>
            <a:ext cx="65265" cy="65265"/>
          </a:xfrm>
          <a:prstGeom prst="rect">
            <a:avLst/>
          </a:prstGeom>
        </p:spPr>
      </p:pic>
      <p:grpSp>
        <p:nvGrp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58531" y="1401332"/>
            <a:ext cx="1362710" cy="349250"/>
            <a:chOff x="1761413" y="1749539"/>
            <a:chExt cx="1362710" cy="349250"/>
          </a:xfrm>
        </p:grpSpPr>
        <p:sp>
          <p:nvSpPr>
            <p:cNvPr id="7" name="object 7"/>
            <p:cNvSpPr/>
            <p:nvPr/>
          </p:nvSpPr>
          <p:spPr>
            <a:xfrm>
              <a:off x="2144687" y="1749539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1413" y="1924151"/>
              <a:ext cx="1362710" cy="0"/>
            </a:xfrm>
            <a:custGeom>
              <a:avLst/>
              <a:gdLst/>
              <a:ahLst/>
              <a:cxnLst/>
              <a:rect l="l" t="t" r="r" b="b"/>
              <a:pathLst>
                <a:path w="1362710">
                  <a:moveTo>
                    <a:pt x="0" y="0"/>
                  </a:moveTo>
                  <a:lnTo>
                    <a:pt x="136226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44687" y="1926678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0050" y="511175"/>
            <a:ext cx="4077970" cy="18154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4925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described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table</a:t>
            </a:r>
            <a:r>
              <a:rPr sz="1100" spc="-10" dirty="0">
                <a:latin typeface="Tahoma"/>
                <a:cs typeface="Tahoma"/>
              </a:rPr>
              <a:t>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includes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10" dirty="0">
                <a:latin typeface="Tahoma"/>
                <a:cs typeface="Tahoma"/>
              </a:rPr>
              <a:t>input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includes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corresponding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25" dirty="0">
                <a:latin typeface="Tahoma"/>
                <a:cs typeface="Tahoma"/>
              </a:rPr>
              <a:t> 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output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example:</a:t>
            </a:r>
            <a:endParaRPr sz="1100" dirty="0">
              <a:latin typeface="Tahoma"/>
              <a:cs typeface="Tahoma"/>
            </a:endParaRPr>
          </a:p>
          <a:p>
            <a:pPr marL="1421130">
              <a:lnSpc>
                <a:spcPct val="100000"/>
              </a:lnSpc>
              <a:spcBef>
                <a:spcPts val="1080"/>
              </a:spcBef>
              <a:tabLst>
                <a:tab pos="1804670" algn="l"/>
              </a:tabLst>
            </a:pP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4</a:t>
            </a:r>
            <a:endParaRPr sz="1100" dirty="0">
              <a:latin typeface="Tahoma"/>
              <a:cs typeface="Tahoma"/>
            </a:endParaRPr>
          </a:p>
          <a:p>
            <a:pPr marL="1421130">
              <a:lnSpc>
                <a:spcPct val="100000"/>
              </a:lnSpc>
              <a:spcBef>
                <a:spcPts val="7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3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13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140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spc="13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4</a:t>
            </a:r>
            <a:r>
              <a:rPr sz="1100" spc="135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560"/>
              </a:spcBef>
            </a:pPr>
            <a:r>
              <a:rPr sz="1100" spc="-20" dirty="0">
                <a:latin typeface="Tahoma"/>
                <a:cs typeface="Tahoma"/>
              </a:rPr>
              <a:t>Using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explicit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calculate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image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element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the </a:t>
            </a:r>
            <a:r>
              <a:rPr sz="1100" spc="-45" dirty="0">
                <a:latin typeface="Tahoma"/>
                <a:cs typeface="Tahoma"/>
              </a:rPr>
              <a:t>domain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great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describe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function,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as </a:t>
            </a:r>
            <a:r>
              <a:rPr sz="1100" b="1" spc="-20" dirty="0">
                <a:latin typeface="Trebuchet MS"/>
                <a:cs typeface="Trebuchet MS"/>
              </a:rPr>
              <a:t>closed</a:t>
            </a:r>
            <a:r>
              <a:rPr sz="1100" b="1" spc="-45" dirty="0">
                <a:latin typeface="Trebuchet MS"/>
                <a:cs typeface="Trebuchet MS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formulas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207" y="1873861"/>
            <a:ext cx="65265" cy="65265"/>
          </a:xfrm>
          <a:prstGeom prst="rect">
            <a:avLst/>
          </a:prstGeom>
        </p:spPr>
      </p:pic>
      <p:pic>
        <p:nvPicPr>
          <p:cNvPr id="3074" name="Picture 2" descr="Explicit Formula - Math Steps, Examples &amp; Questions">
            <a:extLst>
              <a:ext uri="{FF2B5EF4-FFF2-40B4-BE49-F238E27FC236}">
                <a16:creationId xmlns:a16="http://schemas.microsoft.com/office/drawing/2014/main" id="{34FC6657-2FF8-A6F8-0EC8-09059C62D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80" y="2380440"/>
            <a:ext cx="2847340" cy="83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Defining </a:t>
            </a:r>
            <a:r>
              <a:rPr spc="-25" dirty="0"/>
              <a:t>Functions</a:t>
            </a:r>
            <a:r>
              <a:rPr spc="-30" dirty="0"/>
              <a:t> </a:t>
            </a:r>
            <a:r>
              <a:rPr spc="-40" dirty="0"/>
              <a:t>Recursively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6958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686129"/>
            <a:ext cx="3446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recursive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consists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of: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108" y="920860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4352" y="90792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034" y="875289"/>
            <a:ext cx="372173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an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initial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condition,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which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explicitly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given </a:t>
            </a:r>
            <a:r>
              <a:rPr sz="1000" spc="-35" dirty="0">
                <a:latin typeface="Tahoma"/>
                <a:cs typeface="Tahoma"/>
              </a:rPr>
              <a:t>value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(0)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ts val="1200"/>
              </a:lnSpc>
              <a:spcBef>
                <a:spcPts val="40"/>
              </a:spcBef>
            </a:pPr>
            <a:r>
              <a:rPr sz="1000" dirty="0">
                <a:latin typeface="Tahoma"/>
                <a:cs typeface="Tahoma"/>
              </a:rPr>
              <a:t>a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recurrence</a:t>
            </a:r>
            <a:r>
              <a:rPr sz="1000" spc="-25" dirty="0">
                <a:latin typeface="Tahoma"/>
                <a:cs typeface="Tahoma"/>
              </a:rPr>
              <a:t> relation,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which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formula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(</a:t>
            </a:r>
            <a:r>
              <a:rPr sz="1000" i="1" spc="-20" dirty="0">
                <a:latin typeface="Arial"/>
                <a:cs typeface="Arial"/>
              </a:rPr>
              <a:t>n</a:t>
            </a:r>
            <a:r>
              <a:rPr sz="1000" i="1" spc="-5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1)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terms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(</a:t>
            </a:r>
            <a:r>
              <a:rPr sz="1000" i="1" spc="-25" dirty="0">
                <a:latin typeface="Arial"/>
                <a:cs typeface="Arial"/>
              </a:rPr>
              <a:t>n</a:t>
            </a:r>
            <a:r>
              <a:rPr sz="1000" spc="-25" dirty="0">
                <a:latin typeface="Tahoma"/>
                <a:cs typeface="Tahoma"/>
              </a:rPr>
              <a:t>) </a:t>
            </a:r>
            <a:r>
              <a:rPr sz="1000" spc="-20" dirty="0">
                <a:latin typeface="Tahoma"/>
                <a:cs typeface="Tahoma"/>
              </a:rPr>
              <a:t>(and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possibly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n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08" y="1072689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4352" y="105975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460411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1376958"/>
            <a:ext cx="4011929" cy="14789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example,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derive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recursive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 </a:t>
            </a:r>
            <a:r>
              <a:rPr sz="1100" spc="-20" dirty="0">
                <a:latin typeface="Tahoma"/>
                <a:cs typeface="Tahoma"/>
              </a:rPr>
              <a:t>function: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-65" dirty="0">
                <a:latin typeface="Arial"/>
                <a:cs typeface="Arial"/>
              </a:rPr>
              <a:t>h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45" dirty="0">
                <a:latin typeface="Tahoma"/>
                <a:cs typeface="Tahoma"/>
              </a:rPr>
              <a:t>defined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!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0!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1.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Recall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  <a:p>
            <a:pPr marL="12700" marR="322580">
              <a:lnSpc>
                <a:spcPct val="102600"/>
              </a:lnSpc>
            </a:pPr>
            <a:r>
              <a:rPr sz="1100" i="1" spc="-10" dirty="0">
                <a:latin typeface="Arial"/>
                <a:cs typeface="Arial"/>
              </a:rPr>
              <a:t>n</a:t>
            </a:r>
            <a:r>
              <a:rPr sz="1100" spc="-10" dirty="0">
                <a:latin typeface="Tahoma"/>
                <a:cs typeface="Tahoma"/>
              </a:rPr>
              <a:t>!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i="1" spc="-3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1)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 </a:t>
            </a:r>
            <a:r>
              <a:rPr sz="1100" spc="-35" dirty="0">
                <a:latin typeface="Tahoma"/>
                <a:cs typeface="Tahoma"/>
              </a:rPr>
              <a:t>through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recursive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ahoma"/>
              <a:cs typeface="Tahoma"/>
            </a:endParaRPr>
          </a:p>
          <a:p>
            <a:pPr marL="67310" algn="ctr">
              <a:lnSpc>
                <a:spcPct val="100000"/>
              </a:lnSpc>
              <a:tabLst>
                <a:tab pos="770890" algn="l"/>
              </a:tabLst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(0)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i="1" spc="-30" dirty="0">
                <a:latin typeface="Arial"/>
                <a:cs typeface="Arial"/>
              </a:rPr>
              <a:t>n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1)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n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1)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spc="-25" dirty="0">
                <a:latin typeface="Tahoma"/>
                <a:cs typeface="Tahoma"/>
              </a:rPr>
              <a:t>or</a:t>
            </a:r>
            <a:endParaRPr sz="1100">
              <a:latin typeface="Tahoma"/>
              <a:cs typeface="Tahoma"/>
            </a:endParaRPr>
          </a:p>
          <a:p>
            <a:pPr marL="64769" algn="ctr">
              <a:lnSpc>
                <a:spcPct val="100000"/>
              </a:lnSpc>
              <a:spcBef>
                <a:spcPts val="35"/>
              </a:spcBef>
              <a:tabLst>
                <a:tab pos="768350" algn="l"/>
              </a:tabLst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(0)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1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i="1" spc="-30" dirty="0">
                <a:latin typeface="Arial"/>
                <a:cs typeface="Arial"/>
              </a:rPr>
              <a:t>n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1)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Additional</a:t>
            </a:r>
            <a:r>
              <a:rPr spc="-45" dirty="0"/>
              <a:t> </a:t>
            </a:r>
            <a:r>
              <a:rPr spc="-25" dirty="0"/>
              <a:t>Properties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Functions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07" y="51842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400050" y="434975"/>
            <a:ext cx="4077335" cy="18846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27660">
              <a:lnSpc>
                <a:spcPct val="102600"/>
              </a:lnSpc>
              <a:spcBef>
                <a:spcPts val="55"/>
              </a:spcBef>
            </a:pPr>
            <a:r>
              <a:rPr spc="55" dirty="0"/>
              <a:t>A</a:t>
            </a:r>
            <a:r>
              <a:rPr spc="-30" dirty="0"/>
              <a:t> </a:t>
            </a:r>
            <a:r>
              <a:rPr spc="-25" dirty="0"/>
              <a:t>function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b="1" dirty="0">
                <a:latin typeface="Trebuchet MS"/>
                <a:cs typeface="Trebuchet MS"/>
              </a:rPr>
              <a:t>onto</a:t>
            </a:r>
            <a:r>
              <a:rPr b="1" spc="-20" dirty="0">
                <a:latin typeface="Trebuchet MS"/>
                <a:cs typeface="Trebuchet MS"/>
              </a:rPr>
              <a:t> </a:t>
            </a:r>
            <a:r>
              <a:rPr spc="-55" dirty="0"/>
              <a:t>when</a:t>
            </a:r>
            <a:r>
              <a:rPr spc="-25" dirty="0"/>
              <a:t> </a:t>
            </a:r>
            <a:r>
              <a:rPr dirty="0"/>
              <a:t>all</a:t>
            </a:r>
            <a:r>
              <a:rPr spc="-30" dirty="0"/>
              <a:t> </a:t>
            </a:r>
            <a:r>
              <a:rPr spc="-50" dirty="0"/>
              <a:t>elements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the</a:t>
            </a:r>
            <a:r>
              <a:rPr spc="-30" dirty="0"/>
              <a:t> </a:t>
            </a:r>
            <a:r>
              <a:rPr spc="-35" dirty="0"/>
              <a:t>codomain</a:t>
            </a:r>
            <a:r>
              <a:rPr spc="-25" dirty="0"/>
              <a:t> </a:t>
            </a:r>
            <a:r>
              <a:rPr spc="-60" dirty="0"/>
              <a:t>are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the </a:t>
            </a:r>
            <a:r>
              <a:rPr spc="-55" dirty="0"/>
              <a:t>range,</a:t>
            </a:r>
            <a:r>
              <a:rPr spc="-35" dirty="0"/>
              <a:t> </a:t>
            </a:r>
            <a:r>
              <a:rPr spc="-10" dirty="0"/>
              <a:t>the</a:t>
            </a:r>
            <a:r>
              <a:rPr spc="-35" dirty="0"/>
              <a:t> </a:t>
            </a:r>
            <a:r>
              <a:rPr spc="-25" dirty="0"/>
              <a:t>function</a:t>
            </a:r>
            <a:r>
              <a:rPr spc="-3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25" dirty="0"/>
              <a:t>also</a:t>
            </a:r>
            <a:r>
              <a:rPr spc="-35" dirty="0"/>
              <a:t> </a:t>
            </a:r>
            <a:r>
              <a:rPr spc="-45" dirty="0"/>
              <a:t>known</a:t>
            </a:r>
            <a:r>
              <a:rPr spc="-30" dirty="0"/>
              <a:t> as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b="1" spc="-50" dirty="0">
                <a:latin typeface="Trebuchet MS"/>
                <a:cs typeface="Trebuchet MS"/>
              </a:rPr>
              <a:t>surjective</a:t>
            </a:r>
            <a:r>
              <a:rPr b="1" spc="-25" dirty="0">
                <a:latin typeface="Trebuchet MS"/>
                <a:cs typeface="Trebuchet MS"/>
              </a:rPr>
              <a:t> </a:t>
            </a:r>
            <a:r>
              <a:rPr spc="-10" dirty="0"/>
              <a:t>function</a:t>
            </a:r>
          </a:p>
          <a:p>
            <a:pPr marR="5080" algn="ctr">
              <a:lnSpc>
                <a:spcPct val="100000"/>
              </a:lnSpc>
              <a:spcBef>
                <a:spcPts val="1130"/>
              </a:spcBef>
            </a:pPr>
            <a:r>
              <a:rPr spc="-215" dirty="0">
                <a:latin typeface="Lucida Sans Unicode"/>
                <a:cs typeface="Lucida Sans Unicode"/>
              </a:rPr>
              <a:t>∀</a:t>
            </a:r>
            <a:r>
              <a:rPr i="1" spc="-215" dirty="0">
                <a:latin typeface="Arial"/>
                <a:cs typeface="Arial"/>
              </a:rPr>
              <a:t>y</a:t>
            </a:r>
            <a:r>
              <a:rPr i="1" spc="114" dirty="0">
                <a:latin typeface="Arial"/>
                <a:cs typeface="Arial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Arial"/>
                <a:cs typeface="Arial"/>
              </a:rPr>
              <a:t>B</a:t>
            </a:r>
            <a:r>
              <a:rPr i="1" spc="120" dirty="0">
                <a:latin typeface="Arial"/>
                <a:cs typeface="Arial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∃</a:t>
            </a:r>
            <a:r>
              <a:rPr i="1" spc="-25" dirty="0">
                <a:latin typeface="Arial"/>
                <a:cs typeface="Arial"/>
              </a:rPr>
              <a:t>x</a:t>
            </a:r>
            <a:r>
              <a:rPr i="1" spc="90" dirty="0">
                <a:latin typeface="Arial"/>
                <a:cs typeface="Arial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5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f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spc="-35" dirty="0"/>
              <a:t>(</a:t>
            </a:r>
            <a:r>
              <a:rPr i="1" spc="-35" dirty="0">
                <a:latin typeface="Arial"/>
                <a:cs typeface="Arial"/>
              </a:rPr>
              <a:t>x</a:t>
            </a:r>
            <a:r>
              <a:rPr i="1" spc="-210" dirty="0">
                <a:latin typeface="Arial"/>
                <a:cs typeface="Arial"/>
              </a:rPr>
              <a:t> </a:t>
            </a:r>
            <a:r>
              <a:rPr dirty="0"/>
              <a:t>)</a:t>
            </a:r>
            <a:r>
              <a:rPr spc="-45" dirty="0"/>
              <a:t> </a:t>
            </a:r>
            <a:r>
              <a:rPr dirty="0"/>
              <a:t>=</a:t>
            </a:r>
            <a:r>
              <a:rPr spc="-50" dirty="0"/>
              <a:t> </a:t>
            </a:r>
            <a:r>
              <a:rPr i="1" spc="-50" dirty="0">
                <a:latin typeface="Arial"/>
                <a:cs typeface="Arial"/>
              </a:rPr>
              <a:t>y</a:t>
            </a: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pc="55" dirty="0"/>
              <a:t>A</a:t>
            </a:r>
            <a:r>
              <a:rPr spc="-10" dirty="0"/>
              <a:t> </a:t>
            </a:r>
            <a:r>
              <a:rPr spc="-25" dirty="0"/>
              <a:t>function</a:t>
            </a:r>
            <a:r>
              <a:rPr spc="-10" dirty="0"/>
              <a:t> </a:t>
            </a:r>
            <a:r>
              <a:rPr i="1" dirty="0">
                <a:latin typeface="Arial"/>
                <a:cs typeface="Arial"/>
              </a:rPr>
              <a:t>f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dirty="0"/>
              <a:t>:</a:t>
            </a:r>
            <a:r>
              <a:rPr spc="-5" dirty="0"/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dirty="0">
                <a:latin typeface="Lucida Sans Unicode"/>
                <a:cs typeface="Lucida Sans Unicode"/>
              </a:rPr>
              <a:t>→</a:t>
            </a:r>
            <a:r>
              <a:rPr spc="-6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Arial"/>
                <a:cs typeface="Arial"/>
              </a:rPr>
              <a:t>B</a:t>
            </a:r>
            <a:r>
              <a:rPr i="1" spc="114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b="1" spc="-50" dirty="0">
                <a:latin typeface="Trebuchet MS"/>
                <a:cs typeface="Trebuchet MS"/>
              </a:rPr>
              <a:t>surjective</a:t>
            </a:r>
            <a:r>
              <a:rPr b="1" spc="5" dirty="0">
                <a:latin typeface="Trebuchet MS"/>
                <a:cs typeface="Trebuchet MS"/>
              </a:rPr>
              <a:t> </a:t>
            </a:r>
            <a:r>
              <a:rPr dirty="0"/>
              <a:t>if</a:t>
            </a:r>
            <a:r>
              <a:rPr spc="-5" dirty="0"/>
              <a:t> </a:t>
            </a:r>
            <a:r>
              <a:rPr spc="-10" dirty="0"/>
              <a:t>the</a:t>
            </a:r>
            <a:r>
              <a:rPr spc="-5" dirty="0"/>
              <a:t> </a:t>
            </a:r>
            <a:r>
              <a:rPr spc="-40" dirty="0"/>
              <a:t>image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i="1" dirty="0">
                <a:latin typeface="Arial"/>
                <a:cs typeface="Arial"/>
              </a:rPr>
              <a:t>f</a:t>
            </a:r>
            <a:r>
              <a:rPr i="1" spc="240" dirty="0">
                <a:latin typeface="Arial"/>
                <a:cs typeface="Arial"/>
              </a:rPr>
              <a:t> </a:t>
            </a:r>
            <a:r>
              <a:rPr spc="-50" dirty="0"/>
              <a:t>equals</a:t>
            </a:r>
            <a:r>
              <a:rPr spc="-10" dirty="0"/>
              <a:t> </a:t>
            </a:r>
            <a:r>
              <a:rPr dirty="0"/>
              <a:t>its</a:t>
            </a:r>
            <a:r>
              <a:rPr spc="-5" dirty="0"/>
              <a:t> </a:t>
            </a:r>
            <a:r>
              <a:rPr spc="-10" dirty="0"/>
              <a:t>range.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0" dirty="0"/>
              <a:t>Equivalently,</a:t>
            </a:r>
            <a:r>
              <a:rPr spc="-60" dirty="0"/>
              <a:t> </a:t>
            </a:r>
            <a:r>
              <a:rPr spc="-20" dirty="0"/>
              <a:t>for </a:t>
            </a:r>
            <a:r>
              <a:rPr spc="-60" dirty="0"/>
              <a:t>every</a:t>
            </a:r>
            <a:r>
              <a:rPr dirty="0"/>
              <a:t> </a:t>
            </a:r>
            <a:r>
              <a:rPr i="1" dirty="0">
                <a:latin typeface="Arial"/>
                <a:cs typeface="Arial"/>
              </a:rPr>
              <a:t>b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Arial"/>
                <a:cs typeface="Arial"/>
              </a:rPr>
              <a:t>B</a:t>
            </a:r>
            <a:r>
              <a:rPr dirty="0"/>
              <a:t>,</a:t>
            </a:r>
            <a:r>
              <a:rPr spc="-5" dirty="0"/>
              <a:t> </a:t>
            </a:r>
            <a:r>
              <a:rPr spc="-45" dirty="0"/>
              <a:t>there</a:t>
            </a:r>
            <a:r>
              <a:rPr spc="-5" dirty="0"/>
              <a:t> </a:t>
            </a:r>
            <a:r>
              <a:rPr spc="-30" dirty="0"/>
              <a:t>exists</a:t>
            </a:r>
            <a:r>
              <a:rPr spc="-10" dirty="0"/>
              <a:t> </a:t>
            </a:r>
            <a:r>
              <a:rPr spc="-60" dirty="0"/>
              <a:t>some</a:t>
            </a:r>
            <a:r>
              <a:rPr spc="-5" dirty="0"/>
              <a:t> </a:t>
            </a:r>
            <a:r>
              <a:rPr i="1" spc="-100" dirty="0">
                <a:latin typeface="Arial"/>
                <a:cs typeface="Arial"/>
              </a:rPr>
              <a:t>a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∈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spc="-40" dirty="0"/>
              <a:t>such</a:t>
            </a:r>
            <a:r>
              <a:rPr spc="-5" dirty="0"/>
              <a:t> </a:t>
            </a:r>
            <a:r>
              <a:rPr spc="-20" dirty="0"/>
              <a:t>that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i="1" dirty="0">
                <a:latin typeface="Arial"/>
                <a:cs typeface="Arial"/>
              </a:rPr>
              <a:t>f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spc="-30" dirty="0"/>
              <a:t>(</a:t>
            </a:r>
            <a:r>
              <a:rPr i="1" spc="-30" dirty="0">
                <a:latin typeface="Arial"/>
                <a:cs typeface="Arial"/>
              </a:rPr>
              <a:t>a</a:t>
            </a:r>
            <a:r>
              <a:rPr spc="-30" dirty="0"/>
              <a:t>)</a:t>
            </a:r>
            <a:r>
              <a:rPr spc="-60" dirty="0"/>
              <a:t> </a:t>
            </a:r>
            <a:r>
              <a:rPr dirty="0"/>
              <a:t>=</a:t>
            </a:r>
            <a:r>
              <a:rPr spc="-85" dirty="0"/>
              <a:t> </a:t>
            </a:r>
            <a:r>
              <a:rPr i="1" dirty="0">
                <a:latin typeface="Arial"/>
                <a:cs typeface="Arial"/>
              </a:rPr>
              <a:t>b</a:t>
            </a:r>
            <a:r>
              <a:rPr dirty="0"/>
              <a:t>.</a:t>
            </a:r>
            <a:r>
              <a:rPr spc="90" dirty="0"/>
              <a:t> </a:t>
            </a:r>
            <a:r>
              <a:rPr dirty="0"/>
              <a:t>This</a:t>
            </a:r>
            <a:r>
              <a:rPr spc="-10" dirty="0"/>
              <a:t> </a:t>
            </a:r>
            <a:r>
              <a:rPr spc="-65" dirty="0"/>
              <a:t>means</a:t>
            </a:r>
            <a:r>
              <a:rPr spc="-15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spc="-20" dirty="0"/>
              <a:t>for</a:t>
            </a:r>
            <a:r>
              <a:rPr spc="-10" dirty="0"/>
              <a:t> </a:t>
            </a:r>
            <a:r>
              <a:rPr spc="-30" dirty="0"/>
              <a:t>any</a:t>
            </a:r>
            <a:r>
              <a:rPr spc="-5" dirty="0"/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130" dirty="0">
                <a:latin typeface="Arial"/>
                <a:cs typeface="Arial"/>
              </a:rPr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i="1" dirty="0">
                <a:latin typeface="Arial"/>
                <a:cs typeface="Arial"/>
              </a:rPr>
              <a:t>B</a:t>
            </a:r>
            <a:r>
              <a:rPr dirty="0"/>
              <a:t>,</a:t>
            </a:r>
            <a:r>
              <a:rPr spc="-10" dirty="0"/>
              <a:t> </a:t>
            </a:r>
            <a:r>
              <a:rPr spc="-45" dirty="0"/>
              <a:t>there</a:t>
            </a:r>
            <a:r>
              <a:rPr spc="-10" dirty="0"/>
              <a:t> </a:t>
            </a:r>
            <a:r>
              <a:rPr spc="-30" dirty="0"/>
              <a:t>exists</a:t>
            </a:r>
            <a:r>
              <a:rPr spc="-15" dirty="0"/>
              <a:t> </a:t>
            </a:r>
            <a:r>
              <a:rPr spc="-60" dirty="0"/>
              <a:t>some</a:t>
            </a:r>
            <a:r>
              <a:rPr spc="-15" dirty="0"/>
              <a:t> </a:t>
            </a:r>
            <a:r>
              <a:rPr spc="-35" dirty="0"/>
              <a:t>value</a:t>
            </a:r>
            <a:r>
              <a:rPr spc="-10" dirty="0"/>
              <a:t> </a:t>
            </a:r>
            <a:r>
              <a:rPr i="1" spc="-50" dirty="0">
                <a:latin typeface="Arial"/>
                <a:cs typeface="Arial"/>
              </a:rPr>
              <a:t>x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40" dirty="0"/>
              <a:t>such</a:t>
            </a:r>
            <a:r>
              <a:rPr dirty="0"/>
              <a:t> that</a:t>
            </a:r>
            <a:r>
              <a:rPr spc="5" dirty="0"/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100" dirty="0">
                <a:latin typeface="Arial"/>
                <a:cs typeface="Arial"/>
              </a:rPr>
              <a:t> </a:t>
            </a:r>
            <a:r>
              <a:rPr dirty="0"/>
              <a:t>=</a:t>
            </a:r>
            <a:r>
              <a:rPr spc="-50" dirty="0"/>
              <a:t> </a:t>
            </a:r>
            <a:r>
              <a:rPr i="1" dirty="0">
                <a:latin typeface="Arial"/>
                <a:cs typeface="Arial"/>
              </a:rPr>
              <a:t>f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spc="-35" dirty="0"/>
              <a:t>(</a:t>
            </a:r>
            <a:r>
              <a:rPr i="1" spc="-35" dirty="0">
                <a:latin typeface="Arial"/>
                <a:cs typeface="Arial"/>
              </a:rPr>
              <a:t>x</a:t>
            </a:r>
            <a:r>
              <a:rPr i="1" spc="-210" dirty="0">
                <a:latin typeface="Arial"/>
                <a:cs typeface="Arial"/>
              </a:rPr>
              <a:t> </a:t>
            </a:r>
            <a:r>
              <a:rPr spc="-50" dirty="0"/>
              <a:t>)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pc="-10" dirty="0"/>
              <a:t>For</a:t>
            </a:r>
            <a:r>
              <a:rPr spc="-35" dirty="0"/>
              <a:t> </a:t>
            </a:r>
            <a:r>
              <a:rPr spc="-40" dirty="0"/>
              <a:t>example:</a:t>
            </a:r>
            <a:r>
              <a:rPr spc="90" dirty="0"/>
              <a:t> </a:t>
            </a:r>
            <a:r>
              <a:rPr i="1" dirty="0">
                <a:latin typeface="Arial"/>
                <a:cs typeface="Arial"/>
              </a:rPr>
              <a:t>f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dirty="0"/>
              <a:t>:</a:t>
            </a:r>
            <a:r>
              <a:rPr spc="-15" dirty="0"/>
              <a:t> </a:t>
            </a:r>
            <a:r>
              <a:rPr dirty="0">
                <a:latin typeface="Times New Roman"/>
                <a:cs typeface="Times New Roman"/>
              </a:rPr>
              <a:t>Z </a:t>
            </a:r>
            <a:r>
              <a:rPr dirty="0">
                <a:latin typeface="Lucida Sans Unicode"/>
                <a:cs typeface="Lucida Sans Unicode"/>
              </a:rPr>
              <a:t>→</a:t>
            </a:r>
            <a:r>
              <a:rPr spc="-75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Times New Roman"/>
                <a:cs typeface="Times New Roman"/>
              </a:rPr>
              <a:t>Z</a:t>
            </a:r>
            <a:r>
              <a:rPr dirty="0"/>
              <a:t>,</a:t>
            </a:r>
            <a:r>
              <a:rPr spc="-15" dirty="0"/>
              <a:t> </a:t>
            </a:r>
            <a:r>
              <a:rPr i="1" dirty="0">
                <a:latin typeface="Arial"/>
                <a:cs typeface="Arial"/>
              </a:rPr>
              <a:t>f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n</a:t>
            </a:r>
            <a:r>
              <a:rPr dirty="0"/>
              <a:t>)</a:t>
            </a:r>
            <a:r>
              <a:rPr spc="-70" dirty="0"/>
              <a:t> </a:t>
            </a:r>
            <a:r>
              <a:rPr dirty="0"/>
              <a:t>=</a:t>
            </a:r>
            <a:r>
              <a:rPr spc="-75" dirty="0"/>
              <a:t> </a:t>
            </a:r>
            <a:r>
              <a:rPr dirty="0"/>
              <a:t>3</a:t>
            </a:r>
            <a:r>
              <a:rPr i="1" dirty="0">
                <a:latin typeface="Arial"/>
                <a:cs typeface="Arial"/>
              </a:rPr>
              <a:t>n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not</a:t>
            </a:r>
            <a:r>
              <a:rPr spc="-15" dirty="0"/>
              <a:t> </a:t>
            </a:r>
            <a:r>
              <a:rPr spc="-40" dirty="0"/>
              <a:t>surjective</a:t>
            </a:r>
            <a:r>
              <a:rPr spc="-15" dirty="0"/>
              <a:t> </a:t>
            </a:r>
            <a:r>
              <a:rPr spc="-55" dirty="0"/>
              <a:t>because</a:t>
            </a:r>
            <a:r>
              <a:rPr spc="-15" dirty="0"/>
              <a:t> </a:t>
            </a:r>
            <a:r>
              <a:rPr spc="-45" dirty="0"/>
              <a:t>there</a:t>
            </a:r>
            <a:r>
              <a:rPr spc="-15" dirty="0"/>
              <a:t> </a:t>
            </a:r>
            <a:r>
              <a:rPr spc="-25" dirty="0"/>
              <a:t>are </a:t>
            </a:r>
            <a:r>
              <a:rPr spc="-50" dirty="0"/>
              <a:t>elements</a:t>
            </a:r>
            <a:r>
              <a:rPr spc="-4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35" dirty="0"/>
              <a:t>codomain</a:t>
            </a:r>
            <a:r>
              <a:rPr spc="-4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spc="-60" dirty="0"/>
              <a:t>are</a:t>
            </a:r>
            <a:r>
              <a:rPr spc="-25" dirty="0"/>
              <a:t> </a:t>
            </a:r>
            <a:r>
              <a:rPr dirty="0"/>
              <a:t>not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10" dirty="0"/>
              <a:t>range.</a:t>
            </a: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07" y="1313004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207" y="2039266"/>
            <a:ext cx="65265" cy="65265"/>
          </a:xfrm>
          <a:prstGeom prst="rect">
            <a:avLst/>
          </a:prstGeom>
        </p:spPr>
      </p:pic>
      <p:pic>
        <p:nvPicPr>
          <p:cNvPr id="4098" name="Picture 2" descr="Bijection (How To Prove w/ 9 Step-by-Step Examples!)">
            <a:extLst>
              <a:ext uri="{FF2B5EF4-FFF2-40B4-BE49-F238E27FC236}">
                <a16:creationId xmlns:a16="http://schemas.microsoft.com/office/drawing/2014/main" id="{E3842786-488B-E9F7-68CB-01A97DABC2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68" b="17686"/>
          <a:stretch>
            <a:fillRect/>
          </a:stretch>
        </p:blipFill>
        <p:spPr bwMode="auto">
          <a:xfrm>
            <a:off x="110231" y="2309637"/>
            <a:ext cx="3209470" cy="111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43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Injective</a:t>
            </a:r>
            <a:r>
              <a:rPr spc="-55" dirty="0"/>
              <a:t> </a:t>
            </a:r>
            <a:r>
              <a:rPr spc="-10" dirty="0"/>
              <a:t>Function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607" y="50909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0050" y="425655"/>
            <a:ext cx="3945890" cy="19304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12446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element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codomain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image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one element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domain,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one-</a:t>
            </a:r>
            <a:r>
              <a:rPr sz="1100" spc="-55" dirty="0">
                <a:latin typeface="Tahoma"/>
                <a:cs typeface="Tahoma"/>
              </a:rPr>
              <a:t>to-</a:t>
            </a:r>
            <a:r>
              <a:rPr sz="1100" spc="-35" dirty="0">
                <a:latin typeface="Tahoma"/>
                <a:cs typeface="Tahoma"/>
              </a:rPr>
              <a:t>one,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injective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rebuchet MS"/>
                <a:cs typeface="Trebuchet MS"/>
              </a:rPr>
              <a:t>injective</a:t>
            </a:r>
            <a:r>
              <a:rPr sz="1100" b="1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one-</a:t>
            </a:r>
            <a:r>
              <a:rPr sz="1100" spc="-55" dirty="0">
                <a:latin typeface="Tahoma"/>
                <a:cs typeface="Tahoma"/>
              </a:rPr>
              <a:t>to-</a:t>
            </a:r>
            <a:r>
              <a:rPr sz="1100" spc="-40" dirty="0">
                <a:latin typeface="Tahoma"/>
                <a:cs typeface="Tahoma"/>
              </a:rPr>
              <a:t>one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if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 </a:t>
            </a:r>
            <a:r>
              <a:rPr sz="1100" spc="-30" dirty="0">
                <a:latin typeface="Tahoma"/>
                <a:cs typeface="Tahoma"/>
              </a:rPr>
              <a:t>implies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x</a:t>
            </a:r>
            <a:r>
              <a:rPr sz="1100" i="1" spc="-3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in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domain</a:t>
            </a:r>
            <a:r>
              <a:rPr sz="1100" dirty="0">
                <a:latin typeface="Tahoma"/>
                <a:cs typeface="Tahoma"/>
              </a:rPr>
              <a:t> 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Function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5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injective</a:t>
            </a:r>
            <a:r>
              <a:rPr sz="1100" dirty="0">
                <a:latin typeface="Tahoma"/>
                <a:cs typeface="Tahoma"/>
              </a:rPr>
              <a:t> if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dirty="0">
                <a:latin typeface="Tahoma"/>
                <a:cs typeface="Tahoma"/>
              </a:rPr>
              <a:t> all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x</a:t>
            </a:r>
            <a:r>
              <a:rPr sz="1100" i="1" spc="-3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dirty="0">
                <a:latin typeface="Tahoma"/>
                <a:cs typeface="Tahoma"/>
              </a:rPr>
              <a:t>, if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example: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11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injective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130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Arial MT"/>
                <a:cs typeface="Arial MT"/>
              </a:rPr>
              <a:t>2</a:t>
            </a:r>
            <a:r>
              <a:rPr sz="1200" spc="262" baseline="27777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injective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140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Arial MT"/>
                <a:cs typeface="Arial MT"/>
              </a:rPr>
              <a:t>2</a:t>
            </a:r>
            <a:r>
              <a:rPr sz="1200" spc="262" baseline="27777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is not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injective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baseline="27777" dirty="0">
                <a:latin typeface="Arial MT"/>
                <a:cs typeface="Arial MT"/>
              </a:rPr>
              <a:t>2</a:t>
            </a:r>
            <a:r>
              <a:rPr sz="1200" spc="179" baseline="27777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spc="-75" baseline="27777" dirty="0">
                <a:latin typeface="Arial MT"/>
                <a:cs typeface="Arial MT"/>
              </a:rPr>
              <a:t>2</a:t>
            </a:r>
            <a:endParaRPr sz="1200" baseline="27777" dirty="0">
              <a:latin typeface="Arial MT"/>
              <a:cs typeface="Arial MT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607" y="89121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607" y="1273318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3607" y="1655423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3607" y="2037528"/>
            <a:ext cx="65265" cy="65265"/>
          </a:xfrm>
          <a:prstGeom prst="rect">
            <a:avLst/>
          </a:prstGeom>
        </p:spPr>
      </p:pic>
      <p:pic>
        <p:nvPic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3607" y="2247561"/>
            <a:ext cx="65265" cy="65265"/>
          </a:xfrm>
          <a:prstGeom prst="rect">
            <a:avLst/>
          </a:prstGeom>
        </p:spPr>
      </p:pic>
      <p:pic>
        <p:nvPicPr>
          <p:cNvPr id="11" name="Picture 2" descr="Bijection (How To Prove w/ 9 Step-by-Step Examples!)">
            <a:extLst>
              <a:ext uri="{FF2B5EF4-FFF2-40B4-BE49-F238E27FC236}">
                <a16:creationId xmlns:a16="http://schemas.microsoft.com/office/drawing/2014/main" id="{22F718DA-9016-C140-4481-7B759D959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68" b="17686"/>
          <a:stretch>
            <a:fillRect/>
          </a:stretch>
        </p:blipFill>
        <p:spPr bwMode="auto">
          <a:xfrm>
            <a:off x="110231" y="2309637"/>
            <a:ext cx="3209470" cy="111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8308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Bijective</a:t>
            </a:r>
            <a:r>
              <a:rPr spc="-50" dirty="0"/>
              <a:t> </a:t>
            </a:r>
            <a:r>
              <a:rPr spc="-25" dirty="0"/>
              <a:t>Functions</a:t>
            </a:r>
            <a:endParaRPr spc="-75" dirty="0"/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107" y="74701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3850" y="663575"/>
            <a:ext cx="4126865" cy="56348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431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functions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surjective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injective,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injective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not </a:t>
            </a:r>
            <a:r>
              <a:rPr sz="1100" spc="-40" dirty="0">
                <a:latin typeface="Tahoma"/>
                <a:cs typeface="Tahoma"/>
              </a:rPr>
              <a:t>surjective, </a:t>
            </a:r>
            <a:r>
              <a:rPr sz="1100" spc="-10" dirty="0">
                <a:latin typeface="Tahoma"/>
                <a:cs typeface="Tahoma"/>
              </a:rPr>
              <a:t>both,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neither</a:t>
            </a:r>
            <a:endParaRPr sz="11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function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rebuchet MS"/>
                <a:cs typeface="Trebuchet MS"/>
              </a:rPr>
              <a:t>bijective</a:t>
            </a:r>
            <a:r>
              <a:rPr sz="1100" b="1" spc="-10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injective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surjective.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107" y="1129133"/>
            <a:ext cx="65265" cy="65265"/>
          </a:xfrm>
          <a:prstGeom prst="rect">
            <a:avLst/>
          </a:prstGeom>
        </p:spPr>
      </p:pic>
      <p:pic>
        <p:nvPicPr>
          <p:cNvPr id="10" name="Picture 2" descr="Bijection (How To Prove w/ 9 Step-by-Step Examples!)">
            <a:extLst>
              <a:ext uri="{FF2B5EF4-FFF2-40B4-BE49-F238E27FC236}">
                <a16:creationId xmlns:a16="http://schemas.microsoft.com/office/drawing/2014/main" id="{84988915-CED2-2F22-E034-AC46DC105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68" b="17686"/>
          <a:stretch>
            <a:fillRect/>
          </a:stretch>
        </p:blipFill>
        <p:spPr bwMode="auto">
          <a:xfrm>
            <a:off x="699362" y="1654175"/>
            <a:ext cx="3209470" cy="111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6C8C-6BC6-3FC0-C498-BE52FAD4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8E3430F-A821-1FA4-8624-2C35DF8D2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EC7F499-4959-C909-B75E-DF263017F3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8308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Inverse</a:t>
            </a:r>
            <a:r>
              <a:rPr spc="-25" dirty="0"/>
              <a:t> </a:t>
            </a:r>
            <a:r>
              <a:rPr spc="-75" dirty="0"/>
              <a:t>Image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F24D469-A911-0DD5-46DE-224CDB6C2982}"/>
              </a:ext>
            </a:extLst>
          </p:cNvPr>
          <p:cNvSpPr txBox="1"/>
          <p:nvPr/>
        </p:nvSpPr>
        <p:spPr>
          <a:xfrm>
            <a:off x="323850" y="434975"/>
            <a:ext cx="4126865" cy="161730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28905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Starting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codomain </a:t>
            </a:r>
            <a:r>
              <a:rPr sz="1100" spc="-45" dirty="0">
                <a:latin typeface="Tahoma"/>
                <a:cs typeface="Tahoma"/>
              </a:rPr>
              <a:t>(say </a:t>
            </a:r>
            <a:r>
              <a:rPr sz="1100" dirty="0">
                <a:latin typeface="Tahoma"/>
                <a:cs typeface="Tahoma"/>
              </a:rPr>
              <a:t>y),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indicate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which </a:t>
            </a:r>
            <a:r>
              <a:rPr sz="1100" spc="-50" dirty="0">
                <a:latin typeface="Tahoma"/>
                <a:cs typeface="Tahoma"/>
              </a:rPr>
              <a:t>element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any)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domain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of.</a:t>
            </a:r>
            <a:endParaRPr sz="1100" dirty="0">
              <a:latin typeface="Tahoma"/>
              <a:cs typeface="Tahoma"/>
            </a:endParaRPr>
          </a:p>
          <a:p>
            <a:pPr marL="50800" marR="107950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Which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elements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domain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mapped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particular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10" dirty="0">
                <a:latin typeface="Tahoma"/>
                <a:cs typeface="Tahoma"/>
              </a:rPr>
              <a:t>codomain?</a:t>
            </a:r>
            <a:endParaRPr sz="1100" dirty="0">
              <a:latin typeface="Tahoma"/>
              <a:cs typeface="Tahoma"/>
            </a:endParaRPr>
          </a:p>
          <a:p>
            <a:pPr marL="50800" marR="9588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Let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9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suppose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⊆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inverse image</a:t>
            </a:r>
            <a:r>
              <a:rPr sz="1100" b="1" spc="-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under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denoted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200" i="1" baseline="27777" dirty="0">
                <a:latin typeface="Arial"/>
                <a:cs typeface="Arial"/>
              </a:rPr>
              <a:t>−</a:t>
            </a:r>
            <a:r>
              <a:rPr sz="1200" baseline="27777" dirty="0">
                <a:latin typeface="Arial MT"/>
                <a:cs typeface="Arial MT"/>
              </a:rPr>
              <a:t>1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X </a:t>
            </a:r>
            <a:r>
              <a:rPr sz="1100" spc="-65" dirty="0">
                <a:latin typeface="Tahoma"/>
                <a:cs typeface="Tahoma"/>
              </a:rPr>
              <a:t>whose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image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1200785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200" i="1" spc="82" baseline="31250" dirty="0">
                <a:latin typeface="Arial"/>
                <a:cs typeface="Arial"/>
              </a:rPr>
              <a:t>−</a:t>
            </a:r>
            <a:r>
              <a:rPr sz="1200" spc="82" baseline="31250" dirty="0">
                <a:latin typeface="Arial MT"/>
                <a:cs typeface="Arial MT"/>
              </a:rPr>
              <a:t>1</a:t>
            </a:r>
            <a:r>
              <a:rPr sz="1100" spc="55" dirty="0">
                <a:latin typeface="Tahoma"/>
                <a:cs typeface="Tahoma"/>
              </a:rPr>
              <a:t>(</a:t>
            </a:r>
            <a:r>
              <a:rPr sz="1100" i="1" spc="55" dirty="0">
                <a:latin typeface="Arial"/>
                <a:cs typeface="Arial"/>
              </a:rPr>
              <a:t>B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i="1" spc="65" dirty="0">
                <a:latin typeface="Arial"/>
                <a:cs typeface="Arial"/>
              </a:rPr>
              <a:t>x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spc="-90" dirty="0">
                <a:latin typeface="Tahoma"/>
                <a:cs typeface="Tahoma"/>
              </a:rPr>
              <a:t>: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Arial"/>
                <a:cs typeface="Arial"/>
              </a:rPr>
              <a:t>B</a:t>
            </a:r>
            <a:r>
              <a:rPr sz="1100" spc="100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C1D709DB-BEF9-E830-7477-F6E2C1518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107" y="500228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0C978FB3-1B7C-CF87-0600-F16EE5F3D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107" y="826910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D59F98FB-7068-D106-0763-B5D5C9A89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107" y="1196975"/>
            <a:ext cx="65265" cy="65265"/>
          </a:xfrm>
          <a:prstGeom prst="rect">
            <a:avLst/>
          </a:prstGeom>
        </p:spPr>
      </p:pic>
      <p:pic>
        <p:nvPicPr>
          <p:cNvPr id="8194" name="Picture 2" descr="Inverse Functions - GeeksforGeeks">
            <a:extLst>
              <a:ext uri="{FF2B5EF4-FFF2-40B4-BE49-F238E27FC236}">
                <a16:creationId xmlns:a16="http://schemas.microsoft.com/office/drawing/2014/main" id="{97A6BA54-7646-2F3B-CEC1-75F263484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095947"/>
            <a:ext cx="2609850" cy="130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866405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Image</a:t>
            </a:r>
            <a:r>
              <a:rPr spc="-20" dirty="0"/>
              <a:t> </a:t>
            </a:r>
            <a:r>
              <a:rPr spc="-30" dirty="0"/>
              <a:t>and</a:t>
            </a:r>
            <a:r>
              <a:rPr spc="-20" dirty="0"/>
              <a:t> </a:t>
            </a:r>
            <a:r>
              <a:rPr spc="-85" dirty="0"/>
              <a:t>Inverse</a:t>
            </a:r>
            <a:r>
              <a:rPr spc="-15" dirty="0"/>
              <a:t> </a:t>
            </a:r>
            <a:r>
              <a:rPr spc="-85" dirty="0"/>
              <a:t>Image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1422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4832" y="430782"/>
            <a:ext cx="4143375" cy="164000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spc="-110" dirty="0">
                <a:latin typeface="Lucida Sans Unicode"/>
                <a:cs typeface="Lucida Sans Unicode"/>
              </a:rPr>
              <a:t>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suppose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⊆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image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b="1" spc="-50" dirty="0">
                <a:latin typeface="Trebuchet MS"/>
                <a:cs typeface="Trebuchet MS"/>
              </a:rPr>
              <a:t>under</a:t>
            </a:r>
            <a:r>
              <a:rPr sz="1100" b="1" spc="-10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denoted: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12065" algn="ctr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100" dirty="0">
                <a:latin typeface="Lucida Sans Unicode"/>
                <a:cs typeface="Lucida Sans Unicode"/>
              </a:rPr>
              <a:t>{</a:t>
            </a:r>
            <a:r>
              <a:rPr sz="1100" i="1" spc="100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i="1" spc="-30" dirty="0">
                <a:latin typeface="Arial"/>
                <a:cs typeface="Arial"/>
              </a:rPr>
              <a:t>a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90" dirty="0">
                <a:latin typeface="Arial"/>
                <a:cs typeface="Arial"/>
              </a:rPr>
              <a:t> </a:t>
            </a:r>
            <a:r>
              <a:rPr sz="1100" spc="-90" dirty="0">
                <a:latin typeface="Tahoma"/>
                <a:cs typeface="Tahoma"/>
              </a:rPr>
              <a:t>: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Arial"/>
                <a:cs typeface="Arial"/>
              </a:rPr>
              <a:t>a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100" spc="5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 marL="50165" marR="181610">
              <a:lnSpc>
                <a:spcPct val="102600"/>
              </a:lnSpc>
              <a:spcBef>
                <a:spcPts val="530"/>
              </a:spcBef>
            </a:pPr>
            <a:r>
              <a:rPr sz="1100" dirty="0">
                <a:latin typeface="Tahoma"/>
                <a:cs typeface="Tahoma"/>
              </a:rPr>
              <a:t>Which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elements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domain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45" dirty="0">
                <a:latin typeface="Tahoma"/>
                <a:cs typeface="Tahoma"/>
              </a:rPr>
              <a:t> mapped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particular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codomain?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spc="-110" dirty="0">
                <a:latin typeface="Lucida Sans Unicode"/>
                <a:cs typeface="Lucida Sans Unicode"/>
              </a:rPr>
              <a:t>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suppose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⊆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rebuchet MS"/>
                <a:cs typeface="Trebuchet MS"/>
              </a:rPr>
              <a:t>inverse </a:t>
            </a:r>
            <a:r>
              <a:rPr sz="1100" b="1" spc="-10" dirty="0">
                <a:latin typeface="Trebuchet MS"/>
                <a:cs typeface="Trebuchet MS"/>
              </a:rPr>
              <a:t>image</a:t>
            </a:r>
            <a:r>
              <a:rPr sz="1100" b="1" spc="-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b="1" spc="-50" dirty="0">
                <a:latin typeface="Trebuchet MS"/>
                <a:cs typeface="Trebuchet MS"/>
              </a:rPr>
              <a:t>under</a:t>
            </a:r>
            <a:r>
              <a:rPr sz="1100" b="1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29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denoted: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12065" algn="ctr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200" i="1" spc="82" baseline="31250" dirty="0">
                <a:latin typeface="Arial"/>
                <a:cs typeface="Arial"/>
              </a:rPr>
              <a:t>−</a:t>
            </a:r>
            <a:r>
              <a:rPr sz="1200" spc="82" baseline="31250" dirty="0">
                <a:latin typeface="Arial MT"/>
                <a:cs typeface="Arial MT"/>
              </a:rPr>
              <a:t>1</a:t>
            </a:r>
            <a:r>
              <a:rPr sz="1100" spc="55" dirty="0">
                <a:latin typeface="Tahoma"/>
                <a:cs typeface="Tahoma"/>
              </a:rPr>
              <a:t>(</a:t>
            </a:r>
            <a:r>
              <a:rPr sz="1100" i="1" spc="55" dirty="0">
                <a:latin typeface="Arial"/>
                <a:cs typeface="Arial"/>
              </a:rPr>
              <a:t>B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i="1" spc="65" dirty="0">
                <a:latin typeface="Arial"/>
                <a:cs typeface="Arial"/>
              </a:rPr>
              <a:t>x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spc="-90" dirty="0">
                <a:latin typeface="Tahoma"/>
                <a:cs typeface="Tahoma"/>
              </a:rPr>
              <a:t>: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Arial"/>
                <a:cs typeface="Arial"/>
              </a:rPr>
              <a:t>B</a:t>
            </a:r>
            <a:r>
              <a:rPr sz="1100" spc="100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69454"/>
            <a:ext cx="65265" cy="65265"/>
          </a:xfrm>
          <a:prstGeom prst="rect">
            <a:avLst/>
          </a:prstGeom>
        </p:spPr>
      </p:pic>
      <p:pic>
        <p:nvPicPr>
          <p:cNvPr id="10" name="Picture 6" descr="Correspondences">
            <a:extLst>
              <a:ext uri="{FF2B5EF4-FFF2-40B4-BE49-F238E27FC236}">
                <a16:creationId xmlns:a16="http://schemas.microsoft.com/office/drawing/2014/main" id="{4CCA3C86-F0A3-E1B0-8B7D-F93034633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2151057"/>
            <a:ext cx="2228850" cy="115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E01F8B-27B6-F90D-4F60-4A24A279417A}"/>
              </a:ext>
            </a:extLst>
          </p:cNvPr>
          <p:cNvSpPr txBox="1"/>
          <p:nvPr/>
        </p:nvSpPr>
        <p:spPr>
          <a:xfrm>
            <a:off x="1390650" y="254547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55C86-9A6B-CC47-3EB0-90B2A6AD2B63}"/>
              </a:ext>
            </a:extLst>
          </p:cNvPr>
          <p:cNvSpPr txBox="1"/>
          <p:nvPr/>
        </p:nvSpPr>
        <p:spPr>
          <a:xfrm>
            <a:off x="2926130" y="241617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73D5-9DC6-994E-50EB-0CC5D6F9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CDA4DE-CBD8-C4BE-10F6-6B157027D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B4E7304-4224-C557-8D06-B7C3D0B261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Image</a:t>
            </a:r>
            <a:r>
              <a:rPr spc="-20" dirty="0"/>
              <a:t> </a:t>
            </a:r>
            <a:r>
              <a:rPr spc="-30" dirty="0"/>
              <a:t>and</a:t>
            </a:r>
            <a:r>
              <a:rPr spc="-20" dirty="0"/>
              <a:t> </a:t>
            </a:r>
            <a:r>
              <a:rPr spc="-85" dirty="0"/>
              <a:t>Inverse</a:t>
            </a:r>
            <a:r>
              <a:rPr spc="-15" dirty="0"/>
              <a:t> </a:t>
            </a:r>
            <a:r>
              <a:rPr spc="-85" dirty="0"/>
              <a:t>Image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EECB485-A89A-8ACF-1D77-459F8084E61D}"/>
              </a:ext>
            </a:extLst>
          </p:cNvPr>
          <p:cNvSpPr txBox="1"/>
          <p:nvPr/>
        </p:nvSpPr>
        <p:spPr>
          <a:xfrm>
            <a:off x="364832" y="434975"/>
            <a:ext cx="4143375" cy="15810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marR="43180">
              <a:lnSpc>
                <a:spcPct val="102600"/>
              </a:lnSpc>
              <a:spcBef>
                <a:spcPts val="5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whose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image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particular </a:t>
            </a:r>
            <a:r>
              <a:rPr sz="1100" spc="-50" dirty="0">
                <a:latin typeface="Tahoma"/>
                <a:cs typeface="Tahoma"/>
              </a:rPr>
              <a:t>element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codomain.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domain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25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sends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denoted:</a:t>
            </a:r>
            <a:endParaRPr sz="11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200" i="1" spc="97" baseline="27777" dirty="0">
                <a:latin typeface="Arial"/>
                <a:cs typeface="Arial"/>
              </a:rPr>
              <a:t>−</a:t>
            </a:r>
            <a:r>
              <a:rPr sz="1200" spc="97" baseline="27777" dirty="0">
                <a:latin typeface="Arial MT"/>
                <a:cs typeface="Arial MT"/>
              </a:rPr>
              <a:t>1</a:t>
            </a:r>
            <a:r>
              <a:rPr sz="1100" spc="65" dirty="0">
                <a:latin typeface="Tahoma"/>
                <a:cs typeface="Tahoma"/>
              </a:rPr>
              <a:t>(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i="1" spc="6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}</a:t>
            </a:r>
            <a:r>
              <a:rPr sz="1100" spc="85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denoted: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Calibri"/>
                <a:cs typeface="Calibri"/>
              </a:rPr>
              <a:t>inf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convenience,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instead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</a:t>
            </a:r>
            <a:endParaRPr sz="11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200" i="1" spc="97" baseline="27777" dirty="0">
                <a:latin typeface="Arial"/>
                <a:cs typeface="Arial"/>
              </a:rPr>
              <a:t>−</a:t>
            </a:r>
            <a:r>
              <a:rPr sz="1200" spc="97" baseline="27777" dirty="0">
                <a:latin typeface="Arial MT"/>
                <a:cs typeface="Arial MT"/>
              </a:rPr>
              <a:t>1</a:t>
            </a:r>
            <a:r>
              <a:rPr sz="1100" spc="65" dirty="0">
                <a:latin typeface="Tahoma"/>
                <a:cs typeface="Tahoma"/>
              </a:rPr>
              <a:t>(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i="1" spc="65" dirty="0">
                <a:latin typeface="Arial"/>
                <a:cs typeface="Arial"/>
              </a:rPr>
              <a:t>y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60" dirty="0">
                <a:latin typeface="Tahoma"/>
                <a:cs typeface="Tahoma"/>
              </a:rPr>
              <a:t>)</a:t>
            </a:r>
            <a:endParaRPr lang="en-US" sz="1100" spc="6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endParaRPr sz="11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21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range,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200" i="1" spc="97" baseline="27777" dirty="0">
                <a:latin typeface="Arial"/>
                <a:cs typeface="Arial"/>
              </a:rPr>
              <a:t>−</a:t>
            </a:r>
            <a:r>
              <a:rPr sz="1200" spc="97" baseline="27777" dirty="0">
                <a:latin typeface="Arial MT"/>
                <a:cs typeface="Arial MT"/>
              </a:rPr>
              <a:t>1</a:t>
            </a:r>
            <a:r>
              <a:rPr sz="1100" spc="65" dirty="0">
                <a:latin typeface="Tahoma"/>
                <a:cs typeface="Tahoma"/>
              </a:rPr>
              <a:t>(</a:t>
            </a:r>
            <a:r>
              <a:rPr sz="1100" spc="65" dirty="0">
                <a:latin typeface="Lucida Sans Unicode"/>
                <a:cs typeface="Lucida Sans Unicode"/>
              </a:rPr>
              <a:t>{</a:t>
            </a:r>
            <a:r>
              <a:rPr sz="1100" i="1" spc="6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}</a:t>
            </a:r>
            <a:r>
              <a:rPr sz="1100" spc="85" dirty="0">
                <a:latin typeface="Tahoma"/>
                <a:cs typeface="Tahoma"/>
              </a:rPr>
              <a:t>)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90" dirty="0">
                <a:latin typeface="Lucida Sans Unicode"/>
                <a:cs typeface="Lucida Sans Unicode"/>
              </a:rPr>
              <a:t>∅</a:t>
            </a:r>
            <a:endParaRPr sz="1100" dirty="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730"/>
              </a:spcBef>
            </a:pPr>
            <a:endParaRPr lang="en-US" sz="1100" i="1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730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3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might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multiple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(if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injective),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E8631356-ECE1-B858-510E-3D07EF74D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11175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92BCC491-8225-B38A-5246-6A3DC3C26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49375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26EAED02-4F7E-E24B-3043-0C97CA4A8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93710"/>
            <a:ext cx="65265" cy="65265"/>
          </a:xfrm>
          <a:prstGeom prst="rect">
            <a:avLst/>
          </a:prstGeom>
        </p:spPr>
      </p:pic>
      <p:pic>
        <p:nvPicPr>
          <p:cNvPr id="11" name="Picture 2" descr="Bijection (How To Prove w/ 9 Step-by-Step Examples!)">
            <a:extLst>
              <a:ext uri="{FF2B5EF4-FFF2-40B4-BE49-F238E27FC236}">
                <a16:creationId xmlns:a16="http://schemas.microsoft.com/office/drawing/2014/main" id="{4F1DD7F4-C07B-F50F-3F4C-A48C1FBD0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68" b="17686"/>
          <a:stretch>
            <a:fillRect/>
          </a:stretch>
        </p:blipFill>
        <p:spPr bwMode="auto">
          <a:xfrm>
            <a:off x="-133350" y="2232366"/>
            <a:ext cx="3209470" cy="111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217868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7571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Example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85" dirty="0"/>
              <a:t>Image</a:t>
            </a:r>
            <a:r>
              <a:rPr spc="-25" dirty="0"/>
              <a:t> </a:t>
            </a:r>
            <a:r>
              <a:rPr spc="-30" dirty="0"/>
              <a:t>and</a:t>
            </a:r>
            <a:r>
              <a:rPr spc="-35" dirty="0"/>
              <a:t> </a:t>
            </a:r>
            <a:r>
              <a:rPr spc="-85" dirty="0"/>
              <a:t>Inverse</a:t>
            </a:r>
            <a:r>
              <a:rPr spc="-25" dirty="0"/>
              <a:t> </a:t>
            </a:r>
            <a:r>
              <a:rPr spc="-75" dirty="0"/>
              <a:t>Image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444" y="898384"/>
            <a:ext cx="4324985" cy="8597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200" i="1" baseline="27777" dirty="0">
                <a:latin typeface="Arial"/>
                <a:cs typeface="Arial"/>
              </a:rPr>
              <a:t>−</a:t>
            </a:r>
            <a:r>
              <a:rPr sz="1200" baseline="27777" dirty="0">
                <a:latin typeface="Arial MT"/>
                <a:cs typeface="Arial MT"/>
              </a:rPr>
              <a:t>1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rebuchet MS"/>
                <a:cs typeface="Trebuchet MS"/>
              </a:rPr>
              <a:t>complete</a:t>
            </a:r>
            <a:r>
              <a:rPr sz="1100" b="1" spc="15" dirty="0">
                <a:latin typeface="Trebuchet MS"/>
                <a:cs typeface="Trebuchet MS"/>
              </a:rPr>
              <a:t> </a:t>
            </a:r>
            <a:r>
              <a:rPr sz="1100" b="1" spc="-40" dirty="0">
                <a:latin typeface="Trebuchet MS"/>
                <a:cs typeface="Trebuchet MS"/>
              </a:rPr>
              <a:t>inverse</a:t>
            </a:r>
            <a:r>
              <a:rPr sz="1100" b="1" spc="15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image</a:t>
            </a:r>
            <a:r>
              <a:rPr sz="1100" b="1" spc="2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of</a:t>
            </a:r>
            <a:r>
              <a:rPr sz="1100" b="1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b="1" spc="-50" dirty="0">
                <a:latin typeface="Trebuchet MS"/>
                <a:cs typeface="Trebuchet MS"/>
              </a:rPr>
              <a:t>under</a:t>
            </a:r>
            <a:r>
              <a:rPr sz="1100" b="1" spc="-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the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domain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assigned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by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function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635"/>
              </a:spcBef>
            </a:pPr>
            <a:r>
              <a:rPr sz="1100" spc="-10" dirty="0">
                <a:latin typeface="Tahoma"/>
                <a:cs typeface="Tahoma"/>
              </a:rPr>
              <a:t>Example: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63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2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3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4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5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55" dirty="0">
                <a:latin typeface="Tahoma"/>
                <a:cs typeface="Tahoma"/>
              </a:rPr>
              <a:t>6</a:t>
            </a:r>
            <a:r>
              <a:rPr sz="1100" spc="55" dirty="0">
                <a:latin typeface="Lucida Sans Unicode"/>
                <a:cs typeface="Lucida Sans Unicode"/>
              </a:rPr>
              <a:t>}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-110" dirty="0">
                <a:latin typeface="Lucida Sans Unicode"/>
                <a:cs typeface="Lucida Sans Unicode"/>
              </a:rPr>
              <a:t>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70" dirty="0">
                <a:latin typeface="Arial"/>
                <a:cs typeface="Arial"/>
              </a:rPr>
              <a:t>b</a:t>
            </a:r>
            <a:r>
              <a:rPr sz="1100" i="1" spc="-7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45" dirty="0">
                <a:latin typeface="Arial"/>
                <a:cs typeface="Arial"/>
              </a:rPr>
              <a:t>c</a:t>
            </a:r>
            <a:r>
              <a:rPr sz="1100" i="1" spc="-4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180" dirty="0">
                <a:latin typeface="Lucida Sans Unicode"/>
                <a:cs typeface="Lucida Sans Unicode"/>
              </a:rPr>
              <a:t>}</a:t>
            </a:r>
            <a:r>
              <a:rPr sz="1100" spc="1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3598" y="1962148"/>
            <a:ext cx="2444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54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3994" y="1873363"/>
            <a:ext cx="1095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7034" algn="l"/>
                <a:tab pos="609600" algn="l"/>
                <a:tab pos="812165" algn="l"/>
                <a:tab pos="1012825" algn="l"/>
              </a:tabLst>
            </a:pPr>
            <a:r>
              <a:rPr sz="1100" dirty="0">
                <a:latin typeface="Tahoma"/>
                <a:cs typeface="Tahoma"/>
              </a:rPr>
              <a:t>1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2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3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4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5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6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3435" y="2078761"/>
            <a:ext cx="1198880" cy="0"/>
          </a:xfrm>
          <a:custGeom>
            <a:avLst/>
            <a:gdLst/>
            <a:ahLst/>
            <a:cxnLst/>
            <a:rect l="l" t="t" r="r" b="b"/>
            <a:pathLst>
              <a:path w="1198880">
                <a:moveTo>
                  <a:pt x="0" y="0"/>
                </a:moveTo>
                <a:lnTo>
                  <a:pt x="1198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83994" y="2050489"/>
            <a:ext cx="10858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8915" algn="l"/>
                <a:tab pos="403860" algn="l"/>
                <a:tab pos="606425" algn="l"/>
                <a:tab pos="808355" algn="l"/>
                <a:tab pos="1010919" algn="l"/>
              </a:tabLst>
            </a:pPr>
            <a:r>
              <a:rPr sz="1100" i="1" spc="-50" dirty="0">
                <a:latin typeface="Arial"/>
                <a:cs typeface="Arial"/>
              </a:rPr>
              <a:t>a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50" dirty="0">
                <a:latin typeface="Arial"/>
                <a:cs typeface="Arial"/>
              </a:rPr>
              <a:t>a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50" dirty="0">
                <a:latin typeface="Arial"/>
                <a:cs typeface="Arial"/>
              </a:rPr>
              <a:t>c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44" y="2370657"/>
            <a:ext cx="32410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Find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(a)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8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2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18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(b)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dirty="0">
                <a:latin typeface="Calibri"/>
                <a:cs typeface="Calibri"/>
              </a:rPr>
              <a:t>inf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85" dirty="0">
                <a:latin typeface="Verdana"/>
                <a:cs typeface="Verdana"/>
              </a:rPr>
              <a:t> </a:t>
            </a:r>
            <a:r>
              <a:rPr sz="1100" dirty="0">
                <a:latin typeface="Calibri"/>
                <a:cs typeface="Calibri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(c)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200" i="1" baseline="27777" dirty="0">
                <a:latin typeface="Arial"/>
                <a:cs typeface="Arial"/>
              </a:rPr>
              <a:t>−</a:t>
            </a:r>
            <a:r>
              <a:rPr sz="1200" baseline="27777" dirty="0">
                <a:latin typeface="Arial MT"/>
                <a:cs typeface="Arial MT"/>
              </a:rPr>
              <a:t>1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6343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Solution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182582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29" y="116964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128470"/>
            <a:ext cx="396176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Sol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a.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2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75" dirty="0">
                <a:latin typeface="Arial"/>
                <a:cs typeface="Arial"/>
              </a:rPr>
              <a:t>b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because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codomain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29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sends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640608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1917" y="162767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1586482"/>
            <a:ext cx="3789679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Sol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b.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Calibri"/>
                <a:cs typeface="Calibri"/>
              </a:rPr>
              <a:t>inf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2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3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4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55" dirty="0">
                <a:latin typeface="Tahoma"/>
                <a:cs typeface="Tahoma"/>
              </a:rPr>
              <a:t>5</a:t>
            </a:r>
            <a:r>
              <a:rPr sz="1100" spc="55" dirty="0">
                <a:latin typeface="Lucida Sans Unicode"/>
                <a:cs typeface="Lucida Sans Unicode"/>
              </a:rPr>
              <a:t>}</a:t>
            </a:r>
            <a:r>
              <a:rPr sz="1100" spc="2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because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29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sends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2098633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1917" y="208570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932" y="2044508"/>
            <a:ext cx="3110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Sol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Calibri"/>
                <a:cs typeface="Calibri"/>
              </a:rPr>
              <a:t>inf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40" dirty="0">
                <a:latin typeface="Lucida Sans Unicode"/>
                <a:cs typeface="Lucida Sans Unicode"/>
              </a:rPr>
              <a:t>∅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because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range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f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5300" y="59878"/>
            <a:ext cx="1132205" cy="2444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7145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/>
                <a:cs typeface="Tahoma"/>
              </a:rPr>
              <a:t>More</a:t>
            </a:r>
            <a:r>
              <a:rPr kumimoji="0" lang="en-US" sz="1400" b="0" i="0" u="none" strike="noStrike" kern="0" cap="none" spc="-85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400" b="0" i="0" u="none" strike="noStrike" kern="0" cap="none" spc="-65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/>
                <a:cs typeface="Tahoma"/>
              </a:rPr>
              <a:t>examples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437700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1929" y="142476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932" y="1383587"/>
            <a:ext cx="17792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5" dirty="0">
                <a:latin typeface="Tahoma"/>
                <a:cs typeface="Tahoma"/>
              </a:rPr>
              <a:t> Example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0.4.9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49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723653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1917" y="171072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1669528"/>
            <a:ext cx="18484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lang="en-US" sz="1100" spc="-50" dirty="0">
                <a:latin typeface="Tahoma"/>
                <a:cs typeface="Tahoma"/>
              </a:rPr>
              <a:t>0</a:t>
            </a:r>
            <a:r>
              <a:rPr sz="1100" spc="-50" dirty="0">
                <a:latin typeface="Tahoma"/>
                <a:cs typeface="Tahoma"/>
              </a:rPr>
              <a:t>.4.10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25" dirty="0">
                <a:latin typeface="Tahoma"/>
                <a:cs typeface="Tahoma"/>
              </a:rPr>
              <a:t> 49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2170</Words>
  <Application>Microsoft Macintosh PowerPoint</Application>
  <PresentationFormat>Custom</PresentationFormat>
  <Paragraphs>170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 MT</vt:lpstr>
      <vt:lpstr>Aptos</vt:lpstr>
      <vt:lpstr>Arial</vt:lpstr>
      <vt:lpstr>Calibri</vt:lpstr>
      <vt:lpstr>Franklin Gothic Medium</vt:lpstr>
      <vt:lpstr>Lucida Sans Unicode</vt:lpstr>
      <vt:lpstr>Tahoma</vt:lpstr>
      <vt:lpstr>Times New Roman</vt:lpstr>
      <vt:lpstr>Trebuchet MS</vt:lpstr>
      <vt:lpstr>Verdana</vt:lpstr>
      <vt:lpstr>Office Theme</vt:lpstr>
      <vt:lpstr>CS5070 Mathematical Structures for Computer Science - Notes 2</vt:lpstr>
      <vt:lpstr>Cartesian Product</vt:lpstr>
      <vt:lpstr>More on Cartesian Product</vt:lpstr>
      <vt:lpstr>Relations</vt:lpstr>
      <vt:lpstr>Example of Relations</vt:lpstr>
      <vt:lpstr>Other Concepts of Relations</vt:lpstr>
      <vt:lpstr>Functions</vt:lpstr>
      <vt:lpstr>More on Functions</vt:lpstr>
      <vt:lpstr>More on Functions</vt:lpstr>
      <vt:lpstr>Functions as Tables</vt:lpstr>
      <vt:lpstr>Defining Functions Recursively</vt:lpstr>
      <vt:lpstr>Additional Properties of Functions</vt:lpstr>
      <vt:lpstr>Injective Function</vt:lpstr>
      <vt:lpstr>Bijective Functions</vt:lpstr>
      <vt:lpstr>Inverse Image</vt:lpstr>
      <vt:lpstr>Image and Inverse Image</vt:lpstr>
      <vt:lpstr>Image and Inverse Image</vt:lpstr>
      <vt:lpstr>Example of Image and Inverse Image</vt:lpstr>
      <vt:lpstr>Solution</vt:lpstr>
      <vt:lpstr>More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2</dc:title>
  <dc:creator>Jose Garrido</dc:creator>
  <cp:lastModifiedBy>Kun Suo</cp:lastModifiedBy>
  <cp:revision>19</cp:revision>
  <dcterms:created xsi:type="dcterms:W3CDTF">2026-04-21T18:09:53Z</dcterms:created>
  <dcterms:modified xsi:type="dcterms:W3CDTF">2026-05-23T21:51:28Z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2026-04-21T00:00:00Z</vt:filetime>
  </property>
  <property fmtid="{D5CDD505-2E9C-101B-9397-08002B2CF9AE}" pid="5" name="PTEX.Fullbanner">
    <vt:lpwstr>This is MiKTeX-pdfTeX 2.9.6870 (1.40.19)</vt:lpwstr>
  </property>
  <property fmtid="{D5CDD505-2E9C-101B-9397-08002B2CF9AE}" pid="6" name="Producer">
    <vt:lpwstr>pdfTeX-1.40.19</vt:lpwstr>
  </property>
  <property fmtid="{D5CDD505-2E9C-101B-9397-08002B2CF9AE}" pid="7" name="data-panorama-remediation-history">
    <vt:lpwstr>[{"pageNumber":0,"geomIndex":0,"lastGeomIndex":6,"textElement":"CS5070","tableIndex":-1,"rowIndex":-1,"cellIndex":-1,"fontColor":"#b30000","identifiers":{"PARAGRAPH_ID":"0","RUN_ID":"0","SLIDE_ID":"0"},"issueDetails":{"luminance25":"0.6866853124353136","isHeader":"false","luminance75":"0.6866853124353136","textColor":"cc0000"},"issueTypeId":"LowContrastIssue:PPTX","dismiss":false,"pageNumbers":[1],"coordinatesList":[[18.552000045776367,59.92999267578125,325.92471504211426,6.823440074920654]]},{"pageNumber":0,"geomIndex":46,"lastGeomIndex":47,"textElement":"-","tableIndex":-1,"rowIndex":-1,"cellIndex":-1,"fontColor":"#b30000","identifiers":{"PARAGRAPH_ID":"1","RUN_ID":"0","SLIDE_ID":"0"},"issueDetails":{"luminance25":"0.6866853124353136","isHeader":"false","luminance75":"0.6866853124353136","textColor":"cc0000"},"issueTypeId":"LowContrastIssue:PPTX","dismiss":false,"pageNumbers":[1],"coordinatesList":[[154.05999755859375,77.68998718261719,55.205841064453125,6.823440074920654]]},{"languageSet":"default","pageNumber":0,"geomIndex":-1,"identifiers":{},"issueTypeId":"MissingLanguageSetIssue:PPTX","dismiss":false,"pageNumbers":[1],"coordinatesList":[[10.0,10.0,2.0,2.0]]},{"isReadingOrderVerified":"true","pageNumber":0,"geomIndex":-1,"issueTypeId":"ReadingOrderIssue:PPTX","dismiss":false,"pageNumbers":[2],"coordinatesList":[[10.0,10.0,2.0,2.0]]},{"isReadingOrderVerified":"true","pageNumber":0,"geomIndex":-1,"issueTypeId":"ReadingOrderIssue:PPTX","dismiss":false,"pageNumbers":[8],"coordinatesList":[[10.0,10.0,2.0,2.0]]},{"isReadingOrderVerified":"true","pageNumber":0,"geomIndex":-1,"issueTypeId":"ReadingOrderIssue:PPTX","dismiss":false,"pageNumbers":[10],"coordinatesList":[[10.0,10.0,2.0,2.0]]},{"isReadingOrderVerified":"true","pageNumber":0,"geomIndex":-1,"issueTypeId":"ReadingOrderIssue:PPTX","dismiss":false,"pageNumbers":[15],"coordinatesList":[[10.0,10.0,2.0,2.0]]},{"isReadingOrderVerified":"true","pageNumber":0,"geomIndex":-1,"issueTypeId":"ReadingOrderIssue:PPTX","dismiss":false,"pageNumbers":[16],"coordinatesList":[[10.0,10.0,2.0,2.0]]},{"isReadingOrderVerified":"true","pageNumber":0,"geomIndex":-1,"issueTypeId":"ReadingOrderIssue:PPTX","dismiss":false,"pageNumbers":[17],"coordinatesList":[[10.0,10.0,2.0,2.0]]}]</vt:lpwstr>
  </property>
  <property fmtid="{D5CDD505-2E9C-101B-9397-08002B2CF9AE}" pid="8" name="ReadingOrderVerifiedPages">
    <vt:lpwstr>2,8,10,15,16,17</vt:lpwstr>
  </property>
</Properties>
</file>