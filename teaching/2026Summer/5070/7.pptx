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6"/>
    <p:restoredTop sz="94651"/>
  </p:normalViewPr>
  <p:slideViewPr>
    <p:cSldViewPr>
      <p:cViewPr varScale="1">
        <p:scale>
          <a:sx n="249" d="100"/>
          <a:sy n="249" d="100"/>
        </p:scale>
        <p:origin x="168" y="5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5361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99501"/>
            <a:ext cx="4079240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56977" y="3351784"/>
            <a:ext cx="420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35" y="3351784"/>
            <a:ext cx="2543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garrid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7605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20485"/>
            <a:ext cx="4483735" cy="677545"/>
            <a:chOff x="87743" y="520485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96137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83436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26630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20485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64723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6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78647"/>
            <a:ext cx="4147820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" dirty="0">
                <a:solidFill>
                  <a:srgbClr val="B30000"/>
                </a:solidFill>
              </a:rPr>
              <a:t>-</a:t>
            </a:r>
            <a:r>
              <a:rPr spc="-60" dirty="0"/>
              <a:t> </a:t>
            </a:r>
            <a:r>
              <a:rPr lang="en-US" spc="-10" dirty="0">
                <a:solidFill>
                  <a:srgbClr val="B30000"/>
                </a:solidFill>
              </a:rPr>
              <a:t>Generating Functions and Number Theory</a:t>
            </a:r>
            <a:br>
              <a:rPr lang="en-US" spc="-10" dirty="0">
                <a:solidFill>
                  <a:srgbClr val="B30000"/>
                </a:solidFill>
              </a:rPr>
            </a:br>
            <a:br>
              <a:rPr lang="en-US" spc="-10" dirty="0">
                <a:solidFill>
                  <a:srgbClr val="B30000"/>
                </a:solidFill>
              </a:rPr>
            </a:br>
            <a:endParaRPr lang="en" spc="-50" dirty="0">
              <a:solidFill>
                <a:srgbClr val="B30000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35" y="1357019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lang="en-US"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Generating</a:t>
            </a:r>
            <a:r>
              <a:rPr spc="-30" dirty="0"/>
              <a:t> </a:t>
            </a:r>
            <a:r>
              <a:rPr spc="-25" dirty="0"/>
              <a:t>Functions</a:t>
            </a:r>
            <a:r>
              <a:rPr spc="-30" dirty="0"/>
              <a:t> </a:t>
            </a:r>
            <a:r>
              <a:rPr spc="-20" dirty="0"/>
              <a:t>(Chapter</a:t>
            </a:r>
            <a:r>
              <a:rPr spc="-30" dirty="0"/>
              <a:t> </a:t>
            </a:r>
            <a:r>
              <a:rPr spc="-25" dirty="0"/>
              <a:t>5)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480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557578"/>
            <a:ext cx="4037965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encodes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coefficients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example: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Trebuchet MS"/>
                <a:cs typeface="Trebuchet MS"/>
              </a:rPr>
              <a:t>x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5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8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12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4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40" dirty="0">
                <a:latin typeface="Tahoma"/>
                <a:cs typeface="Tahoma"/>
              </a:rPr>
              <a:t> sum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 </a:t>
            </a:r>
            <a:r>
              <a:rPr sz="1100" i="1" spc="-10" dirty="0">
                <a:latin typeface="Trebuchet MS"/>
                <a:cs typeface="Trebuchet MS"/>
              </a:rPr>
              <a:t>c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100" i="1" spc="-10" dirty="0">
                <a:latin typeface="Trebuchet MS"/>
                <a:cs typeface="Trebuchet MS"/>
              </a:rPr>
              <a:t>x</a:t>
            </a:r>
            <a:r>
              <a:rPr sz="1200" i="1" spc="-15" baseline="27777" dirty="0">
                <a:latin typeface="Constantia"/>
                <a:cs typeface="Constantia"/>
              </a:rPr>
              <a:t>n</a:t>
            </a:r>
            <a:r>
              <a:rPr sz="1100" spc="-10" dirty="0">
                <a:latin typeface="Tahoma"/>
                <a:cs typeface="Tahoma"/>
              </a:rPr>
              <a:t>,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77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Another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denote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9484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04874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8697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28202" y="1677059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10" dirty="0">
                <a:latin typeface="Arial"/>
                <a:cs typeface="Arial"/>
              </a:rPr>
              <a:t>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7787" y="1789626"/>
            <a:ext cx="226060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869" dirty="0" err="1">
                <a:latin typeface="Lucida Sans Unicode"/>
                <a:cs typeface="Lucida Sans Unicode"/>
              </a:rPr>
              <a:t>Σ</a:t>
            </a:r>
            <a:r>
              <a:rPr sz="800" i="1" spc="-25" dirty="0" err="1">
                <a:latin typeface="Constantia"/>
                <a:cs typeface="Constantia"/>
              </a:rPr>
              <a:t>k</a:t>
            </a:r>
            <a:r>
              <a:rPr sz="800" spc="-25" dirty="0">
                <a:latin typeface="Tahoma"/>
                <a:cs typeface="Tahoma"/>
              </a:rPr>
              <a:t>=0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6708" y="187281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5138" y="1812923"/>
            <a:ext cx="21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18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0535" y="179303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832" y="2244406"/>
            <a:ext cx="3382645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expanded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form:</a:t>
            </a:r>
            <a:endParaRPr sz="1100">
              <a:latin typeface="Tahoma"/>
              <a:cs typeface="Tahoma"/>
            </a:endParaRPr>
          </a:p>
          <a:p>
            <a:pPr marL="50800" marR="43180" indent="749300">
              <a:lnSpc>
                <a:spcPct val="151700"/>
              </a:lnSpc>
              <a:spcBef>
                <a:spcPts val="705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75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2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4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4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5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5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generating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series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80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40" dirty="0"/>
              <a:t>Generating</a:t>
            </a:r>
            <a:r>
              <a:rPr spc="-70" dirty="0"/>
              <a:t> </a:t>
            </a:r>
            <a:r>
              <a:rPr spc="-25" dirty="0"/>
              <a:t>Functions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710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0232" y="587576"/>
            <a:ext cx="385572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produces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coefficients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polynomial.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248285" algn="ctr">
              <a:lnSpc>
                <a:spcPct val="100000"/>
              </a:lnSpc>
            </a:pP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0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1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2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3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4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5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1577"/>
            <a:ext cx="65265" cy="65265"/>
          </a:xfrm>
          <a:prstGeom prst="rect">
            <a:avLst/>
          </a:prstGeom>
        </p:spPr>
      </p:pic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31733" y="1474736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4">
                <a:moveTo>
                  <a:pt x="0" y="0"/>
                </a:moveTo>
                <a:lnTo>
                  <a:pt x="105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36901" y="1474736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4">
                <a:moveTo>
                  <a:pt x="0" y="0"/>
                </a:moveTo>
                <a:lnTo>
                  <a:pt x="105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82" y="1474736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0295" y="1474736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>
                <a:moveTo>
                  <a:pt x="0" y="0"/>
                </a:moveTo>
                <a:lnTo>
                  <a:pt x="1080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44877" y="1443226"/>
            <a:ext cx="134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7500" algn="l"/>
                <a:tab pos="596900" algn="l"/>
                <a:tab pos="1243330" algn="l"/>
              </a:tabLst>
            </a:pP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6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24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25" dirty="0">
                <a:latin typeface="Constantia"/>
                <a:cs typeface="Constantia"/>
              </a:rPr>
              <a:t>n</a:t>
            </a:r>
            <a:r>
              <a:rPr sz="800" spc="-25" dirty="0">
                <a:latin typeface="Tahoma"/>
                <a:cs typeface="Tahoma"/>
              </a:rPr>
              <a:t>!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532" y="1358124"/>
            <a:ext cx="4089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2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2</a:t>
            </a:r>
            <a:r>
              <a:rPr sz="900" spc="330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9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3</a:t>
            </a:r>
            <a:r>
              <a:rPr sz="900" spc="337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9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4</a:t>
            </a:r>
            <a:r>
              <a:rPr sz="900" spc="352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200" i="1" baseline="31250" dirty="0">
                <a:latin typeface="Constantia"/>
                <a:cs typeface="Constantia"/>
              </a:rPr>
              <a:t>x</a:t>
            </a:r>
            <a:r>
              <a:rPr sz="900" i="1" baseline="64814" dirty="0">
                <a:latin typeface="Constantia"/>
                <a:cs typeface="Constantia"/>
              </a:rPr>
              <a:t>n</a:t>
            </a:r>
            <a:r>
              <a:rPr sz="900" i="1" spc="412" baseline="64814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·</a:t>
            </a:r>
            <a:r>
              <a:rPr sz="1100" i="1" spc="16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converges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832" y="1486418"/>
            <a:ext cx="4132579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e</a:t>
            </a:r>
            <a:r>
              <a:rPr sz="1200" i="1" spc="-37" baseline="27777" dirty="0">
                <a:latin typeface="Constantia"/>
                <a:cs typeface="Constantia"/>
              </a:rPr>
              <a:t>x</a:t>
            </a:r>
            <a:endParaRPr sz="1200" baseline="27777">
              <a:latin typeface="Constantia"/>
              <a:cs typeface="Constantia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Taylor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i="1" spc="-30" dirty="0">
                <a:latin typeface="Trebuchet MS"/>
                <a:cs typeface="Trebuchet MS"/>
              </a:rPr>
              <a:t>e</a:t>
            </a:r>
            <a:r>
              <a:rPr sz="1200" i="1" spc="-44" baseline="27777" dirty="0">
                <a:latin typeface="Constantia"/>
                <a:cs typeface="Constantia"/>
              </a:rPr>
              <a:t>x</a:t>
            </a:r>
            <a:r>
              <a:rPr sz="1200" i="1" spc="-104" baseline="27777" dirty="0">
                <a:latin typeface="Constantia"/>
                <a:cs typeface="Constantia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1</a:t>
            </a:r>
            <a:r>
              <a:rPr sz="1100" i="1" spc="-8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44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4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  <a:p>
            <a:pPr marL="50800" marR="132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closed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series,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geometric </a:t>
            </a:r>
            <a:r>
              <a:rPr sz="1100" i="1" spc="-75" dirty="0">
                <a:latin typeface="Trebuchet MS"/>
                <a:cs typeface="Trebuchet MS"/>
              </a:rPr>
              <a:t>series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ratio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23681"/>
            <a:ext cx="65265" cy="65265"/>
          </a:xfrm>
          <a:prstGeom prst="rect">
            <a:avLst/>
          </a:prstGeom>
        </p:spPr>
      </p:pic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3714"/>
            <a:ext cx="65265" cy="65265"/>
          </a:xfrm>
          <a:prstGeom prst="rect">
            <a:avLst/>
          </a:prstGeom>
        </p:spPr>
      </p:pic>
      <p:pic>
        <p:nvPicPr>
          <p:cNvPr id="16" name="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43747"/>
            <a:ext cx="65265" cy="652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18641" y="2739604"/>
            <a:ext cx="17868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4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31134" y="264587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0885" y="285621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08185" y="2834638"/>
            <a:ext cx="328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Generating</a:t>
            </a:r>
            <a:r>
              <a:rPr spc="-65" dirty="0"/>
              <a:t> </a:t>
            </a:r>
            <a:r>
              <a:rPr dirty="0"/>
              <a:t>More</a:t>
            </a:r>
            <a:r>
              <a:rPr spc="-65" dirty="0"/>
              <a:t> Sequences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0007" y="80804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9745" y="101838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932" y="965794"/>
            <a:ext cx="1332230" cy="4203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  <a:p>
            <a:pPr marR="45085" algn="r">
              <a:lnSpc>
                <a:spcPct val="100000"/>
              </a:lnSpc>
              <a:spcBef>
                <a:spcPts val="229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80" dirty="0">
                <a:latin typeface="Verdana"/>
                <a:cs typeface="Verdana"/>
              </a:rPr>
              <a:t>−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−</a:t>
            </a:r>
            <a:r>
              <a:rPr sz="1100" spc="-25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575" y="95989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0504" y="901774"/>
            <a:ext cx="1468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67" baseline="312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39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112" y="154555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40205" y="1755876"/>
            <a:ext cx="384810" cy="0"/>
          </a:xfrm>
          <a:custGeom>
            <a:avLst/>
            <a:gdLst/>
            <a:ahLst/>
            <a:cxnLst/>
            <a:rect l="l" t="t" r="r" b="b"/>
            <a:pathLst>
              <a:path w="384809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27505" y="1734310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0243" y="1639276"/>
            <a:ext cx="175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32" y="1931567"/>
            <a:ext cx="136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897" y="228303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003" y="2493378"/>
            <a:ext cx="384810" cy="0"/>
          </a:xfrm>
          <a:custGeom>
            <a:avLst/>
            <a:gdLst/>
            <a:ahLst/>
            <a:cxnLst/>
            <a:rect l="l" t="t" r="r" b="b"/>
            <a:pathLst>
              <a:path w="384809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0303" y="2471799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3040" y="2376765"/>
            <a:ext cx="271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932" y="2669068"/>
            <a:ext cx="1438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81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591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65" dirty="0"/>
              <a:t> </a:t>
            </a:r>
            <a:r>
              <a:rPr spc="-35" dirty="0"/>
              <a:t>Complex</a:t>
            </a:r>
            <a:r>
              <a:rPr spc="-65" dirty="0"/>
              <a:t> </a:t>
            </a:r>
            <a:r>
              <a:rPr spc="-40" dirty="0"/>
              <a:t>Series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991386"/>
            <a:ext cx="4409440" cy="98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Adding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1</a:t>
            </a:r>
            <a:r>
              <a:rPr sz="1100" i="1" spc="-8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4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10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2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28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3</a:t>
            </a:r>
            <a:r>
              <a:rPr sz="1200" spc="-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3)</a:t>
            </a:r>
            <a:r>
              <a:rPr sz="1100" i="1" spc="-45" dirty="0">
                <a:latin typeface="Trebuchet MS"/>
                <a:cs typeface="Trebuchet MS"/>
              </a:rPr>
              <a:t>x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9)</a:t>
            </a:r>
            <a:r>
              <a:rPr sz="1100" i="1" spc="-4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2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27)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3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  <a:p>
            <a:pPr marL="276860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1133" y="20769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35263" y="219356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83726" y="20769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5525" y="1983230"/>
            <a:ext cx="644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1975" algn="l"/>
              </a:tabLst>
            </a:pP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0147" y="2193569"/>
            <a:ext cx="384810" cy="0"/>
          </a:xfrm>
          <a:custGeom>
            <a:avLst/>
            <a:gdLst/>
            <a:ahLst/>
            <a:cxnLst/>
            <a:rect l="l" t="t" r="r" b="b"/>
            <a:pathLst>
              <a:path w="384810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22563" y="2171990"/>
            <a:ext cx="9124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7050" algn="l"/>
              </a:tabLst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98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Number</a:t>
            </a:r>
            <a:r>
              <a:rPr spc="-50" dirty="0"/>
              <a:t> </a:t>
            </a:r>
            <a:r>
              <a:rPr spc="-25" dirty="0"/>
              <a:t>Theory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294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7855" algn="just">
              <a:lnSpc>
                <a:spcPct val="102600"/>
              </a:lnSpc>
              <a:spcBef>
                <a:spcPts val="55"/>
              </a:spcBef>
            </a:pPr>
            <a:r>
              <a:rPr dirty="0"/>
              <a:t>With</a:t>
            </a:r>
            <a:r>
              <a:rPr spc="-15" dirty="0"/>
              <a:t> </a:t>
            </a:r>
            <a:r>
              <a:rPr spc="-35" dirty="0"/>
              <a:t>integer</a:t>
            </a:r>
            <a:r>
              <a:rPr spc="-10" dirty="0"/>
              <a:t> </a:t>
            </a:r>
            <a:r>
              <a:rPr spc="-55" dirty="0"/>
              <a:t>numbers,</a:t>
            </a:r>
            <a:r>
              <a:rPr spc="-10" dirty="0"/>
              <a:t> the </a:t>
            </a:r>
            <a:r>
              <a:rPr spc="-40" dirty="0"/>
              <a:t>possible</a:t>
            </a:r>
            <a:r>
              <a:rPr spc="-10" dirty="0"/>
              <a:t> </a:t>
            </a:r>
            <a:r>
              <a:rPr spc="-35" dirty="0"/>
              <a:t>operations</a:t>
            </a:r>
            <a:r>
              <a:rPr spc="-20" dirty="0"/>
              <a:t> </a:t>
            </a:r>
            <a:r>
              <a:rPr spc="-60" dirty="0"/>
              <a:t>are</a:t>
            </a:r>
            <a:r>
              <a:rPr spc="-10" dirty="0"/>
              <a:t> </a:t>
            </a:r>
            <a:r>
              <a:rPr spc="-25" dirty="0"/>
              <a:t>addition, </a:t>
            </a:r>
            <a:r>
              <a:rPr spc="-30" dirty="0"/>
              <a:t>subtraction,</a:t>
            </a:r>
            <a:r>
              <a:rPr spc="-25" dirty="0"/>
              <a:t> </a:t>
            </a:r>
            <a:r>
              <a:rPr spc="-10" dirty="0"/>
              <a:t>multiplication.</a:t>
            </a:r>
          </a:p>
          <a:p>
            <a:pPr marL="12700" algn="just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Division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40" dirty="0"/>
              <a:t>possible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rational</a:t>
            </a:r>
            <a:r>
              <a:rPr spc="-35" dirty="0"/>
              <a:t> </a:t>
            </a:r>
            <a:r>
              <a:rPr spc="-10" dirty="0"/>
              <a:t>numbers</a:t>
            </a:r>
          </a:p>
          <a:p>
            <a:pPr marL="12700" marR="5080" algn="just">
              <a:lnSpc>
                <a:spcPct val="102600"/>
              </a:lnSpc>
              <a:spcBef>
                <a:spcPts val="300"/>
              </a:spcBef>
            </a:pPr>
            <a:r>
              <a:rPr spc="-40" dirty="0"/>
              <a:t>For</a:t>
            </a:r>
            <a:r>
              <a:rPr spc="5" dirty="0"/>
              <a:t> </a:t>
            </a:r>
            <a:r>
              <a:rPr i="1" spc="-55" dirty="0">
                <a:latin typeface="Trebuchet MS"/>
                <a:cs typeface="Trebuchet MS"/>
              </a:rPr>
              <a:t>a</a:t>
            </a:r>
            <a:r>
              <a:rPr i="1" spc="-100" dirty="0">
                <a:latin typeface="Trebuchet MS"/>
                <a:cs typeface="Trebuchet MS"/>
              </a:rPr>
              <a:t> </a:t>
            </a:r>
            <a:r>
              <a:rPr i="1" spc="-55" dirty="0">
                <a:latin typeface="Verdana"/>
                <a:cs typeface="Verdana"/>
              </a:rPr>
              <a:t>÷</a:t>
            </a:r>
            <a:r>
              <a:rPr i="1" spc="-170" dirty="0">
                <a:latin typeface="Verdana"/>
                <a:cs typeface="Verdana"/>
              </a:rPr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spc="-65" dirty="0"/>
              <a:t>or</a:t>
            </a:r>
            <a:r>
              <a:rPr spc="10" dirty="0"/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i="1" spc="-65" dirty="0">
                <a:latin typeface="Trebuchet MS"/>
                <a:cs typeface="Trebuchet MS"/>
              </a:rPr>
              <a:t>divides</a:t>
            </a:r>
            <a:r>
              <a:rPr i="1" spc="2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spc="-40" dirty="0"/>
              <a:t>,</a:t>
            </a:r>
            <a:r>
              <a:rPr spc="10" dirty="0"/>
              <a:t> </a:t>
            </a:r>
            <a:r>
              <a:rPr spc="-100" dirty="0"/>
              <a:t>we</a:t>
            </a:r>
            <a:r>
              <a:rPr spc="5" dirty="0"/>
              <a:t> </a:t>
            </a:r>
            <a:r>
              <a:rPr spc="-50" dirty="0"/>
              <a:t>can</a:t>
            </a:r>
            <a:r>
              <a:rPr spc="5" dirty="0"/>
              <a:t> </a:t>
            </a:r>
            <a:r>
              <a:rPr spc="-75" dirty="0"/>
              <a:t>use</a:t>
            </a:r>
            <a:r>
              <a:rPr spc="10" dirty="0"/>
              <a:t> </a:t>
            </a:r>
            <a:r>
              <a:rPr spc="-45" dirty="0"/>
              <a:t>the</a:t>
            </a:r>
            <a:r>
              <a:rPr spc="5" dirty="0"/>
              <a:t> </a:t>
            </a:r>
            <a:r>
              <a:rPr spc="-25" dirty="0"/>
              <a:t>notation</a:t>
            </a:r>
            <a:r>
              <a:rPr spc="5" dirty="0"/>
              <a:t> </a:t>
            </a:r>
            <a:r>
              <a:rPr i="1" spc="-80" dirty="0">
                <a:latin typeface="Trebuchet MS"/>
                <a:cs typeface="Trebuchet MS"/>
              </a:rPr>
              <a:t>b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a</a:t>
            </a:r>
            <a:r>
              <a:rPr spc="-80" dirty="0"/>
              <a:t>.</a:t>
            </a:r>
            <a:r>
              <a:rPr spc="135" dirty="0"/>
              <a:t> </a:t>
            </a:r>
            <a:r>
              <a:rPr spc="-65" dirty="0"/>
              <a:t>If</a:t>
            </a:r>
            <a:r>
              <a:rPr spc="5" dirty="0"/>
              <a:t> </a:t>
            </a:r>
            <a:r>
              <a:rPr spc="-25" dirty="0"/>
              <a:t>this</a:t>
            </a:r>
            <a:r>
              <a:rPr spc="10" dirty="0"/>
              <a:t> </a:t>
            </a:r>
            <a:r>
              <a:rPr spc="-45" dirty="0"/>
              <a:t>results</a:t>
            </a:r>
            <a:r>
              <a:rPr spc="5" dirty="0"/>
              <a:t> </a:t>
            </a:r>
            <a:r>
              <a:rPr spc="-60" dirty="0"/>
              <a:t>in</a:t>
            </a:r>
            <a:r>
              <a:rPr spc="-20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55" dirty="0"/>
              <a:t>whole</a:t>
            </a:r>
            <a:r>
              <a:rPr spc="20" dirty="0"/>
              <a:t> </a:t>
            </a:r>
            <a:r>
              <a:rPr spc="-50" dirty="0"/>
              <a:t>number,</a:t>
            </a:r>
            <a:r>
              <a:rPr spc="20" dirty="0"/>
              <a:t> </a:t>
            </a:r>
            <a:r>
              <a:rPr spc="-45" dirty="0"/>
              <a:t>then</a:t>
            </a:r>
            <a:r>
              <a:rPr spc="15" dirty="0"/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65" dirty="0">
                <a:latin typeface="Trebuchet MS"/>
                <a:cs typeface="Trebuchet MS"/>
              </a:rPr>
              <a:t> </a:t>
            </a:r>
            <a:r>
              <a:rPr spc="-35" dirty="0"/>
              <a:t>is</a:t>
            </a:r>
            <a:r>
              <a:rPr spc="15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45" dirty="0"/>
              <a:t>divisor</a:t>
            </a:r>
            <a:r>
              <a:rPr spc="20" dirty="0"/>
              <a:t> </a:t>
            </a:r>
            <a:r>
              <a:rPr spc="-65" dirty="0"/>
              <a:t>or</a:t>
            </a:r>
            <a:r>
              <a:rPr spc="20" dirty="0"/>
              <a:t> </a:t>
            </a:r>
            <a:r>
              <a:rPr spc="-35" dirty="0"/>
              <a:t>factor</a:t>
            </a:r>
            <a:r>
              <a:rPr spc="20" dirty="0"/>
              <a:t> </a:t>
            </a:r>
            <a:r>
              <a:rPr spc="-40" dirty="0"/>
              <a:t>of</a:t>
            </a:r>
            <a:r>
              <a:rPr spc="25" dirty="0"/>
              <a:t> 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spc="-40" dirty="0"/>
              <a:t>,</a:t>
            </a:r>
            <a:r>
              <a:rPr spc="20" dirty="0"/>
              <a:t> </a:t>
            </a:r>
            <a:r>
              <a:rPr spc="-55" dirty="0"/>
              <a:t>and</a:t>
            </a:r>
            <a:r>
              <a:rPr spc="20" dirty="0"/>
              <a:t> </a:t>
            </a:r>
            <a:r>
              <a:rPr i="1" spc="-55" dirty="0">
                <a:latin typeface="Trebuchet MS"/>
                <a:cs typeface="Trebuchet MS"/>
              </a:rPr>
              <a:t>a</a:t>
            </a:r>
            <a:r>
              <a:rPr i="1" spc="40" dirty="0">
                <a:latin typeface="Trebuchet MS"/>
                <a:cs typeface="Trebuchet MS"/>
              </a:rPr>
              <a:t> </a:t>
            </a:r>
            <a:r>
              <a:rPr spc="-35" dirty="0"/>
              <a:t>is</a:t>
            </a:r>
            <a:r>
              <a:rPr spc="15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25" dirty="0"/>
              <a:t>multiple</a:t>
            </a:r>
            <a:r>
              <a:rPr spc="-20" dirty="0"/>
              <a:t> </a:t>
            </a:r>
            <a:r>
              <a:rPr spc="-40" dirty="0"/>
              <a:t>of</a:t>
            </a:r>
            <a:r>
              <a:rPr spc="15" dirty="0"/>
              <a:t> </a:t>
            </a:r>
            <a:r>
              <a:rPr i="1" spc="-35" dirty="0">
                <a:latin typeface="Trebuchet MS"/>
                <a:cs typeface="Trebuchet MS"/>
              </a:rPr>
              <a:t>b</a:t>
            </a:r>
            <a:r>
              <a:rPr spc="-35" dirty="0"/>
              <a:t>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if</a:t>
            </a:r>
            <a:r>
              <a:rPr spc="-25" dirty="0"/>
              <a:t> </a:t>
            </a:r>
            <a:r>
              <a:rPr i="1" spc="-85" dirty="0">
                <a:latin typeface="Trebuchet MS"/>
                <a:cs typeface="Trebuchet MS"/>
              </a:rPr>
              <a:t>b</a:t>
            </a:r>
            <a:r>
              <a:rPr i="1" spc="-85" dirty="0">
                <a:latin typeface="Verdana"/>
                <a:cs typeface="Verdana"/>
              </a:rPr>
              <a:t>|</a:t>
            </a:r>
            <a:r>
              <a:rPr i="1" spc="-85" dirty="0">
                <a:latin typeface="Trebuchet MS"/>
                <a:cs typeface="Trebuchet MS"/>
              </a:rPr>
              <a:t>a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spc="-25" dirty="0"/>
              <a:t>then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i="1" spc="-55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75" dirty="0"/>
              <a:t> </a:t>
            </a:r>
            <a:r>
              <a:rPr i="1" dirty="0">
                <a:latin typeface="Trebuchet MS"/>
                <a:cs typeface="Trebuchet MS"/>
              </a:rPr>
              <a:t>bk</a:t>
            </a:r>
            <a:r>
              <a:rPr i="1" spc="70" dirty="0">
                <a:latin typeface="Trebuchet MS"/>
                <a:cs typeface="Trebuchet MS"/>
              </a:rPr>
              <a:t> </a:t>
            </a:r>
            <a:r>
              <a:rPr spc="-20" dirty="0"/>
              <a:t>for </a:t>
            </a:r>
            <a:r>
              <a:rPr spc="-60" dirty="0"/>
              <a:t>some</a:t>
            </a:r>
            <a:r>
              <a:rPr spc="-25" dirty="0"/>
              <a:t> </a:t>
            </a:r>
            <a:r>
              <a:rPr spc="-35" dirty="0"/>
              <a:t>integer</a:t>
            </a:r>
            <a:r>
              <a:rPr spc="-25" dirty="0"/>
              <a:t> </a:t>
            </a:r>
            <a:r>
              <a:rPr i="1" spc="-50" dirty="0">
                <a:latin typeface="Trebuchet MS"/>
                <a:cs typeface="Trebuchet MS"/>
              </a:rPr>
              <a:t>k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dirty="0">
                <a:latin typeface="Arial"/>
                <a:cs typeface="Arial"/>
              </a:rPr>
              <a:t>The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Divisibility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Relation</a:t>
            </a:r>
            <a:r>
              <a:rPr spc="-25" dirty="0"/>
              <a:t>.</a:t>
            </a:r>
            <a:r>
              <a:rPr spc="75" dirty="0"/>
              <a:t> </a:t>
            </a:r>
            <a:r>
              <a:rPr spc="-10" dirty="0"/>
              <a:t>For</a:t>
            </a:r>
            <a:r>
              <a:rPr spc="-25" dirty="0"/>
              <a:t> </a:t>
            </a:r>
            <a:r>
              <a:rPr spc="-45" dirty="0"/>
              <a:t>integers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m </a:t>
            </a:r>
            <a:r>
              <a:rPr spc="-35" dirty="0"/>
              <a:t>and</a:t>
            </a:r>
            <a:r>
              <a:rPr spc="-25" dirty="0"/>
              <a:t> </a:t>
            </a:r>
            <a:r>
              <a:rPr i="1" dirty="0">
                <a:latin typeface="Trebuchet MS"/>
                <a:cs typeface="Trebuchet MS"/>
              </a:rPr>
              <a:t>n</a:t>
            </a:r>
            <a:r>
              <a:rPr dirty="0"/>
              <a:t>,</a:t>
            </a:r>
            <a:r>
              <a:rPr spc="-30" dirty="0"/>
              <a:t> </a:t>
            </a:r>
            <a:r>
              <a:rPr i="1" spc="-80" dirty="0">
                <a:latin typeface="Trebuchet MS"/>
                <a:cs typeface="Trebuchet MS"/>
              </a:rPr>
              <a:t>m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n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spc="-35" dirty="0"/>
              <a:t>holds</a:t>
            </a:r>
            <a:r>
              <a:rPr spc="-30" dirty="0"/>
              <a:t> </a:t>
            </a:r>
            <a:r>
              <a:rPr spc="-10" dirty="0"/>
              <a:t>provided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spc="-50" dirty="0">
                <a:latin typeface="Trebuchet MS"/>
                <a:cs typeface="Trebuchet MS"/>
              </a:rPr>
              <a:t>n</a:t>
            </a:r>
            <a:r>
              <a:rPr i="1" spc="-70" dirty="0">
                <a:latin typeface="Trebuchet MS"/>
                <a:cs typeface="Trebuchet MS"/>
              </a:rPr>
              <a:t> </a:t>
            </a:r>
            <a:r>
              <a:rPr i="1" spc="-60" dirty="0">
                <a:latin typeface="Verdana"/>
                <a:cs typeface="Verdana"/>
              </a:rPr>
              <a:t>÷</a:t>
            </a:r>
            <a:r>
              <a:rPr i="1" spc="-145" dirty="0">
                <a:latin typeface="Verdana"/>
                <a:cs typeface="Verdana"/>
              </a:rPr>
              <a:t> </a:t>
            </a:r>
            <a:r>
              <a:rPr i="1" dirty="0">
                <a:latin typeface="Trebuchet MS"/>
                <a:cs typeface="Trebuchet MS"/>
              </a:rPr>
              <a:t>m</a:t>
            </a:r>
            <a:r>
              <a:rPr i="1" spc="-55" dirty="0">
                <a:latin typeface="Trebuchet MS"/>
                <a:cs typeface="Trebuchet MS"/>
              </a:rPr>
              <a:t> </a:t>
            </a:r>
            <a:r>
              <a:rPr spc="-35" dirty="0"/>
              <a:t>results</a:t>
            </a:r>
            <a:r>
              <a:rPr spc="-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10" dirty="0"/>
              <a:t>integer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i="1" spc="-80" dirty="0">
                <a:latin typeface="Trebuchet MS"/>
                <a:cs typeface="Trebuchet MS"/>
              </a:rPr>
              <a:t>m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n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35" dirty="0"/>
              <a:t>statement,</a:t>
            </a:r>
            <a:r>
              <a:rPr spc="-2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20" dirty="0"/>
              <a:t>true</a:t>
            </a:r>
            <a:r>
              <a:rPr spc="-25" dirty="0"/>
              <a:t> </a:t>
            </a:r>
            <a:r>
              <a:rPr spc="-20" dirty="0"/>
              <a:t>or</a:t>
            </a:r>
            <a:r>
              <a:rPr spc="-25" dirty="0"/>
              <a:t> </a:t>
            </a:r>
            <a:r>
              <a:rPr spc="-10" dirty="0"/>
              <a:t>false.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5059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509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29269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39302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214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Division</a:t>
            </a:r>
            <a:r>
              <a:rPr spc="-85" dirty="0"/>
              <a:t> </a:t>
            </a:r>
            <a:r>
              <a:rPr spc="-20" dirty="0"/>
              <a:t>Algorithm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534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Given</a:t>
            </a:r>
            <a:r>
              <a:rPr spc="-40" dirty="0"/>
              <a:t> </a:t>
            </a:r>
            <a:r>
              <a:rPr spc="-25" dirty="0"/>
              <a:t>any</a:t>
            </a:r>
            <a:r>
              <a:rPr spc="-40" dirty="0"/>
              <a:t> two </a:t>
            </a:r>
            <a:r>
              <a:rPr spc="-45" dirty="0"/>
              <a:t>integers</a:t>
            </a:r>
            <a:r>
              <a:rPr spc="-35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dirty="0"/>
              <a:t>,</a:t>
            </a:r>
            <a:r>
              <a:rPr spc="-35" dirty="0"/>
              <a:t> </a:t>
            </a:r>
            <a:r>
              <a:rPr spc="-45"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35" dirty="0"/>
              <a:t>integer </a:t>
            </a:r>
            <a:r>
              <a:rPr i="1" dirty="0">
                <a:latin typeface="Trebuchet MS"/>
                <a:cs typeface="Trebuchet MS"/>
              </a:rPr>
              <a:t>q</a:t>
            </a:r>
            <a:r>
              <a:rPr i="1" spc="10" dirty="0">
                <a:latin typeface="Trebuchet MS"/>
                <a:cs typeface="Trebuchet MS"/>
              </a:rPr>
              <a:t> </a:t>
            </a:r>
            <a:r>
              <a:rPr spc="-40" dirty="0"/>
              <a:t>such </a:t>
            </a:r>
            <a:r>
              <a:rPr spc="-20" dirty="0"/>
              <a:t>that</a:t>
            </a:r>
          </a:p>
          <a:p>
            <a:pPr marL="1723389">
              <a:lnSpc>
                <a:spcPct val="100000"/>
              </a:lnSpc>
              <a:spcBef>
                <a:spcPts val="1130"/>
              </a:spcBef>
            </a:pPr>
            <a:r>
              <a:rPr i="1" dirty="0">
                <a:latin typeface="Trebuchet MS"/>
                <a:cs typeface="Trebuchet MS"/>
              </a:rPr>
              <a:t>a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i="1" spc="-65" dirty="0">
                <a:latin typeface="Trebuchet MS"/>
                <a:cs typeface="Trebuchet MS"/>
              </a:rPr>
              <a:t>qb</a:t>
            </a:r>
            <a:r>
              <a:rPr i="1" spc="-45" dirty="0">
                <a:latin typeface="Trebuchet MS"/>
                <a:cs typeface="Trebuchet MS"/>
              </a:rPr>
              <a:t> </a:t>
            </a:r>
            <a:r>
              <a:rPr dirty="0"/>
              <a:t>+</a:t>
            </a:r>
            <a:r>
              <a:rPr spc="-95" dirty="0"/>
              <a:t> </a:t>
            </a:r>
            <a:r>
              <a:rPr i="1" spc="-50" dirty="0">
                <a:latin typeface="Trebuchet MS"/>
                <a:cs typeface="Trebuchet MS"/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-60" dirty="0"/>
              <a:t>where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35" dirty="0"/>
              <a:t>integer</a:t>
            </a:r>
            <a:r>
              <a:rPr spc="-25" dirty="0"/>
              <a:t> </a:t>
            </a:r>
            <a:r>
              <a:rPr spc="-35" dirty="0"/>
              <a:t>satisfying</a:t>
            </a:r>
            <a:r>
              <a:rPr spc="-30" dirty="0"/>
              <a:t> </a:t>
            </a:r>
            <a:r>
              <a:rPr spc="-60" dirty="0"/>
              <a:t>0</a:t>
            </a:r>
            <a:r>
              <a:rPr spc="-40" dirty="0"/>
              <a:t> </a:t>
            </a:r>
            <a:r>
              <a:rPr i="1" spc="-60" dirty="0">
                <a:latin typeface="Verdana"/>
                <a:cs typeface="Verdana"/>
              </a:rPr>
              <a:t>≤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35" dirty="0">
                <a:latin typeface="Trebuchet MS"/>
                <a:cs typeface="Trebuchet MS"/>
              </a:rPr>
              <a:t> </a:t>
            </a:r>
            <a:r>
              <a:rPr i="1" spc="-60" dirty="0">
                <a:latin typeface="Verdana"/>
                <a:cs typeface="Verdana"/>
              </a:rPr>
              <a:t>&lt;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i="1" spc="-25" dirty="0">
                <a:latin typeface="Verdana"/>
                <a:cs typeface="Verdana"/>
              </a:rPr>
              <a:t>|</a:t>
            </a:r>
            <a:r>
              <a:rPr i="1" spc="-25" dirty="0">
                <a:latin typeface="Trebuchet MS"/>
                <a:cs typeface="Trebuchet MS"/>
              </a:rPr>
              <a:t>b</a:t>
            </a:r>
            <a:r>
              <a:rPr i="1" spc="-25" dirty="0">
                <a:latin typeface="Verdana"/>
                <a:cs typeface="Verdana"/>
              </a:rPr>
              <a:t>|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55" dirty="0"/>
              <a:t>A</a:t>
            </a:r>
            <a:r>
              <a:rPr spc="-25" dirty="0"/>
              <a:t> </a:t>
            </a:r>
            <a:r>
              <a:rPr spc="-50" dirty="0"/>
              <a:t>large</a:t>
            </a:r>
            <a:r>
              <a:rPr spc="-25" dirty="0"/>
              <a:t> </a:t>
            </a:r>
            <a:r>
              <a:rPr spc="-60" dirty="0"/>
              <a:t>enough</a:t>
            </a:r>
            <a:r>
              <a:rPr spc="-25" dirty="0"/>
              <a:t> multiple </a:t>
            </a:r>
            <a:r>
              <a:rPr dirty="0"/>
              <a:t>of</a:t>
            </a:r>
            <a:r>
              <a:rPr spc="-25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20" dirty="0">
                <a:latin typeface="Trebuchet MS"/>
                <a:cs typeface="Trebuchet MS"/>
              </a:rPr>
              <a:t> </a:t>
            </a:r>
            <a:r>
              <a:rPr spc="-40" dirty="0"/>
              <a:t>would</a:t>
            </a:r>
            <a:r>
              <a:rPr spc="-25" dirty="0"/>
              <a:t> </a:t>
            </a:r>
            <a:r>
              <a:rPr spc="-55" dirty="0"/>
              <a:t>produce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i="1" spc="-70" dirty="0">
                <a:latin typeface="Trebuchet MS"/>
                <a:cs typeface="Trebuchet MS"/>
              </a:rPr>
              <a:t>remainder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95" dirty="0">
                <a:latin typeface="Trebuchet MS"/>
                <a:cs typeface="Trebuchet MS"/>
              </a:rPr>
              <a:t> </a:t>
            </a:r>
            <a:r>
              <a:rPr spc="-30" dirty="0"/>
              <a:t>as</a:t>
            </a:r>
            <a:r>
              <a:rPr spc="-25" dirty="0"/>
              <a:t> small as </a:t>
            </a:r>
            <a:r>
              <a:rPr spc="-40" dirty="0"/>
              <a:t>possible</a:t>
            </a:r>
            <a:r>
              <a:rPr spc="-10" dirty="0"/>
              <a:t> </a:t>
            </a:r>
            <a:r>
              <a:rPr spc="-25" dirty="0"/>
              <a:t>(including</a:t>
            </a:r>
            <a:r>
              <a:rPr spc="-5" dirty="0"/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65" dirty="0"/>
              <a:t> </a:t>
            </a:r>
            <a:r>
              <a:rPr spc="-25" dirty="0"/>
              <a:t>0)</a:t>
            </a:r>
          </a:p>
          <a:p>
            <a:pPr marL="12700" marR="429259">
              <a:lnSpc>
                <a:spcPct val="125299"/>
              </a:lnSpc>
            </a:pPr>
            <a:r>
              <a:rPr spc="-20" dirty="0"/>
              <a:t>There</a:t>
            </a:r>
            <a:r>
              <a:rPr spc="-40" dirty="0"/>
              <a:t> </a:t>
            </a:r>
            <a:r>
              <a:rPr spc="-50" dirty="0"/>
              <a:t>are</a:t>
            </a:r>
            <a:r>
              <a:rPr spc="-30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10" dirty="0">
                <a:latin typeface="Trebuchet MS"/>
                <a:cs typeface="Trebuchet MS"/>
              </a:rPr>
              <a:t> </a:t>
            </a:r>
            <a:r>
              <a:rPr spc="-40" dirty="0"/>
              <a:t>possible</a:t>
            </a:r>
            <a:r>
              <a:rPr spc="-30" dirty="0"/>
              <a:t> </a:t>
            </a:r>
            <a:r>
              <a:rPr spc="-50" dirty="0"/>
              <a:t>remainders</a:t>
            </a:r>
            <a:r>
              <a:rPr spc="-40" dirty="0"/>
              <a:t> </a:t>
            </a:r>
            <a:r>
              <a:rPr spc="-60" dirty="0"/>
              <a:t>when</a:t>
            </a:r>
            <a:r>
              <a:rPr spc="-25" dirty="0"/>
              <a:t> </a:t>
            </a:r>
            <a:r>
              <a:rPr spc="-30" dirty="0"/>
              <a:t>dividing</a:t>
            </a:r>
            <a:r>
              <a:rPr spc="-35" dirty="0"/>
              <a:t> </a:t>
            </a:r>
            <a:r>
              <a:rPr spc="-30" dirty="0"/>
              <a:t>by </a:t>
            </a:r>
            <a:r>
              <a:rPr i="1" spc="-35" dirty="0">
                <a:latin typeface="Trebuchet MS"/>
                <a:cs typeface="Trebuchet MS"/>
              </a:rPr>
              <a:t>b</a:t>
            </a:r>
            <a:r>
              <a:rPr spc="-35" dirty="0"/>
              <a:t>. Grouping</a:t>
            </a:r>
            <a:r>
              <a:rPr spc="-55" dirty="0"/>
              <a:t> </a:t>
            </a:r>
            <a:r>
              <a:rPr spc="-45" dirty="0"/>
              <a:t>integers</a:t>
            </a:r>
            <a:r>
              <a:rPr spc="-40" dirty="0"/>
              <a:t> </a:t>
            </a:r>
            <a:r>
              <a:rPr spc="-35" dirty="0"/>
              <a:t>by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40" dirty="0"/>
              <a:t> remainder.</a:t>
            </a:r>
            <a:r>
              <a:rPr spc="55" dirty="0"/>
              <a:t> </a:t>
            </a:r>
            <a:r>
              <a:rPr dirty="0"/>
              <a:t>Each</a:t>
            </a:r>
            <a:r>
              <a:rPr spc="-45" dirty="0"/>
              <a:t> group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known</a:t>
            </a:r>
            <a:r>
              <a:rPr spc="-40" dirty="0"/>
              <a:t> </a:t>
            </a:r>
            <a:r>
              <a:rPr spc="-20" dirty="0"/>
              <a:t>as</a:t>
            </a:r>
            <a:r>
              <a:rPr spc="-45" dirty="0"/>
              <a:t> </a:t>
            </a:r>
            <a:r>
              <a:rPr spc="-50" dirty="0"/>
              <a:t>a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spc="-70" dirty="0">
                <a:latin typeface="Trebuchet MS"/>
                <a:cs typeface="Trebuchet MS"/>
              </a:rPr>
              <a:t>remainder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spc="-30" dirty="0">
                <a:latin typeface="Trebuchet MS"/>
                <a:cs typeface="Trebuchet MS"/>
              </a:rPr>
              <a:t>class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i="1" spc="-50" dirty="0">
                <a:latin typeface="Trebuchet MS"/>
                <a:cs typeface="Trebuchet MS"/>
              </a:rPr>
              <a:t>modulo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spc="-20" dirty="0"/>
              <a:t>or</a:t>
            </a:r>
            <a:r>
              <a:rPr spc="-25" dirty="0"/>
              <a:t> </a:t>
            </a:r>
            <a:r>
              <a:rPr i="1" spc="-75" dirty="0">
                <a:latin typeface="Trebuchet MS"/>
                <a:cs typeface="Trebuchet MS"/>
              </a:rPr>
              <a:t>residue</a:t>
            </a:r>
            <a:r>
              <a:rPr i="1" spc="-10" dirty="0">
                <a:latin typeface="Trebuchet MS"/>
                <a:cs typeface="Trebuchet MS"/>
              </a:rPr>
              <a:t> class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8602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6813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78163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dirty="0"/>
              <a:t>Module</a:t>
            </a:r>
            <a:r>
              <a:rPr spc="-95" dirty="0"/>
              <a:t> </a:t>
            </a:r>
            <a:r>
              <a:rPr i="1" spc="-50" dirty="0">
                <a:latin typeface="Trebuchet MS"/>
                <a:cs typeface="Trebuchet MS"/>
              </a:rPr>
              <a:t>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8117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97723"/>
            <a:ext cx="4077335" cy="169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congruent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b="1" spc="-40" dirty="0">
                <a:latin typeface="Arial"/>
                <a:cs typeface="Arial"/>
              </a:rPr>
              <a:t>modulo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1130"/>
              </a:spcBef>
              <a:tabLst>
                <a:tab pos="615315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7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spc="-20" dirty="0">
                <a:latin typeface="Tahoma"/>
                <a:cs typeface="Tahoma"/>
              </a:rPr>
              <a:t>mod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spc="-45" dirty="0">
                <a:latin typeface="Tahoma"/>
                <a:cs typeface="Tahoma"/>
              </a:rPr>
              <a:t>provided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remainder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divided</a:t>
            </a:r>
            <a:r>
              <a:rPr sz="1100" spc="-35" dirty="0">
                <a:latin typeface="Tahoma"/>
                <a:cs typeface="Tahoma"/>
              </a:rPr>
              <a:t> by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60" dirty="0">
                <a:latin typeface="Arial"/>
                <a:cs typeface="Arial"/>
              </a:rPr>
              <a:t>Congruence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and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Divisibility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integers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51130">
              <a:lnSpc>
                <a:spcPct val="100000"/>
              </a:lnSpc>
              <a:spcBef>
                <a:spcPts val="635"/>
              </a:spcBef>
              <a:tabLst>
                <a:tab pos="1277620" algn="l"/>
                <a:tab pos="2153285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6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),</a:t>
            </a:r>
            <a:r>
              <a:rPr sz="1100" dirty="0">
                <a:latin typeface="Tahoma"/>
                <a:cs typeface="Tahoma"/>
              </a:rPr>
              <a:t>	if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95" dirty="0">
                <a:latin typeface="Trebuchet MS"/>
                <a:cs typeface="Trebuchet MS"/>
              </a:rPr>
              <a:t>n</a:t>
            </a:r>
            <a:r>
              <a:rPr sz="1100" i="1" spc="-95" dirty="0">
                <a:latin typeface="Verdana"/>
                <a:cs typeface="Verdana"/>
              </a:rPr>
              <a:t>|</a:t>
            </a:r>
            <a:r>
              <a:rPr sz="1100" i="1" spc="-95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b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holds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i="1" spc="-16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for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integer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b</a:t>
            </a:r>
            <a:r>
              <a:rPr sz="1100" i="1" spc="-1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8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kn </a:t>
            </a:r>
            <a:r>
              <a:rPr sz="1100" spc="-10" dirty="0">
                <a:latin typeface="Tahoma"/>
                <a:cs typeface="Tahoma"/>
              </a:rPr>
              <a:t>So,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congruent</a:t>
            </a:r>
            <a:r>
              <a:rPr sz="1100" spc="-30" dirty="0">
                <a:latin typeface="Tahoma"/>
                <a:cs typeface="Tahoma"/>
              </a:rPr>
              <a:t> modulo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13712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27173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48177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Equality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6456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99374"/>
            <a:ext cx="4042410" cy="23158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integers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  <a:tabLst>
                <a:tab pos="479425" algn="l"/>
                <a:tab pos="1146810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dirty="0">
                <a:latin typeface="Tahoma"/>
                <a:cs typeface="Tahoma"/>
              </a:rPr>
              <a:t>	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bk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some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b="1" spc="-30" dirty="0">
                <a:latin typeface="Arial"/>
                <a:cs typeface="Arial"/>
              </a:rPr>
              <a:t>Properties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Congruence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Congruence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Modulo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Equivalence </a:t>
            </a:r>
            <a:r>
              <a:rPr sz="1100" spc="-10" dirty="0">
                <a:latin typeface="Tahoma"/>
                <a:cs typeface="Tahoma"/>
              </a:rPr>
              <a:t>Relation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integers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3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7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6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Tahoma"/>
                <a:cs typeface="Tahoma"/>
              </a:rPr>
              <a:t>Thus,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congruence</a:t>
            </a:r>
            <a:r>
              <a:rPr sz="1100" spc="-30" dirty="0">
                <a:latin typeface="Tahoma"/>
                <a:cs typeface="Tahoma"/>
              </a:rPr>
              <a:t> modulo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reflexive,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transitive,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equivalence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relation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8498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Arithmetic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023745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405850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828634"/>
            <a:ext cx="4356735" cy="16859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d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then:</a:t>
            </a:r>
            <a:endParaRPr sz="1100" dirty="0">
              <a:latin typeface="Tahoma"/>
              <a:cs typeface="Tahoma"/>
            </a:endParaRPr>
          </a:p>
          <a:p>
            <a:pPr marL="151130" marR="2843530" algn="just">
              <a:lnSpc>
                <a:spcPct val="147900"/>
              </a:lnSpc>
            </a:pPr>
            <a:r>
              <a:rPr sz="1100" i="1" spc="-55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4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spc="4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spc="-5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n</a:t>
            </a:r>
            <a:r>
              <a:rPr sz="1100" spc="-45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Trebuchet MS"/>
                <a:cs typeface="Trebuchet MS"/>
              </a:rPr>
              <a:t>ac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bd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15" dirty="0">
                <a:latin typeface="Trebuchet MS"/>
                <a:cs typeface="Trebuchet MS"/>
              </a:rPr>
              <a:t>n</a:t>
            </a:r>
            <a:r>
              <a:rPr sz="1100" spc="-1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289560" marR="5080" algn="just">
              <a:lnSpc>
                <a:spcPct val="102600"/>
              </a:lnSpc>
              <a:spcBef>
                <a:spcPts val="894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 </a:t>
            </a:r>
            <a:r>
              <a:rPr sz="1100" spc="-45" dirty="0">
                <a:latin typeface="Tahoma"/>
                <a:cs typeface="Tahoma"/>
              </a:rPr>
              <a:t>replace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congruence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congruent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 dirty="0">
              <a:latin typeface="Tahoma"/>
              <a:cs typeface="Tahoma"/>
            </a:endParaRPr>
          </a:p>
          <a:p>
            <a:pPr marL="289560" algn="just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congruent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digits,</a:t>
            </a:r>
            <a:r>
              <a:rPr sz="1100" spc="-35" dirty="0">
                <a:latin typeface="Tahoma"/>
                <a:cs typeface="Tahoma"/>
              </a:rPr>
              <a:t> module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9.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630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Division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761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084172"/>
            <a:ext cx="1624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ad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bd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5421" y="1428316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spc="-20" dirty="0">
                <a:latin typeface="Javanese Text"/>
                <a:cs typeface="Javanese Text"/>
              </a:rPr>
              <a:t>mod</a:t>
            </a:r>
            <a:endParaRPr sz="1100">
              <a:latin typeface="Javanese Text"/>
              <a:cs typeface="Javanese Tex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2923" y="1334591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97391" y="1544929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0" y="0"/>
                </a:moveTo>
                <a:lnTo>
                  <a:pt x="53052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84691" y="1523351"/>
            <a:ext cx="556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gcd(</a:t>
            </a:r>
            <a:r>
              <a:rPr sz="1100" i="1" spc="-45" dirty="0">
                <a:latin typeface="Trebuchet MS"/>
                <a:cs typeface="Trebuchet MS"/>
              </a:rPr>
              <a:t>d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15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0397" y="1428316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6414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781223"/>
            <a:ext cx="2381885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9065">
              <a:lnSpc>
                <a:spcPct val="1479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If </a:t>
            </a:r>
            <a:r>
              <a:rPr sz="1100" i="1" dirty="0">
                <a:latin typeface="Trebuchet MS"/>
                <a:cs typeface="Trebuchet MS"/>
              </a:rPr>
              <a:t>d</a:t>
            </a:r>
            <a:r>
              <a:rPr sz="1100" i="1" spc="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factors </a:t>
            </a:r>
            <a:r>
              <a:rPr sz="1100" spc="-40" dirty="0">
                <a:latin typeface="Tahoma"/>
                <a:cs typeface="Tahoma"/>
              </a:rPr>
              <a:t>then </a:t>
            </a:r>
            <a:r>
              <a:rPr sz="1100" spc="-45" dirty="0">
                <a:latin typeface="Tahoma"/>
                <a:cs typeface="Tahoma"/>
              </a:rPr>
              <a:t>gcd(</a:t>
            </a:r>
            <a:r>
              <a:rPr sz="1100" i="1" spc="-45" dirty="0">
                <a:latin typeface="Trebuchet MS"/>
                <a:cs typeface="Trebuchet MS"/>
              </a:rPr>
              <a:t>d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4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1054</Words>
  <Application>Microsoft Macintosh PowerPoint</Application>
  <PresentationFormat>Custom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Constantia</vt:lpstr>
      <vt:lpstr>Javanese Text</vt:lpstr>
      <vt:lpstr>Lucida Sans Unicode</vt:lpstr>
      <vt:lpstr>Tahoma</vt:lpstr>
      <vt:lpstr>Trebuchet MS</vt:lpstr>
      <vt:lpstr>Verdana</vt:lpstr>
      <vt:lpstr>Office Theme</vt:lpstr>
      <vt:lpstr>CS5070 Mathematical Structures for Computer Science - Generating Functions and Number Theory  </vt:lpstr>
      <vt:lpstr>Generating Functions (Chapter 5)</vt:lpstr>
      <vt:lpstr>More on Generating Functions</vt:lpstr>
      <vt:lpstr>Generating More Sequences</vt:lpstr>
      <vt:lpstr>More Complex Series</vt:lpstr>
      <vt:lpstr>Number Theory</vt:lpstr>
      <vt:lpstr>Division Algorithm</vt:lpstr>
      <vt:lpstr>Congruence Module n</vt:lpstr>
      <vt:lpstr>Congruence and Equality</vt:lpstr>
      <vt:lpstr>Congruence and Arithmetic</vt:lpstr>
      <vt:lpstr>Congruence and Division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7</dc:title>
  <dc:creator>José Garrido</dc:creator>
  <cp:lastModifiedBy>Kun Suo</cp:lastModifiedBy>
  <cp:revision>5</cp:revision>
  <dcterms:created xsi:type="dcterms:W3CDTF">2026-04-21T18:14:43Z</dcterms:created>
  <dcterms:modified xsi:type="dcterms:W3CDTF">2026-05-24T21:33:05Z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2022-04-11T00:00:00Z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[18.552000045776367,60.8599853515625,325.92471504211426,6.823440074920654]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[154.05999755859375,78.6199951171875,55.205841064453125,6.823440074920654]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isReadingOrderVerified":"true","pageNumber":0,"geomIndex":-1,"issueTypeId":"ReadingOrderIssue:PPTX","dismiss":false,"pageNumbers":[11],"coordinatesList":[[10.0,10.0,2.0,2.0]]}]</vt:lpwstr>
  </property>
  <property fmtid="{D5CDD505-2E9C-101B-9397-08002B2CF9AE}" pid="9" name="ReadingOrderVerifiedPages">
    <vt:lpwstr>2,3,4,5,11</vt:lpwstr>
  </property>
</Properties>
</file>