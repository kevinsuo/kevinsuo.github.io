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4"/>
  </p:notesMasterIdLst>
  <p:handoutMasterIdLst>
    <p:handoutMasterId r:id="rId5"/>
  </p:handoutMasterIdLst>
  <p:sldIdLst>
    <p:sldId id="481" r:id="rId2"/>
    <p:sldId id="482" r:id="rId3"/>
  </p:sldIdLst>
  <p:sldSz cx="9144000" cy="6858000" type="screen4x3"/>
  <p:notesSz cx="6794500" cy="99187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4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344B6E-B344-4243-AFEA-3FF4EE1CD655}" v="6" dt="2026-08-19T13:52:21.3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025" autoAdjust="0"/>
    <p:restoredTop sz="94709" autoAdjust="0"/>
  </p:normalViewPr>
  <p:slideViewPr>
    <p:cSldViewPr>
      <p:cViewPr varScale="1">
        <p:scale>
          <a:sx n="123" d="100"/>
          <a:sy n="123" d="100"/>
        </p:scale>
        <p:origin x="97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100" d="100"/>
          <a:sy n="100" d="100"/>
        </p:scale>
        <p:origin x="-888" y="642"/>
      </p:cViewPr>
      <p:guideLst>
        <p:guide orient="horz" pos="3124"/>
        <p:guide pos="214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handoutMaster" Target="handoutMasters/handoutMaster1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n Suo" userId="41c30799-3a2b-4880-86a3-8488be07954a" providerId="ADAL" clId="{01B90814-4EBE-5562-8795-CE1E7277191D}"/>
    <pc:docChg chg="undo custSel addSld delSld modSld">
      <pc:chgData name="Kun Suo" userId="41c30799-3a2b-4880-86a3-8488be07954a" providerId="ADAL" clId="{01B90814-4EBE-5562-8795-CE1E7277191D}" dt="2026-08-19T14:13:20.410" v="107" actId="729"/>
      <pc:docMkLst>
        <pc:docMk/>
      </pc:docMkLst>
      <pc:sldChg chg="del">
        <pc:chgData name="Kun Suo" userId="41c30799-3a2b-4880-86a3-8488be07954a" providerId="ADAL" clId="{01B90814-4EBE-5562-8795-CE1E7277191D}" dt="2026-08-19T02:59:15.394" v="80" actId="2696"/>
        <pc:sldMkLst>
          <pc:docMk/>
          <pc:sldMk cId="3366699022" sldId="480"/>
        </pc:sldMkLst>
      </pc:sldChg>
      <pc:sldChg chg="addSp modSp mod modShow">
        <pc:chgData name="Kun Suo" userId="41c30799-3a2b-4880-86a3-8488be07954a" providerId="ADAL" clId="{01B90814-4EBE-5562-8795-CE1E7277191D}" dt="2026-08-19T14:13:20.410" v="107" actId="729"/>
        <pc:sldMkLst>
          <pc:docMk/>
          <pc:sldMk cId="1746492287" sldId="481"/>
        </pc:sldMkLst>
        <pc:spChg chg="add mod">
          <ac:chgData name="Kun Suo" userId="41c30799-3a2b-4880-86a3-8488be07954a" providerId="ADAL" clId="{01B90814-4EBE-5562-8795-CE1E7277191D}" dt="2026-08-19T02:54:55.798" v="21" actId="14100"/>
          <ac:spMkLst>
            <pc:docMk/>
            <pc:sldMk cId="1746492287" sldId="481"/>
            <ac:spMk id="2" creationId="{9C81764A-A1A7-D747-CCE5-0380DCD96047}"/>
          </ac:spMkLst>
        </pc:spChg>
        <pc:spChg chg="add mod">
          <ac:chgData name="Kun Suo" userId="41c30799-3a2b-4880-86a3-8488be07954a" providerId="ADAL" clId="{01B90814-4EBE-5562-8795-CE1E7277191D}" dt="2026-08-19T02:55:16.149" v="26" actId="208"/>
          <ac:spMkLst>
            <pc:docMk/>
            <pc:sldMk cId="1746492287" sldId="481"/>
            <ac:spMk id="3" creationId="{A18CF310-B44E-7642-7FD9-BE3F07F1077B}"/>
          </ac:spMkLst>
        </pc:spChg>
        <pc:spChg chg="add mod">
          <ac:chgData name="Kun Suo" userId="41c30799-3a2b-4880-86a3-8488be07954a" providerId="ADAL" clId="{01B90814-4EBE-5562-8795-CE1E7277191D}" dt="2026-08-19T02:59:02.387" v="79" actId="1076"/>
          <ac:spMkLst>
            <pc:docMk/>
            <pc:sldMk cId="1746492287" sldId="481"/>
            <ac:spMk id="4" creationId="{10BEACBC-98AF-67E1-F24B-D3C769E32732}"/>
          </ac:spMkLst>
        </pc:spChg>
        <pc:spChg chg="mod">
          <ac:chgData name="Kun Suo" userId="41c30799-3a2b-4880-86a3-8488be07954a" providerId="ADAL" clId="{01B90814-4EBE-5562-8795-CE1E7277191D}" dt="2026-08-19T03:02:00.201" v="92" actId="20577"/>
          <ac:spMkLst>
            <pc:docMk/>
            <pc:sldMk cId="1746492287" sldId="481"/>
            <ac:spMk id="5" creationId="{E588B686-7C76-314B-81C4-BE00A39D1F47}"/>
          </ac:spMkLst>
        </pc:spChg>
        <pc:spChg chg="add mod">
          <ac:chgData name="Kun Suo" userId="41c30799-3a2b-4880-86a3-8488be07954a" providerId="ADAL" clId="{01B90814-4EBE-5562-8795-CE1E7277191D}" dt="2026-08-19T02:58:54.513" v="77" actId="207"/>
          <ac:spMkLst>
            <pc:docMk/>
            <pc:sldMk cId="1746492287" sldId="481"/>
            <ac:spMk id="6" creationId="{E847032C-35B3-B1B4-9044-01055AFB5CB3}"/>
          </ac:spMkLst>
        </pc:spChg>
      </pc:sldChg>
      <pc:sldChg chg="modSp add mod modShow">
        <pc:chgData name="Kun Suo" userId="41c30799-3a2b-4880-86a3-8488be07954a" providerId="ADAL" clId="{01B90814-4EBE-5562-8795-CE1E7277191D}" dt="2026-08-19T14:13:14.852" v="106" actId="729"/>
        <pc:sldMkLst>
          <pc:docMk/>
          <pc:sldMk cId="3375961360" sldId="482"/>
        </pc:sldMkLst>
        <pc:spChg chg="mod">
          <ac:chgData name="Kun Suo" userId="41c30799-3a2b-4880-86a3-8488be07954a" providerId="ADAL" clId="{01B90814-4EBE-5562-8795-CE1E7277191D}" dt="2026-08-19T14:10:27.619" v="105" actId="20577"/>
          <ac:spMkLst>
            <pc:docMk/>
            <pc:sldMk cId="3375961360" sldId="482"/>
            <ac:spMk id="5" creationId="{5998700C-0A16-2FA4-4A74-0613A744F34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44284" cy="495935"/>
          </a:xfrm>
          <a:prstGeom prst="rect">
            <a:avLst/>
          </a:prstGeom>
        </p:spPr>
        <p:txBody>
          <a:bodyPr vert="horz" lIns="94698" tIns="47348" rIns="94698" bIns="4734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8645" y="4"/>
            <a:ext cx="2944284" cy="495935"/>
          </a:xfrm>
          <a:prstGeom prst="rect">
            <a:avLst/>
          </a:prstGeom>
        </p:spPr>
        <p:txBody>
          <a:bodyPr vert="horz" lIns="94698" tIns="47348" rIns="94698" bIns="47348" rtlCol="0"/>
          <a:lstStyle>
            <a:lvl1pPr algn="r">
              <a:defRPr sz="1300"/>
            </a:lvl1pPr>
          </a:lstStyle>
          <a:p>
            <a:fld id="{623508D7-CD65-4285-B828-B369E2351DE2}" type="datetimeFigureOut">
              <a:rPr lang="en-US" smtClean="0"/>
              <a:pPr/>
              <a:t>8/19/26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21048"/>
            <a:ext cx="2944284" cy="495935"/>
          </a:xfrm>
          <a:prstGeom prst="rect">
            <a:avLst/>
          </a:prstGeom>
        </p:spPr>
        <p:txBody>
          <a:bodyPr vert="horz" lIns="94698" tIns="47348" rIns="94698" bIns="4734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8645" y="9421048"/>
            <a:ext cx="2944284" cy="495935"/>
          </a:xfrm>
          <a:prstGeom prst="rect">
            <a:avLst/>
          </a:prstGeom>
        </p:spPr>
        <p:txBody>
          <a:bodyPr vert="horz" lIns="94698" tIns="47348" rIns="94698" bIns="47348" rtlCol="0" anchor="b"/>
          <a:lstStyle>
            <a:lvl1pPr algn="r">
              <a:defRPr sz="1300"/>
            </a:lvl1pPr>
          </a:lstStyle>
          <a:p>
            <a:fld id="{6A854FC7-2F89-40CE-8D5B-3D90DD628E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77346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44284" cy="495935"/>
          </a:xfrm>
          <a:prstGeom prst="rect">
            <a:avLst/>
          </a:prstGeom>
        </p:spPr>
        <p:txBody>
          <a:bodyPr vert="horz" lIns="94698" tIns="47348" rIns="94698" bIns="4734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4"/>
            <a:ext cx="2944284" cy="495935"/>
          </a:xfrm>
          <a:prstGeom prst="rect">
            <a:avLst/>
          </a:prstGeom>
        </p:spPr>
        <p:txBody>
          <a:bodyPr vert="horz" lIns="94698" tIns="47348" rIns="94698" bIns="47348" rtlCol="0"/>
          <a:lstStyle>
            <a:lvl1pPr algn="r">
              <a:defRPr sz="1300"/>
            </a:lvl1pPr>
          </a:lstStyle>
          <a:p>
            <a:fld id="{68A3EB84-E0F6-4EF5-A6B6-15B35501A2C4}" type="datetimeFigureOut">
              <a:rPr lang="en-US" smtClean="0"/>
              <a:pPr/>
              <a:t>8/19/26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59350" cy="37195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98" tIns="47348" rIns="94698" bIns="4734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1385"/>
            <a:ext cx="5435600" cy="4463415"/>
          </a:xfrm>
          <a:prstGeom prst="rect">
            <a:avLst/>
          </a:prstGeom>
        </p:spPr>
        <p:txBody>
          <a:bodyPr vert="horz" lIns="94698" tIns="47348" rIns="94698" bIns="47348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1048"/>
            <a:ext cx="2944284" cy="495935"/>
          </a:xfrm>
          <a:prstGeom prst="rect">
            <a:avLst/>
          </a:prstGeom>
        </p:spPr>
        <p:txBody>
          <a:bodyPr vert="horz" lIns="94698" tIns="47348" rIns="94698" bIns="4734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21048"/>
            <a:ext cx="2944284" cy="495935"/>
          </a:xfrm>
          <a:prstGeom prst="rect">
            <a:avLst/>
          </a:prstGeom>
        </p:spPr>
        <p:txBody>
          <a:bodyPr vert="horz" lIns="94698" tIns="47348" rIns="94698" bIns="47348" rtlCol="0" anchor="b"/>
          <a:lstStyle>
            <a:lvl1pPr algn="r">
              <a:defRPr sz="1300"/>
            </a:lvl1pPr>
          </a:lstStyle>
          <a:p>
            <a:fld id="{70A64E9A-006E-4595-84A4-B133CBD630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32218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 algn="ctr">
              <a:defRPr sz="1400"/>
            </a:lvl1pPr>
          </a:lstStyle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CS 4504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90600"/>
          </a:xfrm>
        </p:spPr>
        <p:txBody>
          <a:bodyPr>
            <a:normAutofit/>
          </a:bodyPr>
          <a:lstStyle>
            <a:lvl1pPr>
              <a:defRPr sz="4000" b="1" cap="none" spc="0" baseline="0">
                <a:ln w="17780" cmpd="sng">
                  <a:noFill/>
                  <a:prstDash val="solid"/>
                  <a:miter lim="800000"/>
                </a:ln>
                <a:solidFill>
                  <a:schemeClr val="accent2"/>
                </a:solidFill>
                <a:effectLst/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10200" y="6356350"/>
            <a:ext cx="3279648" cy="36576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38400" y="6356350"/>
            <a:ext cx="350520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CS 4504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>
            <a:lvl1pPr>
              <a:lnSpc>
                <a:spcPct val="125000"/>
              </a:lnSpc>
              <a:buSzPct val="100000"/>
              <a:buFont typeface="Arial" pitchFamily="34" charset="0"/>
              <a:buChar char="•"/>
              <a:defRPr sz="3200" baseline="0"/>
            </a:lvl1pPr>
            <a:lvl2pPr>
              <a:lnSpc>
                <a:spcPct val="125000"/>
              </a:lnSpc>
              <a:buSzPct val="65000"/>
              <a:buFont typeface="Courier New" pitchFamily="49" charset="0"/>
              <a:buChar char="o"/>
              <a:defRPr sz="2400" baseline="0"/>
            </a:lvl2pPr>
            <a:lvl3pPr>
              <a:lnSpc>
                <a:spcPct val="125000"/>
              </a:lnSpc>
              <a:defRPr/>
            </a:lvl3pPr>
            <a:lvl4pPr>
              <a:lnSpc>
                <a:spcPct val="125000"/>
              </a:lnSpc>
              <a:defRPr/>
            </a:lvl4pPr>
            <a:lvl5pPr>
              <a:lnSpc>
                <a:spcPct val="125000"/>
              </a:lnSpc>
              <a:defRPr/>
            </a:lvl5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9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1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1" y="6467474"/>
            <a:ext cx="190849" cy="120315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1" y="6467474"/>
            <a:ext cx="190849" cy="120315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pic>
        <p:nvPicPr>
          <p:cNvPr id="7" name="Picture 3" descr="C:\Documents and Settings\Jia Rao\Desktop\wsu.gif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7924800" y="5181600"/>
            <a:ext cx="1143000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1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1" y="6467474"/>
            <a:ext cx="190849" cy="120315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1" y="6467474"/>
            <a:ext cx="190849" cy="120315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Parallel and Distributed Computation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1" y="6467474"/>
            <a:ext cx="190849" cy="120315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r>
              <a:rPr lang="en-US"/>
              <a:t>Parallel and Distributed Computation</a:t>
            </a: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dirty="0"/>
              <a:t>Click to edit Master text styles</a:t>
            </a:r>
          </a:p>
          <a:p>
            <a:pPr lvl="1" eaLnBrk="1" latinLnBrk="0" hangingPunct="1"/>
            <a:r>
              <a:rPr kumimoji="0" lang="en-US" dirty="0"/>
              <a:t>Second level</a:t>
            </a:r>
          </a:p>
          <a:p>
            <a:pPr lvl="2" eaLnBrk="1" latinLnBrk="0" hangingPunct="1"/>
            <a:r>
              <a:rPr kumimoji="0" lang="en-US" dirty="0"/>
              <a:t>Third level</a:t>
            </a:r>
          </a:p>
          <a:p>
            <a:pPr lvl="3" eaLnBrk="1" latinLnBrk="0" hangingPunct="1"/>
            <a:r>
              <a:rPr kumimoji="0" lang="en-US" dirty="0"/>
              <a:t>Fourth level</a:t>
            </a:r>
          </a:p>
          <a:p>
            <a:pPr lvl="4" eaLnBrk="1" latinLnBrk="0" hangingPunct="1"/>
            <a:r>
              <a:rPr kumimoji="0" lang="en-US" dirty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Parallel and Distributed Computation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ct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ctr"/>
            <a:r>
              <a:rPr lang="en-US" dirty="0"/>
              <a:t>CS 4504</a:t>
            </a: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1" y="6467474"/>
            <a:ext cx="190849" cy="120315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</p:sldLayoutIdLst>
  <p:hf hdr="0" ftr="0"/>
  <p:txStyles>
    <p:titleStyle>
      <a:lvl1pPr algn="l" rtl="0" eaLnBrk="1" latinLnBrk="0" hangingPunct="1">
        <a:spcBef>
          <a:spcPct val="0"/>
        </a:spcBef>
        <a:buNone/>
        <a:defRPr kumimoji="0" sz="3200" b="1" i="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E588B686-7C76-314B-81C4-BE00A39D1F47}"/>
              </a:ext>
            </a:extLst>
          </p:cNvPr>
          <p:cNvSpPr txBox="1">
            <a:spLocks/>
          </p:cNvSpPr>
          <p:nvPr/>
        </p:nvSpPr>
        <p:spPr>
          <a:xfrm>
            <a:off x="457200" y="457200"/>
            <a:ext cx="7162800" cy="6217920"/>
          </a:xfrm>
          <a:prstGeom prst="rect">
            <a:avLst/>
          </a:prstGeom>
        </p:spPr>
        <p:txBody>
          <a:bodyPr/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</a:pPr>
            <a:r>
              <a:rPr lang="en-US" dirty="0"/>
              <a:t>Distributed coordination and synchronization</a:t>
            </a:r>
          </a:p>
          <a:p>
            <a:pPr lvl="1">
              <a:buClr>
                <a:schemeClr val="tx1"/>
              </a:buClr>
            </a:pPr>
            <a:r>
              <a:rPr lang="en-US" sz="2000" dirty="0">
                <a:solidFill>
                  <a:schemeClr val="tx1"/>
                </a:solidFill>
              </a:rPr>
              <a:t>Distributed mutex, distributed election, distributed consensus, distributed transaction, distributed locks</a:t>
            </a:r>
          </a:p>
          <a:p>
            <a:endParaRPr lang="en-US" sz="1600" dirty="0"/>
          </a:p>
          <a:p>
            <a:pPr>
              <a:buClr>
                <a:schemeClr val="tx1"/>
              </a:buClr>
            </a:pPr>
            <a:r>
              <a:rPr lang="en-US" dirty="0"/>
              <a:t>Distributed management</a:t>
            </a:r>
          </a:p>
          <a:p>
            <a:pPr lvl="1">
              <a:buClr>
                <a:schemeClr val="tx1"/>
              </a:buClr>
            </a:pPr>
            <a:r>
              <a:rPr lang="en-US" sz="2000" dirty="0">
                <a:solidFill>
                  <a:schemeClr val="tx1"/>
                </a:solidFill>
              </a:rPr>
              <a:t>Centralized structure, decentralized structure, scheduling</a:t>
            </a:r>
          </a:p>
          <a:p>
            <a:pPr>
              <a:buClr>
                <a:schemeClr val="tx1"/>
              </a:buClr>
            </a:pPr>
            <a:endParaRPr lang="en-US" sz="2000" dirty="0"/>
          </a:p>
          <a:p>
            <a:pPr>
              <a:buClr>
                <a:schemeClr val="tx1"/>
              </a:buClr>
            </a:pPr>
            <a:r>
              <a:rPr lang="en-US" dirty="0"/>
              <a:t>Distributed computation</a:t>
            </a:r>
          </a:p>
          <a:p>
            <a:pPr lvl="1">
              <a:buClr>
                <a:schemeClr val="tx1"/>
              </a:buClr>
            </a:pPr>
            <a:r>
              <a:rPr lang="en-US" sz="2000" dirty="0">
                <a:solidFill>
                  <a:schemeClr val="tx1"/>
                </a:solidFill>
              </a:rPr>
              <a:t>MapReduce, Spark</a:t>
            </a:r>
          </a:p>
          <a:p>
            <a:pPr>
              <a:buClr>
                <a:schemeClr val="tx1"/>
              </a:buClr>
            </a:pPr>
            <a:endParaRPr lang="en-US" sz="2000" dirty="0"/>
          </a:p>
          <a:p>
            <a:pPr>
              <a:buClr>
                <a:schemeClr val="tx1"/>
              </a:buClr>
            </a:pPr>
            <a:r>
              <a:rPr lang="en-US" dirty="0"/>
              <a:t>Distributed storage</a:t>
            </a:r>
          </a:p>
          <a:p>
            <a:pPr lvl="1">
              <a:buClr>
                <a:schemeClr val="tx1"/>
              </a:buClr>
            </a:pPr>
            <a:r>
              <a:rPr lang="en-US" sz="2000" dirty="0">
                <a:solidFill>
                  <a:schemeClr val="tx1"/>
                </a:solidFill>
              </a:rPr>
              <a:t>CAP, distributed storage, distributed cache</a:t>
            </a:r>
          </a:p>
          <a:p>
            <a:pPr>
              <a:buClr>
                <a:schemeClr val="tx1"/>
              </a:buClr>
            </a:pPr>
            <a:endParaRPr lang="en-US" sz="2000" dirty="0"/>
          </a:p>
          <a:p>
            <a:pPr>
              <a:buClr>
                <a:schemeClr val="tx1"/>
              </a:buClr>
            </a:pPr>
            <a:r>
              <a:rPr lang="en-US" dirty="0"/>
              <a:t>Distributed communication</a:t>
            </a:r>
          </a:p>
          <a:p>
            <a:pPr lvl="1">
              <a:buClr>
                <a:schemeClr val="tx1"/>
              </a:buClr>
            </a:pPr>
            <a:r>
              <a:rPr lang="en-US" sz="2000">
                <a:solidFill>
                  <a:schemeClr val="tx1"/>
                </a:solidFill>
              </a:rPr>
              <a:t>Networking, RPC</a:t>
            </a:r>
            <a:r>
              <a:rPr lang="en-US" sz="2000" dirty="0">
                <a:solidFill>
                  <a:schemeClr val="tx1"/>
                </a:solidFill>
              </a:rPr>
              <a:t>, publish and subscribe, message queue</a:t>
            </a:r>
          </a:p>
          <a:p>
            <a:endParaRPr lang="en-US" sz="20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C81764A-A1A7-D747-CCE5-0380DCD96047}"/>
              </a:ext>
            </a:extLst>
          </p:cNvPr>
          <p:cNvSpPr/>
          <p:nvPr/>
        </p:nvSpPr>
        <p:spPr>
          <a:xfrm>
            <a:off x="304800" y="381000"/>
            <a:ext cx="8534400" cy="2514600"/>
          </a:xfrm>
          <a:prstGeom prst="roundRect">
            <a:avLst>
              <a:gd name="adj" fmla="val 12439"/>
            </a:avLst>
          </a:prstGeom>
          <a:noFill/>
          <a:ln w="38100"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18CF310-B44E-7642-7FD9-BE3F07F1077B}"/>
              </a:ext>
            </a:extLst>
          </p:cNvPr>
          <p:cNvSpPr/>
          <p:nvPr/>
        </p:nvSpPr>
        <p:spPr>
          <a:xfrm>
            <a:off x="329609" y="3124200"/>
            <a:ext cx="8534400" cy="3352800"/>
          </a:xfrm>
          <a:prstGeom prst="roundRect">
            <a:avLst>
              <a:gd name="adj" fmla="val 9268"/>
            </a:avLst>
          </a:prstGeom>
          <a:noFill/>
          <a:ln w="38100">
            <a:solidFill>
              <a:schemeClr val="accent1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BEACBC-98AF-67E1-F24B-D3C769E32732}"/>
              </a:ext>
            </a:extLst>
          </p:cNvPr>
          <p:cNvSpPr txBox="1"/>
          <p:nvPr/>
        </p:nvSpPr>
        <p:spPr>
          <a:xfrm rot="1518965">
            <a:off x="7006762" y="4443381"/>
            <a:ext cx="182709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  <a:latin typeface="SAVOYE LET PLAIN:1.0" pitchFamily="2" charset="0"/>
              </a:rPr>
              <a:t>Resource perspective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47032C-35B3-B1B4-9044-01055AFB5CB3}"/>
              </a:ext>
            </a:extLst>
          </p:cNvPr>
          <p:cNvSpPr txBox="1"/>
          <p:nvPr/>
        </p:nvSpPr>
        <p:spPr>
          <a:xfrm rot="1518965">
            <a:off x="6988711" y="1333697"/>
            <a:ext cx="220304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2"/>
                </a:solidFill>
                <a:latin typeface="SAVOYE LET PLAIN:1.0" pitchFamily="2" charset="0"/>
              </a:rPr>
              <a:t>Management perspective</a:t>
            </a:r>
          </a:p>
        </p:txBody>
      </p:sp>
    </p:spTree>
    <p:extLst>
      <p:ext uri="{BB962C8B-B14F-4D97-AF65-F5344CB8AC3E}">
        <p14:creationId xmlns:p14="http://schemas.microsoft.com/office/powerpoint/2010/main" val="1746492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913C7-088A-3830-4255-A2D2080D7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5998700C-0A16-2FA4-4A74-0613A744F34D}"/>
              </a:ext>
            </a:extLst>
          </p:cNvPr>
          <p:cNvSpPr txBox="1">
            <a:spLocks/>
          </p:cNvSpPr>
          <p:nvPr/>
        </p:nvSpPr>
        <p:spPr>
          <a:xfrm>
            <a:off x="457200" y="457200"/>
            <a:ext cx="7162800" cy="6217920"/>
          </a:xfrm>
          <a:prstGeom prst="rect">
            <a:avLst/>
          </a:prstGeom>
        </p:spPr>
        <p:txBody>
          <a:bodyPr/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</a:pPr>
            <a:r>
              <a:rPr lang="en-US" dirty="0"/>
              <a:t>Distributed coordination and synchronization</a:t>
            </a:r>
          </a:p>
          <a:p>
            <a:pPr lvl="1">
              <a:buClr>
                <a:schemeClr val="tx1"/>
              </a:buClr>
            </a:pPr>
            <a:r>
              <a:rPr lang="en-US" sz="2000" dirty="0">
                <a:solidFill>
                  <a:schemeClr val="accent2"/>
                </a:solidFill>
              </a:rPr>
              <a:t>Distributed mutex, distributed election, distributed consensus</a:t>
            </a:r>
            <a:r>
              <a:rPr lang="en-US" sz="2000" dirty="0">
                <a:solidFill>
                  <a:schemeClr val="tx1"/>
                </a:solidFill>
              </a:rPr>
              <a:t>, </a:t>
            </a:r>
            <a:r>
              <a:rPr lang="en-US" sz="2000" dirty="0">
                <a:solidFill>
                  <a:schemeClr val="accent2"/>
                </a:solidFill>
              </a:rPr>
              <a:t>distributed locks</a:t>
            </a:r>
          </a:p>
          <a:p>
            <a:endParaRPr lang="en-US" sz="1600" dirty="0"/>
          </a:p>
          <a:p>
            <a:pPr>
              <a:buClr>
                <a:schemeClr val="tx1"/>
              </a:buClr>
            </a:pPr>
            <a:r>
              <a:rPr lang="en-US" dirty="0"/>
              <a:t>Distributed management</a:t>
            </a:r>
          </a:p>
          <a:p>
            <a:pPr lvl="1">
              <a:buClr>
                <a:schemeClr val="tx1"/>
              </a:buClr>
            </a:pPr>
            <a:r>
              <a:rPr lang="en-US" sz="2000" dirty="0">
                <a:solidFill>
                  <a:schemeClr val="accent2"/>
                </a:solidFill>
              </a:rPr>
              <a:t>Centralized structure, decentralized structure</a:t>
            </a:r>
          </a:p>
          <a:p>
            <a:pPr lvl="1">
              <a:buClr>
                <a:schemeClr val="tx1"/>
              </a:buClr>
            </a:pPr>
            <a:endParaRPr lang="en-US" sz="2000" dirty="0"/>
          </a:p>
          <a:p>
            <a:pPr>
              <a:buClr>
                <a:schemeClr val="tx1"/>
              </a:buClr>
            </a:pPr>
            <a:r>
              <a:rPr lang="en-US" dirty="0"/>
              <a:t>Distributed computation</a:t>
            </a:r>
          </a:p>
          <a:p>
            <a:pPr lvl="1">
              <a:buClr>
                <a:schemeClr val="tx1"/>
              </a:buClr>
            </a:pPr>
            <a:r>
              <a:rPr lang="en-US" sz="2000" dirty="0">
                <a:solidFill>
                  <a:schemeClr val="accent2"/>
                </a:solidFill>
              </a:rPr>
              <a:t>MapReduce, Spark</a:t>
            </a:r>
          </a:p>
          <a:p>
            <a:pPr>
              <a:buClr>
                <a:schemeClr val="tx1"/>
              </a:buClr>
            </a:pPr>
            <a:endParaRPr lang="en-US" sz="2000" dirty="0"/>
          </a:p>
          <a:p>
            <a:pPr>
              <a:buClr>
                <a:schemeClr val="tx1"/>
              </a:buClr>
            </a:pPr>
            <a:r>
              <a:rPr lang="en-US" dirty="0"/>
              <a:t>Distributed storage</a:t>
            </a:r>
          </a:p>
          <a:p>
            <a:pPr lvl="1">
              <a:buClr>
                <a:schemeClr val="tx1"/>
              </a:buClr>
            </a:pPr>
            <a:r>
              <a:rPr lang="en-US" sz="2000" dirty="0">
                <a:solidFill>
                  <a:schemeClr val="accent2"/>
                </a:solidFill>
              </a:rPr>
              <a:t>CAP, distributed storage</a:t>
            </a:r>
          </a:p>
          <a:p>
            <a:pPr lvl="1">
              <a:buClr>
                <a:schemeClr val="tx1"/>
              </a:buClr>
            </a:pPr>
            <a:endParaRPr lang="en-US" sz="2000" dirty="0"/>
          </a:p>
          <a:p>
            <a:pPr>
              <a:buClr>
                <a:schemeClr val="tx1"/>
              </a:buClr>
            </a:pPr>
            <a:r>
              <a:rPr lang="en-US" dirty="0"/>
              <a:t>Distributed communication</a:t>
            </a:r>
          </a:p>
          <a:p>
            <a:pPr lvl="1">
              <a:buClr>
                <a:schemeClr val="tx1"/>
              </a:buClr>
            </a:pPr>
            <a:r>
              <a:rPr lang="en-US" sz="2000" dirty="0">
                <a:solidFill>
                  <a:schemeClr val="accent2"/>
                </a:solidFill>
              </a:rPr>
              <a:t>publish and subscribe, message queue</a:t>
            </a:r>
          </a:p>
          <a:p>
            <a:endParaRPr lang="en-US" sz="20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2A29B57-1CE7-1B75-5958-A77236E4EC63}"/>
              </a:ext>
            </a:extLst>
          </p:cNvPr>
          <p:cNvSpPr/>
          <p:nvPr/>
        </p:nvSpPr>
        <p:spPr>
          <a:xfrm>
            <a:off x="304800" y="381000"/>
            <a:ext cx="8534400" cy="2514600"/>
          </a:xfrm>
          <a:prstGeom prst="roundRect">
            <a:avLst>
              <a:gd name="adj" fmla="val 12439"/>
            </a:avLst>
          </a:prstGeom>
          <a:noFill/>
          <a:ln w="38100"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33C66ED-9311-8953-69D5-9E46346A5149}"/>
              </a:ext>
            </a:extLst>
          </p:cNvPr>
          <p:cNvSpPr/>
          <p:nvPr/>
        </p:nvSpPr>
        <p:spPr>
          <a:xfrm>
            <a:off x="329609" y="3124200"/>
            <a:ext cx="8534400" cy="3352800"/>
          </a:xfrm>
          <a:prstGeom prst="roundRect">
            <a:avLst>
              <a:gd name="adj" fmla="val 9268"/>
            </a:avLst>
          </a:prstGeom>
          <a:noFill/>
          <a:ln w="38100">
            <a:solidFill>
              <a:schemeClr val="accent1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E112A1-CC67-A504-A8E7-3A2FCE3A010B}"/>
              </a:ext>
            </a:extLst>
          </p:cNvPr>
          <p:cNvSpPr txBox="1"/>
          <p:nvPr/>
        </p:nvSpPr>
        <p:spPr>
          <a:xfrm rot="1518965">
            <a:off x="7006762" y="4443381"/>
            <a:ext cx="182709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  <a:latin typeface="SAVOYE LET PLAIN:1.0" pitchFamily="2" charset="0"/>
              </a:rPr>
              <a:t>Resource perspective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045859-477A-93A1-FD70-4C929E824315}"/>
              </a:ext>
            </a:extLst>
          </p:cNvPr>
          <p:cNvSpPr txBox="1"/>
          <p:nvPr/>
        </p:nvSpPr>
        <p:spPr>
          <a:xfrm rot="1518965">
            <a:off x="6988711" y="1333697"/>
            <a:ext cx="220304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2"/>
                </a:solidFill>
                <a:latin typeface="SAVOYE LET PLAIN:1.0" pitchFamily="2" charset="0"/>
              </a:rPr>
              <a:t>Management perspective</a:t>
            </a:r>
          </a:p>
        </p:txBody>
      </p:sp>
    </p:spTree>
    <p:extLst>
      <p:ext uri="{BB962C8B-B14F-4D97-AF65-F5344CB8AC3E}">
        <p14:creationId xmlns:p14="http://schemas.microsoft.com/office/powerpoint/2010/main" val="33759613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37755</TotalTime>
  <Words>102</Words>
  <Application>Microsoft Macintosh PowerPoint</Application>
  <PresentationFormat>On-screen Show (4:3)</PresentationFormat>
  <Paragraphs>84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Calibri</vt:lpstr>
      <vt:lpstr>Courier New</vt:lpstr>
      <vt:lpstr>SAVOYE LET PLAIN:1.0</vt:lpstr>
      <vt:lpstr>Wingdings</vt:lpstr>
      <vt:lpstr>Wingdings 3</vt:lpstr>
      <vt:lpstr>Origin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Reference-Driven Performance Anomaly Identification</dc:title>
  <dc:creator/>
  <cp:lastModifiedBy>Kun Suo</cp:lastModifiedBy>
  <cp:revision>1446</cp:revision>
  <dcterms:created xsi:type="dcterms:W3CDTF">2012-08-09T04:56:17Z</dcterms:created>
  <dcterms:modified xsi:type="dcterms:W3CDTF">2026-08-19T15:26:26Z</dcterms:modified>
</cp:coreProperties>
</file>