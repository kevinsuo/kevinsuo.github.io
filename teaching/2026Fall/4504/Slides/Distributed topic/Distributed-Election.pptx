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39"/>
  </p:notesMasterIdLst>
  <p:handoutMasterIdLst>
    <p:handoutMasterId r:id="rId40"/>
  </p:handoutMasterIdLst>
  <p:sldIdLst>
    <p:sldId id="256" r:id="rId2"/>
    <p:sldId id="455" r:id="rId3"/>
    <p:sldId id="456" r:id="rId4"/>
    <p:sldId id="457" r:id="rId5"/>
    <p:sldId id="458" r:id="rId6"/>
    <p:sldId id="459" r:id="rId7"/>
    <p:sldId id="461" r:id="rId8"/>
    <p:sldId id="460" r:id="rId9"/>
    <p:sldId id="462" r:id="rId10"/>
    <p:sldId id="463" r:id="rId11"/>
    <p:sldId id="464" r:id="rId12"/>
    <p:sldId id="465" r:id="rId13"/>
    <p:sldId id="466" r:id="rId14"/>
    <p:sldId id="467" r:id="rId15"/>
    <p:sldId id="468" r:id="rId16"/>
    <p:sldId id="469" r:id="rId17"/>
    <p:sldId id="470" r:id="rId18"/>
    <p:sldId id="471"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 id="484" r:id="rId32"/>
    <p:sldId id="485" r:id="rId33"/>
    <p:sldId id="486" r:id="rId34"/>
    <p:sldId id="487" r:id="rId35"/>
    <p:sldId id="488" r:id="rId36"/>
    <p:sldId id="489" r:id="rId37"/>
    <p:sldId id="490" r:id="rId38"/>
  </p:sldIdLst>
  <p:sldSz cx="9144000" cy="6858000" type="screen4x3"/>
  <p:notesSz cx="6794500" cy="9918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B52F96-2CB5-4840-9817-16A78EA68E18}" v="1" dt="2026-08-19T02:51:23.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966" autoAdjust="0"/>
    <p:restoredTop sz="94709" autoAdjust="0"/>
  </p:normalViewPr>
  <p:slideViewPr>
    <p:cSldViewPr>
      <p:cViewPr varScale="1">
        <p:scale>
          <a:sx n="123" d="100"/>
          <a:sy n="123" d="100"/>
        </p:scale>
        <p:origin x="912"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888" y="642"/>
      </p:cViewPr>
      <p:guideLst>
        <p:guide orient="horz" pos="3124"/>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 Suo" userId="41c30799-3a2b-4880-86a3-8488be07954a" providerId="ADAL" clId="{01B90814-4EBE-5562-8795-CE1E7277191D}"/>
    <pc:docChg chg="custSel addSld delSld modSld">
      <pc:chgData name="Kun Suo" userId="41c30799-3a2b-4880-86a3-8488be07954a" providerId="ADAL" clId="{01B90814-4EBE-5562-8795-CE1E7277191D}" dt="2026-08-19T02:57:41.542" v="50" actId="2696"/>
      <pc:docMkLst>
        <pc:docMk/>
      </pc:docMkLst>
      <pc:sldChg chg="delSp modSp add del mod">
        <pc:chgData name="Kun Suo" userId="41c30799-3a2b-4880-86a3-8488be07954a" providerId="ADAL" clId="{01B90814-4EBE-5562-8795-CE1E7277191D}" dt="2026-08-19T02:57:41.542" v="50" actId="2696"/>
        <pc:sldMkLst>
          <pc:docMk/>
          <pc:sldMk cId="3366699022" sldId="491"/>
        </pc:sldMkLst>
        <pc:spChg chg="del">
          <ac:chgData name="Kun Suo" userId="41c30799-3a2b-4880-86a3-8488be07954a" providerId="ADAL" clId="{01B90814-4EBE-5562-8795-CE1E7277191D}" dt="2026-08-19T02:51:32.835" v="2" actId="478"/>
          <ac:spMkLst>
            <pc:docMk/>
            <pc:sldMk cId="3366699022" sldId="491"/>
            <ac:spMk id="8" creationId="{651BDFED-C9D6-6744-B925-2610A41F59DE}"/>
          </ac:spMkLst>
        </pc:spChg>
        <pc:spChg chg="mod">
          <ac:chgData name="Kun Suo" userId="41c30799-3a2b-4880-86a3-8488be07954a" providerId="ADAL" clId="{01B90814-4EBE-5562-8795-CE1E7277191D}" dt="2026-08-19T02:52:21.639" v="38" actId="20577"/>
          <ac:spMkLst>
            <pc:docMk/>
            <pc:sldMk cId="3366699022" sldId="491"/>
            <ac:spMk id="9" creationId="{6344A274-7DA4-E745-BA28-6E832D59129E}"/>
          </ac:spMkLst>
        </pc:spChg>
        <pc:spChg chg="mod">
          <ac:chgData name="Kun Suo" userId="41c30799-3a2b-4880-86a3-8488be07954a" providerId="ADAL" clId="{01B90814-4EBE-5562-8795-CE1E7277191D}" dt="2026-08-19T02:53:00.960" v="49" actId="14100"/>
          <ac:spMkLst>
            <pc:docMk/>
            <pc:sldMk cId="3366699022" sldId="491"/>
            <ac:spMk id="10" creationId="{11E0341A-C1C6-414D-A946-FC00DF678C92}"/>
          </ac:spMkLst>
        </pc:spChg>
        <pc:spChg chg="del">
          <ac:chgData name="Kun Suo" userId="41c30799-3a2b-4880-86a3-8488be07954a" providerId="ADAL" clId="{01B90814-4EBE-5562-8795-CE1E7277191D}" dt="2026-08-19T02:51:30.465" v="1" actId="478"/>
          <ac:spMkLst>
            <pc:docMk/>
            <pc:sldMk cId="3366699022" sldId="491"/>
            <ac:spMk id="11" creationId="{3F16CCCB-8029-1944-8622-7570B8E2A13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sz="quarter" idx="1"/>
          </p:nvPr>
        </p:nvSpPr>
        <p:spPr>
          <a:xfrm>
            <a:off x="3848645" y="4"/>
            <a:ext cx="2944284" cy="495935"/>
          </a:xfrm>
          <a:prstGeom prst="rect">
            <a:avLst/>
          </a:prstGeom>
        </p:spPr>
        <p:txBody>
          <a:bodyPr vert="horz" lIns="94698" tIns="47348" rIns="94698" bIns="47348" rtlCol="0"/>
          <a:lstStyle>
            <a:lvl1pPr algn="r">
              <a:defRPr sz="1300"/>
            </a:lvl1pPr>
          </a:lstStyle>
          <a:p>
            <a:fld id="{623508D7-CD65-4285-B828-B369E2351DE2}" type="datetimeFigureOut">
              <a:rPr lang="en-US" smtClean="0"/>
              <a:pPr/>
              <a:t>8/19/26</a:t>
            </a:fld>
            <a:endParaRPr lang="en-US"/>
          </a:p>
        </p:txBody>
      </p:sp>
      <p:sp>
        <p:nvSpPr>
          <p:cNvPr id="4" name="Footer Placeholder 3"/>
          <p:cNvSpPr>
            <a:spLocks noGrp="1"/>
          </p:cNvSpPr>
          <p:nvPr>
            <p:ph type="ftr" sz="quarter" idx="2"/>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5" name="Slide Number Placeholder 4"/>
          <p:cNvSpPr>
            <a:spLocks noGrp="1"/>
          </p:cNvSpPr>
          <p:nvPr>
            <p:ph type="sldNum" sz="quarter" idx="3"/>
          </p:nvPr>
        </p:nvSpPr>
        <p:spPr>
          <a:xfrm>
            <a:off x="3848645" y="9421048"/>
            <a:ext cx="2944284" cy="495935"/>
          </a:xfrm>
          <a:prstGeom prst="rect">
            <a:avLst/>
          </a:prstGeom>
        </p:spPr>
        <p:txBody>
          <a:bodyPr vert="horz" lIns="94698" tIns="47348" rIns="94698" bIns="47348" rtlCol="0" anchor="b"/>
          <a:lstStyle>
            <a:lvl1pPr algn="r">
              <a:defRPr sz="1300"/>
            </a:lvl1pPr>
          </a:lstStyle>
          <a:p>
            <a:fld id="{6A854FC7-2F89-40CE-8D5B-3D90DD628EC1}" type="slidenum">
              <a:rPr lang="en-US" smtClean="0"/>
              <a:pPr/>
              <a:t>‹#›</a:t>
            </a:fld>
            <a:endParaRPr lang="en-US"/>
          </a:p>
        </p:txBody>
      </p:sp>
    </p:spTree>
    <p:extLst>
      <p:ext uri="{BB962C8B-B14F-4D97-AF65-F5344CB8AC3E}">
        <p14:creationId xmlns:p14="http://schemas.microsoft.com/office/powerpoint/2010/main" val="3274773465"/>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1-28T21:26:11.745"/>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876 0,'-40'8,"3"-1,30-7,-4 3,-6 11,7-5,-7 5,7-4,-1-3,-6 11,5-6,-2 2,3-7,3 4,-9 0,5 1,-6 2,6-6,-2 3,3-4,-4 4,0-3,0 0,1-2,-1-2,-7 4,8-1,-4 1,2-1,6 0,-11-3,10 5,0-4,-6 2,5-1,-6-2,4 6,3-2,-2 5,2-2,0 0,1 3,-1-6,-1 10,1-9,0 8,1-10,-1 7,-7-6,5 6,-2-6,5 3,-1-1,-4 2,4-1,-2 3,5-4,-6 5,6-4,-6 7,9-10,-8 9,6-6,-8 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1-28T21:26:21.945"/>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0 0,'47'4,"-13"-3,-16 3,-2-4,-3 0,8 0,-10 0,6 0,0 0,-2 0,7 0,-6 0,7 0,-6 0,6 0,-10 0,8 0,-9 0,10 0,-6 0,7 0,-10 0,5 0,-4 0,9 3,-3-2,-2 3,1-4,-7 0,12 0,-8 3,12-2,-6 3,3-4,-2 7,-7-5,8 5,-12-4,7-2,-4 2,2-3,6 4,-10-3,9 2,-9-3,2 0,4 0,-7 3,11-2,-7 9,7-8,-7 5,4-7,-6 0,9 3,-11-2,6 3,-1-4,-8 0,15 0,-13 0,7 0,-3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1-28T21:26:28.145"/>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837 0,'-42'20,"1"-6,29-11,-7-3,3 4,4-3,-13 5,12-5,-9 2,3 1,6 0,-5 4,3 2,3-4,-6 7,3-5,3 4,-2-2,4 3,2 4,-3-2,4 0,0-5,-4 8,4-6,-4 5,4-7,0 5,-4 0,3 0,-2-1,3-3,-7 7,5-6,-5 5,7-5,-1-1,-2 3,2-3,-3 4,1-3,-2 2,1-6,-3 10,6-10,-3 10,0-7,6 1,-8 2,5 0,-3-2,-7 3,9-11,-9 2,4 5,-1 1,0-1,1 2,3-11,-4 11,-3-8,5 6,-1-4,7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1-28T21:26:28.237"/>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1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1-28T21:26:31.441"/>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0 1,'40'11,"-2"8,-21 8,-4-8,8 18,-8-19,3 7,5 0,-5-9,1 4,-3-8,-6 3,7-4,1 2,4 2,-3-7,1 4,-6-5,6 4,-2-2,2 5,2 3,-3-1,12 10,-11-12,17 11,-21-15,19 11,-19-9,14 5,-16-5,0-1,-3-1,-1 1,6 3,1-2,-4-1,4-4,-8 7,7-2,-6 5,2-2,1 0,-3-3,6 2,-9-3,8 4,-6-4,5 0,-2-4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1-28T21:27:23.138"/>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1 41,'76'-4,"-4"1,8 3,-6 0,-13 0,-7 0,-19 0,-10 0,-6 0,-3 0,-2-3,5 2,-7-2,7 3,-4 0,10-4,1 3,8-3,-4 4,-4 0,12 0,-15 0,16-8,-17 6,6-5,-8 7,5 0,-5 0,8 0,-6 0,12 0,-4 0,10 0,-4 0,5 0,-15 0,7 0,-7 0,4 0,-1 0,0 0,2 4,-1-3,4 2,1-3,2 0,8 0,-17 0,15 0,-21 0,17 4,-13-3,3 3,-4 0,-1-3,1 3,-5-4,19 7,-19-5,15 5,-15-7,-4 0,3 0,-4 3,0 2,1-1,-1-1,4-3,-3 0,8 4,6-3,-7 3,15-4,-12 0,4 0,-1 0,-12 0,2 6,-8-4,16 5,-12-7,15 0,-18 3,12-2,-12 3,14-4,-16 0,8 0,-12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1-28T21:27:31.231"/>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1 41,'76'-4,"-4"1,8 3,-6 0,-13 0,-7 0,-19 0,-10 0,-6 0,-3 0,-2-3,5 2,-7-2,7 3,-4 0,10-4,1 3,8-3,-4 4,-4 0,12 0,-15 0,16-8,-17 6,6-5,-8 7,5 0,-5 0,8 0,-6 0,12 0,-4 0,10 0,-4 0,5 0,-15 0,7 0,-7 0,4 0,-1 0,0 0,2 4,-1-3,4 2,1-3,2 0,8 0,-17 0,15 0,-21 0,17 4,-13-3,3 3,-4 0,-1-3,1 3,-5-4,19 7,-19-5,15 5,-15-7,-4 0,3 0,-4 3,0 2,1-1,-1-1,4-3,-3 0,8 4,6-3,-7 3,15-4,-12 0,4 0,-1 0,-12 0,2 6,-8-4,16 5,-12-7,15 0,-18 3,12-2,-12 3,14-4,-16 0,8 0,-12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idx="1"/>
          </p:nvPr>
        </p:nvSpPr>
        <p:spPr>
          <a:xfrm>
            <a:off x="3848645" y="4"/>
            <a:ext cx="2944284" cy="495935"/>
          </a:xfrm>
          <a:prstGeom prst="rect">
            <a:avLst/>
          </a:prstGeom>
        </p:spPr>
        <p:txBody>
          <a:bodyPr vert="horz" lIns="94698" tIns="47348" rIns="94698" bIns="47348" rtlCol="0"/>
          <a:lstStyle>
            <a:lvl1pPr algn="r">
              <a:defRPr sz="1300"/>
            </a:lvl1pPr>
          </a:lstStyle>
          <a:p>
            <a:fld id="{68A3EB84-E0F6-4EF5-A6B6-15B35501A2C4}" type="datetimeFigureOut">
              <a:rPr lang="en-US" smtClean="0"/>
              <a:pPr/>
              <a:t>8/19/26</a:t>
            </a:fld>
            <a:endParaRPr lang="en-US"/>
          </a:p>
        </p:txBody>
      </p:sp>
      <p:sp>
        <p:nvSpPr>
          <p:cNvPr id="4" name="Slide Image Placeholder 3"/>
          <p:cNvSpPr>
            <a:spLocks noGrp="1" noRot="1" noChangeAspect="1"/>
          </p:cNvSpPr>
          <p:nvPr>
            <p:ph type="sldImg" idx="2"/>
          </p:nvPr>
        </p:nvSpPr>
        <p:spPr>
          <a:xfrm>
            <a:off x="917575" y="744538"/>
            <a:ext cx="4959350" cy="3719512"/>
          </a:xfrm>
          <a:prstGeom prst="rect">
            <a:avLst/>
          </a:prstGeom>
          <a:noFill/>
          <a:ln w="12700">
            <a:solidFill>
              <a:prstClr val="black"/>
            </a:solidFill>
          </a:ln>
        </p:spPr>
        <p:txBody>
          <a:bodyPr vert="horz" lIns="94698" tIns="47348" rIns="94698" bIns="47348" rtlCol="0" anchor="ctr"/>
          <a:lstStyle/>
          <a:p>
            <a:endParaRPr lang="en-US"/>
          </a:p>
        </p:txBody>
      </p:sp>
      <p:sp>
        <p:nvSpPr>
          <p:cNvPr id="5" name="Notes Placeholder 4"/>
          <p:cNvSpPr>
            <a:spLocks noGrp="1"/>
          </p:cNvSpPr>
          <p:nvPr>
            <p:ph type="body" sz="quarter" idx="3"/>
          </p:nvPr>
        </p:nvSpPr>
        <p:spPr>
          <a:xfrm>
            <a:off x="679450" y="4711385"/>
            <a:ext cx="5435600" cy="4463415"/>
          </a:xfrm>
          <a:prstGeom prst="rect">
            <a:avLst/>
          </a:prstGeom>
        </p:spPr>
        <p:txBody>
          <a:bodyPr vert="horz" lIns="94698" tIns="47348" rIns="94698" bIns="4734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7" name="Slide Number Placeholder 6"/>
          <p:cNvSpPr>
            <a:spLocks noGrp="1"/>
          </p:cNvSpPr>
          <p:nvPr>
            <p:ph type="sldNum" sz="quarter" idx="5"/>
          </p:nvPr>
        </p:nvSpPr>
        <p:spPr>
          <a:xfrm>
            <a:off x="3848645" y="9421048"/>
            <a:ext cx="2944284" cy="495935"/>
          </a:xfrm>
          <a:prstGeom prst="rect">
            <a:avLst/>
          </a:prstGeom>
        </p:spPr>
        <p:txBody>
          <a:bodyPr vert="horz" lIns="94698" tIns="47348" rIns="94698" bIns="47348" rtlCol="0" anchor="b"/>
          <a:lstStyle>
            <a:lvl1pPr algn="r">
              <a:defRPr sz="1300"/>
            </a:lvl1pPr>
          </a:lstStyle>
          <a:p>
            <a:fld id="{70A64E9A-006E-4595-84A4-B133CBD63029}" type="slidenum">
              <a:rPr lang="en-US" smtClean="0"/>
              <a:pPr/>
              <a:t>‹#›</a:t>
            </a:fld>
            <a:endParaRPr lang="en-US"/>
          </a:p>
        </p:txBody>
      </p:sp>
    </p:spTree>
    <p:extLst>
      <p:ext uri="{BB962C8B-B14F-4D97-AF65-F5344CB8AC3E}">
        <p14:creationId xmlns:p14="http://schemas.microsoft.com/office/powerpoint/2010/main" val="27833221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A64E9A-006E-4595-84A4-B133CBD6302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dirty="0"/>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lgn="ctr">
              <a:defRPr sz="1400"/>
            </a:lvl1pPr>
          </a:lstStyle>
          <a:p>
            <a:r>
              <a:rPr lang="en-US"/>
              <a:t>Parallel and Distributed Computation</a:t>
            </a:r>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lvl1pPr algn="ctr">
              <a:defRPr/>
            </a:lvl1pPr>
          </a:lstStyle>
          <a:p>
            <a:r>
              <a:rPr lang="en-US" dirty="0"/>
              <a:t>CS 4504</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lvl1pPr>
              <a:defRPr sz="4000" b="1" cap="none" spc="0" baseline="0">
                <a:ln w="17780" cmpd="sng">
                  <a:noFill/>
                  <a:prstDash val="solid"/>
                  <a:miter lim="800000"/>
                </a:ln>
                <a:solidFill>
                  <a:schemeClr val="accent2"/>
                </a:solidFill>
                <a:effectLst/>
              </a:defRPr>
            </a:lvl1pPr>
          </a:lstStyle>
          <a:p>
            <a:r>
              <a:rPr kumimoji="0" lang="en-US" dirty="0"/>
              <a:t>Click to edit Master title style</a:t>
            </a:r>
          </a:p>
        </p:txBody>
      </p:sp>
      <p:sp>
        <p:nvSpPr>
          <p:cNvPr id="4" name="Date Placeholder 3"/>
          <p:cNvSpPr>
            <a:spLocks noGrp="1"/>
          </p:cNvSpPr>
          <p:nvPr>
            <p:ph type="dt" sz="half" idx="10"/>
          </p:nvPr>
        </p:nvSpPr>
        <p:spPr>
          <a:xfrm>
            <a:off x="5410200" y="6356350"/>
            <a:ext cx="3279648" cy="365760"/>
          </a:xfrm>
        </p:spPr>
        <p:txBody>
          <a:bodyPr/>
          <a:lstStyle>
            <a:lvl1pPr algn="ctr">
              <a:defRPr/>
            </a:lvl1pPr>
          </a:lstStyle>
          <a:p>
            <a:r>
              <a:rPr lang="en-US"/>
              <a:t>Parallel and Distributed Computation</a:t>
            </a:r>
            <a:endParaRPr lang="en-US" dirty="0"/>
          </a:p>
        </p:txBody>
      </p:sp>
      <p:sp>
        <p:nvSpPr>
          <p:cNvPr id="5" name="Footer Placeholder 4"/>
          <p:cNvSpPr>
            <a:spLocks noGrp="1"/>
          </p:cNvSpPr>
          <p:nvPr>
            <p:ph type="ftr" sz="quarter" idx="11"/>
          </p:nvPr>
        </p:nvSpPr>
        <p:spPr>
          <a:xfrm>
            <a:off x="2438400" y="6356350"/>
            <a:ext cx="3505200" cy="365760"/>
          </a:xfrm>
        </p:spPr>
        <p:txBody>
          <a:bodyPr/>
          <a:lstStyle/>
          <a:p>
            <a:endParaRPr lang="en-US" dirty="0"/>
          </a:p>
        </p:txBody>
      </p:sp>
      <p:sp>
        <p:nvSpPr>
          <p:cNvPr id="6" name="Slide Number Placeholder 5"/>
          <p:cNvSpPr>
            <a:spLocks noGrp="1"/>
          </p:cNvSpPr>
          <p:nvPr>
            <p:ph type="sldNum" sz="quarter" idx="12"/>
          </p:nvPr>
        </p:nvSpPr>
        <p:spPr/>
        <p:txBody>
          <a:bodyPr/>
          <a:lstStyle>
            <a:lvl1pPr algn="ctr">
              <a:defRPr/>
            </a:lvl1pPr>
          </a:lstStyle>
          <a:p>
            <a:r>
              <a:rPr lang="en-US" dirty="0"/>
              <a:t>CS 4504</a:t>
            </a:r>
          </a:p>
        </p:txBody>
      </p:sp>
      <p:sp>
        <p:nvSpPr>
          <p:cNvPr id="8" name="Content Placeholder 7"/>
          <p:cNvSpPr>
            <a:spLocks noGrp="1"/>
          </p:cNvSpPr>
          <p:nvPr>
            <p:ph sz="quarter" idx="1"/>
          </p:nvPr>
        </p:nvSpPr>
        <p:spPr>
          <a:xfrm>
            <a:off x="457200" y="1219200"/>
            <a:ext cx="8229600" cy="4937760"/>
          </a:xfrm>
        </p:spPr>
        <p:txBody>
          <a:bodyPr/>
          <a:lstStyle>
            <a:lvl1pPr>
              <a:lnSpc>
                <a:spcPct val="125000"/>
              </a:lnSpc>
              <a:buSzPct val="100000"/>
              <a:buFont typeface="Arial" pitchFamily="34" charset="0"/>
              <a:buChar char="•"/>
              <a:defRPr sz="3200" baseline="0"/>
            </a:lvl1pPr>
            <a:lvl2pPr>
              <a:lnSpc>
                <a:spcPct val="125000"/>
              </a:lnSpc>
              <a:buSzPct val="65000"/>
              <a:buFont typeface="Courier New" pitchFamily="49" charset="0"/>
              <a:buChar char="o"/>
              <a:defRPr sz="2400" baseline="0"/>
            </a:lvl2pPr>
            <a:lvl3pPr>
              <a:lnSpc>
                <a:spcPct val="125000"/>
              </a:lnSpc>
              <a:defRPr/>
            </a:lvl3pPr>
            <a:lvl4pPr>
              <a:lnSpc>
                <a:spcPct val="125000"/>
              </a:lnSpc>
              <a:defRPr/>
            </a:lvl4pPr>
            <a:lvl5pPr>
              <a:lnSpc>
                <a:spcPct val="125000"/>
              </a:lnSpc>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9"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1"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r>
              <a:rPr lang="en-US"/>
              <a:t>Parallel and Distributed Computation</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dirty="0"/>
              <a:t>Click to edit Master title style</a:t>
            </a:r>
          </a:p>
        </p:txBody>
      </p:sp>
      <p:sp>
        <p:nvSpPr>
          <p:cNvPr id="3" name="Date Placeholder 2"/>
          <p:cNvSpPr>
            <a:spLocks noGrp="1"/>
          </p:cNvSpPr>
          <p:nvPr>
            <p:ph type="dt" sz="half" idx="10"/>
          </p:nvPr>
        </p:nvSpPr>
        <p:spPr/>
        <p:txBody>
          <a:bodyPr/>
          <a:lstStyle/>
          <a:p>
            <a:r>
              <a:rPr lang="en-US"/>
              <a:t>Parallel and Distributed Computation</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Parallel and Distributed Computation</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3" descr="C:\Documents and Settings\Jia Rao\Desktop\wsu.gif"/>
          <p:cNvPicPr>
            <a:picLocks noChangeAspect="1" noChangeArrowheads="1"/>
          </p:cNvPicPr>
          <p:nvPr userDrawn="1"/>
        </p:nvPicPr>
        <p:blipFill>
          <a:blip r:embed="rId2" cstate="print"/>
          <a:stretch>
            <a:fillRect/>
          </a:stretch>
        </p:blipFill>
        <p:spPr bwMode="auto">
          <a:xfrm>
            <a:off x="7924800" y="5181600"/>
            <a:ext cx="1143000" cy="1143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1"/>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a:xfrm>
            <a:off x="6400800" y="6355080"/>
            <a:ext cx="2286000" cy="365760"/>
          </a:xfrm>
        </p:spPr>
        <p:txBody>
          <a:bodyPr/>
          <a:lstStyle>
            <a:lvl1pPr>
              <a:defRPr sz="1400"/>
            </a:lvl1pPr>
          </a:lstStyle>
          <a:p>
            <a:r>
              <a:rPr lang="en-US"/>
              <a:t>Parallel and Distributed Computation</a:t>
            </a:r>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t>Parallel and Distributed Computation</a:t>
            </a:r>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ct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ctr"/>
            <a:r>
              <a:rPr lang="en-US" dirty="0"/>
              <a:t>CS 4504</a:t>
            </a: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p:txStyles>
    <p:titleStyle>
      <a:lvl1pPr algn="l" rtl="0" eaLnBrk="1" latinLnBrk="0" hangingPunct="1">
        <a:spcBef>
          <a:spcPct val="0"/>
        </a:spcBef>
        <a:buNone/>
        <a:defRPr kumimoji="0" sz="3200" b="1" i="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kevinsuo.github.io/"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if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if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if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if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5.png"/><Relationship Id="rId2" Type="http://schemas.openxmlformats.org/officeDocument/2006/relationships/image" Target="../media/image20.tiff"/><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24.png"/><Relationship Id="rId4" Type="http://schemas.openxmlformats.org/officeDocument/2006/relationships/image" Target="../media/image21.png"/><Relationship Id="rId9" Type="http://schemas.openxmlformats.org/officeDocument/2006/relationships/customXml" Target="../ink/ink4.xml"/><Relationship Id="rId14"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image" Target="../media/image21.tif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7924800" cy="2590800"/>
          </a:xfrm>
        </p:spPr>
        <p:txBody>
          <a:bodyPr>
            <a:noAutofit/>
          </a:bodyPr>
          <a:lstStyle/>
          <a:p>
            <a:pPr algn="ctr"/>
            <a:r>
              <a:rPr lang="en-US" sz="3600" b="1" dirty="0">
                <a:cs typeface="Calibri" pitchFamily="34" charset="0"/>
              </a:rPr>
              <a:t>CS </a:t>
            </a:r>
            <a:r>
              <a:rPr lang="en-US" altLang="zh-CN" sz="3600" b="1" dirty="0">
                <a:cs typeface="Calibri" pitchFamily="34" charset="0"/>
              </a:rPr>
              <a:t>4504</a:t>
            </a:r>
            <a:br>
              <a:rPr lang="en-US" sz="3600" b="1" dirty="0">
                <a:cs typeface="Calibri" pitchFamily="34" charset="0"/>
              </a:rPr>
            </a:br>
            <a:r>
              <a:rPr lang="en-US" dirty="0"/>
              <a:t>Parallel and Distributed Computation</a:t>
            </a:r>
            <a:br>
              <a:rPr lang="en-US" sz="3600" b="1" dirty="0">
                <a:cs typeface="Calibri" pitchFamily="34" charset="0"/>
              </a:rPr>
            </a:br>
            <a:br>
              <a:rPr lang="en-US" sz="3600" b="1" dirty="0">
                <a:solidFill>
                  <a:srgbClr val="C00000"/>
                </a:solidFill>
                <a:cs typeface="Calibri" pitchFamily="34" charset="0"/>
              </a:rPr>
            </a:br>
            <a:r>
              <a:rPr lang="en-US" dirty="0">
                <a:solidFill>
                  <a:srgbClr val="C00000"/>
                </a:solidFill>
                <a:cs typeface="Calibri" pitchFamily="34" charset="0"/>
              </a:rPr>
              <a:t>Distributed Election</a:t>
            </a:r>
            <a:endParaRPr lang="en-US" b="1" dirty="0">
              <a:solidFill>
                <a:srgbClr val="C00000"/>
              </a:solidFill>
              <a:cs typeface="Calibri" pitchFamily="34" charset="0"/>
            </a:endParaRPr>
          </a:p>
        </p:txBody>
      </p:sp>
      <p:sp>
        <p:nvSpPr>
          <p:cNvPr id="3" name="Subtitle 2"/>
          <p:cNvSpPr>
            <a:spLocks noGrp="1"/>
          </p:cNvSpPr>
          <p:nvPr>
            <p:ph type="subTitle" idx="4294967295"/>
          </p:nvPr>
        </p:nvSpPr>
        <p:spPr>
          <a:xfrm>
            <a:off x="990600" y="3886200"/>
            <a:ext cx="7086600" cy="1981200"/>
          </a:xfrm>
        </p:spPr>
        <p:txBody>
          <a:bodyPr>
            <a:noAutofit/>
          </a:bodyPr>
          <a:lstStyle/>
          <a:p>
            <a:pPr algn="ctr">
              <a:buNone/>
            </a:pPr>
            <a:endParaRPr lang="en-US" sz="2400" b="1" dirty="0">
              <a:latin typeface="Calibri" pitchFamily="34" charset="0"/>
              <a:cs typeface="Calibri" pitchFamily="34" charset="0"/>
            </a:endParaRPr>
          </a:p>
          <a:p>
            <a:pPr algn="ctr">
              <a:buNone/>
            </a:pPr>
            <a:r>
              <a:rPr lang="en-US" sz="2400" b="1" dirty="0">
                <a:latin typeface="Calibri" pitchFamily="34" charset="0"/>
                <a:cs typeface="Calibri" pitchFamily="34" charset="0"/>
              </a:rPr>
              <a:t>Kun Suo</a:t>
            </a:r>
          </a:p>
          <a:p>
            <a:pPr algn="ctr">
              <a:buNone/>
            </a:pPr>
            <a:r>
              <a:rPr lang="en-US" sz="2000" dirty="0"/>
              <a:t>Computer Science, Kennesaw State University</a:t>
            </a:r>
          </a:p>
          <a:p>
            <a:pPr algn="ctr">
              <a:buNone/>
            </a:pPr>
            <a:r>
              <a:rPr lang="en-US" sz="2000" dirty="0">
                <a:hlinkClick r:id="rId3"/>
              </a:rPr>
              <a:t>https://kevinsuo.github.io/</a:t>
            </a:r>
            <a:endParaRPr lang="en-US" sz="2000" dirty="0"/>
          </a:p>
        </p:txBody>
      </p:sp>
      <p:sp>
        <p:nvSpPr>
          <p:cNvPr id="6" name="Slide Number Placeholder 5">
            <a:extLst>
              <a:ext uri="{FF2B5EF4-FFF2-40B4-BE49-F238E27FC236}">
                <a16:creationId xmlns:a16="http://schemas.microsoft.com/office/drawing/2014/main" id="{6097F00E-7AD4-9F48-B9AC-514E3157532A}"/>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7" name="Date Placeholder 6">
            <a:extLst>
              <a:ext uri="{FF2B5EF4-FFF2-40B4-BE49-F238E27FC236}">
                <a16:creationId xmlns:a16="http://schemas.microsoft.com/office/drawing/2014/main" id="{4CF56BA7-5B0F-7943-8D6B-FE6D7FC64CB8}"/>
              </a:ext>
            </a:extLst>
          </p:cNvPr>
          <p:cNvSpPr>
            <a:spLocks noGrp="1"/>
          </p:cNvSpPr>
          <p:nvPr>
            <p:ph type="dt" sz="half" idx="10"/>
          </p:nvPr>
        </p:nvSpPr>
        <p:spPr>
          <a:xfrm>
            <a:off x="5715000" y="6355080"/>
            <a:ext cx="2971800" cy="365760"/>
          </a:xfrm>
        </p:spPr>
        <p:txBody>
          <a:bodyPr/>
          <a:lstStyle/>
          <a:p>
            <a:r>
              <a:rPr lang="en-US" dirty="0"/>
              <a:t>Parallel and Distributed Computation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855A-DEE2-0D40-A6B6-D55DE7EB2980}"/>
              </a:ext>
            </a:extLst>
          </p:cNvPr>
          <p:cNvSpPr>
            <a:spLocks noGrp="1"/>
          </p:cNvSpPr>
          <p:nvPr>
            <p:ph type="title"/>
          </p:nvPr>
        </p:nvSpPr>
        <p:spPr/>
        <p:txBody>
          <a:bodyPr/>
          <a:lstStyle/>
          <a:p>
            <a:r>
              <a:rPr lang="en-US" dirty="0"/>
              <a:t>Distributed Clusters</a:t>
            </a:r>
          </a:p>
        </p:txBody>
      </p:sp>
      <p:sp>
        <p:nvSpPr>
          <p:cNvPr id="3" name="Date Placeholder 2">
            <a:extLst>
              <a:ext uri="{FF2B5EF4-FFF2-40B4-BE49-F238E27FC236}">
                <a16:creationId xmlns:a16="http://schemas.microsoft.com/office/drawing/2014/main" id="{984CD552-32CB-0842-BC5A-C417A9D91E7D}"/>
              </a:ext>
            </a:extLst>
          </p:cNvPr>
          <p:cNvSpPr>
            <a:spLocks noGrp="1"/>
          </p:cNvSpPr>
          <p:nvPr>
            <p:ph type="dt" sz="half" idx="10"/>
          </p:nvPr>
        </p:nvSpPr>
        <p:spPr/>
        <p:txBody>
          <a:bodyPr/>
          <a:lstStyle/>
          <a:p>
            <a:r>
              <a:rPr lang="en-US"/>
              <a:t>Parallel and Distributed Computation</a:t>
            </a:r>
            <a:endParaRPr lang="en-US" dirty="0"/>
          </a:p>
        </p:txBody>
      </p:sp>
      <p:sp>
        <p:nvSpPr>
          <p:cNvPr id="5" name="Slide Number Placeholder 4">
            <a:extLst>
              <a:ext uri="{FF2B5EF4-FFF2-40B4-BE49-F238E27FC236}">
                <a16:creationId xmlns:a16="http://schemas.microsoft.com/office/drawing/2014/main" id="{935F4400-BB90-C94A-8A70-8CAFB251A87C}"/>
              </a:ext>
            </a:extLst>
          </p:cNvPr>
          <p:cNvSpPr>
            <a:spLocks noGrp="1"/>
          </p:cNvSpPr>
          <p:nvPr>
            <p:ph type="sldNum" sz="quarter" idx="12"/>
          </p:nvPr>
        </p:nvSpPr>
        <p:spPr/>
        <p:txBody>
          <a:bodyPr/>
          <a:lstStyle/>
          <a:p>
            <a:r>
              <a:rPr lang="en-US" dirty="0"/>
              <a:t>CS 4504</a:t>
            </a:r>
          </a:p>
        </p:txBody>
      </p:sp>
      <p:sp>
        <p:nvSpPr>
          <p:cNvPr id="6" name="Content Placeholder 5">
            <a:extLst>
              <a:ext uri="{FF2B5EF4-FFF2-40B4-BE49-F238E27FC236}">
                <a16:creationId xmlns:a16="http://schemas.microsoft.com/office/drawing/2014/main" id="{84ACBAF7-8B38-FB46-A0A9-659634E70926}"/>
              </a:ext>
            </a:extLst>
          </p:cNvPr>
          <p:cNvSpPr>
            <a:spLocks noGrp="1"/>
          </p:cNvSpPr>
          <p:nvPr>
            <p:ph sz="quarter" idx="1"/>
          </p:nvPr>
        </p:nvSpPr>
        <p:spPr>
          <a:xfrm>
            <a:off x="457200" y="1219200"/>
            <a:ext cx="4800600" cy="5029200"/>
          </a:xfrm>
        </p:spPr>
        <p:txBody>
          <a:bodyPr>
            <a:normAutofit fontScale="92500" lnSpcReduction="10000"/>
          </a:bodyPr>
          <a:lstStyle/>
          <a:p>
            <a:r>
              <a:rPr lang="en-US" dirty="0"/>
              <a:t>For a cluster, how do multiple nodes work together and how are they managed? </a:t>
            </a:r>
          </a:p>
          <a:p>
            <a:endParaRPr lang="en-US" dirty="0"/>
          </a:p>
          <a:p>
            <a:r>
              <a:rPr lang="en-US" dirty="0"/>
              <a:t>For example, in a database cluster, how to ensure that the data written is consistent on each node?</a:t>
            </a:r>
          </a:p>
        </p:txBody>
      </p:sp>
      <p:pic>
        <p:nvPicPr>
          <p:cNvPr id="4" name="Picture 3">
            <a:extLst>
              <a:ext uri="{FF2B5EF4-FFF2-40B4-BE49-F238E27FC236}">
                <a16:creationId xmlns:a16="http://schemas.microsoft.com/office/drawing/2014/main" id="{D62538D0-5989-CC47-ACF3-F3C50595BA3A}"/>
              </a:ext>
            </a:extLst>
          </p:cNvPr>
          <p:cNvPicPr>
            <a:picLocks noChangeAspect="1"/>
          </p:cNvPicPr>
          <p:nvPr/>
        </p:nvPicPr>
        <p:blipFill>
          <a:blip r:embed="rId2"/>
          <a:stretch>
            <a:fillRect/>
          </a:stretch>
        </p:blipFill>
        <p:spPr>
          <a:xfrm>
            <a:off x="5588953" y="765045"/>
            <a:ext cx="3122676" cy="2286808"/>
          </a:xfrm>
          <a:prstGeom prst="rect">
            <a:avLst/>
          </a:prstGeom>
        </p:spPr>
      </p:pic>
      <p:pic>
        <p:nvPicPr>
          <p:cNvPr id="7" name="Picture 6">
            <a:extLst>
              <a:ext uri="{FF2B5EF4-FFF2-40B4-BE49-F238E27FC236}">
                <a16:creationId xmlns:a16="http://schemas.microsoft.com/office/drawing/2014/main" id="{B55701BB-00D3-954B-B757-E493CD57F5E1}"/>
              </a:ext>
            </a:extLst>
          </p:cNvPr>
          <p:cNvPicPr>
            <a:picLocks noChangeAspect="1"/>
          </p:cNvPicPr>
          <p:nvPr/>
        </p:nvPicPr>
        <p:blipFill>
          <a:blip r:embed="rId3"/>
          <a:stretch>
            <a:fillRect/>
          </a:stretch>
        </p:blipFill>
        <p:spPr>
          <a:xfrm>
            <a:off x="5410200" y="4029205"/>
            <a:ext cx="3569074" cy="2063750"/>
          </a:xfrm>
          <a:prstGeom prst="rect">
            <a:avLst/>
          </a:prstGeom>
        </p:spPr>
      </p:pic>
    </p:spTree>
    <p:extLst>
      <p:ext uri="{BB962C8B-B14F-4D97-AF65-F5344CB8AC3E}">
        <p14:creationId xmlns:p14="http://schemas.microsoft.com/office/powerpoint/2010/main" val="212436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51B7A-7CEF-3E4C-ACB3-054DD2E3687D}"/>
              </a:ext>
            </a:extLst>
          </p:cNvPr>
          <p:cNvSpPr>
            <a:spLocks noGrp="1"/>
          </p:cNvSpPr>
          <p:nvPr>
            <p:ph type="title"/>
          </p:nvPr>
        </p:nvSpPr>
        <p:spPr/>
        <p:txBody>
          <a:bodyPr/>
          <a:lstStyle/>
          <a:p>
            <a:r>
              <a:rPr lang="en-US" dirty="0"/>
              <a:t>Leader in Distributed Systems</a:t>
            </a:r>
          </a:p>
        </p:txBody>
      </p:sp>
      <p:sp>
        <p:nvSpPr>
          <p:cNvPr id="3" name="Date Placeholder 2">
            <a:extLst>
              <a:ext uri="{FF2B5EF4-FFF2-40B4-BE49-F238E27FC236}">
                <a16:creationId xmlns:a16="http://schemas.microsoft.com/office/drawing/2014/main" id="{EE8389BF-C22F-5A41-87F7-0F9DD58F559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8979432-CA9F-6948-BB25-E3F94888277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C964099-9D45-434A-B0B6-303EC44A48CB}"/>
              </a:ext>
            </a:extLst>
          </p:cNvPr>
          <p:cNvSpPr>
            <a:spLocks noGrp="1"/>
          </p:cNvSpPr>
          <p:nvPr>
            <p:ph sz="quarter" idx="1"/>
          </p:nvPr>
        </p:nvSpPr>
        <p:spPr>
          <a:xfrm>
            <a:off x="457200" y="1219200"/>
            <a:ext cx="4572000" cy="4937760"/>
          </a:xfrm>
        </p:spPr>
        <p:txBody>
          <a:bodyPr>
            <a:normAutofit fontScale="85000" lnSpcReduction="20000"/>
          </a:bodyPr>
          <a:lstStyle/>
          <a:p>
            <a:r>
              <a:rPr lang="en-US" dirty="0"/>
              <a:t>Choose a "leader" to be responsible for scheduling and managing other nodes</a:t>
            </a:r>
          </a:p>
          <a:p>
            <a:endParaRPr lang="en-US" dirty="0"/>
          </a:p>
          <a:p>
            <a:r>
              <a:rPr lang="en-US" dirty="0"/>
              <a:t>This "leader" is called the master node in the distributed, and the process of selecting "leader" is called distributed election in the distributed system</a:t>
            </a:r>
          </a:p>
        </p:txBody>
      </p:sp>
      <p:pic>
        <p:nvPicPr>
          <p:cNvPr id="6" name="Picture 5">
            <a:extLst>
              <a:ext uri="{FF2B5EF4-FFF2-40B4-BE49-F238E27FC236}">
                <a16:creationId xmlns:a16="http://schemas.microsoft.com/office/drawing/2014/main" id="{05BD7480-E8B1-D04C-9BA6-C4BFF3E25475}"/>
              </a:ext>
            </a:extLst>
          </p:cNvPr>
          <p:cNvPicPr>
            <a:picLocks noChangeAspect="1"/>
          </p:cNvPicPr>
          <p:nvPr/>
        </p:nvPicPr>
        <p:blipFill>
          <a:blip r:embed="rId2"/>
          <a:stretch>
            <a:fillRect/>
          </a:stretch>
        </p:blipFill>
        <p:spPr>
          <a:xfrm>
            <a:off x="5598696" y="3505200"/>
            <a:ext cx="2902656" cy="2305050"/>
          </a:xfrm>
          <a:prstGeom prst="rect">
            <a:avLst/>
          </a:prstGeom>
        </p:spPr>
      </p:pic>
      <p:pic>
        <p:nvPicPr>
          <p:cNvPr id="7" name="Picture 6">
            <a:extLst>
              <a:ext uri="{FF2B5EF4-FFF2-40B4-BE49-F238E27FC236}">
                <a16:creationId xmlns:a16="http://schemas.microsoft.com/office/drawing/2014/main" id="{4E2801CE-931F-6C49-9A3E-2AFFD2521BC0}"/>
              </a:ext>
            </a:extLst>
          </p:cNvPr>
          <p:cNvPicPr>
            <a:picLocks noChangeAspect="1"/>
          </p:cNvPicPr>
          <p:nvPr/>
        </p:nvPicPr>
        <p:blipFill>
          <a:blip r:embed="rId3"/>
          <a:stretch>
            <a:fillRect/>
          </a:stretch>
        </p:blipFill>
        <p:spPr>
          <a:xfrm>
            <a:off x="6324600" y="1219200"/>
            <a:ext cx="1676400" cy="1676400"/>
          </a:xfrm>
          <a:prstGeom prst="rect">
            <a:avLst/>
          </a:prstGeom>
        </p:spPr>
      </p:pic>
    </p:spTree>
    <p:extLst>
      <p:ext uri="{BB962C8B-B14F-4D97-AF65-F5344CB8AC3E}">
        <p14:creationId xmlns:p14="http://schemas.microsoft.com/office/powerpoint/2010/main" val="908937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9DFE8-BE99-FA49-892D-F7737D1DB396}"/>
              </a:ext>
            </a:extLst>
          </p:cNvPr>
          <p:cNvSpPr>
            <a:spLocks noGrp="1"/>
          </p:cNvSpPr>
          <p:nvPr>
            <p:ph type="title"/>
          </p:nvPr>
        </p:nvSpPr>
        <p:spPr/>
        <p:txBody>
          <a:bodyPr/>
          <a:lstStyle/>
          <a:p>
            <a:r>
              <a:rPr lang="en-US" dirty="0"/>
              <a:t>Why we need Distributed Election?</a:t>
            </a:r>
          </a:p>
        </p:txBody>
      </p:sp>
      <p:sp>
        <p:nvSpPr>
          <p:cNvPr id="3" name="Date Placeholder 2">
            <a:extLst>
              <a:ext uri="{FF2B5EF4-FFF2-40B4-BE49-F238E27FC236}">
                <a16:creationId xmlns:a16="http://schemas.microsoft.com/office/drawing/2014/main" id="{23D1ADD3-53FF-9347-BBE3-6FC2B91E64E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C4CBF9FA-4EA4-4E49-BF65-B2436657C900}"/>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61FAF00-2373-9844-8562-7EF3DA788829}"/>
              </a:ext>
            </a:extLst>
          </p:cNvPr>
          <p:cNvSpPr>
            <a:spLocks noGrp="1"/>
          </p:cNvSpPr>
          <p:nvPr>
            <p:ph sz="quarter" idx="1"/>
          </p:nvPr>
        </p:nvSpPr>
        <p:spPr>
          <a:xfrm>
            <a:off x="457200" y="1219200"/>
            <a:ext cx="8229600" cy="1143000"/>
          </a:xfrm>
        </p:spPr>
        <p:txBody>
          <a:bodyPr>
            <a:normAutofit fontScale="92500"/>
          </a:bodyPr>
          <a:lstStyle/>
          <a:p>
            <a:r>
              <a:rPr lang="en-US" dirty="0"/>
              <a:t>Master node is so important in distributed system</a:t>
            </a:r>
          </a:p>
          <a:p>
            <a:pPr lvl="1"/>
            <a:r>
              <a:rPr lang="en-US" dirty="0"/>
              <a:t>Scheduling and managing other nodes</a:t>
            </a:r>
          </a:p>
        </p:txBody>
      </p:sp>
      <p:pic>
        <p:nvPicPr>
          <p:cNvPr id="6" name="Picture 5">
            <a:extLst>
              <a:ext uri="{FF2B5EF4-FFF2-40B4-BE49-F238E27FC236}">
                <a16:creationId xmlns:a16="http://schemas.microsoft.com/office/drawing/2014/main" id="{B3495729-3D3F-EB45-AF49-CE47723F4F86}"/>
              </a:ext>
            </a:extLst>
          </p:cNvPr>
          <p:cNvPicPr>
            <a:picLocks noChangeAspect="1"/>
          </p:cNvPicPr>
          <p:nvPr/>
        </p:nvPicPr>
        <p:blipFill>
          <a:blip r:embed="rId2"/>
          <a:stretch>
            <a:fillRect/>
          </a:stretch>
        </p:blipFill>
        <p:spPr>
          <a:xfrm>
            <a:off x="101990" y="3227725"/>
            <a:ext cx="4470010" cy="2508250"/>
          </a:xfrm>
          <a:prstGeom prst="rect">
            <a:avLst/>
          </a:prstGeom>
        </p:spPr>
      </p:pic>
      <p:pic>
        <p:nvPicPr>
          <p:cNvPr id="7" name="Picture 6">
            <a:extLst>
              <a:ext uri="{FF2B5EF4-FFF2-40B4-BE49-F238E27FC236}">
                <a16:creationId xmlns:a16="http://schemas.microsoft.com/office/drawing/2014/main" id="{1437AA4B-C06F-7647-A75A-40A93AA7E890}"/>
              </a:ext>
            </a:extLst>
          </p:cNvPr>
          <p:cNvPicPr>
            <a:picLocks noChangeAspect="1"/>
          </p:cNvPicPr>
          <p:nvPr/>
        </p:nvPicPr>
        <p:blipFill>
          <a:blip r:embed="rId3"/>
          <a:stretch>
            <a:fillRect/>
          </a:stretch>
        </p:blipFill>
        <p:spPr>
          <a:xfrm>
            <a:off x="4876800" y="3341527"/>
            <a:ext cx="4267200" cy="2394448"/>
          </a:xfrm>
          <a:prstGeom prst="rect">
            <a:avLst/>
          </a:prstGeom>
        </p:spPr>
      </p:pic>
      <p:sp>
        <p:nvSpPr>
          <p:cNvPr id="8" name="Rounded Rectangular Callout 7">
            <a:extLst>
              <a:ext uri="{FF2B5EF4-FFF2-40B4-BE49-F238E27FC236}">
                <a16:creationId xmlns:a16="http://schemas.microsoft.com/office/drawing/2014/main" id="{11A5AE85-5E59-C947-964D-59E8DF2FDEEA}"/>
              </a:ext>
            </a:extLst>
          </p:cNvPr>
          <p:cNvSpPr/>
          <p:nvPr/>
        </p:nvSpPr>
        <p:spPr>
          <a:xfrm>
            <a:off x="5410200" y="5486400"/>
            <a:ext cx="1600200" cy="762000"/>
          </a:xfrm>
          <a:prstGeom prst="wedgeRoundRectCallout">
            <a:avLst>
              <a:gd name="adj1" fmla="val -43947"/>
              <a:gd name="adj2" fmla="val -110085"/>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What will happen when the master node crashed?</a:t>
            </a:r>
          </a:p>
        </p:txBody>
      </p:sp>
    </p:spTree>
    <p:extLst>
      <p:ext uri="{BB962C8B-B14F-4D97-AF65-F5344CB8AC3E}">
        <p14:creationId xmlns:p14="http://schemas.microsoft.com/office/powerpoint/2010/main" val="2550353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1115A-9019-3B46-B977-06E39905AE80}"/>
              </a:ext>
            </a:extLst>
          </p:cNvPr>
          <p:cNvSpPr>
            <a:spLocks noGrp="1"/>
          </p:cNvSpPr>
          <p:nvPr>
            <p:ph type="title"/>
          </p:nvPr>
        </p:nvSpPr>
        <p:spPr/>
        <p:txBody>
          <a:bodyPr/>
          <a:lstStyle/>
          <a:p>
            <a:r>
              <a:rPr lang="en-US" dirty="0"/>
              <a:t>Why we need Distributed Election?</a:t>
            </a:r>
          </a:p>
        </p:txBody>
      </p:sp>
      <p:sp>
        <p:nvSpPr>
          <p:cNvPr id="3" name="Date Placeholder 2">
            <a:extLst>
              <a:ext uri="{FF2B5EF4-FFF2-40B4-BE49-F238E27FC236}">
                <a16:creationId xmlns:a16="http://schemas.microsoft.com/office/drawing/2014/main" id="{7E2F1A2B-8500-2147-B896-078E3182EDD4}"/>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6B2B115D-240E-FB49-8128-B5093CCC5F0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9F35BBC3-3AE9-E148-AE59-D629B4F603FA}"/>
              </a:ext>
            </a:extLst>
          </p:cNvPr>
          <p:cNvSpPr>
            <a:spLocks noGrp="1"/>
          </p:cNvSpPr>
          <p:nvPr>
            <p:ph sz="quarter" idx="1"/>
          </p:nvPr>
        </p:nvSpPr>
        <p:spPr>
          <a:xfrm>
            <a:off x="457200" y="1219200"/>
            <a:ext cx="8229600" cy="838199"/>
          </a:xfrm>
        </p:spPr>
        <p:txBody>
          <a:bodyPr>
            <a:normAutofit fontScale="70000" lnSpcReduction="20000"/>
          </a:bodyPr>
          <a:lstStyle/>
          <a:p>
            <a:r>
              <a:rPr lang="en-US" dirty="0"/>
              <a:t>Failure of the master node in a distributed database cluster may cause inconsistent data on each node</a:t>
            </a:r>
          </a:p>
        </p:txBody>
      </p:sp>
      <p:pic>
        <p:nvPicPr>
          <p:cNvPr id="6" name="Picture 5">
            <a:extLst>
              <a:ext uri="{FF2B5EF4-FFF2-40B4-BE49-F238E27FC236}">
                <a16:creationId xmlns:a16="http://schemas.microsoft.com/office/drawing/2014/main" id="{95794C5B-D3DA-804C-AED3-D7648AEB86F2}"/>
              </a:ext>
            </a:extLst>
          </p:cNvPr>
          <p:cNvPicPr>
            <a:picLocks noChangeAspect="1"/>
          </p:cNvPicPr>
          <p:nvPr/>
        </p:nvPicPr>
        <p:blipFill>
          <a:blip r:embed="rId2"/>
          <a:stretch>
            <a:fillRect/>
          </a:stretch>
        </p:blipFill>
        <p:spPr>
          <a:xfrm>
            <a:off x="2286000" y="2514600"/>
            <a:ext cx="5183689" cy="3675707"/>
          </a:xfrm>
          <a:prstGeom prst="rect">
            <a:avLst/>
          </a:prstGeom>
        </p:spPr>
      </p:pic>
      <p:sp>
        <p:nvSpPr>
          <p:cNvPr id="7" name="Rounded Rectangular Callout 6">
            <a:extLst>
              <a:ext uri="{FF2B5EF4-FFF2-40B4-BE49-F238E27FC236}">
                <a16:creationId xmlns:a16="http://schemas.microsoft.com/office/drawing/2014/main" id="{B87A9B14-B8B9-7649-BBDF-6615C09E59C9}"/>
              </a:ext>
            </a:extLst>
          </p:cNvPr>
          <p:cNvSpPr/>
          <p:nvPr/>
        </p:nvSpPr>
        <p:spPr>
          <a:xfrm>
            <a:off x="1981200" y="6019800"/>
            <a:ext cx="1600200" cy="762000"/>
          </a:xfrm>
          <a:prstGeom prst="wedgeRoundRectCallout">
            <a:avLst>
              <a:gd name="adj1" fmla="val 79327"/>
              <a:gd name="adj2" fmla="val -49411"/>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t>What will happen when the master node crashed?</a:t>
            </a:r>
          </a:p>
        </p:txBody>
      </p:sp>
    </p:spTree>
    <p:extLst>
      <p:ext uri="{BB962C8B-B14F-4D97-AF65-F5344CB8AC3E}">
        <p14:creationId xmlns:p14="http://schemas.microsoft.com/office/powerpoint/2010/main" val="1903684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CCD6CDA-C61F-A340-8609-3D669A91106C}"/>
              </a:ext>
            </a:extLst>
          </p:cNvPr>
          <p:cNvSpPr>
            <a:spLocks noGrp="1"/>
          </p:cNvSpPr>
          <p:nvPr>
            <p:ph sz="quarter" idx="1"/>
          </p:nvPr>
        </p:nvSpPr>
        <p:spPr/>
        <p:txBody>
          <a:bodyPr/>
          <a:lstStyle/>
          <a:p>
            <a:r>
              <a:rPr lang="en-US" dirty="0"/>
              <a:t>A method for dynamically electing a coordinator or leader from a group of distributed nodes. </a:t>
            </a:r>
          </a:p>
          <a:p>
            <a:endParaRPr lang="en-US" dirty="0"/>
          </a:p>
          <a:p>
            <a:r>
              <a:rPr lang="en-US" dirty="0"/>
              <a:t>The node with the highest ID number from amongst the non-failed nodes is selected as the coordinator.</a:t>
            </a:r>
          </a:p>
        </p:txBody>
      </p:sp>
    </p:spTree>
    <p:extLst>
      <p:ext uri="{BB962C8B-B14F-4D97-AF65-F5344CB8AC3E}">
        <p14:creationId xmlns:p14="http://schemas.microsoft.com/office/powerpoint/2010/main" val="84459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CCD6CDA-C61F-A340-8609-3D669A91106C}"/>
              </a:ext>
            </a:extLst>
          </p:cNvPr>
          <p:cNvSpPr>
            <a:spLocks noGrp="1"/>
          </p:cNvSpPr>
          <p:nvPr>
            <p:ph sz="quarter" idx="1"/>
          </p:nvPr>
        </p:nvSpPr>
        <p:spPr/>
        <p:txBody>
          <a:bodyPr>
            <a:normAutofit fontScale="85000" lnSpcReduction="20000"/>
          </a:bodyPr>
          <a:lstStyle/>
          <a:p>
            <a:r>
              <a:rPr lang="en-US" dirty="0"/>
              <a:t>Nodes have two types: normal nodes and master nodes. </a:t>
            </a:r>
          </a:p>
          <a:p>
            <a:endParaRPr lang="en-US" dirty="0"/>
          </a:p>
          <a:p>
            <a:r>
              <a:rPr lang="en-US" dirty="0"/>
              <a:t>During initialization, all nodes are normal nodes, and have the right to become masters. However, after the election, only one node becomes the master node, and all other nodes are normal nodes. </a:t>
            </a:r>
          </a:p>
          <a:p>
            <a:endParaRPr lang="en-US" dirty="0"/>
          </a:p>
          <a:p>
            <a:r>
              <a:rPr lang="en-US" dirty="0"/>
              <a:t>The master will be reelected if and only if the master node fails or loses connect with other nodes.</a:t>
            </a:r>
          </a:p>
        </p:txBody>
      </p:sp>
    </p:spTree>
    <p:extLst>
      <p:ext uri="{BB962C8B-B14F-4D97-AF65-F5344CB8AC3E}">
        <p14:creationId xmlns:p14="http://schemas.microsoft.com/office/powerpoint/2010/main" val="2832770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pic>
        <p:nvPicPr>
          <p:cNvPr id="9" name="Picture 8">
            <a:extLst>
              <a:ext uri="{FF2B5EF4-FFF2-40B4-BE49-F238E27FC236}">
                <a16:creationId xmlns:a16="http://schemas.microsoft.com/office/drawing/2014/main" id="{827A04B3-A724-B848-BEA7-D27A32195102}"/>
              </a:ext>
            </a:extLst>
          </p:cNvPr>
          <p:cNvPicPr>
            <a:picLocks noChangeAspect="1"/>
          </p:cNvPicPr>
          <p:nvPr/>
        </p:nvPicPr>
        <p:blipFill>
          <a:blip r:embed="rId2"/>
          <a:stretch>
            <a:fillRect/>
          </a:stretch>
        </p:blipFill>
        <p:spPr>
          <a:xfrm>
            <a:off x="7050024" y="1617133"/>
            <a:ext cx="723900" cy="1126067"/>
          </a:xfrm>
          <a:prstGeom prst="rect">
            <a:avLst/>
          </a:prstGeom>
        </p:spPr>
      </p:pic>
      <p:pic>
        <p:nvPicPr>
          <p:cNvPr id="10" name="Picture 9">
            <a:extLst>
              <a:ext uri="{FF2B5EF4-FFF2-40B4-BE49-F238E27FC236}">
                <a16:creationId xmlns:a16="http://schemas.microsoft.com/office/drawing/2014/main" id="{C04B409C-9565-0E41-AE52-EBF5BB8140B0}"/>
              </a:ext>
            </a:extLst>
          </p:cNvPr>
          <p:cNvPicPr>
            <a:picLocks noChangeAspect="1"/>
          </p:cNvPicPr>
          <p:nvPr/>
        </p:nvPicPr>
        <p:blipFill>
          <a:blip r:embed="rId2"/>
          <a:stretch>
            <a:fillRect/>
          </a:stretch>
        </p:blipFill>
        <p:spPr>
          <a:xfrm>
            <a:off x="6019800" y="3657600"/>
            <a:ext cx="723900" cy="1126067"/>
          </a:xfrm>
          <a:prstGeom prst="rect">
            <a:avLst/>
          </a:prstGeom>
        </p:spPr>
      </p:pic>
      <p:pic>
        <p:nvPicPr>
          <p:cNvPr id="11" name="Picture 10">
            <a:extLst>
              <a:ext uri="{FF2B5EF4-FFF2-40B4-BE49-F238E27FC236}">
                <a16:creationId xmlns:a16="http://schemas.microsoft.com/office/drawing/2014/main" id="{4479B39B-583D-7D47-BCEF-74B88376F1E5}"/>
              </a:ext>
            </a:extLst>
          </p:cNvPr>
          <p:cNvPicPr>
            <a:picLocks noChangeAspect="1"/>
          </p:cNvPicPr>
          <p:nvPr/>
        </p:nvPicPr>
        <p:blipFill>
          <a:blip r:embed="rId2"/>
          <a:stretch>
            <a:fillRect/>
          </a:stretch>
        </p:blipFill>
        <p:spPr>
          <a:xfrm>
            <a:off x="8077200" y="3657600"/>
            <a:ext cx="723900" cy="1126067"/>
          </a:xfrm>
          <a:prstGeom prst="rect">
            <a:avLst/>
          </a:prstGeom>
        </p:spPr>
      </p:pic>
      <p:sp>
        <p:nvSpPr>
          <p:cNvPr id="12" name="Left-Right Arrow 11">
            <a:extLst>
              <a:ext uri="{FF2B5EF4-FFF2-40B4-BE49-F238E27FC236}">
                <a16:creationId xmlns:a16="http://schemas.microsoft.com/office/drawing/2014/main" id="{40D7B4DB-FCAB-BA49-9140-9FFFFC946EF7}"/>
              </a:ext>
            </a:extLst>
          </p:cNvPr>
          <p:cNvSpPr/>
          <p:nvPr/>
        </p:nvSpPr>
        <p:spPr>
          <a:xfrm rot="2642881">
            <a:off x="7573865" y="3086100"/>
            <a:ext cx="9144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Right Arrow 12">
            <a:extLst>
              <a:ext uri="{FF2B5EF4-FFF2-40B4-BE49-F238E27FC236}">
                <a16:creationId xmlns:a16="http://schemas.microsoft.com/office/drawing/2014/main" id="{42D1337D-E269-E847-A73B-A72E29C18ED1}"/>
              </a:ext>
            </a:extLst>
          </p:cNvPr>
          <p:cNvSpPr/>
          <p:nvPr/>
        </p:nvSpPr>
        <p:spPr>
          <a:xfrm>
            <a:off x="6965904" y="4074594"/>
            <a:ext cx="9144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eft-Right Arrow 13">
            <a:extLst>
              <a:ext uri="{FF2B5EF4-FFF2-40B4-BE49-F238E27FC236}">
                <a16:creationId xmlns:a16="http://schemas.microsoft.com/office/drawing/2014/main" id="{2CBF1EA5-6A65-824E-98D8-A868386E0383}"/>
              </a:ext>
            </a:extLst>
          </p:cNvPr>
          <p:cNvSpPr/>
          <p:nvPr/>
        </p:nvSpPr>
        <p:spPr>
          <a:xfrm rot="18359765">
            <a:off x="6231639" y="3049049"/>
            <a:ext cx="9144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5297498" cy="4937760"/>
          </a:xfrm>
        </p:spPr>
        <p:txBody>
          <a:bodyPr>
            <a:normAutofit fontScale="92500"/>
          </a:bodyPr>
          <a:lstStyle/>
          <a:p>
            <a:r>
              <a:rPr lang="en-US" dirty="0"/>
              <a:t>During the election process of the Bully algorithm, three types of messages are needed: </a:t>
            </a:r>
          </a:p>
          <a:p>
            <a:pPr marL="731520" lvl="1" indent="-457200">
              <a:buFont typeface="+mj-lt"/>
              <a:buAutoNum type="arabicPeriod"/>
            </a:pPr>
            <a:r>
              <a:rPr lang="en-US" dirty="0"/>
              <a:t>Election messages, which are used to initiate elections; </a:t>
            </a:r>
          </a:p>
          <a:p>
            <a:pPr marL="731520" lvl="1" indent="-457200">
              <a:buFont typeface="+mj-lt"/>
              <a:buAutoNum type="arabicPeriod"/>
            </a:pPr>
            <a:r>
              <a:rPr lang="en-US" dirty="0"/>
              <a:t>Alive messages, which are responses to Election messages; </a:t>
            </a:r>
          </a:p>
          <a:p>
            <a:pPr marL="731520" lvl="1" indent="-457200">
              <a:buFont typeface="+mj-lt"/>
              <a:buAutoNum type="arabicPeriod"/>
            </a:pPr>
            <a:r>
              <a:rPr lang="en-US" dirty="0"/>
              <a:t>Victory messages, which are sent by the master node that has been successfully elected.</a:t>
            </a:r>
          </a:p>
        </p:txBody>
      </p:sp>
    </p:spTree>
    <p:extLst>
      <p:ext uri="{BB962C8B-B14F-4D97-AF65-F5344CB8AC3E}">
        <p14:creationId xmlns:p14="http://schemas.microsoft.com/office/powerpoint/2010/main" val="1454011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2286000"/>
          </a:xfrm>
        </p:spPr>
        <p:txBody>
          <a:bodyPr>
            <a:normAutofit fontScale="92500"/>
          </a:bodyPr>
          <a:lstStyle/>
          <a:p>
            <a:r>
              <a:rPr lang="en-US" dirty="0"/>
              <a:t>How Bully algorithm works: </a:t>
            </a:r>
          </a:p>
          <a:p>
            <a:pPr marL="522288" lvl="1" indent="-287338">
              <a:buNone/>
            </a:pPr>
            <a:r>
              <a:rPr lang="en-US" dirty="0">
                <a:solidFill>
                  <a:schemeClr val="accent2"/>
                </a:solidFill>
              </a:rPr>
              <a:t>1. </a:t>
            </a:r>
            <a:r>
              <a:rPr lang="en-US" dirty="0"/>
              <a:t>Each node in the cluster judges whether its ID is the largest among the currently alive nodes. If so, it directly sends a Victory message to other nodes to notify it is the master node;</a:t>
            </a:r>
          </a:p>
        </p:txBody>
      </p:sp>
      <p:grpSp>
        <p:nvGrpSpPr>
          <p:cNvPr id="21" name="Group 20">
            <a:extLst>
              <a:ext uri="{FF2B5EF4-FFF2-40B4-BE49-F238E27FC236}">
                <a16:creationId xmlns:a16="http://schemas.microsoft.com/office/drawing/2014/main" id="{130D1D66-9AA0-CB47-AC56-CB8D0CB97037}"/>
              </a:ext>
            </a:extLst>
          </p:cNvPr>
          <p:cNvGrpSpPr/>
          <p:nvPr/>
        </p:nvGrpSpPr>
        <p:grpSpPr>
          <a:xfrm>
            <a:off x="2133600" y="3899114"/>
            <a:ext cx="4419600" cy="2438400"/>
            <a:chOff x="2133600" y="3899114"/>
            <a:chExt cx="4419600" cy="2438400"/>
          </a:xfrm>
        </p:grpSpPr>
        <p:pic>
          <p:nvPicPr>
            <p:cNvPr id="5" name="Picture 4">
              <a:extLst>
                <a:ext uri="{FF2B5EF4-FFF2-40B4-BE49-F238E27FC236}">
                  <a16:creationId xmlns:a16="http://schemas.microsoft.com/office/drawing/2014/main" id="{D276930C-7864-7D40-85B0-6F83B7C73223}"/>
                </a:ext>
              </a:extLst>
            </p:cNvPr>
            <p:cNvPicPr>
              <a:picLocks noChangeAspect="1"/>
            </p:cNvPicPr>
            <p:nvPr/>
          </p:nvPicPr>
          <p:blipFill rotWithShape="1">
            <a:blip r:embed="rId2"/>
            <a:srcRect b="13901"/>
            <a:stretch/>
          </p:blipFill>
          <p:spPr>
            <a:xfrm>
              <a:off x="2133600" y="3899114"/>
              <a:ext cx="4419600" cy="2438400"/>
            </a:xfrm>
            <a:prstGeom prst="rect">
              <a:avLst/>
            </a:prstGeom>
          </p:spPr>
        </p:pic>
        <p:pic>
          <p:nvPicPr>
            <p:cNvPr id="6" name="Picture 5">
              <a:extLst>
                <a:ext uri="{FF2B5EF4-FFF2-40B4-BE49-F238E27FC236}">
                  <a16:creationId xmlns:a16="http://schemas.microsoft.com/office/drawing/2014/main" id="{369BC42C-22DF-1646-9A89-33B99961FAC2}"/>
                </a:ext>
              </a:extLst>
            </p:cNvPr>
            <p:cNvPicPr>
              <a:picLocks noChangeAspect="1"/>
            </p:cNvPicPr>
            <p:nvPr/>
          </p:nvPicPr>
          <p:blipFill>
            <a:blip r:embed="rId3"/>
            <a:stretch>
              <a:fillRect/>
            </a:stretch>
          </p:blipFill>
          <p:spPr>
            <a:xfrm>
              <a:off x="4199874" y="6017344"/>
              <a:ext cx="448325" cy="203200"/>
            </a:xfrm>
            <a:prstGeom prst="rect">
              <a:avLst/>
            </a:prstGeom>
          </p:spPr>
        </p:pic>
        <p:pic>
          <p:nvPicPr>
            <p:cNvPr id="16" name="Picture 15">
              <a:extLst>
                <a:ext uri="{FF2B5EF4-FFF2-40B4-BE49-F238E27FC236}">
                  <a16:creationId xmlns:a16="http://schemas.microsoft.com/office/drawing/2014/main" id="{5F94E8F6-B997-EB4A-8C9F-1A9C082E6934}"/>
                </a:ext>
              </a:extLst>
            </p:cNvPr>
            <p:cNvPicPr>
              <a:picLocks noChangeAspect="1"/>
            </p:cNvPicPr>
            <p:nvPr/>
          </p:nvPicPr>
          <p:blipFill>
            <a:blip r:embed="rId3"/>
            <a:stretch>
              <a:fillRect/>
            </a:stretch>
          </p:blipFill>
          <p:spPr>
            <a:xfrm>
              <a:off x="3581400" y="5086786"/>
              <a:ext cx="448325" cy="203200"/>
            </a:xfrm>
            <a:prstGeom prst="rect">
              <a:avLst/>
            </a:prstGeom>
          </p:spPr>
        </p:pic>
        <p:pic>
          <p:nvPicPr>
            <p:cNvPr id="17" name="Picture 16">
              <a:extLst>
                <a:ext uri="{FF2B5EF4-FFF2-40B4-BE49-F238E27FC236}">
                  <a16:creationId xmlns:a16="http://schemas.microsoft.com/office/drawing/2014/main" id="{895D820D-082B-A345-8A25-ABF8F0A83652}"/>
                </a:ext>
              </a:extLst>
            </p:cNvPr>
            <p:cNvPicPr>
              <a:picLocks noChangeAspect="1"/>
            </p:cNvPicPr>
            <p:nvPr/>
          </p:nvPicPr>
          <p:blipFill>
            <a:blip r:embed="rId3"/>
            <a:stretch>
              <a:fillRect/>
            </a:stretch>
          </p:blipFill>
          <p:spPr>
            <a:xfrm>
              <a:off x="5943600" y="4495800"/>
              <a:ext cx="448325" cy="203200"/>
            </a:xfrm>
            <a:prstGeom prst="rect">
              <a:avLst/>
            </a:prstGeom>
          </p:spPr>
        </p:pic>
        <p:sp>
          <p:nvSpPr>
            <p:cNvPr id="7" name="TextBox 6">
              <a:extLst>
                <a:ext uri="{FF2B5EF4-FFF2-40B4-BE49-F238E27FC236}">
                  <a16:creationId xmlns:a16="http://schemas.microsoft.com/office/drawing/2014/main" id="{5D81DF06-3327-FC41-BEA8-B6F2CF9461A7}"/>
                </a:ext>
              </a:extLst>
            </p:cNvPr>
            <p:cNvSpPr txBox="1"/>
            <p:nvPr/>
          </p:nvSpPr>
          <p:spPr>
            <a:xfrm>
              <a:off x="4258379" y="5934278"/>
              <a:ext cx="301686"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862D5640-BE29-3746-866A-BA7C9745739D}"/>
                </a:ext>
              </a:extLst>
            </p:cNvPr>
            <p:cNvSpPr txBox="1"/>
            <p:nvPr/>
          </p:nvSpPr>
          <p:spPr>
            <a:xfrm>
              <a:off x="3654719" y="5003720"/>
              <a:ext cx="301686" cy="369332"/>
            </a:xfrm>
            <a:prstGeom prst="rect">
              <a:avLst/>
            </a:prstGeom>
            <a:noFill/>
          </p:spPr>
          <p:txBody>
            <a:bodyPr wrap="none" rtlCol="0">
              <a:spAutoFit/>
            </a:bodyPr>
            <a:lstStyle/>
            <a:p>
              <a:r>
                <a:rPr lang="en-US" dirty="0"/>
                <a:t>3</a:t>
              </a:r>
            </a:p>
          </p:txBody>
        </p:sp>
        <p:sp>
          <p:nvSpPr>
            <p:cNvPr id="19" name="TextBox 18">
              <a:extLst>
                <a:ext uri="{FF2B5EF4-FFF2-40B4-BE49-F238E27FC236}">
                  <a16:creationId xmlns:a16="http://schemas.microsoft.com/office/drawing/2014/main" id="{5707D966-B751-0D4E-92F0-FC9885B7FDD6}"/>
                </a:ext>
              </a:extLst>
            </p:cNvPr>
            <p:cNvSpPr txBox="1"/>
            <p:nvPr/>
          </p:nvSpPr>
          <p:spPr>
            <a:xfrm>
              <a:off x="6011520" y="4378386"/>
              <a:ext cx="301686" cy="369332"/>
            </a:xfrm>
            <a:prstGeom prst="rect">
              <a:avLst/>
            </a:prstGeom>
            <a:noFill/>
          </p:spPr>
          <p:txBody>
            <a:bodyPr wrap="none" rtlCol="0">
              <a:spAutoFit/>
            </a:bodyPr>
            <a:lstStyle/>
            <a:p>
              <a:r>
                <a:rPr lang="en-US" dirty="0"/>
                <a:t>2</a:t>
              </a:r>
            </a:p>
          </p:txBody>
        </p:sp>
        <p:pic>
          <p:nvPicPr>
            <p:cNvPr id="8" name="Picture 7">
              <a:extLst>
                <a:ext uri="{FF2B5EF4-FFF2-40B4-BE49-F238E27FC236}">
                  <a16:creationId xmlns:a16="http://schemas.microsoft.com/office/drawing/2014/main" id="{5785FAB5-9A66-AD48-8B8B-24E420CFBD4E}"/>
                </a:ext>
              </a:extLst>
            </p:cNvPr>
            <p:cNvPicPr>
              <a:picLocks noChangeAspect="1"/>
            </p:cNvPicPr>
            <p:nvPr/>
          </p:nvPicPr>
          <p:blipFill>
            <a:blip r:embed="rId4"/>
            <a:stretch>
              <a:fillRect/>
            </a:stretch>
          </p:blipFill>
          <p:spPr>
            <a:xfrm>
              <a:off x="2209800" y="3920288"/>
              <a:ext cx="914400" cy="423111"/>
            </a:xfrm>
            <a:prstGeom prst="rect">
              <a:avLst/>
            </a:prstGeom>
          </p:spPr>
        </p:pic>
        <p:sp>
          <p:nvSpPr>
            <p:cNvPr id="20" name="TextBox 19">
              <a:extLst>
                <a:ext uri="{FF2B5EF4-FFF2-40B4-BE49-F238E27FC236}">
                  <a16:creationId xmlns:a16="http://schemas.microsoft.com/office/drawing/2014/main" id="{5547B802-B5E7-594B-BF0F-5866CDDC281C}"/>
                </a:ext>
              </a:extLst>
            </p:cNvPr>
            <p:cNvSpPr txBox="1"/>
            <p:nvPr/>
          </p:nvSpPr>
          <p:spPr>
            <a:xfrm>
              <a:off x="2159328" y="3947177"/>
              <a:ext cx="1015343" cy="369332"/>
            </a:xfrm>
            <a:prstGeom prst="rect">
              <a:avLst/>
            </a:prstGeom>
            <a:noFill/>
          </p:spPr>
          <p:txBody>
            <a:bodyPr wrap="none" rtlCol="0">
              <a:spAutoFit/>
            </a:bodyPr>
            <a:lstStyle/>
            <a:p>
              <a:r>
                <a:rPr lang="en-US" dirty="0">
                  <a:solidFill>
                    <a:schemeClr val="bg1"/>
                  </a:solidFill>
                </a:rPr>
                <a:t>4 (failed)</a:t>
              </a:r>
            </a:p>
          </p:txBody>
        </p:sp>
      </p:grpSp>
    </p:spTree>
    <p:extLst>
      <p:ext uri="{BB962C8B-B14F-4D97-AF65-F5344CB8AC3E}">
        <p14:creationId xmlns:p14="http://schemas.microsoft.com/office/powerpoint/2010/main" val="147488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2286000"/>
          </a:xfrm>
        </p:spPr>
        <p:txBody>
          <a:bodyPr>
            <a:normAutofit/>
          </a:bodyPr>
          <a:lstStyle/>
          <a:p>
            <a:r>
              <a:rPr lang="en-US" dirty="0"/>
              <a:t>How Bully algorithm works: </a:t>
            </a:r>
          </a:p>
          <a:p>
            <a:pPr marL="522288" lvl="1" indent="-287338">
              <a:buNone/>
            </a:pPr>
            <a:r>
              <a:rPr lang="en-US" dirty="0">
                <a:solidFill>
                  <a:schemeClr val="accent2"/>
                </a:solidFill>
              </a:rPr>
              <a:t>2. </a:t>
            </a:r>
            <a:r>
              <a:rPr lang="en-US" dirty="0"/>
              <a:t>If the nodes are not the one with the largest ID in the currently alive node, send an Election message to all nodes with a larger ID and wait for a reply from other nodes;</a:t>
            </a:r>
          </a:p>
        </p:txBody>
      </p:sp>
      <p:grpSp>
        <p:nvGrpSpPr>
          <p:cNvPr id="21" name="Group 20">
            <a:extLst>
              <a:ext uri="{FF2B5EF4-FFF2-40B4-BE49-F238E27FC236}">
                <a16:creationId xmlns:a16="http://schemas.microsoft.com/office/drawing/2014/main" id="{130D1D66-9AA0-CB47-AC56-CB8D0CB97037}"/>
              </a:ext>
            </a:extLst>
          </p:cNvPr>
          <p:cNvGrpSpPr/>
          <p:nvPr/>
        </p:nvGrpSpPr>
        <p:grpSpPr>
          <a:xfrm>
            <a:off x="2133600" y="3899114"/>
            <a:ext cx="4419600" cy="2438400"/>
            <a:chOff x="2133600" y="3899114"/>
            <a:chExt cx="4419600" cy="2438400"/>
          </a:xfrm>
        </p:grpSpPr>
        <p:pic>
          <p:nvPicPr>
            <p:cNvPr id="5" name="Picture 4">
              <a:extLst>
                <a:ext uri="{FF2B5EF4-FFF2-40B4-BE49-F238E27FC236}">
                  <a16:creationId xmlns:a16="http://schemas.microsoft.com/office/drawing/2014/main" id="{D276930C-7864-7D40-85B0-6F83B7C73223}"/>
                </a:ext>
              </a:extLst>
            </p:cNvPr>
            <p:cNvPicPr>
              <a:picLocks noChangeAspect="1"/>
            </p:cNvPicPr>
            <p:nvPr/>
          </p:nvPicPr>
          <p:blipFill rotWithShape="1">
            <a:blip r:embed="rId2"/>
            <a:srcRect b="13901"/>
            <a:stretch/>
          </p:blipFill>
          <p:spPr>
            <a:xfrm>
              <a:off x="2133600" y="3899114"/>
              <a:ext cx="4419600" cy="2438400"/>
            </a:xfrm>
            <a:prstGeom prst="rect">
              <a:avLst/>
            </a:prstGeom>
          </p:spPr>
        </p:pic>
        <p:pic>
          <p:nvPicPr>
            <p:cNvPr id="6" name="Picture 5">
              <a:extLst>
                <a:ext uri="{FF2B5EF4-FFF2-40B4-BE49-F238E27FC236}">
                  <a16:creationId xmlns:a16="http://schemas.microsoft.com/office/drawing/2014/main" id="{369BC42C-22DF-1646-9A89-33B99961FAC2}"/>
                </a:ext>
              </a:extLst>
            </p:cNvPr>
            <p:cNvPicPr>
              <a:picLocks noChangeAspect="1"/>
            </p:cNvPicPr>
            <p:nvPr/>
          </p:nvPicPr>
          <p:blipFill>
            <a:blip r:embed="rId3"/>
            <a:stretch>
              <a:fillRect/>
            </a:stretch>
          </p:blipFill>
          <p:spPr>
            <a:xfrm>
              <a:off x="4199874" y="6017344"/>
              <a:ext cx="448325" cy="203200"/>
            </a:xfrm>
            <a:prstGeom prst="rect">
              <a:avLst/>
            </a:prstGeom>
          </p:spPr>
        </p:pic>
        <p:pic>
          <p:nvPicPr>
            <p:cNvPr id="16" name="Picture 15">
              <a:extLst>
                <a:ext uri="{FF2B5EF4-FFF2-40B4-BE49-F238E27FC236}">
                  <a16:creationId xmlns:a16="http://schemas.microsoft.com/office/drawing/2014/main" id="{5F94E8F6-B997-EB4A-8C9F-1A9C082E6934}"/>
                </a:ext>
              </a:extLst>
            </p:cNvPr>
            <p:cNvPicPr>
              <a:picLocks noChangeAspect="1"/>
            </p:cNvPicPr>
            <p:nvPr/>
          </p:nvPicPr>
          <p:blipFill>
            <a:blip r:embed="rId3"/>
            <a:stretch>
              <a:fillRect/>
            </a:stretch>
          </p:blipFill>
          <p:spPr>
            <a:xfrm>
              <a:off x="3581400" y="5086786"/>
              <a:ext cx="448325" cy="203200"/>
            </a:xfrm>
            <a:prstGeom prst="rect">
              <a:avLst/>
            </a:prstGeom>
          </p:spPr>
        </p:pic>
        <p:pic>
          <p:nvPicPr>
            <p:cNvPr id="17" name="Picture 16">
              <a:extLst>
                <a:ext uri="{FF2B5EF4-FFF2-40B4-BE49-F238E27FC236}">
                  <a16:creationId xmlns:a16="http://schemas.microsoft.com/office/drawing/2014/main" id="{895D820D-082B-A345-8A25-ABF8F0A83652}"/>
                </a:ext>
              </a:extLst>
            </p:cNvPr>
            <p:cNvPicPr>
              <a:picLocks noChangeAspect="1"/>
            </p:cNvPicPr>
            <p:nvPr/>
          </p:nvPicPr>
          <p:blipFill>
            <a:blip r:embed="rId3"/>
            <a:stretch>
              <a:fillRect/>
            </a:stretch>
          </p:blipFill>
          <p:spPr>
            <a:xfrm>
              <a:off x="5943600" y="4495800"/>
              <a:ext cx="448325" cy="203200"/>
            </a:xfrm>
            <a:prstGeom prst="rect">
              <a:avLst/>
            </a:prstGeom>
          </p:spPr>
        </p:pic>
        <p:sp>
          <p:nvSpPr>
            <p:cNvPr id="7" name="TextBox 6">
              <a:extLst>
                <a:ext uri="{FF2B5EF4-FFF2-40B4-BE49-F238E27FC236}">
                  <a16:creationId xmlns:a16="http://schemas.microsoft.com/office/drawing/2014/main" id="{5D81DF06-3327-FC41-BEA8-B6F2CF9461A7}"/>
                </a:ext>
              </a:extLst>
            </p:cNvPr>
            <p:cNvSpPr txBox="1"/>
            <p:nvPr/>
          </p:nvSpPr>
          <p:spPr>
            <a:xfrm>
              <a:off x="4258379" y="5934278"/>
              <a:ext cx="301686"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862D5640-BE29-3746-866A-BA7C9745739D}"/>
                </a:ext>
              </a:extLst>
            </p:cNvPr>
            <p:cNvSpPr txBox="1"/>
            <p:nvPr/>
          </p:nvSpPr>
          <p:spPr>
            <a:xfrm>
              <a:off x="3654719" y="5003720"/>
              <a:ext cx="301686" cy="369332"/>
            </a:xfrm>
            <a:prstGeom prst="rect">
              <a:avLst/>
            </a:prstGeom>
            <a:noFill/>
          </p:spPr>
          <p:txBody>
            <a:bodyPr wrap="none" rtlCol="0">
              <a:spAutoFit/>
            </a:bodyPr>
            <a:lstStyle/>
            <a:p>
              <a:r>
                <a:rPr lang="en-US" dirty="0"/>
                <a:t>3</a:t>
              </a:r>
            </a:p>
          </p:txBody>
        </p:sp>
        <p:sp>
          <p:nvSpPr>
            <p:cNvPr id="19" name="TextBox 18">
              <a:extLst>
                <a:ext uri="{FF2B5EF4-FFF2-40B4-BE49-F238E27FC236}">
                  <a16:creationId xmlns:a16="http://schemas.microsoft.com/office/drawing/2014/main" id="{5707D966-B751-0D4E-92F0-FC9885B7FDD6}"/>
                </a:ext>
              </a:extLst>
            </p:cNvPr>
            <p:cNvSpPr txBox="1"/>
            <p:nvPr/>
          </p:nvSpPr>
          <p:spPr>
            <a:xfrm>
              <a:off x="6011520" y="4378386"/>
              <a:ext cx="301686" cy="369332"/>
            </a:xfrm>
            <a:prstGeom prst="rect">
              <a:avLst/>
            </a:prstGeom>
            <a:noFill/>
          </p:spPr>
          <p:txBody>
            <a:bodyPr wrap="none" rtlCol="0">
              <a:spAutoFit/>
            </a:bodyPr>
            <a:lstStyle/>
            <a:p>
              <a:r>
                <a:rPr lang="en-US" dirty="0"/>
                <a:t>2</a:t>
              </a:r>
            </a:p>
          </p:txBody>
        </p:sp>
        <p:pic>
          <p:nvPicPr>
            <p:cNvPr id="8" name="Picture 7">
              <a:extLst>
                <a:ext uri="{FF2B5EF4-FFF2-40B4-BE49-F238E27FC236}">
                  <a16:creationId xmlns:a16="http://schemas.microsoft.com/office/drawing/2014/main" id="{5785FAB5-9A66-AD48-8B8B-24E420CFBD4E}"/>
                </a:ext>
              </a:extLst>
            </p:cNvPr>
            <p:cNvPicPr>
              <a:picLocks noChangeAspect="1"/>
            </p:cNvPicPr>
            <p:nvPr/>
          </p:nvPicPr>
          <p:blipFill>
            <a:blip r:embed="rId4"/>
            <a:stretch>
              <a:fillRect/>
            </a:stretch>
          </p:blipFill>
          <p:spPr>
            <a:xfrm>
              <a:off x="2209800" y="3920288"/>
              <a:ext cx="914400" cy="423111"/>
            </a:xfrm>
            <a:prstGeom prst="rect">
              <a:avLst/>
            </a:prstGeom>
          </p:spPr>
        </p:pic>
        <p:sp>
          <p:nvSpPr>
            <p:cNvPr id="20" name="TextBox 19">
              <a:extLst>
                <a:ext uri="{FF2B5EF4-FFF2-40B4-BE49-F238E27FC236}">
                  <a16:creationId xmlns:a16="http://schemas.microsoft.com/office/drawing/2014/main" id="{5547B802-B5E7-594B-BF0F-5866CDDC281C}"/>
                </a:ext>
              </a:extLst>
            </p:cNvPr>
            <p:cNvSpPr txBox="1"/>
            <p:nvPr/>
          </p:nvSpPr>
          <p:spPr>
            <a:xfrm>
              <a:off x="2159328" y="3947177"/>
              <a:ext cx="1015343" cy="369332"/>
            </a:xfrm>
            <a:prstGeom prst="rect">
              <a:avLst/>
            </a:prstGeom>
            <a:noFill/>
          </p:spPr>
          <p:txBody>
            <a:bodyPr wrap="none" rtlCol="0">
              <a:spAutoFit/>
            </a:bodyPr>
            <a:lstStyle/>
            <a:p>
              <a:r>
                <a:rPr lang="en-US" dirty="0">
                  <a:solidFill>
                    <a:schemeClr val="bg1"/>
                  </a:solidFill>
                </a:rPr>
                <a:t>4 (failed)</a:t>
              </a:r>
            </a:p>
          </p:txBody>
        </p:sp>
      </p:grpSp>
      <p:sp>
        <p:nvSpPr>
          <p:cNvPr id="22" name="Oval 21">
            <a:extLst>
              <a:ext uri="{FF2B5EF4-FFF2-40B4-BE49-F238E27FC236}">
                <a16:creationId xmlns:a16="http://schemas.microsoft.com/office/drawing/2014/main" id="{9F9A92C2-0C85-5D45-8D25-AC5F564A2EEC}"/>
              </a:ext>
            </a:extLst>
          </p:cNvPr>
          <p:cNvSpPr/>
          <p:nvPr/>
        </p:nvSpPr>
        <p:spPr>
          <a:xfrm>
            <a:off x="4006187" y="3947177"/>
            <a:ext cx="882983" cy="418068"/>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6FE60AC-7480-E146-971C-159ADDC3F5CD}"/>
              </a:ext>
            </a:extLst>
          </p:cNvPr>
          <p:cNvSpPr/>
          <p:nvPr/>
        </p:nvSpPr>
        <p:spPr>
          <a:xfrm rot="2897586">
            <a:off x="2742313" y="4498690"/>
            <a:ext cx="882983" cy="418068"/>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9B9C25E-0FE3-1448-8046-4F310318A4EA}"/>
              </a:ext>
            </a:extLst>
          </p:cNvPr>
          <p:cNvSpPr/>
          <p:nvPr/>
        </p:nvSpPr>
        <p:spPr>
          <a:xfrm rot="20080878">
            <a:off x="4446794" y="4487438"/>
            <a:ext cx="882983" cy="418068"/>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9865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2286000"/>
          </a:xfrm>
        </p:spPr>
        <p:txBody>
          <a:bodyPr>
            <a:normAutofit fontScale="85000" lnSpcReduction="20000"/>
          </a:bodyPr>
          <a:lstStyle/>
          <a:p>
            <a:r>
              <a:rPr lang="en-US" dirty="0"/>
              <a:t>How Bully algorithm works: </a:t>
            </a:r>
          </a:p>
          <a:p>
            <a:pPr marL="522288" lvl="1" indent="-287338">
              <a:buNone/>
            </a:pPr>
            <a:r>
              <a:rPr lang="en-US" dirty="0">
                <a:solidFill>
                  <a:schemeClr val="accent2"/>
                </a:solidFill>
              </a:rPr>
              <a:t>3. </a:t>
            </a:r>
            <a:r>
              <a:rPr lang="en-US" dirty="0"/>
              <a:t>If within the given time, the node does not receive the Alive message from other nodes, it considers itself to be the master node, and sends a Victory message to other nodes, and becomes the master node; </a:t>
            </a:r>
          </a:p>
          <a:p>
            <a:pPr marL="522288" lvl="1" indent="-287338">
              <a:buNone/>
            </a:pPr>
            <a:r>
              <a:rPr lang="en-US" dirty="0"/>
              <a:t>     If the node receives the Alive message from the node which has larger ID, then it waits for other nodes to send Victory messages;</a:t>
            </a:r>
          </a:p>
        </p:txBody>
      </p:sp>
      <p:grpSp>
        <p:nvGrpSpPr>
          <p:cNvPr id="21" name="Group 20">
            <a:extLst>
              <a:ext uri="{FF2B5EF4-FFF2-40B4-BE49-F238E27FC236}">
                <a16:creationId xmlns:a16="http://schemas.microsoft.com/office/drawing/2014/main" id="{130D1D66-9AA0-CB47-AC56-CB8D0CB97037}"/>
              </a:ext>
            </a:extLst>
          </p:cNvPr>
          <p:cNvGrpSpPr/>
          <p:nvPr/>
        </p:nvGrpSpPr>
        <p:grpSpPr>
          <a:xfrm>
            <a:off x="2133600" y="3899114"/>
            <a:ext cx="4419600" cy="2438400"/>
            <a:chOff x="2133600" y="3899114"/>
            <a:chExt cx="4419600" cy="2438400"/>
          </a:xfrm>
        </p:grpSpPr>
        <p:pic>
          <p:nvPicPr>
            <p:cNvPr id="5" name="Picture 4">
              <a:extLst>
                <a:ext uri="{FF2B5EF4-FFF2-40B4-BE49-F238E27FC236}">
                  <a16:creationId xmlns:a16="http://schemas.microsoft.com/office/drawing/2014/main" id="{D276930C-7864-7D40-85B0-6F83B7C73223}"/>
                </a:ext>
              </a:extLst>
            </p:cNvPr>
            <p:cNvPicPr>
              <a:picLocks noChangeAspect="1"/>
            </p:cNvPicPr>
            <p:nvPr/>
          </p:nvPicPr>
          <p:blipFill rotWithShape="1">
            <a:blip r:embed="rId2"/>
            <a:srcRect b="13901"/>
            <a:stretch/>
          </p:blipFill>
          <p:spPr>
            <a:xfrm>
              <a:off x="2133600" y="3899114"/>
              <a:ext cx="4419600" cy="2438400"/>
            </a:xfrm>
            <a:prstGeom prst="rect">
              <a:avLst/>
            </a:prstGeom>
          </p:spPr>
        </p:pic>
        <p:pic>
          <p:nvPicPr>
            <p:cNvPr id="6" name="Picture 5">
              <a:extLst>
                <a:ext uri="{FF2B5EF4-FFF2-40B4-BE49-F238E27FC236}">
                  <a16:creationId xmlns:a16="http://schemas.microsoft.com/office/drawing/2014/main" id="{369BC42C-22DF-1646-9A89-33B99961FAC2}"/>
                </a:ext>
              </a:extLst>
            </p:cNvPr>
            <p:cNvPicPr>
              <a:picLocks noChangeAspect="1"/>
            </p:cNvPicPr>
            <p:nvPr/>
          </p:nvPicPr>
          <p:blipFill>
            <a:blip r:embed="rId3"/>
            <a:stretch>
              <a:fillRect/>
            </a:stretch>
          </p:blipFill>
          <p:spPr>
            <a:xfrm>
              <a:off x="4199874" y="6017344"/>
              <a:ext cx="448325" cy="203200"/>
            </a:xfrm>
            <a:prstGeom prst="rect">
              <a:avLst/>
            </a:prstGeom>
          </p:spPr>
        </p:pic>
        <p:pic>
          <p:nvPicPr>
            <p:cNvPr id="16" name="Picture 15">
              <a:extLst>
                <a:ext uri="{FF2B5EF4-FFF2-40B4-BE49-F238E27FC236}">
                  <a16:creationId xmlns:a16="http://schemas.microsoft.com/office/drawing/2014/main" id="{5F94E8F6-B997-EB4A-8C9F-1A9C082E6934}"/>
                </a:ext>
              </a:extLst>
            </p:cNvPr>
            <p:cNvPicPr>
              <a:picLocks noChangeAspect="1"/>
            </p:cNvPicPr>
            <p:nvPr/>
          </p:nvPicPr>
          <p:blipFill>
            <a:blip r:embed="rId3"/>
            <a:stretch>
              <a:fillRect/>
            </a:stretch>
          </p:blipFill>
          <p:spPr>
            <a:xfrm>
              <a:off x="3581400" y="5086786"/>
              <a:ext cx="448325" cy="203200"/>
            </a:xfrm>
            <a:prstGeom prst="rect">
              <a:avLst/>
            </a:prstGeom>
          </p:spPr>
        </p:pic>
        <p:pic>
          <p:nvPicPr>
            <p:cNvPr id="17" name="Picture 16">
              <a:extLst>
                <a:ext uri="{FF2B5EF4-FFF2-40B4-BE49-F238E27FC236}">
                  <a16:creationId xmlns:a16="http://schemas.microsoft.com/office/drawing/2014/main" id="{895D820D-082B-A345-8A25-ABF8F0A83652}"/>
                </a:ext>
              </a:extLst>
            </p:cNvPr>
            <p:cNvPicPr>
              <a:picLocks noChangeAspect="1"/>
            </p:cNvPicPr>
            <p:nvPr/>
          </p:nvPicPr>
          <p:blipFill>
            <a:blip r:embed="rId3"/>
            <a:stretch>
              <a:fillRect/>
            </a:stretch>
          </p:blipFill>
          <p:spPr>
            <a:xfrm>
              <a:off x="5943600" y="4495800"/>
              <a:ext cx="448325" cy="203200"/>
            </a:xfrm>
            <a:prstGeom prst="rect">
              <a:avLst/>
            </a:prstGeom>
          </p:spPr>
        </p:pic>
        <p:sp>
          <p:nvSpPr>
            <p:cNvPr id="7" name="TextBox 6">
              <a:extLst>
                <a:ext uri="{FF2B5EF4-FFF2-40B4-BE49-F238E27FC236}">
                  <a16:creationId xmlns:a16="http://schemas.microsoft.com/office/drawing/2014/main" id="{5D81DF06-3327-FC41-BEA8-B6F2CF9461A7}"/>
                </a:ext>
              </a:extLst>
            </p:cNvPr>
            <p:cNvSpPr txBox="1"/>
            <p:nvPr/>
          </p:nvSpPr>
          <p:spPr>
            <a:xfrm>
              <a:off x="4258379" y="5934278"/>
              <a:ext cx="301686"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862D5640-BE29-3746-866A-BA7C9745739D}"/>
                </a:ext>
              </a:extLst>
            </p:cNvPr>
            <p:cNvSpPr txBox="1"/>
            <p:nvPr/>
          </p:nvSpPr>
          <p:spPr>
            <a:xfrm>
              <a:off x="3654719" y="5003720"/>
              <a:ext cx="301686" cy="369332"/>
            </a:xfrm>
            <a:prstGeom prst="rect">
              <a:avLst/>
            </a:prstGeom>
            <a:noFill/>
          </p:spPr>
          <p:txBody>
            <a:bodyPr wrap="none" rtlCol="0">
              <a:spAutoFit/>
            </a:bodyPr>
            <a:lstStyle/>
            <a:p>
              <a:r>
                <a:rPr lang="en-US" dirty="0"/>
                <a:t>3</a:t>
              </a:r>
            </a:p>
          </p:txBody>
        </p:sp>
        <p:sp>
          <p:nvSpPr>
            <p:cNvPr id="19" name="TextBox 18">
              <a:extLst>
                <a:ext uri="{FF2B5EF4-FFF2-40B4-BE49-F238E27FC236}">
                  <a16:creationId xmlns:a16="http://schemas.microsoft.com/office/drawing/2014/main" id="{5707D966-B751-0D4E-92F0-FC9885B7FDD6}"/>
                </a:ext>
              </a:extLst>
            </p:cNvPr>
            <p:cNvSpPr txBox="1"/>
            <p:nvPr/>
          </p:nvSpPr>
          <p:spPr>
            <a:xfrm>
              <a:off x="6011520" y="4378386"/>
              <a:ext cx="301686" cy="369332"/>
            </a:xfrm>
            <a:prstGeom prst="rect">
              <a:avLst/>
            </a:prstGeom>
            <a:noFill/>
          </p:spPr>
          <p:txBody>
            <a:bodyPr wrap="none" rtlCol="0">
              <a:spAutoFit/>
            </a:bodyPr>
            <a:lstStyle/>
            <a:p>
              <a:r>
                <a:rPr lang="en-US" dirty="0"/>
                <a:t>2</a:t>
              </a:r>
            </a:p>
          </p:txBody>
        </p:sp>
        <p:pic>
          <p:nvPicPr>
            <p:cNvPr id="8" name="Picture 7">
              <a:extLst>
                <a:ext uri="{FF2B5EF4-FFF2-40B4-BE49-F238E27FC236}">
                  <a16:creationId xmlns:a16="http://schemas.microsoft.com/office/drawing/2014/main" id="{5785FAB5-9A66-AD48-8B8B-24E420CFBD4E}"/>
                </a:ext>
              </a:extLst>
            </p:cNvPr>
            <p:cNvPicPr>
              <a:picLocks noChangeAspect="1"/>
            </p:cNvPicPr>
            <p:nvPr/>
          </p:nvPicPr>
          <p:blipFill>
            <a:blip r:embed="rId4"/>
            <a:stretch>
              <a:fillRect/>
            </a:stretch>
          </p:blipFill>
          <p:spPr>
            <a:xfrm>
              <a:off x="2209800" y="3920288"/>
              <a:ext cx="914400" cy="423111"/>
            </a:xfrm>
            <a:prstGeom prst="rect">
              <a:avLst/>
            </a:prstGeom>
          </p:spPr>
        </p:pic>
        <p:sp>
          <p:nvSpPr>
            <p:cNvPr id="20" name="TextBox 19">
              <a:extLst>
                <a:ext uri="{FF2B5EF4-FFF2-40B4-BE49-F238E27FC236}">
                  <a16:creationId xmlns:a16="http://schemas.microsoft.com/office/drawing/2014/main" id="{5547B802-B5E7-594B-BF0F-5866CDDC281C}"/>
                </a:ext>
              </a:extLst>
            </p:cNvPr>
            <p:cNvSpPr txBox="1"/>
            <p:nvPr/>
          </p:nvSpPr>
          <p:spPr>
            <a:xfrm>
              <a:off x="2159328" y="3947177"/>
              <a:ext cx="1015343" cy="369332"/>
            </a:xfrm>
            <a:prstGeom prst="rect">
              <a:avLst/>
            </a:prstGeom>
            <a:noFill/>
          </p:spPr>
          <p:txBody>
            <a:bodyPr wrap="none" rtlCol="0">
              <a:spAutoFit/>
            </a:bodyPr>
            <a:lstStyle/>
            <a:p>
              <a:r>
                <a:rPr lang="en-US" dirty="0">
                  <a:solidFill>
                    <a:schemeClr val="bg1"/>
                  </a:solidFill>
                </a:rPr>
                <a:t>4 (failed)</a:t>
              </a:r>
            </a:p>
          </p:txBody>
        </p:sp>
      </p:grpSp>
      <p:sp>
        <p:nvSpPr>
          <p:cNvPr id="22" name="Oval 21">
            <a:extLst>
              <a:ext uri="{FF2B5EF4-FFF2-40B4-BE49-F238E27FC236}">
                <a16:creationId xmlns:a16="http://schemas.microsoft.com/office/drawing/2014/main" id="{DAC31662-9CBF-FB48-B691-F18C42FCBAA8}"/>
              </a:ext>
            </a:extLst>
          </p:cNvPr>
          <p:cNvSpPr/>
          <p:nvPr/>
        </p:nvSpPr>
        <p:spPr>
          <a:xfrm>
            <a:off x="4070017" y="5433144"/>
            <a:ext cx="882983" cy="418068"/>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A592FE4-1E18-EE4D-B2BE-0D82C40A17FC}"/>
              </a:ext>
            </a:extLst>
          </p:cNvPr>
          <p:cNvSpPr/>
          <p:nvPr/>
        </p:nvSpPr>
        <p:spPr>
          <a:xfrm rot="20179616">
            <a:off x="4524679" y="4777173"/>
            <a:ext cx="882983" cy="303086"/>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358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1763515"/>
          </a:xfrm>
        </p:spPr>
        <p:txBody>
          <a:bodyPr>
            <a:normAutofit fontScale="92500" lnSpcReduction="20000"/>
          </a:bodyPr>
          <a:lstStyle/>
          <a:p>
            <a:r>
              <a:rPr lang="en-US" dirty="0"/>
              <a:t>How Bully algorithm works: </a:t>
            </a:r>
          </a:p>
          <a:p>
            <a:pPr marL="522288" lvl="1" indent="-287338">
              <a:buNone/>
            </a:pPr>
            <a:r>
              <a:rPr lang="en-US" dirty="0">
                <a:solidFill>
                  <a:schemeClr val="accent2"/>
                </a:solidFill>
              </a:rPr>
              <a:t>4. </a:t>
            </a:r>
            <a:r>
              <a:rPr lang="en-US" dirty="0"/>
              <a:t>If this node receives an Election message from a node with a smaller ID, it will reply with an Alive message to inform other nodes that I am larger than you and reelect the master.</a:t>
            </a:r>
          </a:p>
        </p:txBody>
      </p:sp>
      <p:grpSp>
        <p:nvGrpSpPr>
          <p:cNvPr id="21" name="Group 20">
            <a:extLst>
              <a:ext uri="{FF2B5EF4-FFF2-40B4-BE49-F238E27FC236}">
                <a16:creationId xmlns:a16="http://schemas.microsoft.com/office/drawing/2014/main" id="{130D1D66-9AA0-CB47-AC56-CB8D0CB97037}"/>
              </a:ext>
            </a:extLst>
          </p:cNvPr>
          <p:cNvGrpSpPr/>
          <p:nvPr/>
        </p:nvGrpSpPr>
        <p:grpSpPr>
          <a:xfrm>
            <a:off x="2133600" y="3899114"/>
            <a:ext cx="4419600" cy="2438400"/>
            <a:chOff x="2133600" y="3899114"/>
            <a:chExt cx="4419600" cy="2438400"/>
          </a:xfrm>
        </p:grpSpPr>
        <p:pic>
          <p:nvPicPr>
            <p:cNvPr id="5" name="Picture 4">
              <a:extLst>
                <a:ext uri="{FF2B5EF4-FFF2-40B4-BE49-F238E27FC236}">
                  <a16:creationId xmlns:a16="http://schemas.microsoft.com/office/drawing/2014/main" id="{D276930C-7864-7D40-85B0-6F83B7C73223}"/>
                </a:ext>
              </a:extLst>
            </p:cNvPr>
            <p:cNvPicPr>
              <a:picLocks noChangeAspect="1"/>
            </p:cNvPicPr>
            <p:nvPr/>
          </p:nvPicPr>
          <p:blipFill rotWithShape="1">
            <a:blip r:embed="rId2"/>
            <a:srcRect b="13901"/>
            <a:stretch/>
          </p:blipFill>
          <p:spPr>
            <a:xfrm>
              <a:off x="2133600" y="3899114"/>
              <a:ext cx="4419600" cy="2438400"/>
            </a:xfrm>
            <a:prstGeom prst="rect">
              <a:avLst/>
            </a:prstGeom>
          </p:spPr>
        </p:pic>
        <p:pic>
          <p:nvPicPr>
            <p:cNvPr id="6" name="Picture 5">
              <a:extLst>
                <a:ext uri="{FF2B5EF4-FFF2-40B4-BE49-F238E27FC236}">
                  <a16:creationId xmlns:a16="http://schemas.microsoft.com/office/drawing/2014/main" id="{369BC42C-22DF-1646-9A89-33B99961FAC2}"/>
                </a:ext>
              </a:extLst>
            </p:cNvPr>
            <p:cNvPicPr>
              <a:picLocks noChangeAspect="1"/>
            </p:cNvPicPr>
            <p:nvPr/>
          </p:nvPicPr>
          <p:blipFill>
            <a:blip r:embed="rId3"/>
            <a:stretch>
              <a:fillRect/>
            </a:stretch>
          </p:blipFill>
          <p:spPr>
            <a:xfrm>
              <a:off x="4199874" y="6017344"/>
              <a:ext cx="448325" cy="203200"/>
            </a:xfrm>
            <a:prstGeom prst="rect">
              <a:avLst/>
            </a:prstGeom>
          </p:spPr>
        </p:pic>
        <p:pic>
          <p:nvPicPr>
            <p:cNvPr id="16" name="Picture 15">
              <a:extLst>
                <a:ext uri="{FF2B5EF4-FFF2-40B4-BE49-F238E27FC236}">
                  <a16:creationId xmlns:a16="http://schemas.microsoft.com/office/drawing/2014/main" id="{5F94E8F6-B997-EB4A-8C9F-1A9C082E6934}"/>
                </a:ext>
              </a:extLst>
            </p:cNvPr>
            <p:cNvPicPr>
              <a:picLocks noChangeAspect="1"/>
            </p:cNvPicPr>
            <p:nvPr/>
          </p:nvPicPr>
          <p:blipFill>
            <a:blip r:embed="rId3"/>
            <a:stretch>
              <a:fillRect/>
            </a:stretch>
          </p:blipFill>
          <p:spPr>
            <a:xfrm>
              <a:off x="3581400" y="5086786"/>
              <a:ext cx="448325" cy="203200"/>
            </a:xfrm>
            <a:prstGeom prst="rect">
              <a:avLst/>
            </a:prstGeom>
          </p:spPr>
        </p:pic>
        <p:pic>
          <p:nvPicPr>
            <p:cNvPr id="17" name="Picture 16">
              <a:extLst>
                <a:ext uri="{FF2B5EF4-FFF2-40B4-BE49-F238E27FC236}">
                  <a16:creationId xmlns:a16="http://schemas.microsoft.com/office/drawing/2014/main" id="{895D820D-082B-A345-8A25-ABF8F0A83652}"/>
                </a:ext>
              </a:extLst>
            </p:cNvPr>
            <p:cNvPicPr>
              <a:picLocks noChangeAspect="1"/>
            </p:cNvPicPr>
            <p:nvPr/>
          </p:nvPicPr>
          <p:blipFill>
            <a:blip r:embed="rId3"/>
            <a:stretch>
              <a:fillRect/>
            </a:stretch>
          </p:blipFill>
          <p:spPr>
            <a:xfrm>
              <a:off x="5943600" y="4495800"/>
              <a:ext cx="448325" cy="203200"/>
            </a:xfrm>
            <a:prstGeom prst="rect">
              <a:avLst/>
            </a:prstGeom>
          </p:spPr>
        </p:pic>
        <p:sp>
          <p:nvSpPr>
            <p:cNvPr id="7" name="TextBox 6">
              <a:extLst>
                <a:ext uri="{FF2B5EF4-FFF2-40B4-BE49-F238E27FC236}">
                  <a16:creationId xmlns:a16="http://schemas.microsoft.com/office/drawing/2014/main" id="{5D81DF06-3327-FC41-BEA8-B6F2CF9461A7}"/>
                </a:ext>
              </a:extLst>
            </p:cNvPr>
            <p:cNvSpPr txBox="1"/>
            <p:nvPr/>
          </p:nvSpPr>
          <p:spPr>
            <a:xfrm>
              <a:off x="4258379" y="5934278"/>
              <a:ext cx="301686" cy="369332"/>
            </a:xfrm>
            <a:prstGeom prst="rect">
              <a:avLst/>
            </a:prstGeom>
            <a:noFill/>
          </p:spPr>
          <p:txBody>
            <a:bodyPr wrap="none" rtlCol="0">
              <a:spAutoFit/>
            </a:bodyPr>
            <a:lstStyle/>
            <a:p>
              <a:r>
                <a:rPr lang="en-US" dirty="0"/>
                <a:t>1</a:t>
              </a:r>
            </a:p>
          </p:txBody>
        </p:sp>
        <p:sp>
          <p:nvSpPr>
            <p:cNvPr id="18" name="TextBox 17">
              <a:extLst>
                <a:ext uri="{FF2B5EF4-FFF2-40B4-BE49-F238E27FC236}">
                  <a16:creationId xmlns:a16="http://schemas.microsoft.com/office/drawing/2014/main" id="{862D5640-BE29-3746-866A-BA7C9745739D}"/>
                </a:ext>
              </a:extLst>
            </p:cNvPr>
            <p:cNvSpPr txBox="1"/>
            <p:nvPr/>
          </p:nvSpPr>
          <p:spPr>
            <a:xfrm>
              <a:off x="3654719" y="5003720"/>
              <a:ext cx="301686" cy="369332"/>
            </a:xfrm>
            <a:prstGeom prst="rect">
              <a:avLst/>
            </a:prstGeom>
            <a:noFill/>
          </p:spPr>
          <p:txBody>
            <a:bodyPr wrap="none" rtlCol="0">
              <a:spAutoFit/>
            </a:bodyPr>
            <a:lstStyle/>
            <a:p>
              <a:r>
                <a:rPr lang="en-US" dirty="0"/>
                <a:t>3</a:t>
              </a:r>
            </a:p>
          </p:txBody>
        </p:sp>
        <p:sp>
          <p:nvSpPr>
            <p:cNvPr id="19" name="TextBox 18">
              <a:extLst>
                <a:ext uri="{FF2B5EF4-FFF2-40B4-BE49-F238E27FC236}">
                  <a16:creationId xmlns:a16="http://schemas.microsoft.com/office/drawing/2014/main" id="{5707D966-B751-0D4E-92F0-FC9885B7FDD6}"/>
                </a:ext>
              </a:extLst>
            </p:cNvPr>
            <p:cNvSpPr txBox="1"/>
            <p:nvPr/>
          </p:nvSpPr>
          <p:spPr>
            <a:xfrm>
              <a:off x="6011520" y="4378386"/>
              <a:ext cx="301686" cy="369332"/>
            </a:xfrm>
            <a:prstGeom prst="rect">
              <a:avLst/>
            </a:prstGeom>
            <a:noFill/>
          </p:spPr>
          <p:txBody>
            <a:bodyPr wrap="none" rtlCol="0">
              <a:spAutoFit/>
            </a:bodyPr>
            <a:lstStyle/>
            <a:p>
              <a:r>
                <a:rPr lang="en-US" dirty="0"/>
                <a:t>2</a:t>
              </a:r>
            </a:p>
          </p:txBody>
        </p:sp>
        <p:pic>
          <p:nvPicPr>
            <p:cNvPr id="8" name="Picture 7">
              <a:extLst>
                <a:ext uri="{FF2B5EF4-FFF2-40B4-BE49-F238E27FC236}">
                  <a16:creationId xmlns:a16="http://schemas.microsoft.com/office/drawing/2014/main" id="{5785FAB5-9A66-AD48-8B8B-24E420CFBD4E}"/>
                </a:ext>
              </a:extLst>
            </p:cNvPr>
            <p:cNvPicPr>
              <a:picLocks noChangeAspect="1"/>
            </p:cNvPicPr>
            <p:nvPr/>
          </p:nvPicPr>
          <p:blipFill>
            <a:blip r:embed="rId4"/>
            <a:stretch>
              <a:fillRect/>
            </a:stretch>
          </p:blipFill>
          <p:spPr>
            <a:xfrm>
              <a:off x="2209800" y="3920288"/>
              <a:ext cx="914400" cy="423111"/>
            </a:xfrm>
            <a:prstGeom prst="rect">
              <a:avLst/>
            </a:prstGeom>
          </p:spPr>
        </p:pic>
        <p:sp>
          <p:nvSpPr>
            <p:cNvPr id="20" name="TextBox 19">
              <a:extLst>
                <a:ext uri="{FF2B5EF4-FFF2-40B4-BE49-F238E27FC236}">
                  <a16:creationId xmlns:a16="http://schemas.microsoft.com/office/drawing/2014/main" id="{5547B802-B5E7-594B-BF0F-5866CDDC281C}"/>
                </a:ext>
              </a:extLst>
            </p:cNvPr>
            <p:cNvSpPr txBox="1"/>
            <p:nvPr/>
          </p:nvSpPr>
          <p:spPr>
            <a:xfrm>
              <a:off x="2159328" y="3947177"/>
              <a:ext cx="1015343" cy="369332"/>
            </a:xfrm>
            <a:prstGeom prst="rect">
              <a:avLst/>
            </a:prstGeom>
            <a:noFill/>
          </p:spPr>
          <p:txBody>
            <a:bodyPr wrap="none" rtlCol="0">
              <a:spAutoFit/>
            </a:bodyPr>
            <a:lstStyle/>
            <a:p>
              <a:r>
                <a:rPr lang="en-US" dirty="0">
                  <a:solidFill>
                    <a:schemeClr val="bg1"/>
                  </a:solidFill>
                </a:rPr>
                <a:t>4 (failed)</a:t>
              </a:r>
            </a:p>
          </p:txBody>
        </p:sp>
      </p:grpSp>
      <p:sp>
        <p:nvSpPr>
          <p:cNvPr id="10" name="Oval 9">
            <a:extLst>
              <a:ext uri="{FF2B5EF4-FFF2-40B4-BE49-F238E27FC236}">
                <a16:creationId xmlns:a16="http://schemas.microsoft.com/office/drawing/2014/main" id="{B91977FD-EFCA-BF4E-A6F2-433503FB472A}"/>
              </a:ext>
            </a:extLst>
          </p:cNvPr>
          <p:cNvSpPr/>
          <p:nvPr/>
        </p:nvSpPr>
        <p:spPr>
          <a:xfrm>
            <a:off x="4472031" y="4487595"/>
            <a:ext cx="980096" cy="685800"/>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3624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090F-618F-AF40-BD9C-A6F1DA02101A}"/>
              </a:ext>
            </a:extLst>
          </p:cNvPr>
          <p:cNvSpPr>
            <a:spLocks noGrp="1"/>
          </p:cNvSpPr>
          <p:nvPr>
            <p:ph type="title"/>
          </p:nvPr>
        </p:nvSpPr>
        <p:spPr/>
        <p:txBody>
          <a:bodyPr/>
          <a:lstStyle/>
          <a:p>
            <a:r>
              <a:rPr lang="en-US" dirty="0"/>
              <a:t>Bully algorithm example in MongoDB</a:t>
            </a:r>
          </a:p>
        </p:txBody>
      </p:sp>
      <p:sp>
        <p:nvSpPr>
          <p:cNvPr id="3" name="Date Placeholder 2">
            <a:extLst>
              <a:ext uri="{FF2B5EF4-FFF2-40B4-BE49-F238E27FC236}">
                <a16:creationId xmlns:a16="http://schemas.microsoft.com/office/drawing/2014/main" id="{BD7D9A99-D3B3-1D4C-BCC3-8AE966DE34F9}"/>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ABD11B6-6FD4-CC4C-8EA7-E038041BD552}"/>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D93C01F5-AF62-C445-A2C0-F0E0BD51A6D1}"/>
              </a:ext>
            </a:extLst>
          </p:cNvPr>
          <p:cNvSpPr>
            <a:spLocks noGrp="1"/>
          </p:cNvSpPr>
          <p:nvPr>
            <p:ph sz="quarter" idx="1"/>
          </p:nvPr>
        </p:nvSpPr>
        <p:spPr>
          <a:xfrm>
            <a:off x="457200" y="1219200"/>
            <a:ext cx="6172200" cy="2667000"/>
          </a:xfrm>
        </p:spPr>
        <p:txBody>
          <a:bodyPr>
            <a:normAutofit fontScale="92500" lnSpcReduction="10000"/>
          </a:bodyPr>
          <a:lstStyle/>
          <a:p>
            <a:r>
              <a:rPr lang="en-US" dirty="0"/>
              <a:t>How MongoDB deals with failure: </a:t>
            </a:r>
          </a:p>
          <a:p>
            <a:pPr lvl="1"/>
            <a:r>
              <a:rPr lang="en-US" dirty="0"/>
              <a:t>The node's last operation timestamp is used to represent the ID</a:t>
            </a:r>
          </a:p>
          <a:p>
            <a:pPr lvl="1"/>
            <a:r>
              <a:rPr lang="en-US" dirty="0"/>
              <a:t>The node with the latest timestamp has the largest ID, thus the live node with the latest timestamp is the master node</a:t>
            </a:r>
          </a:p>
        </p:txBody>
      </p:sp>
      <p:pic>
        <p:nvPicPr>
          <p:cNvPr id="6" name="Picture 5">
            <a:extLst>
              <a:ext uri="{FF2B5EF4-FFF2-40B4-BE49-F238E27FC236}">
                <a16:creationId xmlns:a16="http://schemas.microsoft.com/office/drawing/2014/main" id="{93DB0982-6EE2-084C-841F-7892C4ED6D89}"/>
              </a:ext>
            </a:extLst>
          </p:cNvPr>
          <p:cNvPicPr>
            <a:picLocks noChangeAspect="1"/>
          </p:cNvPicPr>
          <p:nvPr/>
        </p:nvPicPr>
        <p:blipFill>
          <a:blip r:embed="rId2"/>
          <a:stretch>
            <a:fillRect/>
          </a:stretch>
        </p:blipFill>
        <p:spPr>
          <a:xfrm>
            <a:off x="6934200" y="1828800"/>
            <a:ext cx="1828800" cy="1828800"/>
          </a:xfrm>
          <a:prstGeom prst="rect">
            <a:avLst/>
          </a:prstGeom>
        </p:spPr>
      </p:pic>
      <p:pic>
        <p:nvPicPr>
          <p:cNvPr id="7" name="Picture 6">
            <a:extLst>
              <a:ext uri="{FF2B5EF4-FFF2-40B4-BE49-F238E27FC236}">
                <a16:creationId xmlns:a16="http://schemas.microsoft.com/office/drawing/2014/main" id="{47E59E32-0237-3E43-A8AA-4F94CEF3797F}"/>
              </a:ext>
            </a:extLst>
          </p:cNvPr>
          <p:cNvPicPr>
            <a:picLocks noChangeAspect="1"/>
          </p:cNvPicPr>
          <p:nvPr/>
        </p:nvPicPr>
        <p:blipFill>
          <a:blip r:embed="rId3"/>
          <a:stretch>
            <a:fillRect/>
          </a:stretch>
        </p:blipFill>
        <p:spPr>
          <a:xfrm>
            <a:off x="2514600" y="4038600"/>
            <a:ext cx="4292600" cy="2679700"/>
          </a:xfrm>
          <a:prstGeom prst="rect">
            <a:avLst/>
          </a:prstGeom>
        </p:spPr>
      </p:pic>
    </p:spTree>
    <p:extLst>
      <p:ext uri="{BB962C8B-B14F-4D97-AF65-F5344CB8AC3E}">
        <p14:creationId xmlns:p14="http://schemas.microsoft.com/office/powerpoint/2010/main" val="2242833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6651-1004-2043-87F6-8ED7AF7C9573}"/>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3DE93062-13F4-124A-85B8-C1F6F6ADB63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0AAF6DC-2B1B-EF48-90C1-4432213DA2DE}"/>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B041FE1C-D447-BC42-97D5-79EBFF91E7D0}"/>
              </a:ext>
            </a:extLst>
          </p:cNvPr>
          <p:cNvSpPr>
            <a:spLocks noGrp="1"/>
          </p:cNvSpPr>
          <p:nvPr>
            <p:ph sz="quarter" idx="1"/>
          </p:nvPr>
        </p:nvSpPr>
        <p:spPr/>
        <p:txBody>
          <a:bodyPr/>
          <a:lstStyle/>
          <a:p>
            <a:r>
              <a:rPr lang="en-US" dirty="0"/>
              <a:t>Advantages:</a:t>
            </a:r>
          </a:p>
          <a:p>
            <a:pPr lvl="1"/>
            <a:r>
              <a:rPr lang="en-US" dirty="0"/>
              <a:t>Fast election speed</a:t>
            </a:r>
          </a:p>
          <a:p>
            <a:pPr lvl="1"/>
            <a:r>
              <a:rPr lang="en-US" dirty="0"/>
              <a:t>low algorithm complexity</a:t>
            </a:r>
          </a:p>
          <a:p>
            <a:pPr lvl="1"/>
            <a:r>
              <a:rPr lang="en-US" dirty="0"/>
              <a:t>simple and easy to implement (who lives and who has the largest ID is the master node)</a:t>
            </a:r>
          </a:p>
        </p:txBody>
      </p:sp>
    </p:spTree>
    <p:extLst>
      <p:ext uri="{BB962C8B-B14F-4D97-AF65-F5344CB8AC3E}">
        <p14:creationId xmlns:p14="http://schemas.microsoft.com/office/powerpoint/2010/main" val="3367021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6651-1004-2043-87F6-8ED7AF7C9573}"/>
              </a:ext>
            </a:extLst>
          </p:cNvPr>
          <p:cNvSpPr>
            <a:spLocks noGrp="1"/>
          </p:cNvSpPr>
          <p:nvPr>
            <p:ph type="title"/>
          </p:nvPr>
        </p:nvSpPr>
        <p:spPr/>
        <p:txBody>
          <a:bodyPr/>
          <a:lstStyle/>
          <a:p>
            <a:r>
              <a:rPr lang="en-US" dirty="0"/>
              <a:t>1. Bully algorithm</a:t>
            </a:r>
          </a:p>
        </p:txBody>
      </p:sp>
      <p:sp>
        <p:nvSpPr>
          <p:cNvPr id="3" name="Date Placeholder 2">
            <a:extLst>
              <a:ext uri="{FF2B5EF4-FFF2-40B4-BE49-F238E27FC236}">
                <a16:creationId xmlns:a16="http://schemas.microsoft.com/office/drawing/2014/main" id="{3DE93062-13F4-124A-85B8-C1F6F6ADB63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0AAF6DC-2B1B-EF48-90C1-4432213DA2DE}"/>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B041FE1C-D447-BC42-97D5-79EBFF91E7D0}"/>
              </a:ext>
            </a:extLst>
          </p:cNvPr>
          <p:cNvSpPr>
            <a:spLocks noGrp="1"/>
          </p:cNvSpPr>
          <p:nvPr>
            <p:ph sz="quarter" idx="1"/>
          </p:nvPr>
        </p:nvSpPr>
        <p:spPr/>
        <p:txBody>
          <a:bodyPr>
            <a:normAutofit/>
          </a:bodyPr>
          <a:lstStyle/>
          <a:p>
            <a:r>
              <a:rPr lang="en-US" dirty="0"/>
              <a:t>Disadvantages:</a:t>
            </a:r>
          </a:p>
          <a:p>
            <a:pPr lvl="1"/>
            <a:r>
              <a:rPr lang="en-US" dirty="0"/>
              <a:t>Each node needs to have global node information (all node IDs), so additional information needs to be stored. </a:t>
            </a:r>
          </a:p>
          <a:p>
            <a:pPr lvl="1"/>
            <a:r>
              <a:rPr lang="en-US" dirty="0"/>
              <a:t>New election is required when any new node that is larger than the current master node ID </a:t>
            </a:r>
          </a:p>
          <a:p>
            <a:pPr lvl="1"/>
            <a:r>
              <a:rPr lang="en-US" dirty="0"/>
              <a:t>Frequent switch over could happen when some nodes frequently join and exit the cluster</a:t>
            </a:r>
          </a:p>
        </p:txBody>
      </p:sp>
    </p:spTree>
    <p:extLst>
      <p:ext uri="{BB962C8B-B14F-4D97-AF65-F5344CB8AC3E}">
        <p14:creationId xmlns:p14="http://schemas.microsoft.com/office/powerpoint/2010/main" val="4095164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CCD6CDA-C61F-A340-8609-3D669A91106C}"/>
              </a:ext>
            </a:extLst>
          </p:cNvPr>
          <p:cNvSpPr>
            <a:spLocks noGrp="1"/>
          </p:cNvSpPr>
          <p:nvPr>
            <p:ph sz="quarter" idx="1"/>
          </p:nvPr>
        </p:nvSpPr>
        <p:spPr/>
        <p:txBody>
          <a:bodyPr>
            <a:normAutofit/>
          </a:bodyPr>
          <a:lstStyle/>
          <a:p>
            <a:r>
              <a:rPr lang="en-US" dirty="0"/>
              <a:t>Similar as the democratic voting</a:t>
            </a:r>
          </a:p>
          <a:p>
            <a:endParaRPr lang="en-US" dirty="0"/>
          </a:p>
          <a:p>
            <a:r>
              <a:rPr lang="en-US" dirty="0"/>
              <a:t>The core idea is "the minority obeys the majority" </a:t>
            </a:r>
          </a:p>
          <a:p>
            <a:endParaRPr lang="en-US" dirty="0"/>
          </a:p>
          <a:p>
            <a:r>
              <a:rPr lang="en-US" dirty="0"/>
              <a:t>The node with the most votes becomes the master node</a:t>
            </a:r>
          </a:p>
        </p:txBody>
      </p:sp>
    </p:spTree>
    <p:extLst>
      <p:ext uri="{BB962C8B-B14F-4D97-AF65-F5344CB8AC3E}">
        <p14:creationId xmlns:p14="http://schemas.microsoft.com/office/powerpoint/2010/main" val="2132546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CCD6CDA-C61F-A340-8609-3D669A91106C}"/>
              </a:ext>
            </a:extLst>
          </p:cNvPr>
          <p:cNvSpPr>
            <a:spLocks noGrp="1"/>
          </p:cNvSpPr>
          <p:nvPr>
            <p:ph sz="quarter" idx="1"/>
          </p:nvPr>
        </p:nvSpPr>
        <p:spPr/>
        <p:txBody>
          <a:bodyPr>
            <a:normAutofit lnSpcReduction="10000"/>
          </a:bodyPr>
          <a:lstStyle/>
          <a:p>
            <a:r>
              <a:rPr lang="en-US" dirty="0"/>
              <a:t>Using the Raft algorithm, there are three types of roles for cluster nodes: </a:t>
            </a:r>
          </a:p>
          <a:p>
            <a:pPr lvl="1"/>
            <a:r>
              <a:rPr lang="en-US" dirty="0"/>
              <a:t>Leader: the master node, and there is only one leader at the same time, which is responsible for coordinating and managing other nodes; </a:t>
            </a:r>
          </a:p>
          <a:p>
            <a:pPr lvl="1"/>
            <a:endParaRPr lang="en-US" dirty="0"/>
          </a:p>
          <a:p>
            <a:pPr lvl="1"/>
            <a:r>
              <a:rPr lang="en-US" dirty="0"/>
              <a:t>Candidate: each node can become Candidate, and only the Candidate node can be selected as the leader;</a:t>
            </a:r>
          </a:p>
          <a:p>
            <a:pPr lvl="1"/>
            <a:endParaRPr lang="en-US" dirty="0"/>
          </a:p>
          <a:p>
            <a:pPr lvl="1"/>
            <a:r>
              <a:rPr lang="en-US" dirty="0"/>
              <a:t>Followers: can not initiate elections.</a:t>
            </a:r>
          </a:p>
        </p:txBody>
      </p:sp>
    </p:spTree>
    <p:extLst>
      <p:ext uri="{BB962C8B-B14F-4D97-AF65-F5344CB8AC3E}">
        <p14:creationId xmlns:p14="http://schemas.microsoft.com/office/powerpoint/2010/main" val="3050199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2286000"/>
          </a:xfrm>
        </p:spPr>
        <p:txBody>
          <a:bodyPr>
            <a:normAutofit/>
          </a:bodyPr>
          <a:lstStyle/>
          <a:p>
            <a:r>
              <a:rPr lang="en-US" dirty="0"/>
              <a:t>How Raft algorithm works: </a:t>
            </a:r>
          </a:p>
          <a:p>
            <a:pPr marL="522288" lvl="1" indent="-287338">
              <a:buNone/>
            </a:pPr>
            <a:r>
              <a:rPr lang="en-US" dirty="0">
                <a:solidFill>
                  <a:schemeClr val="accent2"/>
                </a:solidFill>
              </a:rPr>
              <a:t>1. </a:t>
            </a:r>
            <a:r>
              <a:rPr lang="en-US" dirty="0"/>
              <a:t>Initialization, all nodes are in the Follower state.</a:t>
            </a:r>
          </a:p>
        </p:txBody>
      </p:sp>
      <p:grpSp>
        <p:nvGrpSpPr>
          <p:cNvPr id="40" name="Group 39">
            <a:extLst>
              <a:ext uri="{FF2B5EF4-FFF2-40B4-BE49-F238E27FC236}">
                <a16:creationId xmlns:a16="http://schemas.microsoft.com/office/drawing/2014/main" id="{698CC216-14B0-124F-9BAD-7683FBB4DF39}"/>
              </a:ext>
            </a:extLst>
          </p:cNvPr>
          <p:cNvGrpSpPr/>
          <p:nvPr/>
        </p:nvGrpSpPr>
        <p:grpSpPr>
          <a:xfrm>
            <a:off x="1430746" y="3464836"/>
            <a:ext cx="6282508" cy="2886377"/>
            <a:chOff x="1244140" y="3402568"/>
            <a:chExt cx="6282508" cy="2886377"/>
          </a:xfrm>
        </p:grpSpPr>
        <p:sp>
          <p:nvSpPr>
            <p:cNvPr id="9" name="Rectangle 8">
              <a:extLst>
                <a:ext uri="{FF2B5EF4-FFF2-40B4-BE49-F238E27FC236}">
                  <a16:creationId xmlns:a16="http://schemas.microsoft.com/office/drawing/2014/main" id="{4043B3EB-58A8-1240-A1DE-2039D23280C4}"/>
                </a:ext>
              </a:extLst>
            </p:cNvPr>
            <p:cNvSpPr/>
            <p:nvPr/>
          </p:nvSpPr>
          <p:spPr>
            <a:xfrm>
              <a:off x="3657600" y="38862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Follower</a:t>
              </a:r>
            </a:p>
          </p:txBody>
        </p:sp>
        <p:sp>
          <p:nvSpPr>
            <p:cNvPr id="22" name="Rectangle 21">
              <a:extLst>
                <a:ext uri="{FF2B5EF4-FFF2-40B4-BE49-F238E27FC236}">
                  <a16:creationId xmlns:a16="http://schemas.microsoft.com/office/drawing/2014/main" id="{4F09F59F-3CFC-CE49-977F-6BEA345C49CA}"/>
                </a:ext>
              </a:extLst>
            </p:cNvPr>
            <p:cNvSpPr/>
            <p:nvPr/>
          </p:nvSpPr>
          <p:spPr>
            <a:xfrm>
              <a:off x="1828800" y="55626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Candidate</a:t>
              </a:r>
            </a:p>
          </p:txBody>
        </p:sp>
        <p:sp>
          <p:nvSpPr>
            <p:cNvPr id="23" name="Rectangle 22">
              <a:extLst>
                <a:ext uri="{FF2B5EF4-FFF2-40B4-BE49-F238E27FC236}">
                  <a16:creationId xmlns:a16="http://schemas.microsoft.com/office/drawing/2014/main" id="{3ABDED0F-FDAD-D046-B4F9-886A1B083BF3}"/>
                </a:ext>
              </a:extLst>
            </p:cNvPr>
            <p:cNvSpPr/>
            <p:nvPr/>
          </p:nvSpPr>
          <p:spPr>
            <a:xfrm>
              <a:off x="5486400" y="5545476"/>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Leader</a:t>
              </a:r>
            </a:p>
          </p:txBody>
        </p:sp>
        <p:cxnSp>
          <p:nvCxnSpPr>
            <p:cNvPr id="11" name="Straight Arrow Connector 10">
              <a:extLst>
                <a:ext uri="{FF2B5EF4-FFF2-40B4-BE49-F238E27FC236}">
                  <a16:creationId xmlns:a16="http://schemas.microsoft.com/office/drawing/2014/main" id="{7BFE610B-0BB9-1047-927D-77ECDA7D007F}"/>
                </a:ext>
              </a:extLst>
            </p:cNvPr>
            <p:cNvCxnSpPr>
              <a:cxnSpLocks/>
            </p:cNvCxnSpPr>
            <p:nvPr/>
          </p:nvCxnSpPr>
          <p:spPr>
            <a:xfrm flipV="1">
              <a:off x="2380370" y="4436938"/>
              <a:ext cx="990600" cy="9588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F3DD155-B9C2-7A4D-BB6B-F4434B3D9A01}"/>
                </a:ext>
              </a:extLst>
            </p:cNvPr>
            <p:cNvCxnSpPr>
              <a:cxnSpLocks/>
            </p:cNvCxnSpPr>
            <p:nvPr/>
          </p:nvCxnSpPr>
          <p:spPr>
            <a:xfrm flipH="1">
              <a:off x="2187871" y="4400817"/>
              <a:ext cx="914451"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E12AD9D-7A94-8140-B77C-D281E3C233A6}"/>
                </a:ext>
              </a:extLst>
            </p:cNvPr>
            <p:cNvCxnSpPr>
              <a:cxnSpLocks/>
            </p:cNvCxnSpPr>
            <p:nvPr/>
          </p:nvCxnSpPr>
          <p:spPr>
            <a:xfrm>
              <a:off x="4381500" y="3429000"/>
              <a:ext cx="0" cy="3429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21CB621-1E92-004D-BA79-1D1675EECEF4}"/>
                </a:ext>
              </a:extLst>
            </p:cNvPr>
            <p:cNvCxnSpPr>
              <a:cxnSpLocks/>
            </p:cNvCxnSpPr>
            <p:nvPr/>
          </p:nvCxnSpPr>
          <p:spPr>
            <a:xfrm flipH="1" flipV="1">
              <a:off x="5391099" y="4511675"/>
              <a:ext cx="1028700"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EA867DC-EB1E-0D4D-B07D-252548B2FEA2}"/>
                </a:ext>
              </a:extLst>
            </p:cNvPr>
            <p:cNvCxnSpPr>
              <a:cxnSpLocks/>
            </p:cNvCxnSpPr>
            <p:nvPr/>
          </p:nvCxnSpPr>
          <p:spPr>
            <a:xfrm>
              <a:off x="3467151" y="5834437"/>
              <a:ext cx="186684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697E8C3D-14B0-A34D-BC31-5304BA8BB9FA}"/>
                </a:ext>
              </a:extLst>
            </p:cNvPr>
            <p:cNvSpPr txBox="1"/>
            <p:nvPr/>
          </p:nvSpPr>
          <p:spPr>
            <a:xfrm>
              <a:off x="4539652" y="3402568"/>
              <a:ext cx="613694" cy="369332"/>
            </a:xfrm>
            <a:prstGeom prst="rect">
              <a:avLst/>
            </a:prstGeom>
            <a:noFill/>
          </p:spPr>
          <p:txBody>
            <a:bodyPr wrap="none" rtlCol="0">
              <a:spAutoFit/>
            </a:bodyPr>
            <a:lstStyle/>
            <a:p>
              <a:r>
                <a:rPr lang="en-US" dirty="0"/>
                <a:t>start</a:t>
              </a:r>
            </a:p>
          </p:txBody>
        </p:sp>
        <p:sp>
          <p:nvSpPr>
            <p:cNvPr id="32" name="TextBox 31">
              <a:extLst>
                <a:ext uri="{FF2B5EF4-FFF2-40B4-BE49-F238E27FC236}">
                  <a16:creationId xmlns:a16="http://schemas.microsoft.com/office/drawing/2014/main" id="{B5BAC18C-C27C-E042-BC7C-C908C92EF977}"/>
                </a:ext>
              </a:extLst>
            </p:cNvPr>
            <p:cNvSpPr txBox="1"/>
            <p:nvPr/>
          </p:nvSpPr>
          <p:spPr>
            <a:xfrm>
              <a:off x="6096000" y="4561443"/>
              <a:ext cx="1430648" cy="369332"/>
            </a:xfrm>
            <a:prstGeom prst="rect">
              <a:avLst/>
            </a:prstGeom>
            <a:noFill/>
          </p:spPr>
          <p:txBody>
            <a:bodyPr wrap="none" rtlCol="0">
              <a:spAutoFit/>
            </a:bodyPr>
            <a:lstStyle/>
            <a:p>
              <a:r>
                <a:rPr lang="en-US" dirty="0"/>
                <a:t>Next election</a:t>
              </a:r>
            </a:p>
          </p:txBody>
        </p:sp>
        <p:sp>
          <p:nvSpPr>
            <p:cNvPr id="33" name="TextBox 32">
              <a:extLst>
                <a:ext uri="{FF2B5EF4-FFF2-40B4-BE49-F238E27FC236}">
                  <a16:creationId xmlns:a16="http://schemas.microsoft.com/office/drawing/2014/main" id="{6AFFC17E-B191-A746-B7C1-99C9DD105B96}"/>
                </a:ext>
              </a:extLst>
            </p:cNvPr>
            <p:cNvSpPr txBox="1"/>
            <p:nvPr/>
          </p:nvSpPr>
          <p:spPr>
            <a:xfrm>
              <a:off x="3421962" y="5919613"/>
              <a:ext cx="1991571" cy="369332"/>
            </a:xfrm>
            <a:prstGeom prst="rect">
              <a:avLst/>
            </a:prstGeom>
            <a:noFill/>
          </p:spPr>
          <p:txBody>
            <a:bodyPr wrap="none" rtlCol="0">
              <a:spAutoFit/>
            </a:bodyPr>
            <a:lstStyle/>
            <a:p>
              <a:r>
                <a:rPr lang="en-US" dirty="0"/>
                <a:t>Received half votes</a:t>
              </a:r>
            </a:p>
          </p:txBody>
        </p:sp>
        <p:cxnSp>
          <p:nvCxnSpPr>
            <p:cNvPr id="34" name="Straight Arrow Connector 33">
              <a:extLst>
                <a:ext uri="{FF2B5EF4-FFF2-40B4-BE49-F238E27FC236}">
                  <a16:creationId xmlns:a16="http://schemas.microsoft.com/office/drawing/2014/main" id="{0C06BE88-8D1B-824D-BBF0-2014D776AABF}"/>
                </a:ext>
              </a:extLst>
            </p:cNvPr>
            <p:cNvCxnSpPr>
              <a:cxnSpLocks/>
            </p:cNvCxnSpPr>
            <p:nvPr/>
          </p:nvCxnSpPr>
          <p:spPr>
            <a:xfrm>
              <a:off x="5127255" y="4614862"/>
              <a:ext cx="1009673" cy="7953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C5D27C6-82B3-2C48-AF84-C9AFDC361D7C}"/>
                </a:ext>
              </a:extLst>
            </p:cNvPr>
            <p:cNvSpPr txBox="1"/>
            <p:nvPr/>
          </p:nvSpPr>
          <p:spPr>
            <a:xfrm>
              <a:off x="4469358" y="4861803"/>
              <a:ext cx="1112292" cy="369332"/>
            </a:xfrm>
            <a:prstGeom prst="rect">
              <a:avLst/>
            </a:prstGeom>
            <a:noFill/>
          </p:spPr>
          <p:txBody>
            <a:bodyPr wrap="none" rtlCol="0">
              <a:spAutoFit/>
            </a:bodyPr>
            <a:lstStyle/>
            <a:p>
              <a:r>
                <a:rPr lang="en-US" dirty="0"/>
                <a:t>heartbeat</a:t>
              </a:r>
            </a:p>
          </p:txBody>
        </p:sp>
        <p:sp>
          <p:nvSpPr>
            <p:cNvPr id="38" name="TextBox 37">
              <a:extLst>
                <a:ext uri="{FF2B5EF4-FFF2-40B4-BE49-F238E27FC236}">
                  <a16:creationId xmlns:a16="http://schemas.microsoft.com/office/drawing/2014/main" id="{59D75EEA-CD78-1948-8042-77D3F5184874}"/>
                </a:ext>
              </a:extLst>
            </p:cNvPr>
            <p:cNvSpPr txBox="1"/>
            <p:nvPr/>
          </p:nvSpPr>
          <p:spPr>
            <a:xfrm>
              <a:off x="3188644" y="4786094"/>
              <a:ext cx="1112293" cy="646331"/>
            </a:xfrm>
            <a:prstGeom prst="rect">
              <a:avLst/>
            </a:prstGeom>
            <a:noFill/>
          </p:spPr>
          <p:txBody>
            <a:bodyPr wrap="square" rtlCol="0">
              <a:spAutoFit/>
            </a:bodyPr>
            <a:lstStyle/>
            <a:p>
              <a:r>
                <a:rPr lang="en-US" dirty="0"/>
                <a:t>Leader is elected</a:t>
              </a:r>
            </a:p>
          </p:txBody>
        </p:sp>
        <p:sp>
          <p:nvSpPr>
            <p:cNvPr id="39" name="TextBox 38">
              <a:extLst>
                <a:ext uri="{FF2B5EF4-FFF2-40B4-BE49-F238E27FC236}">
                  <a16:creationId xmlns:a16="http://schemas.microsoft.com/office/drawing/2014/main" id="{20E3322F-DCAD-ED4C-87AF-42DB2AE22AAB}"/>
                </a:ext>
              </a:extLst>
            </p:cNvPr>
            <p:cNvSpPr txBox="1"/>
            <p:nvPr/>
          </p:nvSpPr>
          <p:spPr>
            <a:xfrm>
              <a:off x="1244140" y="3593011"/>
              <a:ext cx="1801140" cy="1200329"/>
            </a:xfrm>
            <a:prstGeom prst="rect">
              <a:avLst/>
            </a:prstGeom>
            <a:noFill/>
          </p:spPr>
          <p:txBody>
            <a:bodyPr wrap="square" rtlCol="0">
              <a:spAutoFit/>
            </a:bodyPr>
            <a:lstStyle/>
            <a:p>
              <a:r>
                <a:rPr lang="en-US" dirty="0"/>
                <a:t>Not received messages from leader for enough time</a:t>
              </a:r>
            </a:p>
          </p:txBody>
        </p:sp>
      </p:grpSp>
    </p:spTree>
    <p:extLst>
      <p:ext uri="{BB962C8B-B14F-4D97-AF65-F5344CB8AC3E}">
        <p14:creationId xmlns:p14="http://schemas.microsoft.com/office/powerpoint/2010/main" val="2985796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2286000"/>
          </a:xfrm>
        </p:spPr>
        <p:txBody>
          <a:bodyPr>
            <a:normAutofit/>
          </a:bodyPr>
          <a:lstStyle/>
          <a:p>
            <a:r>
              <a:rPr lang="en-US" dirty="0"/>
              <a:t>How Raft algorithm works: </a:t>
            </a:r>
          </a:p>
          <a:p>
            <a:pPr marL="522288" lvl="1" indent="-287338">
              <a:buNone/>
            </a:pPr>
            <a:r>
              <a:rPr lang="en-US" dirty="0">
                <a:solidFill>
                  <a:schemeClr val="accent2"/>
                </a:solidFill>
              </a:rPr>
              <a:t>2. </a:t>
            </a:r>
            <a:r>
              <a:rPr lang="en-US" dirty="0"/>
              <a:t>At election, all nodes status change from Follower to Candidate, and send election requests to other nodes</a:t>
            </a:r>
          </a:p>
        </p:txBody>
      </p:sp>
      <p:grpSp>
        <p:nvGrpSpPr>
          <p:cNvPr id="40" name="Group 39">
            <a:extLst>
              <a:ext uri="{FF2B5EF4-FFF2-40B4-BE49-F238E27FC236}">
                <a16:creationId xmlns:a16="http://schemas.microsoft.com/office/drawing/2014/main" id="{698CC216-14B0-124F-9BAD-7683FBB4DF39}"/>
              </a:ext>
            </a:extLst>
          </p:cNvPr>
          <p:cNvGrpSpPr/>
          <p:nvPr/>
        </p:nvGrpSpPr>
        <p:grpSpPr>
          <a:xfrm>
            <a:off x="1430746" y="3464836"/>
            <a:ext cx="6282508" cy="2886377"/>
            <a:chOff x="1244140" y="3402568"/>
            <a:chExt cx="6282508" cy="2886377"/>
          </a:xfrm>
        </p:grpSpPr>
        <p:sp>
          <p:nvSpPr>
            <p:cNvPr id="9" name="Rectangle 8">
              <a:extLst>
                <a:ext uri="{FF2B5EF4-FFF2-40B4-BE49-F238E27FC236}">
                  <a16:creationId xmlns:a16="http://schemas.microsoft.com/office/drawing/2014/main" id="{4043B3EB-58A8-1240-A1DE-2039D23280C4}"/>
                </a:ext>
              </a:extLst>
            </p:cNvPr>
            <p:cNvSpPr/>
            <p:nvPr/>
          </p:nvSpPr>
          <p:spPr>
            <a:xfrm>
              <a:off x="3657600" y="38862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Follower</a:t>
              </a:r>
            </a:p>
          </p:txBody>
        </p:sp>
        <p:sp>
          <p:nvSpPr>
            <p:cNvPr id="22" name="Rectangle 21">
              <a:extLst>
                <a:ext uri="{FF2B5EF4-FFF2-40B4-BE49-F238E27FC236}">
                  <a16:creationId xmlns:a16="http://schemas.microsoft.com/office/drawing/2014/main" id="{4F09F59F-3CFC-CE49-977F-6BEA345C49CA}"/>
                </a:ext>
              </a:extLst>
            </p:cNvPr>
            <p:cNvSpPr/>
            <p:nvPr/>
          </p:nvSpPr>
          <p:spPr>
            <a:xfrm>
              <a:off x="1828800" y="55626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Candidate</a:t>
              </a:r>
            </a:p>
          </p:txBody>
        </p:sp>
        <p:sp>
          <p:nvSpPr>
            <p:cNvPr id="23" name="Rectangle 22">
              <a:extLst>
                <a:ext uri="{FF2B5EF4-FFF2-40B4-BE49-F238E27FC236}">
                  <a16:creationId xmlns:a16="http://schemas.microsoft.com/office/drawing/2014/main" id="{3ABDED0F-FDAD-D046-B4F9-886A1B083BF3}"/>
                </a:ext>
              </a:extLst>
            </p:cNvPr>
            <p:cNvSpPr/>
            <p:nvPr/>
          </p:nvSpPr>
          <p:spPr>
            <a:xfrm>
              <a:off x="5486400" y="5545476"/>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Leader</a:t>
              </a:r>
            </a:p>
          </p:txBody>
        </p:sp>
        <p:cxnSp>
          <p:nvCxnSpPr>
            <p:cNvPr id="11" name="Straight Arrow Connector 10">
              <a:extLst>
                <a:ext uri="{FF2B5EF4-FFF2-40B4-BE49-F238E27FC236}">
                  <a16:creationId xmlns:a16="http://schemas.microsoft.com/office/drawing/2014/main" id="{7BFE610B-0BB9-1047-927D-77ECDA7D007F}"/>
                </a:ext>
              </a:extLst>
            </p:cNvPr>
            <p:cNvCxnSpPr>
              <a:cxnSpLocks/>
            </p:cNvCxnSpPr>
            <p:nvPr/>
          </p:nvCxnSpPr>
          <p:spPr>
            <a:xfrm flipV="1">
              <a:off x="2380370" y="4436938"/>
              <a:ext cx="990600" cy="9588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F3DD155-B9C2-7A4D-BB6B-F4434B3D9A01}"/>
                </a:ext>
              </a:extLst>
            </p:cNvPr>
            <p:cNvCxnSpPr>
              <a:cxnSpLocks/>
            </p:cNvCxnSpPr>
            <p:nvPr/>
          </p:nvCxnSpPr>
          <p:spPr>
            <a:xfrm flipH="1">
              <a:off x="2187871" y="4400817"/>
              <a:ext cx="914451"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E12AD9D-7A94-8140-B77C-D281E3C233A6}"/>
                </a:ext>
              </a:extLst>
            </p:cNvPr>
            <p:cNvCxnSpPr>
              <a:cxnSpLocks/>
            </p:cNvCxnSpPr>
            <p:nvPr/>
          </p:nvCxnSpPr>
          <p:spPr>
            <a:xfrm>
              <a:off x="4381500" y="3429000"/>
              <a:ext cx="0" cy="3429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21CB621-1E92-004D-BA79-1D1675EECEF4}"/>
                </a:ext>
              </a:extLst>
            </p:cNvPr>
            <p:cNvCxnSpPr>
              <a:cxnSpLocks/>
            </p:cNvCxnSpPr>
            <p:nvPr/>
          </p:nvCxnSpPr>
          <p:spPr>
            <a:xfrm flipH="1" flipV="1">
              <a:off x="5391099" y="4511675"/>
              <a:ext cx="1028700"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EA867DC-EB1E-0D4D-B07D-252548B2FEA2}"/>
                </a:ext>
              </a:extLst>
            </p:cNvPr>
            <p:cNvCxnSpPr>
              <a:cxnSpLocks/>
            </p:cNvCxnSpPr>
            <p:nvPr/>
          </p:nvCxnSpPr>
          <p:spPr>
            <a:xfrm>
              <a:off x="3467151" y="5834437"/>
              <a:ext cx="186684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697E8C3D-14B0-A34D-BC31-5304BA8BB9FA}"/>
                </a:ext>
              </a:extLst>
            </p:cNvPr>
            <p:cNvSpPr txBox="1"/>
            <p:nvPr/>
          </p:nvSpPr>
          <p:spPr>
            <a:xfrm>
              <a:off x="4539652" y="3402568"/>
              <a:ext cx="613694" cy="369332"/>
            </a:xfrm>
            <a:prstGeom prst="rect">
              <a:avLst/>
            </a:prstGeom>
            <a:noFill/>
          </p:spPr>
          <p:txBody>
            <a:bodyPr wrap="none" rtlCol="0">
              <a:spAutoFit/>
            </a:bodyPr>
            <a:lstStyle/>
            <a:p>
              <a:r>
                <a:rPr lang="en-US" dirty="0"/>
                <a:t>start</a:t>
              </a:r>
            </a:p>
          </p:txBody>
        </p:sp>
        <p:sp>
          <p:nvSpPr>
            <p:cNvPr id="32" name="TextBox 31">
              <a:extLst>
                <a:ext uri="{FF2B5EF4-FFF2-40B4-BE49-F238E27FC236}">
                  <a16:creationId xmlns:a16="http://schemas.microsoft.com/office/drawing/2014/main" id="{B5BAC18C-C27C-E042-BC7C-C908C92EF977}"/>
                </a:ext>
              </a:extLst>
            </p:cNvPr>
            <p:cNvSpPr txBox="1"/>
            <p:nvPr/>
          </p:nvSpPr>
          <p:spPr>
            <a:xfrm>
              <a:off x="6096000" y="4561443"/>
              <a:ext cx="1430648" cy="369332"/>
            </a:xfrm>
            <a:prstGeom prst="rect">
              <a:avLst/>
            </a:prstGeom>
            <a:noFill/>
          </p:spPr>
          <p:txBody>
            <a:bodyPr wrap="none" rtlCol="0">
              <a:spAutoFit/>
            </a:bodyPr>
            <a:lstStyle/>
            <a:p>
              <a:r>
                <a:rPr lang="en-US" dirty="0"/>
                <a:t>Next election</a:t>
              </a:r>
            </a:p>
          </p:txBody>
        </p:sp>
        <p:sp>
          <p:nvSpPr>
            <p:cNvPr id="33" name="TextBox 32">
              <a:extLst>
                <a:ext uri="{FF2B5EF4-FFF2-40B4-BE49-F238E27FC236}">
                  <a16:creationId xmlns:a16="http://schemas.microsoft.com/office/drawing/2014/main" id="{6AFFC17E-B191-A746-B7C1-99C9DD105B96}"/>
                </a:ext>
              </a:extLst>
            </p:cNvPr>
            <p:cNvSpPr txBox="1"/>
            <p:nvPr/>
          </p:nvSpPr>
          <p:spPr>
            <a:xfrm>
              <a:off x="3421962" y="5919613"/>
              <a:ext cx="1991571" cy="369332"/>
            </a:xfrm>
            <a:prstGeom prst="rect">
              <a:avLst/>
            </a:prstGeom>
            <a:noFill/>
          </p:spPr>
          <p:txBody>
            <a:bodyPr wrap="none" rtlCol="0">
              <a:spAutoFit/>
            </a:bodyPr>
            <a:lstStyle/>
            <a:p>
              <a:r>
                <a:rPr lang="en-US" dirty="0"/>
                <a:t>Received half votes</a:t>
              </a:r>
            </a:p>
          </p:txBody>
        </p:sp>
        <p:cxnSp>
          <p:nvCxnSpPr>
            <p:cNvPr id="34" name="Straight Arrow Connector 33">
              <a:extLst>
                <a:ext uri="{FF2B5EF4-FFF2-40B4-BE49-F238E27FC236}">
                  <a16:creationId xmlns:a16="http://schemas.microsoft.com/office/drawing/2014/main" id="{0C06BE88-8D1B-824D-BBF0-2014D776AABF}"/>
                </a:ext>
              </a:extLst>
            </p:cNvPr>
            <p:cNvCxnSpPr>
              <a:cxnSpLocks/>
            </p:cNvCxnSpPr>
            <p:nvPr/>
          </p:nvCxnSpPr>
          <p:spPr>
            <a:xfrm>
              <a:off x="5127255" y="4614862"/>
              <a:ext cx="1009673" cy="7953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C5D27C6-82B3-2C48-AF84-C9AFDC361D7C}"/>
                </a:ext>
              </a:extLst>
            </p:cNvPr>
            <p:cNvSpPr txBox="1"/>
            <p:nvPr/>
          </p:nvSpPr>
          <p:spPr>
            <a:xfrm>
              <a:off x="4469358" y="4861803"/>
              <a:ext cx="1112292" cy="369332"/>
            </a:xfrm>
            <a:prstGeom prst="rect">
              <a:avLst/>
            </a:prstGeom>
            <a:noFill/>
          </p:spPr>
          <p:txBody>
            <a:bodyPr wrap="none" rtlCol="0">
              <a:spAutoFit/>
            </a:bodyPr>
            <a:lstStyle/>
            <a:p>
              <a:r>
                <a:rPr lang="en-US" dirty="0"/>
                <a:t>heartbeat</a:t>
              </a:r>
            </a:p>
          </p:txBody>
        </p:sp>
        <p:sp>
          <p:nvSpPr>
            <p:cNvPr id="38" name="TextBox 37">
              <a:extLst>
                <a:ext uri="{FF2B5EF4-FFF2-40B4-BE49-F238E27FC236}">
                  <a16:creationId xmlns:a16="http://schemas.microsoft.com/office/drawing/2014/main" id="{59D75EEA-CD78-1948-8042-77D3F5184874}"/>
                </a:ext>
              </a:extLst>
            </p:cNvPr>
            <p:cNvSpPr txBox="1"/>
            <p:nvPr/>
          </p:nvSpPr>
          <p:spPr>
            <a:xfrm>
              <a:off x="3188644" y="4786094"/>
              <a:ext cx="1112293" cy="646331"/>
            </a:xfrm>
            <a:prstGeom prst="rect">
              <a:avLst/>
            </a:prstGeom>
            <a:noFill/>
          </p:spPr>
          <p:txBody>
            <a:bodyPr wrap="square" rtlCol="0">
              <a:spAutoFit/>
            </a:bodyPr>
            <a:lstStyle/>
            <a:p>
              <a:r>
                <a:rPr lang="en-US" dirty="0"/>
                <a:t>Leader is elected</a:t>
              </a:r>
            </a:p>
          </p:txBody>
        </p:sp>
        <p:sp>
          <p:nvSpPr>
            <p:cNvPr id="39" name="TextBox 38">
              <a:extLst>
                <a:ext uri="{FF2B5EF4-FFF2-40B4-BE49-F238E27FC236}">
                  <a16:creationId xmlns:a16="http://schemas.microsoft.com/office/drawing/2014/main" id="{20E3322F-DCAD-ED4C-87AF-42DB2AE22AAB}"/>
                </a:ext>
              </a:extLst>
            </p:cNvPr>
            <p:cNvSpPr txBox="1"/>
            <p:nvPr/>
          </p:nvSpPr>
          <p:spPr>
            <a:xfrm>
              <a:off x="1244140" y="3593011"/>
              <a:ext cx="1801140" cy="1200329"/>
            </a:xfrm>
            <a:prstGeom prst="rect">
              <a:avLst/>
            </a:prstGeom>
            <a:noFill/>
          </p:spPr>
          <p:txBody>
            <a:bodyPr wrap="square" rtlCol="0">
              <a:spAutoFit/>
            </a:bodyPr>
            <a:lstStyle/>
            <a:p>
              <a:r>
                <a:rPr lang="en-US" dirty="0"/>
                <a:t>Not received messages from leader for enough time</a:t>
              </a:r>
            </a:p>
          </p:txBody>
        </p:sp>
      </p:grpSp>
    </p:spTree>
    <p:extLst>
      <p:ext uri="{BB962C8B-B14F-4D97-AF65-F5344CB8AC3E}">
        <p14:creationId xmlns:p14="http://schemas.microsoft.com/office/powerpoint/2010/main" val="1922916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2286000"/>
          </a:xfrm>
        </p:spPr>
        <p:txBody>
          <a:bodyPr>
            <a:normAutofit/>
          </a:bodyPr>
          <a:lstStyle/>
          <a:p>
            <a:r>
              <a:rPr lang="en-US" dirty="0"/>
              <a:t>How Raft algorithm works: </a:t>
            </a:r>
          </a:p>
          <a:p>
            <a:pPr marL="522288" lvl="1" indent="-287338">
              <a:buNone/>
            </a:pPr>
            <a:r>
              <a:rPr lang="en-US" dirty="0">
                <a:solidFill>
                  <a:schemeClr val="accent2"/>
                </a:solidFill>
              </a:rPr>
              <a:t>3. </a:t>
            </a:r>
            <a:r>
              <a:rPr lang="en-US" dirty="0"/>
              <a:t>When nodes receive election requests, the voting starts. Every election, one node can only vote once. </a:t>
            </a:r>
          </a:p>
        </p:txBody>
      </p:sp>
      <p:grpSp>
        <p:nvGrpSpPr>
          <p:cNvPr id="40" name="Group 39">
            <a:extLst>
              <a:ext uri="{FF2B5EF4-FFF2-40B4-BE49-F238E27FC236}">
                <a16:creationId xmlns:a16="http://schemas.microsoft.com/office/drawing/2014/main" id="{698CC216-14B0-124F-9BAD-7683FBB4DF39}"/>
              </a:ext>
            </a:extLst>
          </p:cNvPr>
          <p:cNvGrpSpPr/>
          <p:nvPr/>
        </p:nvGrpSpPr>
        <p:grpSpPr>
          <a:xfrm>
            <a:off x="1430746" y="3464836"/>
            <a:ext cx="6282508" cy="2886377"/>
            <a:chOff x="1244140" y="3402568"/>
            <a:chExt cx="6282508" cy="2886377"/>
          </a:xfrm>
        </p:grpSpPr>
        <p:sp>
          <p:nvSpPr>
            <p:cNvPr id="9" name="Rectangle 8">
              <a:extLst>
                <a:ext uri="{FF2B5EF4-FFF2-40B4-BE49-F238E27FC236}">
                  <a16:creationId xmlns:a16="http://schemas.microsoft.com/office/drawing/2014/main" id="{4043B3EB-58A8-1240-A1DE-2039D23280C4}"/>
                </a:ext>
              </a:extLst>
            </p:cNvPr>
            <p:cNvSpPr/>
            <p:nvPr/>
          </p:nvSpPr>
          <p:spPr>
            <a:xfrm>
              <a:off x="3657600" y="38862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Follower</a:t>
              </a:r>
            </a:p>
          </p:txBody>
        </p:sp>
        <p:sp>
          <p:nvSpPr>
            <p:cNvPr id="22" name="Rectangle 21">
              <a:extLst>
                <a:ext uri="{FF2B5EF4-FFF2-40B4-BE49-F238E27FC236}">
                  <a16:creationId xmlns:a16="http://schemas.microsoft.com/office/drawing/2014/main" id="{4F09F59F-3CFC-CE49-977F-6BEA345C49CA}"/>
                </a:ext>
              </a:extLst>
            </p:cNvPr>
            <p:cNvSpPr/>
            <p:nvPr/>
          </p:nvSpPr>
          <p:spPr>
            <a:xfrm>
              <a:off x="1828800" y="55626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Candidate</a:t>
              </a:r>
            </a:p>
          </p:txBody>
        </p:sp>
        <p:sp>
          <p:nvSpPr>
            <p:cNvPr id="23" name="Rectangle 22">
              <a:extLst>
                <a:ext uri="{FF2B5EF4-FFF2-40B4-BE49-F238E27FC236}">
                  <a16:creationId xmlns:a16="http://schemas.microsoft.com/office/drawing/2014/main" id="{3ABDED0F-FDAD-D046-B4F9-886A1B083BF3}"/>
                </a:ext>
              </a:extLst>
            </p:cNvPr>
            <p:cNvSpPr/>
            <p:nvPr/>
          </p:nvSpPr>
          <p:spPr>
            <a:xfrm>
              <a:off x="5486400" y="5545476"/>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Leader</a:t>
              </a:r>
            </a:p>
          </p:txBody>
        </p:sp>
        <p:cxnSp>
          <p:nvCxnSpPr>
            <p:cNvPr id="11" name="Straight Arrow Connector 10">
              <a:extLst>
                <a:ext uri="{FF2B5EF4-FFF2-40B4-BE49-F238E27FC236}">
                  <a16:creationId xmlns:a16="http://schemas.microsoft.com/office/drawing/2014/main" id="{7BFE610B-0BB9-1047-927D-77ECDA7D007F}"/>
                </a:ext>
              </a:extLst>
            </p:cNvPr>
            <p:cNvCxnSpPr>
              <a:cxnSpLocks/>
            </p:cNvCxnSpPr>
            <p:nvPr/>
          </p:nvCxnSpPr>
          <p:spPr>
            <a:xfrm flipV="1">
              <a:off x="2380370" y="4436938"/>
              <a:ext cx="990600" cy="9588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F3DD155-B9C2-7A4D-BB6B-F4434B3D9A01}"/>
                </a:ext>
              </a:extLst>
            </p:cNvPr>
            <p:cNvCxnSpPr>
              <a:cxnSpLocks/>
            </p:cNvCxnSpPr>
            <p:nvPr/>
          </p:nvCxnSpPr>
          <p:spPr>
            <a:xfrm flipH="1">
              <a:off x="2187871" y="4400817"/>
              <a:ext cx="914451"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E12AD9D-7A94-8140-B77C-D281E3C233A6}"/>
                </a:ext>
              </a:extLst>
            </p:cNvPr>
            <p:cNvCxnSpPr>
              <a:cxnSpLocks/>
            </p:cNvCxnSpPr>
            <p:nvPr/>
          </p:nvCxnSpPr>
          <p:spPr>
            <a:xfrm>
              <a:off x="4381500" y="3429000"/>
              <a:ext cx="0" cy="3429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21CB621-1E92-004D-BA79-1D1675EECEF4}"/>
                </a:ext>
              </a:extLst>
            </p:cNvPr>
            <p:cNvCxnSpPr>
              <a:cxnSpLocks/>
            </p:cNvCxnSpPr>
            <p:nvPr/>
          </p:nvCxnSpPr>
          <p:spPr>
            <a:xfrm flipH="1" flipV="1">
              <a:off x="5391099" y="4511675"/>
              <a:ext cx="1028700"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EA867DC-EB1E-0D4D-B07D-252548B2FEA2}"/>
                </a:ext>
              </a:extLst>
            </p:cNvPr>
            <p:cNvCxnSpPr>
              <a:cxnSpLocks/>
            </p:cNvCxnSpPr>
            <p:nvPr/>
          </p:nvCxnSpPr>
          <p:spPr>
            <a:xfrm>
              <a:off x="3467151" y="5834437"/>
              <a:ext cx="186684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697E8C3D-14B0-A34D-BC31-5304BA8BB9FA}"/>
                </a:ext>
              </a:extLst>
            </p:cNvPr>
            <p:cNvSpPr txBox="1"/>
            <p:nvPr/>
          </p:nvSpPr>
          <p:spPr>
            <a:xfrm>
              <a:off x="4539652" y="3402568"/>
              <a:ext cx="613694" cy="369332"/>
            </a:xfrm>
            <a:prstGeom prst="rect">
              <a:avLst/>
            </a:prstGeom>
            <a:noFill/>
          </p:spPr>
          <p:txBody>
            <a:bodyPr wrap="none" rtlCol="0">
              <a:spAutoFit/>
            </a:bodyPr>
            <a:lstStyle/>
            <a:p>
              <a:r>
                <a:rPr lang="en-US" dirty="0"/>
                <a:t>start</a:t>
              </a:r>
            </a:p>
          </p:txBody>
        </p:sp>
        <p:sp>
          <p:nvSpPr>
            <p:cNvPr id="32" name="TextBox 31">
              <a:extLst>
                <a:ext uri="{FF2B5EF4-FFF2-40B4-BE49-F238E27FC236}">
                  <a16:creationId xmlns:a16="http://schemas.microsoft.com/office/drawing/2014/main" id="{B5BAC18C-C27C-E042-BC7C-C908C92EF977}"/>
                </a:ext>
              </a:extLst>
            </p:cNvPr>
            <p:cNvSpPr txBox="1"/>
            <p:nvPr/>
          </p:nvSpPr>
          <p:spPr>
            <a:xfrm>
              <a:off x="6096000" y="4561443"/>
              <a:ext cx="1430648" cy="369332"/>
            </a:xfrm>
            <a:prstGeom prst="rect">
              <a:avLst/>
            </a:prstGeom>
            <a:noFill/>
          </p:spPr>
          <p:txBody>
            <a:bodyPr wrap="none" rtlCol="0">
              <a:spAutoFit/>
            </a:bodyPr>
            <a:lstStyle/>
            <a:p>
              <a:r>
                <a:rPr lang="en-US" dirty="0"/>
                <a:t>Next election</a:t>
              </a:r>
            </a:p>
          </p:txBody>
        </p:sp>
        <p:sp>
          <p:nvSpPr>
            <p:cNvPr id="33" name="TextBox 32">
              <a:extLst>
                <a:ext uri="{FF2B5EF4-FFF2-40B4-BE49-F238E27FC236}">
                  <a16:creationId xmlns:a16="http://schemas.microsoft.com/office/drawing/2014/main" id="{6AFFC17E-B191-A746-B7C1-99C9DD105B96}"/>
                </a:ext>
              </a:extLst>
            </p:cNvPr>
            <p:cNvSpPr txBox="1"/>
            <p:nvPr/>
          </p:nvSpPr>
          <p:spPr>
            <a:xfrm>
              <a:off x="3421962" y="5919613"/>
              <a:ext cx="1991571" cy="369332"/>
            </a:xfrm>
            <a:prstGeom prst="rect">
              <a:avLst/>
            </a:prstGeom>
            <a:noFill/>
          </p:spPr>
          <p:txBody>
            <a:bodyPr wrap="none" rtlCol="0">
              <a:spAutoFit/>
            </a:bodyPr>
            <a:lstStyle/>
            <a:p>
              <a:r>
                <a:rPr lang="en-US" dirty="0"/>
                <a:t>Received half votes</a:t>
              </a:r>
            </a:p>
          </p:txBody>
        </p:sp>
        <p:cxnSp>
          <p:nvCxnSpPr>
            <p:cNvPr id="34" name="Straight Arrow Connector 33">
              <a:extLst>
                <a:ext uri="{FF2B5EF4-FFF2-40B4-BE49-F238E27FC236}">
                  <a16:creationId xmlns:a16="http://schemas.microsoft.com/office/drawing/2014/main" id="{0C06BE88-8D1B-824D-BBF0-2014D776AABF}"/>
                </a:ext>
              </a:extLst>
            </p:cNvPr>
            <p:cNvCxnSpPr>
              <a:cxnSpLocks/>
            </p:cNvCxnSpPr>
            <p:nvPr/>
          </p:nvCxnSpPr>
          <p:spPr>
            <a:xfrm>
              <a:off x="5127255" y="4614862"/>
              <a:ext cx="1009673" cy="7953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C5D27C6-82B3-2C48-AF84-C9AFDC361D7C}"/>
                </a:ext>
              </a:extLst>
            </p:cNvPr>
            <p:cNvSpPr txBox="1"/>
            <p:nvPr/>
          </p:nvSpPr>
          <p:spPr>
            <a:xfrm>
              <a:off x="4469358" y="4861803"/>
              <a:ext cx="1112292" cy="369332"/>
            </a:xfrm>
            <a:prstGeom prst="rect">
              <a:avLst/>
            </a:prstGeom>
            <a:noFill/>
          </p:spPr>
          <p:txBody>
            <a:bodyPr wrap="none" rtlCol="0">
              <a:spAutoFit/>
            </a:bodyPr>
            <a:lstStyle/>
            <a:p>
              <a:r>
                <a:rPr lang="en-US" dirty="0"/>
                <a:t>heartbeat</a:t>
              </a:r>
            </a:p>
          </p:txBody>
        </p:sp>
        <p:sp>
          <p:nvSpPr>
            <p:cNvPr id="38" name="TextBox 37">
              <a:extLst>
                <a:ext uri="{FF2B5EF4-FFF2-40B4-BE49-F238E27FC236}">
                  <a16:creationId xmlns:a16="http://schemas.microsoft.com/office/drawing/2014/main" id="{59D75EEA-CD78-1948-8042-77D3F5184874}"/>
                </a:ext>
              </a:extLst>
            </p:cNvPr>
            <p:cNvSpPr txBox="1"/>
            <p:nvPr/>
          </p:nvSpPr>
          <p:spPr>
            <a:xfrm>
              <a:off x="3188644" y="4786094"/>
              <a:ext cx="1112293" cy="646331"/>
            </a:xfrm>
            <a:prstGeom prst="rect">
              <a:avLst/>
            </a:prstGeom>
            <a:noFill/>
          </p:spPr>
          <p:txBody>
            <a:bodyPr wrap="square" rtlCol="0">
              <a:spAutoFit/>
            </a:bodyPr>
            <a:lstStyle/>
            <a:p>
              <a:r>
                <a:rPr lang="en-US" dirty="0"/>
                <a:t>Leader is elected</a:t>
              </a:r>
            </a:p>
          </p:txBody>
        </p:sp>
        <p:sp>
          <p:nvSpPr>
            <p:cNvPr id="39" name="TextBox 38">
              <a:extLst>
                <a:ext uri="{FF2B5EF4-FFF2-40B4-BE49-F238E27FC236}">
                  <a16:creationId xmlns:a16="http://schemas.microsoft.com/office/drawing/2014/main" id="{20E3322F-DCAD-ED4C-87AF-42DB2AE22AAB}"/>
                </a:ext>
              </a:extLst>
            </p:cNvPr>
            <p:cNvSpPr txBox="1"/>
            <p:nvPr/>
          </p:nvSpPr>
          <p:spPr>
            <a:xfrm>
              <a:off x="1244140" y="3593011"/>
              <a:ext cx="1801140" cy="1200329"/>
            </a:xfrm>
            <a:prstGeom prst="rect">
              <a:avLst/>
            </a:prstGeom>
            <a:noFill/>
          </p:spPr>
          <p:txBody>
            <a:bodyPr wrap="square" rtlCol="0">
              <a:spAutoFit/>
            </a:bodyPr>
            <a:lstStyle/>
            <a:p>
              <a:r>
                <a:rPr lang="en-US" dirty="0"/>
                <a:t>Not received messages from leader for enough time</a:t>
              </a:r>
            </a:p>
          </p:txBody>
        </p:sp>
      </p:grpSp>
    </p:spTree>
    <p:extLst>
      <p:ext uri="{BB962C8B-B14F-4D97-AF65-F5344CB8AC3E}">
        <p14:creationId xmlns:p14="http://schemas.microsoft.com/office/powerpoint/2010/main" val="829846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199"/>
            <a:ext cx="8229600" cy="2219856"/>
          </a:xfrm>
        </p:spPr>
        <p:txBody>
          <a:bodyPr>
            <a:normAutofit fontScale="70000" lnSpcReduction="20000"/>
          </a:bodyPr>
          <a:lstStyle/>
          <a:p>
            <a:r>
              <a:rPr lang="en-US" dirty="0"/>
              <a:t>How Raft algorithm works: </a:t>
            </a:r>
          </a:p>
          <a:p>
            <a:pPr marL="522288" lvl="1" indent="-287338">
              <a:buNone/>
            </a:pPr>
            <a:r>
              <a:rPr lang="en-US" dirty="0">
                <a:solidFill>
                  <a:schemeClr val="accent2"/>
                </a:solidFill>
              </a:rPr>
              <a:t>4.   </a:t>
            </a:r>
            <a:r>
              <a:rPr lang="en-US" dirty="0"/>
              <a:t>If the node that initiates the election request receives more than half of the votes, it will become the master node, and its status will be changed to Leader, and the status of other nodes will be reduced from Candidate to Follower. </a:t>
            </a:r>
          </a:p>
          <a:p>
            <a:pPr marL="522288" lvl="1" indent="-287338">
              <a:buNone/>
            </a:pPr>
            <a:r>
              <a:rPr lang="en-US" dirty="0"/>
              <a:t>      Leader nodes and follower nodes send heartbeat packets periodically to detect whether the master node is alive.</a:t>
            </a:r>
          </a:p>
        </p:txBody>
      </p:sp>
      <p:grpSp>
        <p:nvGrpSpPr>
          <p:cNvPr id="40" name="Group 39">
            <a:extLst>
              <a:ext uri="{FF2B5EF4-FFF2-40B4-BE49-F238E27FC236}">
                <a16:creationId xmlns:a16="http://schemas.microsoft.com/office/drawing/2014/main" id="{698CC216-14B0-124F-9BAD-7683FBB4DF39}"/>
              </a:ext>
            </a:extLst>
          </p:cNvPr>
          <p:cNvGrpSpPr/>
          <p:nvPr/>
        </p:nvGrpSpPr>
        <p:grpSpPr>
          <a:xfrm>
            <a:off x="1430746" y="3464836"/>
            <a:ext cx="6282508" cy="2886377"/>
            <a:chOff x="1244140" y="3402568"/>
            <a:chExt cx="6282508" cy="2886377"/>
          </a:xfrm>
        </p:grpSpPr>
        <p:sp>
          <p:nvSpPr>
            <p:cNvPr id="9" name="Rectangle 8">
              <a:extLst>
                <a:ext uri="{FF2B5EF4-FFF2-40B4-BE49-F238E27FC236}">
                  <a16:creationId xmlns:a16="http://schemas.microsoft.com/office/drawing/2014/main" id="{4043B3EB-58A8-1240-A1DE-2039D23280C4}"/>
                </a:ext>
              </a:extLst>
            </p:cNvPr>
            <p:cNvSpPr/>
            <p:nvPr/>
          </p:nvSpPr>
          <p:spPr>
            <a:xfrm>
              <a:off x="3657600" y="38862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Follower</a:t>
              </a:r>
            </a:p>
          </p:txBody>
        </p:sp>
        <p:sp>
          <p:nvSpPr>
            <p:cNvPr id="22" name="Rectangle 21">
              <a:extLst>
                <a:ext uri="{FF2B5EF4-FFF2-40B4-BE49-F238E27FC236}">
                  <a16:creationId xmlns:a16="http://schemas.microsoft.com/office/drawing/2014/main" id="{4F09F59F-3CFC-CE49-977F-6BEA345C49CA}"/>
                </a:ext>
              </a:extLst>
            </p:cNvPr>
            <p:cNvSpPr/>
            <p:nvPr/>
          </p:nvSpPr>
          <p:spPr>
            <a:xfrm>
              <a:off x="1828800" y="55626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Candidate</a:t>
              </a:r>
            </a:p>
          </p:txBody>
        </p:sp>
        <p:sp>
          <p:nvSpPr>
            <p:cNvPr id="23" name="Rectangle 22">
              <a:extLst>
                <a:ext uri="{FF2B5EF4-FFF2-40B4-BE49-F238E27FC236}">
                  <a16:creationId xmlns:a16="http://schemas.microsoft.com/office/drawing/2014/main" id="{3ABDED0F-FDAD-D046-B4F9-886A1B083BF3}"/>
                </a:ext>
              </a:extLst>
            </p:cNvPr>
            <p:cNvSpPr/>
            <p:nvPr/>
          </p:nvSpPr>
          <p:spPr>
            <a:xfrm>
              <a:off x="5486400" y="5545476"/>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Leader</a:t>
              </a:r>
            </a:p>
          </p:txBody>
        </p:sp>
        <p:cxnSp>
          <p:nvCxnSpPr>
            <p:cNvPr id="11" name="Straight Arrow Connector 10">
              <a:extLst>
                <a:ext uri="{FF2B5EF4-FFF2-40B4-BE49-F238E27FC236}">
                  <a16:creationId xmlns:a16="http://schemas.microsoft.com/office/drawing/2014/main" id="{7BFE610B-0BB9-1047-927D-77ECDA7D007F}"/>
                </a:ext>
              </a:extLst>
            </p:cNvPr>
            <p:cNvCxnSpPr>
              <a:cxnSpLocks/>
            </p:cNvCxnSpPr>
            <p:nvPr/>
          </p:nvCxnSpPr>
          <p:spPr>
            <a:xfrm flipV="1">
              <a:off x="2380370" y="4436938"/>
              <a:ext cx="990600" cy="9588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F3DD155-B9C2-7A4D-BB6B-F4434B3D9A01}"/>
                </a:ext>
              </a:extLst>
            </p:cNvPr>
            <p:cNvCxnSpPr>
              <a:cxnSpLocks/>
            </p:cNvCxnSpPr>
            <p:nvPr/>
          </p:nvCxnSpPr>
          <p:spPr>
            <a:xfrm flipH="1">
              <a:off x="2187871" y="4400817"/>
              <a:ext cx="914451"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E12AD9D-7A94-8140-B77C-D281E3C233A6}"/>
                </a:ext>
              </a:extLst>
            </p:cNvPr>
            <p:cNvCxnSpPr>
              <a:cxnSpLocks/>
            </p:cNvCxnSpPr>
            <p:nvPr/>
          </p:nvCxnSpPr>
          <p:spPr>
            <a:xfrm>
              <a:off x="4381500" y="3429000"/>
              <a:ext cx="0" cy="3429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21CB621-1E92-004D-BA79-1D1675EECEF4}"/>
                </a:ext>
              </a:extLst>
            </p:cNvPr>
            <p:cNvCxnSpPr>
              <a:cxnSpLocks/>
            </p:cNvCxnSpPr>
            <p:nvPr/>
          </p:nvCxnSpPr>
          <p:spPr>
            <a:xfrm flipH="1" flipV="1">
              <a:off x="5391099" y="4511675"/>
              <a:ext cx="1028700"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EA867DC-EB1E-0D4D-B07D-252548B2FEA2}"/>
                </a:ext>
              </a:extLst>
            </p:cNvPr>
            <p:cNvCxnSpPr>
              <a:cxnSpLocks/>
            </p:cNvCxnSpPr>
            <p:nvPr/>
          </p:nvCxnSpPr>
          <p:spPr>
            <a:xfrm>
              <a:off x="3467151" y="5834437"/>
              <a:ext cx="186684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697E8C3D-14B0-A34D-BC31-5304BA8BB9FA}"/>
                </a:ext>
              </a:extLst>
            </p:cNvPr>
            <p:cNvSpPr txBox="1"/>
            <p:nvPr/>
          </p:nvSpPr>
          <p:spPr>
            <a:xfrm>
              <a:off x="4539652" y="3402568"/>
              <a:ext cx="613694" cy="369332"/>
            </a:xfrm>
            <a:prstGeom prst="rect">
              <a:avLst/>
            </a:prstGeom>
            <a:noFill/>
          </p:spPr>
          <p:txBody>
            <a:bodyPr wrap="none" rtlCol="0">
              <a:spAutoFit/>
            </a:bodyPr>
            <a:lstStyle/>
            <a:p>
              <a:r>
                <a:rPr lang="en-US" dirty="0"/>
                <a:t>start</a:t>
              </a:r>
            </a:p>
          </p:txBody>
        </p:sp>
        <p:sp>
          <p:nvSpPr>
            <p:cNvPr id="32" name="TextBox 31">
              <a:extLst>
                <a:ext uri="{FF2B5EF4-FFF2-40B4-BE49-F238E27FC236}">
                  <a16:creationId xmlns:a16="http://schemas.microsoft.com/office/drawing/2014/main" id="{B5BAC18C-C27C-E042-BC7C-C908C92EF977}"/>
                </a:ext>
              </a:extLst>
            </p:cNvPr>
            <p:cNvSpPr txBox="1"/>
            <p:nvPr/>
          </p:nvSpPr>
          <p:spPr>
            <a:xfrm>
              <a:off x="6096000" y="4561443"/>
              <a:ext cx="1430648" cy="369332"/>
            </a:xfrm>
            <a:prstGeom prst="rect">
              <a:avLst/>
            </a:prstGeom>
            <a:noFill/>
          </p:spPr>
          <p:txBody>
            <a:bodyPr wrap="none" rtlCol="0">
              <a:spAutoFit/>
            </a:bodyPr>
            <a:lstStyle/>
            <a:p>
              <a:r>
                <a:rPr lang="en-US" dirty="0"/>
                <a:t>Next election</a:t>
              </a:r>
            </a:p>
          </p:txBody>
        </p:sp>
        <p:sp>
          <p:nvSpPr>
            <p:cNvPr id="33" name="TextBox 32">
              <a:extLst>
                <a:ext uri="{FF2B5EF4-FFF2-40B4-BE49-F238E27FC236}">
                  <a16:creationId xmlns:a16="http://schemas.microsoft.com/office/drawing/2014/main" id="{6AFFC17E-B191-A746-B7C1-99C9DD105B96}"/>
                </a:ext>
              </a:extLst>
            </p:cNvPr>
            <p:cNvSpPr txBox="1"/>
            <p:nvPr/>
          </p:nvSpPr>
          <p:spPr>
            <a:xfrm>
              <a:off x="3421962" y="5919613"/>
              <a:ext cx="1991571" cy="369332"/>
            </a:xfrm>
            <a:prstGeom prst="rect">
              <a:avLst/>
            </a:prstGeom>
            <a:noFill/>
          </p:spPr>
          <p:txBody>
            <a:bodyPr wrap="none" rtlCol="0">
              <a:spAutoFit/>
            </a:bodyPr>
            <a:lstStyle/>
            <a:p>
              <a:r>
                <a:rPr lang="en-US" dirty="0"/>
                <a:t>Received half votes</a:t>
              </a:r>
            </a:p>
          </p:txBody>
        </p:sp>
        <p:cxnSp>
          <p:nvCxnSpPr>
            <p:cNvPr id="34" name="Straight Arrow Connector 33">
              <a:extLst>
                <a:ext uri="{FF2B5EF4-FFF2-40B4-BE49-F238E27FC236}">
                  <a16:creationId xmlns:a16="http://schemas.microsoft.com/office/drawing/2014/main" id="{0C06BE88-8D1B-824D-BBF0-2014D776AABF}"/>
                </a:ext>
              </a:extLst>
            </p:cNvPr>
            <p:cNvCxnSpPr>
              <a:cxnSpLocks/>
            </p:cNvCxnSpPr>
            <p:nvPr/>
          </p:nvCxnSpPr>
          <p:spPr>
            <a:xfrm>
              <a:off x="5127255" y="4614862"/>
              <a:ext cx="1009673" cy="7953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C5D27C6-82B3-2C48-AF84-C9AFDC361D7C}"/>
                </a:ext>
              </a:extLst>
            </p:cNvPr>
            <p:cNvSpPr txBox="1"/>
            <p:nvPr/>
          </p:nvSpPr>
          <p:spPr>
            <a:xfrm>
              <a:off x="4469358" y="4861803"/>
              <a:ext cx="1112292" cy="369332"/>
            </a:xfrm>
            <a:prstGeom prst="rect">
              <a:avLst/>
            </a:prstGeom>
            <a:noFill/>
          </p:spPr>
          <p:txBody>
            <a:bodyPr wrap="none" rtlCol="0">
              <a:spAutoFit/>
            </a:bodyPr>
            <a:lstStyle/>
            <a:p>
              <a:r>
                <a:rPr lang="en-US" dirty="0"/>
                <a:t>heartbeat</a:t>
              </a:r>
            </a:p>
          </p:txBody>
        </p:sp>
        <p:sp>
          <p:nvSpPr>
            <p:cNvPr id="38" name="TextBox 37">
              <a:extLst>
                <a:ext uri="{FF2B5EF4-FFF2-40B4-BE49-F238E27FC236}">
                  <a16:creationId xmlns:a16="http://schemas.microsoft.com/office/drawing/2014/main" id="{59D75EEA-CD78-1948-8042-77D3F5184874}"/>
                </a:ext>
              </a:extLst>
            </p:cNvPr>
            <p:cNvSpPr txBox="1"/>
            <p:nvPr/>
          </p:nvSpPr>
          <p:spPr>
            <a:xfrm>
              <a:off x="3188644" y="4786094"/>
              <a:ext cx="1112293" cy="646331"/>
            </a:xfrm>
            <a:prstGeom prst="rect">
              <a:avLst/>
            </a:prstGeom>
            <a:noFill/>
          </p:spPr>
          <p:txBody>
            <a:bodyPr wrap="square" rtlCol="0">
              <a:spAutoFit/>
            </a:bodyPr>
            <a:lstStyle/>
            <a:p>
              <a:r>
                <a:rPr lang="en-US" dirty="0"/>
                <a:t>Leader is elected</a:t>
              </a:r>
            </a:p>
          </p:txBody>
        </p:sp>
        <p:sp>
          <p:nvSpPr>
            <p:cNvPr id="39" name="TextBox 38">
              <a:extLst>
                <a:ext uri="{FF2B5EF4-FFF2-40B4-BE49-F238E27FC236}">
                  <a16:creationId xmlns:a16="http://schemas.microsoft.com/office/drawing/2014/main" id="{20E3322F-DCAD-ED4C-87AF-42DB2AE22AAB}"/>
                </a:ext>
              </a:extLst>
            </p:cNvPr>
            <p:cNvSpPr txBox="1"/>
            <p:nvPr/>
          </p:nvSpPr>
          <p:spPr>
            <a:xfrm>
              <a:off x="1244140" y="3593011"/>
              <a:ext cx="1801140" cy="1200329"/>
            </a:xfrm>
            <a:prstGeom prst="rect">
              <a:avLst/>
            </a:prstGeom>
            <a:noFill/>
          </p:spPr>
          <p:txBody>
            <a:bodyPr wrap="square" rtlCol="0">
              <a:spAutoFit/>
            </a:bodyPr>
            <a:lstStyle/>
            <a:p>
              <a:r>
                <a:rPr lang="en-US" dirty="0"/>
                <a:t>Not received messages from leader for enough time</a:t>
              </a:r>
            </a:p>
          </p:txBody>
        </p:sp>
      </p:grpSp>
    </p:spTree>
    <p:extLst>
      <p:ext uri="{BB962C8B-B14F-4D97-AF65-F5344CB8AC3E}">
        <p14:creationId xmlns:p14="http://schemas.microsoft.com/office/powerpoint/2010/main" val="1413461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199"/>
            <a:ext cx="8229600" cy="1843625"/>
          </a:xfrm>
        </p:spPr>
        <p:txBody>
          <a:bodyPr>
            <a:normAutofit fontScale="92500" lnSpcReduction="10000"/>
          </a:bodyPr>
          <a:lstStyle/>
          <a:p>
            <a:r>
              <a:rPr lang="en-US" dirty="0"/>
              <a:t>How Raft algorithm works: </a:t>
            </a:r>
          </a:p>
          <a:p>
            <a:pPr marL="522288" lvl="1" indent="-287338">
              <a:buNone/>
            </a:pPr>
            <a:r>
              <a:rPr lang="en-US" dirty="0">
                <a:solidFill>
                  <a:schemeClr val="accent2"/>
                </a:solidFill>
              </a:rPr>
              <a:t>5. </a:t>
            </a:r>
            <a:r>
              <a:rPr lang="en-US" dirty="0"/>
              <a:t>When the term of the Leader node is reached, the status of the Leader node is changed from Leader to Follower, and a new round of election starts.</a:t>
            </a:r>
            <a:endParaRPr lang="en-US" sz="1800" dirty="0"/>
          </a:p>
        </p:txBody>
      </p:sp>
      <p:grpSp>
        <p:nvGrpSpPr>
          <p:cNvPr id="40" name="Group 39">
            <a:extLst>
              <a:ext uri="{FF2B5EF4-FFF2-40B4-BE49-F238E27FC236}">
                <a16:creationId xmlns:a16="http://schemas.microsoft.com/office/drawing/2014/main" id="{698CC216-14B0-124F-9BAD-7683FBB4DF39}"/>
              </a:ext>
            </a:extLst>
          </p:cNvPr>
          <p:cNvGrpSpPr/>
          <p:nvPr/>
        </p:nvGrpSpPr>
        <p:grpSpPr>
          <a:xfrm>
            <a:off x="1430746" y="3464836"/>
            <a:ext cx="6282508" cy="2886377"/>
            <a:chOff x="1244140" y="3402568"/>
            <a:chExt cx="6282508" cy="2886377"/>
          </a:xfrm>
        </p:grpSpPr>
        <p:sp>
          <p:nvSpPr>
            <p:cNvPr id="9" name="Rectangle 8">
              <a:extLst>
                <a:ext uri="{FF2B5EF4-FFF2-40B4-BE49-F238E27FC236}">
                  <a16:creationId xmlns:a16="http://schemas.microsoft.com/office/drawing/2014/main" id="{4043B3EB-58A8-1240-A1DE-2039D23280C4}"/>
                </a:ext>
              </a:extLst>
            </p:cNvPr>
            <p:cNvSpPr/>
            <p:nvPr/>
          </p:nvSpPr>
          <p:spPr>
            <a:xfrm>
              <a:off x="3657600" y="38862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Follower</a:t>
              </a:r>
            </a:p>
          </p:txBody>
        </p:sp>
        <p:sp>
          <p:nvSpPr>
            <p:cNvPr id="22" name="Rectangle 21">
              <a:extLst>
                <a:ext uri="{FF2B5EF4-FFF2-40B4-BE49-F238E27FC236}">
                  <a16:creationId xmlns:a16="http://schemas.microsoft.com/office/drawing/2014/main" id="{4F09F59F-3CFC-CE49-977F-6BEA345C49CA}"/>
                </a:ext>
              </a:extLst>
            </p:cNvPr>
            <p:cNvSpPr/>
            <p:nvPr/>
          </p:nvSpPr>
          <p:spPr>
            <a:xfrm>
              <a:off x="1828800" y="55626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Candidate</a:t>
              </a:r>
            </a:p>
          </p:txBody>
        </p:sp>
        <p:sp>
          <p:nvSpPr>
            <p:cNvPr id="23" name="Rectangle 22">
              <a:extLst>
                <a:ext uri="{FF2B5EF4-FFF2-40B4-BE49-F238E27FC236}">
                  <a16:creationId xmlns:a16="http://schemas.microsoft.com/office/drawing/2014/main" id="{3ABDED0F-FDAD-D046-B4F9-886A1B083BF3}"/>
                </a:ext>
              </a:extLst>
            </p:cNvPr>
            <p:cNvSpPr/>
            <p:nvPr/>
          </p:nvSpPr>
          <p:spPr>
            <a:xfrm>
              <a:off x="5486400" y="5545476"/>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Leader</a:t>
              </a:r>
            </a:p>
          </p:txBody>
        </p:sp>
        <p:cxnSp>
          <p:nvCxnSpPr>
            <p:cNvPr id="11" name="Straight Arrow Connector 10">
              <a:extLst>
                <a:ext uri="{FF2B5EF4-FFF2-40B4-BE49-F238E27FC236}">
                  <a16:creationId xmlns:a16="http://schemas.microsoft.com/office/drawing/2014/main" id="{7BFE610B-0BB9-1047-927D-77ECDA7D007F}"/>
                </a:ext>
              </a:extLst>
            </p:cNvPr>
            <p:cNvCxnSpPr>
              <a:cxnSpLocks/>
            </p:cNvCxnSpPr>
            <p:nvPr/>
          </p:nvCxnSpPr>
          <p:spPr>
            <a:xfrm flipV="1">
              <a:off x="2380370" y="4436938"/>
              <a:ext cx="990600" cy="9588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F3DD155-B9C2-7A4D-BB6B-F4434B3D9A01}"/>
                </a:ext>
              </a:extLst>
            </p:cNvPr>
            <p:cNvCxnSpPr>
              <a:cxnSpLocks/>
            </p:cNvCxnSpPr>
            <p:nvPr/>
          </p:nvCxnSpPr>
          <p:spPr>
            <a:xfrm flipH="1">
              <a:off x="2187871" y="4400817"/>
              <a:ext cx="914451"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E12AD9D-7A94-8140-B77C-D281E3C233A6}"/>
                </a:ext>
              </a:extLst>
            </p:cNvPr>
            <p:cNvCxnSpPr>
              <a:cxnSpLocks/>
            </p:cNvCxnSpPr>
            <p:nvPr/>
          </p:nvCxnSpPr>
          <p:spPr>
            <a:xfrm>
              <a:off x="4381500" y="3429000"/>
              <a:ext cx="0" cy="3429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21CB621-1E92-004D-BA79-1D1675EECEF4}"/>
                </a:ext>
              </a:extLst>
            </p:cNvPr>
            <p:cNvCxnSpPr>
              <a:cxnSpLocks/>
            </p:cNvCxnSpPr>
            <p:nvPr/>
          </p:nvCxnSpPr>
          <p:spPr>
            <a:xfrm flipH="1" flipV="1">
              <a:off x="5391099" y="4511675"/>
              <a:ext cx="1028700"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EA867DC-EB1E-0D4D-B07D-252548B2FEA2}"/>
                </a:ext>
              </a:extLst>
            </p:cNvPr>
            <p:cNvCxnSpPr>
              <a:cxnSpLocks/>
            </p:cNvCxnSpPr>
            <p:nvPr/>
          </p:nvCxnSpPr>
          <p:spPr>
            <a:xfrm>
              <a:off x="3467151" y="5834437"/>
              <a:ext cx="186684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697E8C3D-14B0-A34D-BC31-5304BA8BB9FA}"/>
                </a:ext>
              </a:extLst>
            </p:cNvPr>
            <p:cNvSpPr txBox="1"/>
            <p:nvPr/>
          </p:nvSpPr>
          <p:spPr>
            <a:xfrm>
              <a:off x="4539652" y="3402568"/>
              <a:ext cx="613694" cy="369332"/>
            </a:xfrm>
            <a:prstGeom prst="rect">
              <a:avLst/>
            </a:prstGeom>
            <a:noFill/>
          </p:spPr>
          <p:txBody>
            <a:bodyPr wrap="none" rtlCol="0">
              <a:spAutoFit/>
            </a:bodyPr>
            <a:lstStyle/>
            <a:p>
              <a:r>
                <a:rPr lang="en-US" dirty="0"/>
                <a:t>start</a:t>
              </a:r>
            </a:p>
          </p:txBody>
        </p:sp>
        <p:sp>
          <p:nvSpPr>
            <p:cNvPr id="32" name="TextBox 31">
              <a:extLst>
                <a:ext uri="{FF2B5EF4-FFF2-40B4-BE49-F238E27FC236}">
                  <a16:creationId xmlns:a16="http://schemas.microsoft.com/office/drawing/2014/main" id="{B5BAC18C-C27C-E042-BC7C-C908C92EF977}"/>
                </a:ext>
              </a:extLst>
            </p:cNvPr>
            <p:cNvSpPr txBox="1"/>
            <p:nvPr/>
          </p:nvSpPr>
          <p:spPr>
            <a:xfrm>
              <a:off x="6096000" y="4561443"/>
              <a:ext cx="1430648" cy="369332"/>
            </a:xfrm>
            <a:prstGeom prst="rect">
              <a:avLst/>
            </a:prstGeom>
            <a:noFill/>
          </p:spPr>
          <p:txBody>
            <a:bodyPr wrap="none" rtlCol="0">
              <a:spAutoFit/>
            </a:bodyPr>
            <a:lstStyle/>
            <a:p>
              <a:r>
                <a:rPr lang="en-US" dirty="0"/>
                <a:t>Next election</a:t>
              </a:r>
            </a:p>
          </p:txBody>
        </p:sp>
        <p:sp>
          <p:nvSpPr>
            <p:cNvPr id="33" name="TextBox 32">
              <a:extLst>
                <a:ext uri="{FF2B5EF4-FFF2-40B4-BE49-F238E27FC236}">
                  <a16:creationId xmlns:a16="http://schemas.microsoft.com/office/drawing/2014/main" id="{6AFFC17E-B191-A746-B7C1-99C9DD105B96}"/>
                </a:ext>
              </a:extLst>
            </p:cNvPr>
            <p:cNvSpPr txBox="1"/>
            <p:nvPr/>
          </p:nvSpPr>
          <p:spPr>
            <a:xfrm>
              <a:off x="3421962" y="5919613"/>
              <a:ext cx="1991571" cy="369332"/>
            </a:xfrm>
            <a:prstGeom prst="rect">
              <a:avLst/>
            </a:prstGeom>
            <a:noFill/>
          </p:spPr>
          <p:txBody>
            <a:bodyPr wrap="none" rtlCol="0">
              <a:spAutoFit/>
            </a:bodyPr>
            <a:lstStyle/>
            <a:p>
              <a:r>
                <a:rPr lang="en-US" dirty="0"/>
                <a:t>Received half votes</a:t>
              </a:r>
            </a:p>
          </p:txBody>
        </p:sp>
        <p:cxnSp>
          <p:nvCxnSpPr>
            <p:cNvPr id="34" name="Straight Arrow Connector 33">
              <a:extLst>
                <a:ext uri="{FF2B5EF4-FFF2-40B4-BE49-F238E27FC236}">
                  <a16:creationId xmlns:a16="http://schemas.microsoft.com/office/drawing/2014/main" id="{0C06BE88-8D1B-824D-BBF0-2014D776AABF}"/>
                </a:ext>
              </a:extLst>
            </p:cNvPr>
            <p:cNvCxnSpPr>
              <a:cxnSpLocks/>
            </p:cNvCxnSpPr>
            <p:nvPr/>
          </p:nvCxnSpPr>
          <p:spPr>
            <a:xfrm>
              <a:off x="5127255" y="4614862"/>
              <a:ext cx="1009673" cy="7953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C5D27C6-82B3-2C48-AF84-C9AFDC361D7C}"/>
                </a:ext>
              </a:extLst>
            </p:cNvPr>
            <p:cNvSpPr txBox="1"/>
            <p:nvPr/>
          </p:nvSpPr>
          <p:spPr>
            <a:xfrm>
              <a:off x="4469358" y="4861803"/>
              <a:ext cx="1112292" cy="369332"/>
            </a:xfrm>
            <a:prstGeom prst="rect">
              <a:avLst/>
            </a:prstGeom>
            <a:noFill/>
          </p:spPr>
          <p:txBody>
            <a:bodyPr wrap="none" rtlCol="0">
              <a:spAutoFit/>
            </a:bodyPr>
            <a:lstStyle/>
            <a:p>
              <a:r>
                <a:rPr lang="en-US" dirty="0"/>
                <a:t>heartbeat</a:t>
              </a:r>
            </a:p>
          </p:txBody>
        </p:sp>
        <p:sp>
          <p:nvSpPr>
            <p:cNvPr id="38" name="TextBox 37">
              <a:extLst>
                <a:ext uri="{FF2B5EF4-FFF2-40B4-BE49-F238E27FC236}">
                  <a16:creationId xmlns:a16="http://schemas.microsoft.com/office/drawing/2014/main" id="{59D75EEA-CD78-1948-8042-77D3F5184874}"/>
                </a:ext>
              </a:extLst>
            </p:cNvPr>
            <p:cNvSpPr txBox="1"/>
            <p:nvPr/>
          </p:nvSpPr>
          <p:spPr>
            <a:xfrm>
              <a:off x="3188644" y="4786094"/>
              <a:ext cx="1112293" cy="646331"/>
            </a:xfrm>
            <a:prstGeom prst="rect">
              <a:avLst/>
            </a:prstGeom>
            <a:noFill/>
          </p:spPr>
          <p:txBody>
            <a:bodyPr wrap="square" rtlCol="0">
              <a:spAutoFit/>
            </a:bodyPr>
            <a:lstStyle/>
            <a:p>
              <a:r>
                <a:rPr lang="en-US" dirty="0"/>
                <a:t>Leader is elected</a:t>
              </a:r>
            </a:p>
          </p:txBody>
        </p:sp>
        <p:sp>
          <p:nvSpPr>
            <p:cNvPr id="39" name="TextBox 38">
              <a:extLst>
                <a:ext uri="{FF2B5EF4-FFF2-40B4-BE49-F238E27FC236}">
                  <a16:creationId xmlns:a16="http://schemas.microsoft.com/office/drawing/2014/main" id="{20E3322F-DCAD-ED4C-87AF-42DB2AE22AAB}"/>
                </a:ext>
              </a:extLst>
            </p:cNvPr>
            <p:cNvSpPr txBox="1"/>
            <p:nvPr/>
          </p:nvSpPr>
          <p:spPr>
            <a:xfrm>
              <a:off x="1244140" y="3593011"/>
              <a:ext cx="1801140" cy="1200329"/>
            </a:xfrm>
            <a:prstGeom prst="rect">
              <a:avLst/>
            </a:prstGeom>
            <a:noFill/>
          </p:spPr>
          <p:txBody>
            <a:bodyPr wrap="square" rtlCol="0">
              <a:spAutoFit/>
            </a:bodyPr>
            <a:lstStyle/>
            <a:p>
              <a:r>
                <a:rPr lang="en-US" dirty="0"/>
                <a:t>Not received messages from leader for enough time</a:t>
              </a:r>
            </a:p>
          </p:txBody>
        </p:sp>
      </p:grpSp>
    </p:spTree>
    <p:extLst>
      <p:ext uri="{BB962C8B-B14F-4D97-AF65-F5344CB8AC3E}">
        <p14:creationId xmlns:p14="http://schemas.microsoft.com/office/powerpoint/2010/main" val="399234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2B86-EDF1-4C49-9225-3C1880AE0431}"/>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17FB85BF-85DB-4844-AC6A-E66FB778327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2767334A-2CEA-FC45-BBA2-29B0080E5349}"/>
              </a:ext>
            </a:extLst>
          </p:cNvPr>
          <p:cNvSpPr>
            <a:spLocks noGrp="1"/>
          </p:cNvSpPr>
          <p:nvPr>
            <p:ph type="sldNum" sz="quarter" idx="12"/>
          </p:nvPr>
        </p:nvSpPr>
        <p:spPr/>
        <p:txBody>
          <a:bodyPr/>
          <a:lstStyle/>
          <a:p>
            <a:r>
              <a:rPr lang="en-US" dirty="0"/>
              <a:t>CS 4504</a:t>
            </a:r>
          </a:p>
        </p:txBody>
      </p:sp>
      <p:sp>
        <p:nvSpPr>
          <p:cNvPr id="15" name="Content Placeholder 4">
            <a:extLst>
              <a:ext uri="{FF2B5EF4-FFF2-40B4-BE49-F238E27FC236}">
                <a16:creationId xmlns:a16="http://schemas.microsoft.com/office/drawing/2014/main" id="{6592F641-8E8B-E849-B3D2-6A02E4D80C59}"/>
              </a:ext>
            </a:extLst>
          </p:cNvPr>
          <p:cNvSpPr>
            <a:spLocks noGrp="1"/>
          </p:cNvSpPr>
          <p:nvPr>
            <p:ph sz="quarter" idx="1"/>
          </p:nvPr>
        </p:nvSpPr>
        <p:spPr>
          <a:xfrm>
            <a:off x="457200" y="1219200"/>
            <a:ext cx="8229600" cy="1552198"/>
          </a:xfrm>
        </p:spPr>
        <p:txBody>
          <a:bodyPr>
            <a:normAutofit fontScale="92500" lnSpcReduction="10000"/>
          </a:bodyPr>
          <a:lstStyle/>
          <a:p>
            <a:r>
              <a:rPr lang="en-US" dirty="0"/>
              <a:t>When the new election starts in Raft algorithm:</a:t>
            </a:r>
          </a:p>
          <a:p>
            <a:pPr lvl="1"/>
            <a:r>
              <a:rPr lang="en-US" dirty="0"/>
              <a:t>When the leader term reaches</a:t>
            </a:r>
          </a:p>
          <a:p>
            <a:pPr lvl="1"/>
            <a:r>
              <a:rPr lang="en-US" dirty="0"/>
              <a:t>When the leader node fails or crashes</a:t>
            </a:r>
          </a:p>
        </p:txBody>
      </p:sp>
      <p:grpSp>
        <p:nvGrpSpPr>
          <p:cNvPr id="40" name="Group 39">
            <a:extLst>
              <a:ext uri="{FF2B5EF4-FFF2-40B4-BE49-F238E27FC236}">
                <a16:creationId xmlns:a16="http://schemas.microsoft.com/office/drawing/2014/main" id="{698CC216-14B0-124F-9BAD-7683FBB4DF39}"/>
              </a:ext>
            </a:extLst>
          </p:cNvPr>
          <p:cNvGrpSpPr/>
          <p:nvPr/>
        </p:nvGrpSpPr>
        <p:grpSpPr>
          <a:xfrm>
            <a:off x="1430746" y="3464836"/>
            <a:ext cx="6282508" cy="2886377"/>
            <a:chOff x="1244140" y="3402568"/>
            <a:chExt cx="6282508" cy="2886377"/>
          </a:xfrm>
        </p:grpSpPr>
        <p:sp>
          <p:nvSpPr>
            <p:cNvPr id="9" name="Rectangle 8">
              <a:extLst>
                <a:ext uri="{FF2B5EF4-FFF2-40B4-BE49-F238E27FC236}">
                  <a16:creationId xmlns:a16="http://schemas.microsoft.com/office/drawing/2014/main" id="{4043B3EB-58A8-1240-A1DE-2039D23280C4}"/>
                </a:ext>
              </a:extLst>
            </p:cNvPr>
            <p:cNvSpPr/>
            <p:nvPr/>
          </p:nvSpPr>
          <p:spPr>
            <a:xfrm>
              <a:off x="3657600" y="38862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Follower</a:t>
              </a:r>
            </a:p>
          </p:txBody>
        </p:sp>
        <p:sp>
          <p:nvSpPr>
            <p:cNvPr id="22" name="Rectangle 21">
              <a:extLst>
                <a:ext uri="{FF2B5EF4-FFF2-40B4-BE49-F238E27FC236}">
                  <a16:creationId xmlns:a16="http://schemas.microsoft.com/office/drawing/2014/main" id="{4F09F59F-3CFC-CE49-977F-6BEA345C49CA}"/>
                </a:ext>
              </a:extLst>
            </p:cNvPr>
            <p:cNvSpPr/>
            <p:nvPr/>
          </p:nvSpPr>
          <p:spPr>
            <a:xfrm>
              <a:off x="1828800" y="55626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Candidate</a:t>
              </a:r>
            </a:p>
          </p:txBody>
        </p:sp>
        <p:sp>
          <p:nvSpPr>
            <p:cNvPr id="23" name="Rectangle 22">
              <a:extLst>
                <a:ext uri="{FF2B5EF4-FFF2-40B4-BE49-F238E27FC236}">
                  <a16:creationId xmlns:a16="http://schemas.microsoft.com/office/drawing/2014/main" id="{3ABDED0F-FDAD-D046-B4F9-886A1B083BF3}"/>
                </a:ext>
              </a:extLst>
            </p:cNvPr>
            <p:cNvSpPr/>
            <p:nvPr/>
          </p:nvSpPr>
          <p:spPr>
            <a:xfrm>
              <a:off x="5486400" y="5545476"/>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Leader</a:t>
              </a:r>
            </a:p>
          </p:txBody>
        </p:sp>
        <p:cxnSp>
          <p:nvCxnSpPr>
            <p:cNvPr id="11" name="Straight Arrow Connector 10">
              <a:extLst>
                <a:ext uri="{FF2B5EF4-FFF2-40B4-BE49-F238E27FC236}">
                  <a16:creationId xmlns:a16="http://schemas.microsoft.com/office/drawing/2014/main" id="{7BFE610B-0BB9-1047-927D-77ECDA7D007F}"/>
                </a:ext>
              </a:extLst>
            </p:cNvPr>
            <p:cNvCxnSpPr>
              <a:cxnSpLocks/>
            </p:cNvCxnSpPr>
            <p:nvPr/>
          </p:nvCxnSpPr>
          <p:spPr>
            <a:xfrm flipV="1">
              <a:off x="2380370" y="4436938"/>
              <a:ext cx="990600" cy="9588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F3DD155-B9C2-7A4D-BB6B-F4434B3D9A01}"/>
                </a:ext>
              </a:extLst>
            </p:cNvPr>
            <p:cNvCxnSpPr>
              <a:cxnSpLocks/>
            </p:cNvCxnSpPr>
            <p:nvPr/>
          </p:nvCxnSpPr>
          <p:spPr>
            <a:xfrm flipH="1">
              <a:off x="2187871" y="4400817"/>
              <a:ext cx="914451"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E12AD9D-7A94-8140-B77C-D281E3C233A6}"/>
                </a:ext>
              </a:extLst>
            </p:cNvPr>
            <p:cNvCxnSpPr>
              <a:cxnSpLocks/>
            </p:cNvCxnSpPr>
            <p:nvPr/>
          </p:nvCxnSpPr>
          <p:spPr>
            <a:xfrm>
              <a:off x="4381500" y="3429000"/>
              <a:ext cx="0" cy="3429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D21CB621-1E92-004D-BA79-1D1675EECEF4}"/>
                </a:ext>
              </a:extLst>
            </p:cNvPr>
            <p:cNvCxnSpPr>
              <a:cxnSpLocks/>
            </p:cNvCxnSpPr>
            <p:nvPr/>
          </p:nvCxnSpPr>
          <p:spPr>
            <a:xfrm flipH="1" flipV="1">
              <a:off x="5391099" y="4511675"/>
              <a:ext cx="1028700" cy="83820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EA867DC-EB1E-0D4D-B07D-252548B2FEA2}"/>
                </a:ext>
              </a:extLst>
            </p:cNvPr>
            <p:cNvCxnSpPr>
              <a:cxnSpLocks/>
            </p:cNvCxnSpPr>
            <p:nvPr/>
          </p:nvCxnSpPr>
          <p:spPr>
            <a:xfrm>
              <a:off x="3467151" y="5834437"/>
              <a:ext cx="186684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697E8C3D-14B0-A34D-BC31-5304BA8BB9FA}"/>
                </a:ext>
              </a:extLst>
            </p:cNvPr>
            <p:cNvSpPr txBox="1"/>
            <p:nvPr/>
          </p:nvSpPr>
          <p:spPr>
            <a:xfrm>
              <a:off x="4539652" y="3402568"/>
              <a:ext cx="613694" cy="369332"/>
            </a:xfrm>
            <a:prstGeom prst="rect">
              <a:avLst/>
            </a:prstGeom>
            <a:noFill/>
          </p:spPr>
          <p:txBody>
            <a:bodyPr wrap="none" rtlCol="0">
              <a:spAutoFit/>
            </a:bodyPr>
            <a:lstStyle/>
            <a:p>
              <a:r>
                <a:rPr lang="en-US" dirty="0"/>
                <a:t>start</a:t>
              </a:r>
            </a:p>
          </p:txBody>
        </p:sp>
        <p:sp>
          <p:nvSpPr>
            <p:cNvPr id="32" name="TextBox 31">
              <a:extLst>
                <a:ext uri="{FF2B5EF4-FFF2-40B4-BE49-F238E27FC236}">
                  <a16:creationId xmlns:a16="http://schemas.microsoft.com/office/drawing/2014/main" id="{B5BAC18C-C27C-E042-BC7C-C908C92EF977}"/>
                </a:ext>
              </a:extLst>
            </p:cNvPr>
            <p:cNvSpPr txBox="1"/>
            <p:nvPr/>
          </p:nvSpPr>
          <p:spPr>
            <a:xfrm>
              <a:off x="6096000" y="4561443"/>
              <a:ext cx="1430648" cy="369332"/>
            </a:xfrm>
            <a:prstGeom prst="rect">
              <a:avLst/>
            </a:prstGeom>
            <a:noFill/>
          </p:spPr>
          <p:txBody>
            <a:bodyPr wrap="none" rtlCol="0">
              <a:spAutoFit/>
            </a:bodyPr>
            <a:lstStyle/>
            <a:p>
              <a:r>
                <a:rPr lang="en-US" dirty="0"/>
                <a:t>Next election</a:t>
              </a:r>
            </a:p>
          </p:txBody>
        </p:sp>
        <p:sp>
          <p:nvSpPr>
            <p:cNvPr id="33" name="TextBox 32">
              <a:extLst>
                <a:ext uri="{FF2B5EF4-FFF2-40B4-BE49-F238E27FC236}">
                  <a16:creationId xmlns:a16="http://schemas.microsoft.com/office/drawing/2014/main" id="{6AFFC17E-B191-A746-B7C1-99C9DD105B96}"/>
                </a:ext>
              </a:extLst>
            </p:cNvPr>
            <p:cNvSpPr txBox="1"/>
            <p:nvPr/>
          </p:nvSpPr>
          <p:spPr>
            <a:xfrm>
              <a:off x="3421962" y="5919613"/>
              <a:ext cx="1991571" cy="369332"/>
            </a:xfrm>
            <a:prstGeom prst="rect">
              <a:avLst/>
            </a:prstGeom>
            <a:noFill/>
          </p:spPr>
          <p:txBody>
            <a:bodyPr wrap="none" rtlCol="0">
              <a:spAutoFit/>
            </a:bodyPr>
            <a:lstStyle/>
            <a:p>
              <a:r>
                <a:rPr lang="en-US" dirty="0"/>
                <a:t>Received half votes</a:t>
              </a:r>
            </a:p>
          </p:txBody>
        </p:sp>
        <p:cxnSp>
          <p:nvCxnSpPr>
            <p:cNvPr id="34" name="Straight Arrow Connector 33">
              <a:extLst>
                <a:ext uri="{FF2B5EF4-FFF2-40B4-BE49-F238E27FC236}">
                  <a16:creationId xmlns:a16="http://schemas.microsoft.com/office/drawing/2014/main" id="{0C06BE88-8D1B-824D-BBF0-2014D776AABF}"/>
                </a:ext>
              </a:extLst>
            </p:cNvPr>
            <p:cNvCxnSpPr>
              <a:cxnSpLocks/>
            </p:cNvCxnSpPr>
            <p:nvPr/>
          </p:nvCxnSpPr>
          <p:spPr>
            <a:xfrm>
              <a:off x="5127255" y="4614862"/>
              <a:ext cx="1009673" cy="79533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C5D27C6-82B3-2C48-AF84-C9AFDC361D7C}"/>
                </a:ext>
              </a:extLst>
            </p:cNvPr>
            <p:cNvSpPr txBox="1"/>
            <p:nvPr/>
          </p:nvSpPr>
          <p:spPr>
            <a:xfrm>
              <a:off x="4469358" y="4861803"/>
              <a:ext cx="1112292" cy="369332"/>
            </a:xfrm>
            <a:prstGeom prst="rect">
              <a:avLst/>
            </a:prstGeom>
            <a:noFill/>
          </p:spPr>
          <p:txBody>
            <a:bodyPr wrap="none" rtlCol="0">
              <a:spAutoFit/>
            </a:bodyPr>
            <a:lstStyle/>
            <a:p>
              <a:r>
                <a:rPr lang="en-US" dirty="0"/>
                <a:t>heartbeat</a:t>
              </a:r>
            </a:p>
          </p:txBody>
        </p:sp>
        <p:sp>
          <p:nvSpPr>
            <p:cNvPr id="38" name="TextBox 37">
              <a:extLst>
                <a:ext uri="{FF2B5EF4-FFF2-40B4-BE49-F238E27FC236}">
                  <a16:creationId xmlns:a16="http://schemas.microsoft.com/office/drawing/2014/main" id="{59D75EEA-CD78-1948-8042-77D3F5184874}"/>
                </a:ext>
              </a:extLst>
            </p:cNvPr>
            <p:cNvSpPr txBox="1"/>
            <p:nvPr/>
          </p:nvSpPr>
          <p:spPr>
            <a:xfrm>
              <a:off x="3188644" y="4786094"/>
              <a:ext cx="1112293" cy="646331"/>
            </a:xfrm>
            <a:prstGeom prst="rect">
              <a:avLst/>
            </a:prstGeom>
            <a:noFill/>
          </p:spPr>
          <p:txBody>
            <a:bodyPr wrap="square" rtlCol="0">
              <a:spAutoFit/>
            </a:bodyPr>
            <a:lstStyle/>
            <a:p>
              <a:r>
                <a:rPr lang="en-US" dirty="0"/>
                <a:t>Leader is elected</a:t>
              </a:r>
            </a:p>
          </p:txBody>
        </p:sp>
        <p:sp>
          <p:nvSpPr>
            <p:cNvPr id="39" name="TextBox 38">
              <a:extLst>
                <a:ext uri="{FF2B5EF4-FFF2-40B4-BE49-F238E27FC236}">
                  <a16:creationId xmlns:a16="http://schemas.microsoft.com/office/drawing/2014/main" id="{20E3322F-DCAD-ED4C-87AF-42DB2AE22AAB}"/>
                </a:ext>
              </a:extLst>
            </p:cNvPr>
            <p:cNvSpPr txBox="1"/>
            <p:nvPr/>
          </p:nvSpPr>
          <p:spPr>
            <a:xfrm>
              <a:off x="1244140" y="3593011"/>
              <a:ext cx="1801140" cy="1200329"/>
            </a:xfrm>
            <a:prstGeom prst="rect">
              <a:avLst/>
            </a:prstGeom>
            <a:noFill/>
          </p:spPr>
          <p:txBody>
            <a:bodyPr wrap="square" rtlCol="0">
              <a:spAutoFit/>
            </a:bodyPr>
            <a:lstStyle/>
            <a:p>
              <a:r>
                <a:rPr lang="en-US" dirty="0"/>
                <a:t>Not received messages from leader for enough time</a:t>
              </a:r>
            </a:p>
          </p:txBody>
        </p:sp>
      </p:grpSp>
    </p:spTree>
    <p:extLst>
      <p:ext uri="{BB962C8B-B14F-4D97-AF65-F5344CB8AC3E}">
        <p14:creationId xmlns:p14="http://schemas.microsoft.com/office/powerpoint/2010/main" val="227020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3625A-371F-3648-85E5-929595FA41B3}"/>
              </a:ext>
            </a:extLst>
          </p:cNvPr>
          <p:cNvSpPr>
            <a:spLocks noGrp="1"/>
          </p:cNvSpPr>
          <p:nvPr>
            <p:ph type="title"/>
          </p:nvPr>
        </p:nvSpPr>
        <p:spPr/>
        <p:txBody>
          <a:bodyPr/>
          <a:lstStyle/>
          <a:p>
            <a:r>
              <a:rPr lang="en-US" dirty="0"/>
              <a:t>Raft algorithm example in Kubernetes</a:t>
            </a:r>
          </a:p>
        </p:txBody>
      </p:sp>
      <p:sp>
        <p:nvSpPr>
          <p:cNvPr id="3" name="Date Placeholder 2">
            <a:extLst>
              <a:ext uri="{FF2B5EF4-FFF2-40B4-BE49-F238E27FC236}">
                <a16:creationId xmlns:a16="http://schemas.microsoft.com/office/drawing/2014/main" id="{472E11DE-F8A3-1646-8A38-095088D558FC}"/>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DEE117A2-6DED-DD42-8B8E-CC80AAD4F256}"/>
              </a:ext>
            </a:extLst>
          </p:cNvPr>
          <p:cNvSpPr>
            <a:spLocks noGrp="1"/>
          </p:cNvSpPr>
          <p:nvPr>
            <p:ph type="sldNum" sz="quarter" idx="12"/>
          </p:nvPr>
        </p:nvSpPr>
        <p:spPr/>
        <p:txBody>
          <a:bodyPr/>
          <a:lstStyle/>
          <a:p>
            <a:r>
              <a:rPr lang="en-US" dirty="0"/>
              <a:t>CS 4504</a:t>
            </a:r>
          </a:p>
        </p:txBody>
      </p:sp>
      <p:pic>
        <p:nvPicPr>
          <p:cNvPr id="6" name="Picture 5">
            <a:extLst>
              <a:ext uri="{FF2B5EF4-FFF2-40B4-BE49-F238E27FC236}">
                <a16:creationId xmlns:a16="http://schemas.microsoft.com/office/drawing/2014/main" id="{AFD18CB8-273E-D447-8F6B-5732E2B8AF0C}"/>
              </a:ext>
            </a:extLst>
          </p:cNvPr>
          <p:cNvPicPr>
            <a:picLocks noChangeAspect="1"/>
          </p:cNvPicPr>
          <p:nvPr/>
        </p:nvPicPr>
        <p:blipFill>
          <a:blip r:embed="rId2"/>
          <a:stretch>
            <a:fillRect/>
          </a:stretch>
        </p:blipFill>
        <p:spPr>
          <a:xfrm>
            <a:off x="1255715" y="3369310"/>
            <a:ext cx="6632570" cy="3352800"/>
          </a:xfrm>
          <a:prstGeom prst="rect">
            <a:avLst/>
          </a:prstGeom>
        </p:spPr>
      </p:pic>
      <p:pic>
        <p:nvPicPr>
          <p:cNvPr id="7" name="Picture 6">
            <a:extLst>
              <a:ext uri="{FF2B5EF4-FFF2-40B4-BE49-F238E27FC236}">
                <a16:creationId xmlns:a16="http://schemas.microsoft.com/office/drawing/2014/main" id="{058055A7-D5F6-5A49-BBA8-F55050EE29C1}"/>
              </a:ext>
            </a:extLst>
          </p:cNvPr>
          <p:cNvPicPr>
            <a:picLocks noChangeAspect="1"/>
          </p:cNvPicPr>
          <p:nvPr/>
        </p:nvPicPr>
        <p:blipFill>
          <a:blip r:embed="rId3"/>
          <a:stretch>
            <a:fillRect/>
          </a:stretch>
        </p:blipFill>
        <p:spPr>
          <a:xfrm>
            <a:off x="7493356" y="1266781"/>
            <a:ext cx="1197725" cy="1155700"/>
          </a:xfrm>
          <a:prstGeom prst="rect">
            <a:avLst/>
          </a:prstGeom>
        </p:spPr>
      </p:pic>
      <p:sp>
        <p:nvSpPr>
          <p:cNvPr id="8" name="Content Placeholder 4">
            <a:extLst>
              <a:ext uri="{FF2B5EF4-FFF2-40B4-BE49-F238E27FC236}">
                <a16:creationId xmlns:a16="http://schemas.microsoft.com/office/drawing/2014/main" id="{191F40D6-0C15-EA4E-BB49-EAE1630771BB}"/>
              </a:ext>
            </a:extLst>
          </p:cNvPr>
          <p:cNvSpPr>
            <a:spLocks noGrp="1"/>
          </p:cNvSpPr>
          <p:nvPr>
            <p:ph sz="quarter" idx="1"/>
          </p:nvPr>
        </p:nvSpPr>
        <p:spPr>
          <a:xfrm>
            <a:off x="457200" y="1219201"/>
            <a:ext cx="6934200" cy="1676400"/>
          </a:xfrm>
        </p:spPr>
        <p:txBody>
          <a:bodyPr>
            <a:normAutofit fontScale="85000" lnSpcReduction="10000"/>
          </a:bodyPr>
          <a:lstStyle/>
          <a:p>
            <a:r>
              <a:rPr lang="en-US" dirty="0"/>
              <a:t>How Kubernetes deals with data failure: </a:t>
            </a:r>
          </a:p>
          <a:p>
            <a:pPr lvl="1"/>
            <a:r>
              <a:rPr lang="en-US" dirty="0"/>
              <a:t>To ensure reliability, 3 nodes are usually deployed for data backup. One of the three nodes will be selected as the master, and the other nodes will be used as backups.</a:t>
            </a:r>
          </a:p>
        </p:txBody>
      </p:sp>
      <p:sp>
        <p:nvSpPr>
          <p:cNvPr id="9" name="Oval 8">
            <a:extLst>
              <a:ext uri="{FF2B5EF4-FFF2-40B4-BE49-F238E27FC236}">
                <a16:creationId xmlns:a16="http://schemas.microsoft.com/office/drawing/2014/main" id="{E7AAF28A-5B8B-7F4C-9086-F4D7EDAF553A}"/>
              </a:ext>
            </a:extLst>
          </p:cNvPr>
          <p:cNvSpPr/>
          <p:nvPr/>
        </p:nvSpPr>
        <p:spPr>
          <a:xfrm>
            <a:off x="4038600" y="4618356"/>
            <a:ext cx="3157048" cy="1501139"/>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CBB43F4-587A-D141-A0A1-CEE3FA4955C8}"/>
              </a:ext>
            </a:extLst>
          </p:cNvPr>
          <p:cNvSpPr txBox="1"/>
          <p:nvPr/>
        </p:nvSpPr>
        <p:spPr>
          <a:xfrm>
            <a:off x="4104745" y="4406759"/>
            <a:ext cx="825867" cy="369332"/>
          </a:xfrm>
          <a:prstGeom prst="rect">
            <a:avLst/>
          </a:prstGeom>
          <a:noFill/>
        </p:spPr>
        <p:txBody>
          <a:bodyPr wrap="none" rtlCol="0">
            <a:spAutoFit/>
          </a:bodyPr>
          <a:lstStyle/>
          <a:p>
            <a:r>
              <a:rPr lang="en-US" dirty="0">
                <a:solidFill>
                  <a:schemeClr val="accent2"/>
                </a:solidFill>
              </a:rPr>
              <a:t>Leader</a:t>
            </a:r>
          </a:p>
        </p:txBody>
      </p:sp>
      <p:sp>
        <p:nvSpPr>
          <p:cNvPr id="11" name="TextBox 10">
            <a:extLst>
              <a:ext uri="{FF2B5EF4-FFF2-40B4-BE49-F238E27FC236}">
                <a16:creationId xmlns:a16="http://schemas.microsoft.com/office/drawing/2014/main" id="{3FB79334-0C66-1246-8EA3-DBFE1E736AA9}"/>
              </a:ext>
            </a:extLst>
          </p:cNvPr>
          <p:cNvSpPr txBox="1"/>
          <p:nvPr/>
        </p:nvSpPr>
        <p:spPr>
          <a:xfrm>
            <a:off x="5715000" y="6114480"/>
            <a:ext cx="994503" cy="369332"/>
          </a:xfrm>
          <a:prstGeom prst="rect">
            <a:avLst/>
          </a:prstGeom>
          <a:noFill/>
        </p:spPr>
        <p:txBody>
          <a:bodyPr wrap="none" rtlCol="0">
            <a:spAutoFit/>
          </a:bodyPr>
          <a:lstStyle/>
          <a:p>
            <a:r>
              <a:rPr lang="en-US" dirty="0">
                <a:solidFill>
                  <a:schemeClr val="accent2"/>
                </a:solidFill>
              </a:rPr>
              <a:t>Follower</a:t>
            </a:r>
          </a:p>
        </p:txBody>
      </p:sp>
    </p:spTree>
    <p:extLst>
      <p:ext uri="{BB962C8B-B14F-4D97-AF65-F5344CB8AC3E}">
        <p14:creationId xmlns:p14="http://schemas.microsoft.com/office/powerpoint/2010/main" val="2909370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6651-1004-2043-87F6-8ED7AF7C9573}"/>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3DE93062-13F4-124A-85B8-C1F6F6ADB63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0AAF6DC-2B1B-EF48-90C1-4432213DA2DE}"/>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B041FE1C-D447-BC42-97D5-79EBFF91E7D0}"/>
              </a:ext>
            </a:extLst>
          </p:cNvPr>
          <p:cNvSpPr>
            <a:spLocks noGrp="1"/>
          </p:cNvSpPr>
          <p:nvPr>
            <p:ph sz="quarter" idx="1"/>
          </p:nvPr>
        </p:nvSpPr>
        <p:spPr/>
        <p:txBody>
          <a:bodyPr/>
          <a:lstStyle/>
          <a:p>
            <a:r>
              <a:rPr lang="en-US" dirty="0"/>
              <a:t>Advantages:</a:t>
            </a:r>
          </a:p>
          <a:p>
            <a:pPr lvl="1"/>
            <a:r>
              <a:rPr lang="en-US" dirty="0"/>
              <a:t>Fast election speed</a:t>
            </a:r>
          </a:p>
          <a:p>
            <a:pPr lvl="1"/>
            <a:r>
              <a:rPr lang="en-US" dirty="0"/>
              <a:t>low algorithm complexity</a:t>
            </a:r>
          </a:p>
          <a:p>
            <a:pPr lvl="1"/>
            <a:r>
              <a:rPr lang="en-US" dirty="0"/>
              <a:t>simple and easy to implement (who lives and who has the half votes is the master node)</a:t>
            </a:r>
          </a:p>
        </p:txBody>
      </p:sp>
    </p:spTree>
    <p:extLst>
      <p:ext uri="{BB962C8B-B14F-4D97-AF65-F5344CB8AC3E}">
        <p14:creationId xmlns:p14="http://schemas.microsoft.com/office/powerpoint/2010/main" val="1660342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6651-1004-2043-87F6-8ED7AF7C9573}"/>
              </a:ext>
            </a:extLst>
          </p:cNvPr>
          <p:cNvSpPr>
            <a:spLocks noGrp="1"/>
          </p:cNvSpPr>
          <p:nvPr>
            <p:ph type="title"/>
          </p:nvPr>
        </p:nvSpPr>
        <p:spPr/>
        <p:txBody>
          <a:bodyPr/>
          <a:lstStyle/>
          <a:p>
            <a:r>
              <a:rPr lang="en-US" dirty="0"/>
              <a:t>2. Raft algorithm</a:t>
            </a:r>
          </a:p>
        </p:txBody>
      </p:sp>
      <p:sp>
        <p:nvSpPr>
          <p:cNvPr id="3" name="Date Placeholder 2">
            <a:extLst>
              <a:ext uri="{FF2B5EF4-FFF2-40B4-BE49-F238E27FC236}">
                <a16:creationId xmlns:a16="http://schemas.microsoft.com/office/drawing/2014/main" id="{3DE93062-13F4-124A-85B8-C1F6F6ADB63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0AAF6DC-2B1B-EF48-90C1-4432213DA2DE}"/>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B041FE1C-D447-BC42-97D5-79EBFF91E7D0}"/>
              </a:ext>
            </a:extLst>
          </p:cNvPr>
          <p:cNvSpPr>
            <a:spLocks noGrp="1"/>
          </p:cNvSpPr>
          <p:nvPr>
            <p:ph sz="quarter" idx="1"/>
          </p:nvPr>
        </p:nvSpPr>
        <p:spPr/>
        <p:txBody>
          <a:bodyPr>
            <a:normAutofit/>
          </a:bodyPr>
          <a:lstStyle/>
          <a:p>
            <a:r>
              <a:rPr lang="en-US" dirty="0"/>
              <a:t>Disadvantages:</a:t>
            </a:r>
          </a:p>
          <a:p>
            <a:pPr lvl="1"/>
            <a:r>
              <a:rPr lang="en-US" dirty="0"/>
              <a:t>It requires that each node in the system can communicate with each other (vote), and requires the node which has more than half of the votes to be the master, thus the communication traffic is large</a:t>
            </a:r>
          </a:p>
        </p:txBody>
      </p:sp>
    </p:spTree>
    <p:extLst>
      <p:ext uri="{BB962C8B-B14F-4D97-AF65-F5344CB8AC3E}">
        <p14:creationId xmlns:p14="http://schemas.microsoft.com/office/powerpoint/2010/main" val="3743574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3C834-2CD5-4C45-8EF8-F12FD02FF75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AAA91F0E-6569-8F4A-8844-4C930F56DAF1}"/>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653CABA-0EDD-F24E-A020-7FC38D0D43E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C73D9F55-D078-C742-B761-9FA687A2CA04}"/>
              </a:ext>
            </a:extLst>
          </p:cNvPr>
          <p:cNvSpPr>
            <a:spLocks noGrp="1"/>
          </p:cNvSpPr>
          <p:nvPr>
            <p:ph sz="quarter" idx="1"/>
          </p:nvPr>
        </p:nvSpPr>
        <p:spPr>
          <a:xfrm>
            <a:off x="457200" y="1219200"/>
            <a:ext cx="8229600" cy="2971800"/>
          </a:xfrm>
        </p:spPr>
        <p:txBody>
          <a:bodyPr>
            <a:normAutofit fontScale="85000" lnSpcReduction="10000"/>
          </a:bodyPr>
          <a:lstStyle/>
          <a:p>
            <a:r>
              <a:rPr lang="en-US" dirty="0"/>
              <a:t>ZAB (</a:t>
            </a:r>
            <a:r>
              <a:rPr lang="en-US" dirty="0" err="1"/>
              <a:t>ZooKeeper</a:t>
            </a:r>
            <a:r>
              <a:rPr lang="en-US" dirty="0"/>
              <a:t> Atomic Broadcast) election algorithm is designed for </a:t>
            </a:r>
            <a:r>
              <a:rPr lang="en-US" dirty="0" err="1"/>
              <a:t>ZooKeeper</a:t>
            </a:r>
            <a:r>
              <a:rPr lang="en-US" dirty="0"/>
              <a:t> to implement distributed election</a:t>
            </a:r>
          </a:p>
          <a:p>
            <a:endParaRPr lang="en-US" dirty="0"/>
          </a:p>
          <a:p>
            <a:r>
              <a:rPr lang="en-US" dirty="0"/>
              <a:t>ZAB algorithm is an improvement on Raft algorithm</a:t>
            </a:r>
          </a:p>
        </p:txBody>
      </p:sp>
      <p:pic>
        <p:nvPicPr>
          <p:cNvPr id="6" name="Picture 5">
            <a:extLst>
              <a:ext uri="{FF2B5EF4-FFF2-40B4-BE49-F238E27FC236}">
                <a16:creationId xmlns:a16="http://schemas.microsoft.com/office/drawing/2014/main" id="{E25E1597-6C52-5846-8388-C6EDE9FA078B}"/>
              </a:ext>
            </a:extLst>
          </p:cNvPr>
          <p:cNvPicPr>
            <a:picLocks noChangeAspect="1"/>
          </p:cNvPicPr>
          <p:nvPr/>
        </p:nvPicPr>
        <p:blipFill>
          <a:blip r:embed="rId2"/>
          <a:stretch>
            <a:fillRect/>
          </a:stretch>
        </p:blipFill>
        <p:spPr>
          <a:xfrm>
            <a:off x="3159512" y="4495800"/>
            <a:ext cx="2824976" cy="1524000"/>
          </a:xfrm>
          <a:prstGeom prst="rect">
            <a:avLst/>
          </a:prstGeom>
        </p:spPr>
      </p:pic>
    </p:spTree>
    <p:extLst>
      <p:ext uri="{BB962C8B-B14F-4D97-AF65-F5344CB8AC3E}">
        <p14:creationId xmlns:p14="http://schemas.microsoft.com/office/powerpoint/2010/main" val="489080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3C834-2CD5-4C45-8EF8-F12FD02FF75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AAA91F0E-6569-8F4A-8844-4C930F56DAF1}"/>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653CABA-0EDD-F24E-A020-7FC38D0D43E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C73D9F55-D078-C742-B761-9FA687A2CA04}"/>
              </a:ext>
            </a:extLst>
          </p:cNvPr>
          <p:cNvSpPr>
            <a:spLocks noGrp="1"/>
          </p:cNvSpPr>
          <p:nvPr>
            <p:ph sz="quarter" idx="1"/>
          </p:nvPr>
        </p:nvSpPr>
        <p:spPr>
          <a:xfrm>
            <a:off x="457200" y="1219200"/>
            <a:ext cx="8229600" cy="2971800"/>
          </a:xfrm>
        </p:spPr>
        <p:txBody>
          <a:bodyPr>
            <a:normAutofit/>
          </a:bodyPr>
          <a:lstStyle/>
          <a:p>
            <a:r>
              <a:rPr lang="en-US" dirty="0"/>
              <a:t>Each node in the Zookeeper cluster has three roles: </a:t>
            </a:r>
          </a:p>
          <a:p>
            <a:pPr lvl="1"/>
            <a:r>
              <a:rPr lang="en-US" dirty="0"/>
              <a:t>Leader: master node; </a:t>
            </a:r>
          </a:p>
          <a:p>
            <a:pPr lvl="1"/>
            <a:r>
              <a:rPr lang="en-US" dirty="0"/>
              <a:t>Follower: follow the leader; </a:t>
            </a:r>
          </a:p>
          <a:p>
            <a:pPr lvl="1"/>
            <a:r>
              <a:rPr lang="en-US" dirty="0"/>
              <a:t>Observer: without voting right.</a:t>
            </a:r>
          </a:p>
        </p:txBody>
      </p:sp>
    </p:spTree>
    <p:extLst>
      <p:ext uri="{BB962C8B-B14F-4D97-AF65-F5344CB8AC3E}">
        <p14:creationId xmlns:p14="http://schemas.microsoft.com/office/powerpoint/2010/main" val="809068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3C834-2CD5-4C45-8EF8-F12FD02FF75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AAA91F0E-6569-8F4A-8844-4C930F56DAF1}"/>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653CABA-0EDD-F24E-A020-7FC38D0D43E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C73D9F55-D078-C742-B761-9FA687A2CA04}"/>
              </a:ext>
            </a:extLst>
          </p:cNvPr>
          <p:cNvSpPr>
            <a:spLocks noGrp="1"/>
          </p:cNvSpPr>
          <p:nvPr>
            <p:ph sz="quarter" idx="1"/>
          </p:nvPr>
        </p:nvSpPr>
        <p:spPr>
          <a:xfrm>
            <a:off x="457200" y="1219200"/>
            <a:ext cx="8229600" cy="5137150"/>
          </a:xfrm>
        </p:spPr>
        <p:txBody>
          <a:bodyPr>
            <a:normAutofit fontScale="92500" lnSpcReduction="20000"/>
          </a:bodyPr>
          <a:lstStyle/>
          <a:p>
            <a:r>
              <a:rPr lang="en-US" dirty="0"/>
              <a:t>During the election, each node in the Zookeeper cluster has four states: </a:t>
            </a:r>
          </a:p>
          <a:p>
            <a:pPr marL="731520" lvl="1" indent="-457200">
              <a:buFont typeface="+mj-lt"/>
              <a:buAutoNum type="arabicPeriod"/>
            </a:pPr>
            <a:r>
              <a:rPr lang="en-US" dirty="0"/>
              <a:t>Looking state or election state. When the node is in this state, it will consider that there is no leader in the current cluster, so it will enter the election state by itself. </a:t>
            </a:r>
          </a:p>
          <a:p>
            <a:pPr marL="731520" lvl="1" indent="-457200">
              <a:buFont typeface="+mj-lt"/>
              <a:buAutoNum type="arabicPeriod"/>
            </a:pPr>
            <a:r>
              <a:rPr lang="en-US" dirty="0"/>
              <a:t>The Leading state: indicates that the master has been selected and the current node is the Leader. </a:t>
            </a:r>
          </a:p>
          <a:p>
            <a:pPr marL="731520" lvl="1" indent="-457200">
              <a:buFont typeface="+mj-lt"/>
              <a:buAutoNum type="arabicPeriod"/>
            </a:pPr>
            <a:r>
              <a:rPr lang="en-US" dirty="0"/>
              <a:t>Following state: After the master has been selected in the cluster, the status of other non-master nodes is updated to Following. </a:t>
            </a:r>
          </a:p>
          <a:p>
            <a:pPr marL="731520" lvl="1" indent="-457200">
              <a:buFont typeface="+mj-lt"/>
              <a:buAutoNum type="arabicPeriod"/>
            </a:pPr>
            <a:r>
              <a:rPr lang="en-US" dirty="0"/>
              <a:t>Observing state: indicates that the current node is the Observer, just waits and has no voting rights.</a:t>
            </a:r>
          </a:p>
        </p:txBody>
      </p:sp>
    </p:spTree>
    <p:extLst>
      <p:ext uri="{BB962C8B-B14F-4D97-AF65-F5344CB8AC3E}">
        <p14:creationId xmlns:p14="http://schemas.microsoft.com/office/powerpoint/2010/main" val="194941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DF2E-0AD9-4C4D-B91E-8CE24B59DA3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CA2638C2-4ADC-C24E-8A7A-9BF4465CE9E8}"/>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1496DEF-D530-2840-A49D-B97A3C71D8AE}"/>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9ACFFFD8-3C76-7740-90F0-DB113BA25E96}"/>
              </a:ext>
            </a:extLst>
          </p:cNvPr>
          <p:cNvSpPr>
            <a:spLocks noGrp="1"/>
          </p:cNvSpPr>
          <p:nvPr>
            <p:ph sz="quarter" idx="1"/>
          </p:nvPr>
        </p:nvSpPr>
        <p:spPr>
          <a:xfrm>
            <a:off x="457200" y="1219200"/>
            <a:ext cx="5146554" cy="5137150"/>
          </a:xfrm>
        </p:spPr>
        <p:txBody>
          <a:bodyPr>
            <a:normAutofit fontScale="70000" lnSpcReduction="20000"/>
          </a:bodyPr>
          <a:lstStyle/>
          <a:p>
            <a:r>
              <a:rPr lang="en-US" dirty="0"/>
              <a:t>Each node has a unique triple (</a:t>
            </a:r>
            <a:r>
              <a:rPr lang="en-US" dirty="0" err="1"/>
              <a:t>server_id</a:t>
            </a:r>
            <a:r>
              <a:rPr lang="en-US" dirty="0"/>
              <a:t>, </a:t>
            </a:r>
            <a:r>
              <a:rPr lang="en-US" dirty="0" err="1"/>
              <a:t>server_zxID</a:t>
            </a:r>
            <a:r>
              <a:rPr lang="en-US" dirty="0"/>
              <a:t>, epoch): </a:t>
            </a:r>
          </a:p>
          <a:p>
            <a:pPr lvl="1"/>
            <a:r>
              <a:rPr lang="en-US" dirty="0" err="1"/>
              <a:t>server_id</a:t>
            </a:r>
            <a:r>
              <a:rPr lang="en-US" dirty="0"/>
              <a:t>: represents the unique ID of this node; </a:t>
            </a:r>
          </a:p>
          <a:p>
            <a:pPr lvl="1"/>
            <a:r>
              <a:rPr lang="en-US" dirty="0" err="1"/>
              <a:t>server_zxID</a:t>
            </a:r>
            <a:r>
              <a:rPr lang="en-US" dirty="0"/>
              <a:t>: represents the data ID stored by this node. The larger the data ID, the newer the data and the greater the voting weight; </a:t>
            </a:r>
          </a:p>
          <a:p>
            <a:pPr lvl="1"/>
            <a:r>
              <a:rPr lang="en-US" dirty="0"/>
              <a:t>epoch: represents the currently election round</a:t>
            </a:r>
          </a:p>
          <a:p>
            <a:endParaRPr lang="en-US" dirty="0"/>
          </a:p>
          <a:p>
            <a:r>
              <a:rPr lang="en-US" dirty="0"/>
              <a:t>ZAB: the minority obeys the majority, and the node with the largest ID (both </a:t>
            </a:r>
            <a:r>
              <a:rPr lang="en-US" dirty="0" err="1"/>
              <a:t>server_id</a:t>
            </a:r>
            <a:r>
              <a:rPr lang="en-US" dirty="0"/>
              <a:t> and </a:t>
            </a:r>
            <a:r>
              <a:rPr lang="en-US" dirty="0" err="1"/>
              <a:t>server_zxID</a:t>
            </a:r>
            <a:r>
              <a:rPr lang="en-US" dirty="0"/>
              <a:t>) becomes the master.</a:t>
            </a:r>
          </a:p>
        </p:txBody>
      </p:sp>
      <p:pic>
        <p:nvPicPr>
          <p:cNvPr id="6" name="Picture 5">
            <a:extLst>
              <a:ext uri="{FF2B5EF4-FFF2-40B4-BE49-F238E27FC236}">
                <a16:creationId xmlns:a16="http://schemas.microsoft.com/office/drawing/2014/main" id="{8330E989-AA5F-4F44-A088-F1435A191C1E}"/>
              </a:ext>
            </a:extLst>
          </p:cNvPr>
          <p:cNvPicPr>
            <a:picLocks noChangeAspect="1"/>
          </p:cNvPicPr>
          <p:nvPr/>
        </p:nvPicPr>
        <p:blipFill>
          <a:blip r:embed="rId2"/>
          <a:stretch>
            <a:fillRect/>
          </a:stretch>
        </p:blipFill>
        <p:spPr>
          <a:xfrm>
            <a:off x="7050024" y="1617133"/>
            <a:ext cx="723900" cy="1126067"/>
          </a:xfrm>
          <a:prstGeom prst="rect">
            <a:avLst/>
          </a:prstGeom>
        </p:spPr>
      </p:pic>
      <p:pic>
        <p:nvPicPr>
          <p:cNvPr id="7" name="Picture 6">
            <a:extLst>
              <a:ext uri="{FF2B5EF4-FFF2-40B4-BE49-F238E27FC236}">
                <a16:creationId xmlns:a16="http://schemas.microsoft.com/office/drawing/2014/main" id="{C67D986C-0BB4-ED41-A2D9-5907AEC5E061}"/>
              </a:ext>
            </a:extLst>
          </p:cNvPr>
          <p:cNvPicPr>
            <a:picLocks noChangeAspect="1"/>
          </p:cNvPicPr>
          <p:nvPr/>
        </p:nvPicPr>
        <p:blipFill>
          <a:blip r:embed="rId2"/>
          <a:stretch>
            <a:fillRect/>
          </a:stretch>
        </p:blipFill>
        <p:spPr>
          <a:xfrm>
            <a:off x="6019800" y="3657600"/>
            <a:ext cx="723900" cy="1126067"/>
          </a:xfrm>
          <a:prstGeom prst="rect">
            <a:avLst/>
          </a:prstGeom>
        </p:spPr>
      </p:pic>
      <p:pic>
        <p:nvPicPr>
          <p:cNvPr id="8" name="Picture 7">
            <a:extLst>
              <a:ext uri="{FF2B5EF4-FFF2-40B4-BE49-F238E27FC236}">
                <a16:creationId xmlns:a16="http://schemas.microsoft.com/office/drawing/2014/main" id="{A7057EDD-0A6D-4740-B645-5E2ECF9616B5}"/>
              </a:ext>
            </a:extLst>
          </p:cNvPr>
          <p:cNvPicPr>
            <a:picLocks noChangeAspect="1"/>
          </p:cNvPicPr>
          <p:nvPr/>
        </p:nvPicPr>
        <p:blipFill>
          <a:blip r:embed="rId2"/>
          <a:stretch>
            <a:fillRect/>
          </a:stretch>
        </p:blipFill>
        <p:spPr>
          <a:xfrm>
            <a:off x="8077200" y="3657600"/>
            <a:ext cx="723900" cy="1126067"/>
          </a:xfrm>
          <a:prstGeom prst="rect">
            <a:avLst/>
          </a:prstGeom>
        </p:spPr>
      </p:pic>
      <p:sp>
        <p:nvSpPr>
          <p:cNvPr id="9" name="Left-Right Arrow 8">
            <a:extLst>
              <a:ext uri="{FF2B5EF4-FFF2-40B4-BE49-F238E27FC236}">
                <a16:creationId xmlns:a16="http://schemas.microsoft.com/office/drawing/2014/main" id="{58CF093D-1667-9A41-986A-4D1A1592566C}"/>
              </a:ext>
            </a:extLst>
          </p:cNvPr>
          <p:cNvSpPr/>
          <p:nvPr/>
        </p:nvSpPr>
        <p:spPr>
          <a:xfrm rot="2642881">
            <a:off x="7573865" y="3086100"/>
            <a:ext cx="9144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Right Arrow 9">
            <a:extLst>
              <a:ext uri="{FF2B5EF4-FFF2-40B4-BE49-F238E27FC236}">
                <a16:creationId xmlns:a16="http://schemas.microsoft.com/office/drawing/2014/main" id="{37A81D9D-EED1-7745-B901-5F3F32FB7972}"/>
              </a:ext>
            </a:extLst>
          </p:cNvPr>
          <p:cNvSpPr/>
          <p:nvPr/>
        </p:nvSpPr>
        <p:spPr>
          <a:xfrm>
            <a:off x="6965904" y="4074594"/>
            <a:ext cx="9144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eft-Right Arrow 10">
            <a:extLst>
              <a:ext uri="{FF2B5EF4-FFF2-40B4-BE49-F238E27FC236}">
                <a16:creationId xmlns:a16="http://schemas.microsoft.com/office/drawing/2014/main" id="{89CA0489-AB7A-B043-9915-387AC2D4986D}"/>
              </a:ext>
            </a:extLst>
          </p:cNvPr>
          <p:cNvSpPr/>
          <p:nvPr/>
        </p:nvSpPr>
        <p:spPr>
          <a:xfrm rot="18359765">
            <a:off x="6231639" y="3049049"/>
            <a:ext cx="914400" cy="2286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6049FF-C03A-7F4E-97D7-1B6E1036A53C}"/>
              </a:ext>
            </a:extLst>
          </p:cNvPr>
          <p:cNvSpPr/>
          <p:nvPr/>
        </p:nvSpPr>
        <p:spPr>
          <a:xfrm>
            <a:off x="5463839" y="4911501"/>
            <a:ext cx="1938223" cy="523220"/>
          </a:xfrm>
          <a:prstGeom prst="rect">
            <a:avLst/>
          </a:prstGeom>
        </p:spPr>
        <p:txBody>
          <a:bodyPr wrap="none">
            <a:spAutoFit/>
          </a:bodyPr>
          <a:lstStyle/>
          <a:p>
            <a:r>
              <a:rPr lang="en-US" sz="1400" dirty="0"/>
              <a:t>(</a:t>
            </a:r>
            <a:r>
              <a:rPr lang="en-US" sz="1400" dirty="0" err="1"/>
              <a:t>server_id</a:t>
            </a:r>
            <a:r>
              <a:rPr lang="en-US" sz="1400" dirty="0"/>
              <a:t>, </a:t>
            </a:r>
            <a:r>
              <a:rPr lang="en-US" sz="1400" dirty="0" err="1"/>
              <a:t>server_zxID</a:t>
            </a:r>
            <a:r>
              <a:rPr lang="en-US" sz="1400" dirty="0"/>
              <a:t>, </a:t>
            </a:r>
          </a:p>
          <a:p>
            <a:r>
              <a:rPr lang="en-US" sz="1400" dirty="0"/>
              <a:t>epoch) </a:t>
            </a:r>
          </a:p>
        </p:txBody>
      </p:sp>
    </p:spTree>
    <p:extLst>
      <p:ext uri="{BB962C8B-B14F-4D97-AF65-F5344CB8AC3E}">
        <p14:creationId xmlns:p14="http://schemas.microsoft.com/office/powerpoint/2010/main" val="3024345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DF2E-0AD9-4C4D-B91E-8CE24B59DA3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CA2638C2-4ADC-C24E-8A7A-9BF4465CE9E8}"/>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1496DEF-D530-2840-A49D-B97A3C71D8AE}"/>
              </a:ext>
            </a:extLst>
          </p:cNvPr>
          <p:cNvSpPr>
            <a:spLocks noGrp="1"/>
          </p:cNvSpPr>
          <p:nvPr>
            <p:ph type="sldNum" sz="quarter" idx="12"/>
          </p:nvPr>
        </p:nvSpPr>
        <p:spPr/>
        <p:txBody>
          <a:bodyPr/>
          <a:lstStyle/>
          <a:p>
            <a:r>
              <a:rPr lang="en-US" dirty="0"/>
              <a:t>CS 4504</a:t>
            </a:r>
          </a:p>
        </p:txBody>
      </p:sp>
      <p:pic>
        <p:nvPicPr>
          <p:cNvPr id="13" name="Picture 12">
            <a:extLst>
              <a:ext uri="{FF2B5EF4-FFF2-40B4-BE49-F238E27FC236}">
                <a16:creationId xmlns:a16="http://schemas.microsoft.com/office/drawing/2014/main" id="{E030E46A-4163-C244-AB1E-D377F31C9C7C}"/>
              </a:ext>
            </a:extLst>
          </p:cNvPr>
          <p:cNvPicPr>
            <a:picLocks noChangeAspect="1"/>
          </p:cNvPicPr>
          <p:nvPr/>
        </p:nvPicPr>
        <p:blipFill>
          <a:blip r:embed="rId2"/>
          <a:stretch>
            <a:fillRect/>
          </a:stretch>
        </p:blipFill>
        <p:spPr>
          <a:xfrm>
            <a:off x="2209800" y="3352800"/>
            <a:ext cx="4880446" cy="3505200"/>
          </a:xfrm>
          <a:prstGeom prst="rect">
            <a:avLst/>
          </a:prstGeom>
        </p:spPr>
      </p:pic>
      <p:sp>
        <p:nvSpPr>
          <p:cNvPr id="16" name="Content Placeholder 4">
            <a:extLst>
              <a:ext uri="{FF2B5EF4-FFF2-40B4-BE49-F238E27FC236}">
                <a16:creationId xmlns:a16="http://schemas.microsoft.com/office/drawing/2014/main" id="{95C20298-3CFE-1243-8D94-3AADFEBB12A0}"/>
              </a:ext>
            </a:extLst>
          </p:cNvPr>
          <p:cNvSpPr>
            <a:spLocks noGrp="1"/>
          </p:cNvSpPr>
          <p:nvPr>
            <p:ph sz="quarter" idx="1"/>
          </p:nvPr>
        </p:nvSpPr>
        <p:spPr>
          <a:xfrm>
            <a:off x="457200" y="1219199"/>
            <a:ext cx="8229600" cy="1905001"/>
          </a:xfrm>
        </p:spPr>
        <p:txBody>
          <a:bodyPr>
            <a:normAutofit fontScale="77500" lnSpcReduction="20000"/>
          </a:bodyPr>
          <a:lstStyle/>
          <a:p>
            <a:r>
              <a:rPr lang="en-US" dirty="0"/>
              <a:t>How ZAB algorithm works: </a:t>
            </a:r>
          </a:p>
          <a:p>
            <a:pPr marL="573088" lvl="1" indent="-287338">
              <a:buNone/>
              <a:tabLst>
                <a:tab pos="336550" algn="l"/>
              </a:tabLst>
            </a:pPr>
            <a:r>
              <a:rPr lang="en-US" dirty="0">
                <a:solidFill>
                  <a:schemeClr val="accent2"/>
                </a:solidFill>
              </a:rPr>
              <a:t>1. </a:t>
            </a:r>
            <a:r>
              <a:rPr lang="en-US" dirty="0"/>
              <a:t>When the system starts, the current voting of the 3 servers is the first round of voting, epoch = 1 and </a:t>
            </a:r>
            <a:r>
              <a:rPr lang="en-US" dirty="0" err="1"/>
              <a:t>zxID</a:t>
            </a:r>
            <a:r>
              <a:rPr lang="en-US" dirty="0"/>
              <a:t> are all 0. </a:t>
            </a:r>
          </a:p>
          <a:p>
            <a:pPr marL="573088" lvl="1" indent="0">
              <a:buNone/>
            </a:pPr>
            <a:r>
              <a:rPr lang="en-US" dirty="0"/>
              <a:t>At this time, each server selects itself and broadcasts the vote information &lt;epoch, </a:t>
            </a:r>
            <a:r>
              <a:rPr lang="en-US" dirty="0" err="1"/>
              <a:t>vote_id</a:t>
            </a:r>
            <a:r>
              <a:rPr lang="en-US" dirty="0"/>
              <a:t>, </a:t>
            </a:r>
            <a:r>
              <a:rPr lang="en-US" dirty="0" err="1"/>
              <a:t>vote_zxID</a:t>
            </a:r>
            <a:r>
              <a:rPr lang="en-US" dirty="0"/>
              <a:t>&gt;.</a:t>
            </a:r>
          </a:p>
        </p:txBody>
      </p:sp>
    </p:spTree>
    <p:extLst>
      <p:ext uri="{BB962C8B-B14F-4D97-AF65-F5344CB8AC3E}">
        <p14:creationId xmlns:p14="http://schemas.microsoft.com/office/powerpoint/2010/main" val="478646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DF2E-0AD9-4C4D-B91E-8CE24B59DA3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CA2638C2-4ADC-C24E-8A7A-9BF4465CE9E8}"/>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1496DEF-D530-2840-A49D-B97A3C71D8AE}"/>
              </a:ext>
            </a:extLst>
          </p:cNvPr>
          <p:cNvSpPr>
            <a:spLocks noGrp="1"/>
          </p:cNvSpPr>
          <p:nvPr>
            <p:ph type="sldNum" sz="quarter" idx="12"/>
          </p:nvPr>
        </p:nvSpPr>
        <p:spPr/>
        <p:txBody>
          <a:bodyPr/>
          <a:lstStyle/>
          <a:p>
            <a:r>
              <a:rPr lang="en-US" dirty="0"/>
              <a:t>CS 4504</a:t>
            </a:r>
          </a:p>
        </p:txBody>
      </p:sp>
      <p:pic>
        <p:nvPicPr>
          <p:cNvPr id="5" name="Picture 4">
            <a:extLst>
              <a:ext uri="{FF2B5EF4-FFF2-40B4-BE49-F238E27FC236}">
                <a16:creationId xmlns:a16="http://schemas.microsoft.com/office/drawing/2014/main" id="{FB620A1E-315C-934C-94FA-FA9143DB2F6A}"/>
              </a:ext>
            </a:extLst>
          </p:cNvPr>
          <p:cNvPicPr>
            <a:picLocks noChangeAspect="1"/>
          </p:cNvPicPr>
          <p:nvPr/>
        </p:nvPicPr>
        <p:blipFill>
          <a:blip r:embed="rId2"/>
          <a:stretch>
            <a:fillRect/>
          </a:stretch>
        </p:blipFill>
        <p:spPr>
          <a:xfrm>
            <a:off x="2178904" y="3488690"/>
            <a:ext cx="4786192" cy="3308350"/>
          </a:xfrm>
          <a:prstGeom prst="rect">
            <a:avLst/>
          </a:prstGeom>
        </p:spPr>
      </p:pic>
      <p:sp>
        <p:nvSpPr>
          <p:cNvPr id="10" name="Content Placeholder 4">
            <a:extLst>
              <a:ext uri="{FF2B5EF4-FFF2-40B4-BE49-F238E27FC236}">
                <a16:creationId xmlns:a16="http://schemas.microsoft.com/office/drawing/2014/main" id="{1F4D9D9C-F25B-F84C-96CE-E7C696C9906A}"/>
              </a:ext>
            </a:extLst>
          </p:cNvPr>
          <p:cNvSpPr>
            <a:spLocks noGrp="1"/>
          </p:cNvSpPr>
          <p:nvPr>
            <p:ph sz="quarter" idx="1"/>
          </p:nvPr>
        </p:nvSpPr>
        <p:spPr>
          <a:xfrm>
            <a:off x="457200" y="1219199"/>
            <a:ext cx="8229600" cy="1905001"/>
          </a:xfrm>
        </p:spPr>
        <p:txBody>
          <a:bodyPr>
            <a:normAutofit fontScale="85000" lnSpcReduction="20000"/>
          </a:bodyPr>
          <a:lstStyle/>
          <a:p>
            <a:r>
              <a:rPr lang="en-US" dirty="0"/>
              <a:t>How ZAB algorithm works: </a:t>
            </a:r>
          </a:p>
          <a:p>
            <a:pPr marL="573088" lvl="1" indent="-287338">
              <a:buNone/>
              <a:tabLst>
                <a:tab pos="336550" algn="l"/>
              </a:tabLst>
            </a:pPr>
            <a:r>
              <a:rPr lang="en-US" dirty="0">
                <a:solidFill>
                  <a:schemeClr val="accent2"/>
                </a:solidFill>
              </a:rPr>
              <a:t>2.  </a:t>
            </a:r>
            <a:r>
              <a:rPr lang="en-US" dirty="0"/>
              <a:t>Since the epoch and </a:t>
            </a:r>
            <a:r>
              <a:rPr lang="en-US" dirty="0" err="1"/>
              <a:t>zxID</a:t>
            </a:r>
            <a:r>
              <a:rPr lang="en-US" dirty="0"/>
              <a:t> of the three servers are the same, the </a:t>
            </a:r>
            <a:r>
              <a:rPr lang="en-US" dirty="0" err="1"/>
              <a:t>server_id</a:t>
            </a:r>
            <a:r>
              <a:rPr lang="en-US" dirty="0"/>
              <a:t> is compared, and the larger one is the selection object. Therefore, Server 1 and Server 2 change the </a:t>
            </a:r>
            <a:r>
              <a:rPr lang="en-US" dirty="0" err="1"/>
              <a:t>vote_id</a:t>
            </a:r>
            <a:r>
              <a:rPr lang="en-US" dirty="0"/>
              <a:t> to 3, update their ballot boxes and rebroadcast their votes.</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4318D724-0AAF-C14B-BB05-3D51B095FC2B}"/>
                  </a:ext>
                </a:extLst>
              </p14:cNvPr>
              <p14:cNvContentPartPr/>
              <p14:nvPr/>
            </p14:nvContentPartPr>
            <p14:xfrm>
              <a:off x="3476993" y="4863483"/>
              <a:ext cx="315360" cy="230040"/>
            </p14:xfrm>
          </p:contentPart>
        </mc:Choice>
        <mc:Fallback xmlns="">
          <p:pic>
            <p:nvPicPr>
              <p:cNvPr id="8" name="Ink 7">
                <a:extLst>
                  <a:ext uri="{FF2B5EF4-FFF2-40B4-BE49-F238E27FC236}">
                    <a16:creationId xmlns:a16="http://schemas.microsoft.com/office/drawing/2014/main" id="{4318D724-0AAF-C14B-BB05-3D51B095FC2B}"/>
                  </a:ext>
                </a:extLst>
              </p:cNvPr>
              <p:cNvPicPr/>
              <p:nvPr/>
            </p:nvPicPr>
            <p:blipFill>
              <a:blip r:embed="rId4"/>
              <a:stretch>
                <a:fillRect/>
              </a:stretch>
            </p:blipFill>
            <p:spPr>
              <a:xfrm>
                <a:off x="3422993" y="4755483"/>
                <a:ext cx="42300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5D31DE47-EE75-874D-897D-1C2E0D9048B4}"/>
                  </a:ext>
                </a:extLst>
              </p14:cNvPr>
              <p14:cNvContentPartPr/>
              <p14:nvPr/>
            </p14:nvContentPartPr>
            <p14:xfrm>
              <a:off x="4485713" y="6109083"/>
              <a:ext cx="421920" cy="31320"/>
            </p14:xfrm>
          </p:contentPart>
        </mc:Choice>
        <mc:Fallback xmlns="">
          <p:pic>
            <p:nvPicPr>
              <p:cNvPr id="9" name="Ink 8">
                <a:extLst>
                  <a:ext uri="{FF2B5EF4-FFF2-40B4-BE49-F238E27FC236}">
                    <a16:creationId xmlns:a16="http://schemas.microsoft.com/office/drawing/2014/main" id="{5D31DE47-EE75-874D-897D-1C2E0D9048B4}"/>
                  </a:ext>
                </a:extLst>
              </p:cNvPr>
              <p:cNvPicPr/>
              <p:nvPr/>
            </p:nvPicPr>
            <p:blipFill>
              <a:blip r:embed="rId6"/>
              <a:stretch>
                <a:fillRect/>
              </a:stretch>
            </p:blipFill>
            <p:spPr>
              <a:xfrm>
                <a:off x="4431713" y="6001083"/>
                <a:ext cx="5295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7CD71864-5E4D-E24D-8420-6E88A2E14432}"/>
                  </a:ext>
                </a:extLst>
              </p14:cNvPr>
              <p14:cNvContentPartPr/>
              <p14:nvPr/>
            </p14:nvContentPartPr>
            <p14:xfrm>
              <a:off x="3240833" y="4644603"/>
              <a:ext cx="301680" cy="249480"/>
            </p14:xfrm>
          </p:contentPart>
        </mc:Choice>
        <mc:Fallback xmlns="">
          <p:pic>
            <p:nvPicPr>
              <p:cNvPr id="11" name="Ink 10">
                <a:extLst>
                  <a:ext uri="{FF2B5EF4-FFF2-40B4-BE49-F238E27FC236}">
                    <a16:creationId xmlns:a16="http://schemas.microsoft.com/office/drawing/2014/main" id="{7CD71864-5E4D-E24D-8420-6E88A2E14432}"/>
                  </a:ext>
                </a:extLst>
              </p:cNvPr>
              <p:cNvPicPr/>
              <p:nvPr/>
            </p:nvPicPr>
            <p:blipFill>
              <a:blip r:embed="rId8"/>
              <a:stretch>
                <a:fillRect/>
              </a:stretch>
            </p:blipFill>
            <p:spPr>
              <a:xfrm>
                <a:off x="3187193" y="4536603"/>
                <a:ext cx="40932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02FED325-6263-1D4B-9327-B52D69D05617}"/>
                  </a:ext>
                </a:extLst>
              </p14:cNvPr>
              <p14:cNvContentPartPr/>
              <p14:nvPr/>
            </p14:nvContentPartPr>
            <p14:xfrm>
              <a:off x="3235793" y="4896243"/>
              <a:ext cx="360" cy="360"/>
            </p14:xfrm>
          </p:contentPart>
        </mc:Choice>
        <mc:Fallback xmlns="">
          <p:pic>
            <p:nvPicPr>
              <p:cNvPr id="12" name="Ink 11">
                <a:extLst>
                  <a:ext uri="{FF2B5EF4-FFF2-40B4-BE49-F238E27FC236}">
                    <a16:creationId xmlns:a16="http://schemas.microsoft.com/office/drawing/2014/main" id="{02FED325-6263-1D4B-9327-B52D69D05617}"/>
                  </a:ext>
                </a:extLst>
              </p:cNvPr>
              <p:cNvPicPr/>
              <p:nvPr/>
            </p:nvPicPr>
            <p:blipFill>
              <a:blip r:embed="rId10"/>
              <a:stretch>
                <a:fillRect/>
              </a:stretch>
            </p:blipFill>
            <p:spPr>
              <a:xfrm>
                <a:off x="3182153" y="478824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A7AB5805-23B2-A542-A339-768A304A9E46}"/>
                  </a:ext>
                </a:extLst>
              </p14:cNvPr>
              <p14:cNvContentPartPr/>
              <p14:nvPr/>
            </p14:nvContentPartPr>
            <p14:xfrm>
              <a:off x="5583353" y="4805523"/>
              <a:ext cx="290520" cy="268200"/>
            </p14:xfrm>
          </p:contentPart>
        </mc:Choice>
        <mc:Fallback xmlns="">
          <p:pic>
            <p:nvPicPr>
              <p:cNvPr id="14" name="Ink 13">
                <a:extLst>
                  <a:ext uri="{FF2B5EF4-FFF2-40B4-BE49-F238E27FC236}">
                    <a16:creationId xmlns:a16="http://schemas.microsoft.com/office/drawing/2014/main" id="{A7AB5805-23B2-A542-A339-768A304A9E46}"/>
                  </a:ext>
                </a:extLst>
              </p:cNvPr>
              <p:cNvPicPr/>
              <p:nvPr/>
            </p:nvPicPr>
            <p:blipFill>
              <a:blip r:embed="rId12"/>
              <a:stretch>
                <a:fillRect/>
              </a:stretch>
            </p:blipFill>
            <p:spPr>
              <a:xfrm>
                <a:off x="5529353" y="4697883"/>
                <a:ext cx="398160" cy="483840"/>
              </a:xfrm>
              <a:prstGeom prst="rect">
                <a:avLst/>
              </a:prstGeom>
            </p:spPr>
          </p:pic>
        </mc:Fallback>
      </mc:AlternateContent>
      <p:sp>
        <p:nvSpPr>
          <p:cNvPr id="15" name="TextBox 14">
            <a:extLst>
              <a:ext uri="{FF2B5EF4-FFF2-40B4-BE49-F238E27FC236}">
                <a16:creationId xmlns:a16="http://schemas.microsoft.com/office/drawing/2014/main" id="{3E276F71-5B86-284A-98D4-122734849708}"/>
              </a:ext>
            </a:extLst>
          </p:cNvPr>
          <p:cNvSpPr txBox="1"/>
          <p:nvPr/>
        </p:nvSpPr>
        <p:spPr>
          <a:xfrm>
            <a:off x="743629" y="4288893"/>
            <a:ext cx="1128835" cy="1569660"/>
          </a:xfrm>
          <a:prstGeom prst="rect">
            <a:avLst/>
          </a:prstGeom>
          <a:noFill/>
        </p:spPr>
        <p:txBody>
          <a:bodyPr wrap="none" rtlCol="0">
            <a:spAutoFit/>
          </a:bodyPr>
          <a:lstStyle/>
          <a:p>
            <a:r>
              <a:rPr lang="en-US" sz="2400" dirty="0"/>
              <a:t>(1, 1, 0)</a:t>
            </a:r>
          </a:p>
          <a:p>
            <a:r>
              <a:rPr lang="en-US" sz="2400" dirty="0"/>
              <a:t>(1, 2, 0)</a:t>
            </a:r>
          </a:p>
          <a:p>
            <a:r>
              <a:rPr lang="en-US" sz="2400" dirty="0"/>
              <a:t>(1, 3, 0)</a:t>
            </a:r>
          </a:p>
          <a:p>
            <a:endParaRPr lang="en-US" sz="2400" dirty="0"/>
          </a:p>
        </p:txBody>
      </p:sp>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F9E9B04B-D33C-5143-94C9-25B29309308C}"/>
                  </a:ext>
                </a:extLst>
              </p14:cNvPr>
              <p14:cNvContentPartPr/>
              <p14:nvPr/>
            </p14:nvContentPartPr>
            <p14:xfrm rot="5400000">
              <a:off x="532141" y="4886328"/>
              <a:ext cx="906480" cy="32400"/>
            </p14:xfrm>
          </p:contentPart>
        </mc:Choice>
        <mc:Fallback xmlns="">
          <p:pic>
            <p:nvPicPr>
              <p:cNvPr id="17" name="Ink 16">
                <a:extLst>
                  <a:ext uri="{FF2B5EF4-FFF2-40B4-BE49-F238E27FC236}">
                    <a16:creationId xmlns:a16="http://schemas.microsoft.com/office/drawing/2014/main" id="{F9E9B04B-D33C-5143-94C9-25B29309308C}"/>
                  </a:ext>
                </a:extLst>
              </p:cNvPr>
              <p:cNvPicPr/>
              <p:nvPr/>
            </p:nvPicPr>
            <p:blipFill>
              <a:blip r:embed="rId14"/>
              <a:stretch>
                <a:fillRect/>
              </a:stretch>
            </p:blipFill>
            <p:spPr>
              <a:xfrm rot="5400000">
                <a:off x="478501" y="4778688"/>
                <a:ext cx="10141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DFB13F32-2330-2A49-BDE9-AC20517DBBAE}"/>
                  </a:ext>
                </a:extLst>
              </p14:cNvPr>
              <p14:cNvContentPartPr/>
              <p14:nvPr/>
            </p14:nvContentPartPr>
            <p14:xfrm rot="5400000">
              <a:off x="1141741" y="4886328"/>
              <a:ext cx="906480" cy="32400"/>
            </p14:xfrm>
          </p:contentPart>
        </mc:Choice>
        <mc:Fallback xmlns="">
          <p:pic>
            <p:nvPicPr>
              <p:cNvPr id="18" name="Ink 17">
                <a:extLst>
                  <a:ext uri="{FF2B5EF4-FFF2-40B4-BE49-F238E27FC236}">
                    <a16:creationId xmlns:a16="http://schemas.microsoft.com/office/drawing/2014/main" id="{DFB13F32-2330-2A49-BDE9-AC20517DBBAE}"/>
                  </a:ext>
                </a:extLst>
              </p:cNvPr>
              <p:cNvPicPr/>
              <p:nvPr/>
            </p:nvPicPr>
            <p:blipFill>
              <a:blip r:embed="rId14"/>
              <a:stretch>
                <a:fillRect/>
              </a:stretch>
            </p:blipFill>
            <p:spPr>
              <a:xfrm rot="5400000">
                <a:off x="1088101" y="4778688"/>
                <a:ext cx="1014120" cy="248040"/>
              </a:xfrm>
              <a:prstGeom prst="rect">
                <a:avLst/>
              </a:prstGeom>
            </p:spPr>
          </p:pic>
        </mc:Fallback>
      </mc:AlternateContent>
      <p:sp>
        <p:nvSpPr>
          <p:cNvPr id="19" name="Rectangle 18">
            <a:extLst>
              <a:ext uri="{FF2B5EF4-FFF2-40B4-BE49-F238E27FC236}">
                <a16:creationId xmlns:a16="http://schemas.microsoft.com/office/drawing/2014/main" id="{B6284102-7854-6F40-A91C-C064A413FC41}"/>
              </a:ext>
            </a:extLst>
          </p:cNvPr>
          <p:cNvSpPr/>
          <p:nvPr/>
        </p:nvSpPr>
        <p:spPr>
          <a:xfrm>
            <a:off x="130115" y="3646392"/>
            <a:ext cx="2839624" cy="369332"/>
          </a:xfrm>
          <a:prstGeom prst="rect">
            <a:avLst/>
          </a:prstGeom>
        </p:spPr>
        <p:txBody>
          <a:bodyPr wrap="none">
            <a:spAutoFit/>
          </a:bodyPr>
          <a:lstStyle/>
          <a:p>
            <a:r>
              <a:rPr lang="en-US" dirty="0"/>
              <a:t>&lt;epoch, </a:t>
            </a:r>
            <a:r>
              <a:rPr lang="en-US" dirty="0" err="1"/>
              <a:t>vote_id</a:t>
            </a:r>
            <a:r>
              <a:rPr lang="en-US" dirty="0"/>
              <a:t>, </a:t>
            </a:r>
            <a:r>
              <a:rPr lang="en-US" dirty="0" err="1"/>
              <a:t>vote_zxID</a:t>
            </a:r>
            <a:r>
              <a:rPr lang="en-US" dirty="0"/>
              <a:t>&gt;</a:t>
            </a:r>
          </a:p>
        </p:txBody>
      </p:sp>
      <p:sp>
        <p:nvSpPr>
          <p:cNvPr id="20" name="Rounded Rectangular Callout 19">
            <a:extLst>
              <a:ext uri="{FF2B5EF4-FFF2-40B4-BE49-F238E27FC236}">
                <a16:creationId xmlns:a16="http://schemas.microsoft.com/office/drawing/2014/main" id="{ECFD5C52-5A04-7849-A133-092A8968FF38}"/>
              </a:ext>
            </a:extLst>
          </p:cNvPr>
          <p:cNvSpPr/>
          <p:nvPr/>
        </p:nvSpPr>
        <p:spPr>
          <a:xfrm>
            <a:off x="5564663" y="3602458"/>
            <a:ext cx="1219200" cy="457200"/>
          </a:xfrm>
          <a:prstGeom prst="wedgeRoundRectCallout">
            <a:avLst>
              <a:gd name="adj1" fmla="val -89091"/>
              <a:gd name="adj2" fmla="val 75983"/>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Server 1 votes for server 3</a:t>
            </a:r>
          </a:p>
        </p:txBody>
      </p:sp>
      <p:sp>
        <p:nvSpPr>
          <p:cNvPr id="21" name="Rounded Rectangular Callout 20">
            <a:extLst>
              <a:ext uri="{FF2B5EF4-FFF2-40B4-BE49-F238E27FC236}">
                <a16:creationId xmlns:a16="http://schemas.microsoft.com/office/drawing/2014/main" id="{854DD97A-CEF2-3142-9897-05023AE2D7AA}"/>
              </a:ext>
            </a:extLst>
          </p:cNvPr>
          <p:cNvSpPr/>
          <p:nvPr/>
        </p:nvSpPr>
        <p:spPr>
          <a:xfrm>
            <a:off x="3876113" y="5355768"/>
            <a:ext cx="1219200" cy="457200"/>
          </a:xfrm>
          <a:prstGeom prst="wedgeRoundRectCallout">
            <a:avLst>
              <a:gd name="adj1" fmla="val -80664"/>
              <a:gd name="adj2" fmla="val 143399"/>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Server 2 votes for server 3</a:t>
            </a:r>
          </a:p>
        </p:txBody>
      </p:sp>
    </p:spTree>
    <p:extLst>
      <p:ext uri="{BB962C8B-B14F-4D97-AF65-F5344CB8AC3E}">
        <p14:creationId xmlns:p14="http://schemas.microsoft.com/office/powerpoint/2010/main" val="3134443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DF2E-0AD9-4C4D-B91E-8CE24B59DA3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CA2638C2-4ADC-C24E-8A7A-9BF4465CE9E8}"/>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1496DEF-D530-2840-A49D-B97A3C71D8AE}"/>
              </a:ext>
            </a:extLst>
          </p:cNvPr>
          <p:cNvSpPr>
            <a:spLocks noGrp="1"/>
          </p:cNvSpPr>
          <p:nvPr>
            <p:ph type="sldNum" sz="quarter" idx="12"/>
          </p:nvPr>
        </p:nvSpPr>
        <p:spPr/>
        <p:txBody>
          <a:bodyPr/>
          <a:lstStyle/>
          <a:p>
            <a:r>
              <a:rPr lang="en-US" dirty="0"/>
              <a:t>CS 4504</a:t>
            </a:r>
          </a:p>
        </p:txBody>
      </p:sp>
      <p:sp>
        <p:nvSpPr>
          <p:cNvPr id="16" name="Content Placeholder 4">
            <a:extLst>
              <a:ext uri="{FF2B5EF4-FFF2-40B4-BE49-F238E27FC236}">
                <a16:creationId xmlns:a16="http://schemas.microsoft.com/office/drawing/2014/main" id="{95C20298-3CFE-1243-8D94-3AADFEBB12A0}"/>
              </a:ext>
            </a:extLst>
          </p:cNvPr>
          <p:cNvSpPr>
            <a:spLocks noGrp="1"/>
          </p:cNvSpPr>
          <p:nvPr>
            <p:ph sz="quarter" idx="1"/>
          </p:nvPr>
        </p:nvSpPr>
        <p:spPr>
          <a:xfrm>
            <a:off x="457200" y="1219199"/>
            <a:ext cx="8229600" cy="1905001"/>
          </a:xfrm>
        </p:spPr>
        <p:txBody>
          <a:bodyPr>
            <a:normAutofit fontScale="85000" lnSpcReduction="20000"/>
          </a:bodyPr>
          <a:lstStyle/>
          <a:p>
            <a:r>
              <a:rPr lang="en-US" dirty="0"/>
              <a:t>How ZAB algorithm works: </a:t>
            </a:r>
          </a:p>
          <a:p>
            <a:pPr marL="573088" lvl="1" indent="-287338">
              <a:buNone/>
              <a:tabLst>
                <a:tab pos="336550" algn="l"/>
              </a:tabLst>
            </a:pPr>
            <a:r>
              <a:rPr lang="en-US" dirty="0">
                <a:solidFill>
                  <a:schemeClr val="accent2"/>
                </a:solidFill>
              </a:rPr>
              <a:t>3.  </a:t>
            </a:r>
            <a:r>
              <a:rPr lang="en-US" dirty="0"/>
              <a:t>All servers in the system have elected Server 3, so Server 3 is elected as the Leader and is in the Leading state; Server 1 and Server 2 are in the Following state. Server 3 sends heartbeat packets to other servers and maintains the connection.</a:t>
            </a:r>
          </a:p>
        </p:txBody>
      </p:sp>
      <p:pic>
        <p:nvPicPr>
          <p:cNvPr id="5" name="Picture 4">
            <a:extLst>
              <a:ext uri="{FF2B5EF4-FFF2-40B4-BE49-F238E27FC236}">
                <a16:creationId xmlns:a16="http://schemas.microsoft.com/office/drawing/2014/main" id="{0D8CCAE8-FD09-AB47-B277-D296D86E7877}"/>
              </a:ext>
            </a:extLst>
          </p:cNvPr>
          <p:cNvPicPr>
            <a:picLocks noChangeAspect="1"/>
          </p:cNvPicPr>
          <p:nvPr/>
        </p:nvPicPr>
        <p:blipFill>
          <a:blip r:embed="rId2"/>
          <a:stretch>
            <a:fillRect/>
          </a:stretch>
        </p:blipFill>
        <p:spPr>
          <a:xfrm>
            <a:off x="2039429" y="3420109"/>
            <a:ext cx="5010595" cy="3302001"/>
          </a:xfrm>
          <a:prstGeom prst="rect">
            <a:avLst/>
          </a:prstGeom>
        </p:spPr>
      </p:pic>
    </p:spTree>
    <p:extLst>
      <p:ext uri="{BB962C8B-B14F-4D97-AF65-F5344CB8AC3E}">
        <p14:creationId xmlns:p14="http://schemas.microsoft.com/office/powerpoint/2010/main" val="8339168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DF2E-0AD9-4C4D-B91E-8CE24B59DA3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CA2638C2-4ADC-C24E-8A7A-9BF4465CE9E8}"/>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1496DEF-D530-2840-A49D-B97A3C71D8AE}"/>
              </a:ext>
            </a:extLst>
          </p:cNvPr>
          <p:cNvSpPr>
            <a:spLocks noGrp="1"/>
          </p:cNvSpPr>
          <p:nvPr>
            <p:ph type="sldNum" sz="quarter" idx="12"/>
          </p:nvPr>
        </p:nvSpPr>
        <p:spPr/>
        <p:txBody>
          <a:bodyPr/>
          <a:lstStyle/>
          <a:p>
            <a:r>
              <a:rPr lang="en-US" dirty="0"/>
              <a:t>CS 4504</a:t>
            </a:r>
          </a:p>
        </p:txBody>
      </p:sp>
      <p:sp>
        <p:nvSpPr>
          <p:cNvPr id="16" name="Content Placeholder 4">
            <a:extLst>
              <a:ext uri="{FF2B5EF4-FFF2-40B4-BE49-F238E27FC236}">
                <a16:creationId xmlns:a16="http://schemas.microsoft.com/office/drawing/2014/main" id="{95C20298-3CFE-1243-8D94-3AADFEBB12A0}"/>
              </a:ext>
            </a:extLst>
          </p:cNvPr>
          <p:cNvSpPr>
            <a:spLocks noGrp="1"/>
          </p:cNvSpPr>
          <p:nvPr>
            <p:ph sz="quarter" idx="1"/>
          </p:nvPr>
        </p:nvSpPr>
        <p:spPr>
          <a:xfrm>
            <a:off x="457200" y="1219199"/>
            <a:ext cx="8229600" cy="3048001"/>
          </a:xfrm>
        </p:spPr>
        <p:txBody>
          <a:bodyPr>
            <a:normAutofit/>
          </a:bodyPr>
          <a:lstStyle/>
          <a:p>
            <a:r>
              <a:rPr lang="en-US" dirty="0"/>
              <a:t>Advantages:</a:t>
            </a:r>
          </a:p>
          <a:p>
            <a:pPr lvl="1"/>
            <a:r>
              <a:rPr lang="en-US" dirty="0"/>
              <a:t>High performance</a:t>
            </a:r>
          </a:p>
          <a:p>
            <a:pPr lvl="1"/>
            <a:r>
              <a:rPr lang="en-US" dirty="0"/>
              <a:t>No special requirements for the system</a:t>
            </a:r>
          </a:p>
          <a:p>
            <a:pPr lvl="1"/>
            <a:r>
              <a:rPr lang="en-US" dirty="0"/>
              <a:t>Better stability, reelection could happen, but leader will not change frequently</a:t>
            </a:r>
          </a:p>
        </p:txBody>
      </p:sp>
    </p:spTree>
    <p:extLst>
      <p:ext uri="{BB962C8B-B14F-4D97-AF65-F5344CB8AC3E}">
        <p14:creationId xmlns:p14="http://schemas.microsoft.com/office/powerpoint/2010/main" val="1576310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8DF2E-0AD9-4C4D-B91E-8CE24B59DA32}"/>
              </a:ext>
            </a:extLst>
          </p:cNvPr>
          <p:cNvSpPr>
            <a:spLocks noGrp="1"/>
          </p:cNvSpPr>
          <p:nvPr>
            <p:ph type="title"/>
          </p:nvPr>
        </p:nvSpPr>
        <p:spPr/>
        <p:txBody>
          <a:bodyPr/>
          <a:lstStyle/>
          <a:p>
            <a:r>
              <a:rPr lang="en-US" dirty="0"/>
              <a:t>3. ZAB algorithm</a:t>
            </a:r>
          </a:p>
        </p:txBody>
      </p:sp>
      <p:sp>
        <p:nvSpPr>
          <p:cNvPr id="3" name="Date Placeholder 2">
            <a:extLst>
              <a:ext uri="{FF2B5EF4-FFF2-40B4-BE49-F238E27FC236}">
                <a16:creationId xmlns:a16="http://schemas.microsoft.com/office/drawing/2014/main" id="{CA2638C2-4ADC-C24E-8A7A-9BF4465CE9E8}"/>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1496DEF-D530-2840-A49D-B97A3C71D8AE}"/>
              </a:ext>
            </a:extLst>
          </p:cNvPr>
          <p:cNvSpPr>
            <a:spLocks noGrp="1"/>
          </p:cNvSpPr>
          <p:nvPr>
            <p:ph type="sldNum" sz="quarter" idx="12"/>
          </p:nvPr>
        </p:nvSpPr>
        <p:spPr/>
        <p:txBody>
          <a:bodyPr/>
          <a:lstStyle/>
          <a:p>
            <a:r>
              <a:rPr lang="en-US" dirty="0"/>
              <a:t>CS 4504</a:t>
            </a:r>
          </a:p>
        </p:txBody>
      </p:sp>
      <p:sp>
        <p:nvSpPr>
          <p:cNvPr id="16" name="Content Placeholder 4">
            <a:extLst>
              <a:ext uri="{FF2B5EF4-FFF2-40B4-BE49-F238E27FC236}">
                <a16:creationId xmlns:a16="http://schemas.microsoft.com/office/drawing/2014/main" id="{95C20298-3CFE-1243-8D94-3AADFEBB12A0}"/>
              </a:ext>
            </a:extLst>
          </p:cNvPr>
          <p:cNvSpPr>
            <a:spLocks noGrp="1"/>
          </p:cNvSpPr>
          <p:nvPr>
            <p:ph sz="quarter" idx="1"/>
          </p:nvPr>
        </p:nvSpPr>
        <p:spPr>
          <a:xfrm>
            <a:off x="457200" y="1219199"/>
            <a:ext cx="8229600" cy="5029201"/>
          </a:xfrm>
        </p:spPr>
        <p:txBody>
          <a:bodyPr>
            <a:normAutofit/>
          </a:bodyPr>
          <a:lstStyle/>
          <a:p>
            <a:r>
              <a:rPr lang="en-US" dirty="0"/>
              <a:t>Disadvantages:</a:t>
            </a:r>
          </a:p>
          <a:p>
            <a:pPr lvl="1"/>
            <a:r>
              <a:rPr lang="en-US" dirty="0"/>
              <a:t>Heavy communication: </a:t>
            </a:r>
          </a:p>
          <a:p>
            <a:pPr lvl="2"/>
            <a:r>
              <a:rPr lang="en-US" dirty="0"/>
              <a:t>Broadcast storms could happen: If there are N nodes, and each node broadcasts at the same time, the amount of information in the cluster is N * (N-1) messages. </a:t>
            </a:r>
          </a:p>
          <a:p>
            <a:pPr lvl="1"/>
            <a:r>
              <a:rPr lang="en-US" dirty="0"/>
              <a:t>Node ID and data ID is needed, which means that you need to know the Node ID and data ID of all nodes, so the election time is relatively long</a:t>
            </a:r>
          </a:p>
        </p:txBody>
      </p:sp>
    </p:spTree>
    <p:extLst>
      <p:ext uri="{BB962C8B-B14F-4D97-AF65-F5344CB8AC3E}">
        <p14:creationId xmlns:p14="http://schemas.microsoft.com/office/powerpoint/2010/main" val="3083510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C77D0-05BB-0044-AE71-9E60CE324879}"/>
              </a:ext>
            </a:extLst>
          </p:cNvPr>
          <p:cNvSpPr>
            <a:spLocks noGrp="1"/>
          </p:cNvSpPr>
          <p:nvPr>
            <p:ph type="title"/>
          </p:nvPr>
        </p:nvSpPr>
        <p:spPr/>
        <p:txBody>
          <a:bodyPr>
            <a:normAutofit/>
          </a:bodyPr>
          <a:lstStyle/>
          <a:p>
            <a:r>
              <a:rPr lang="en-US" dirty="0"/>
              <a:t>Comparison</a:t>
            </a:r>
          </a:p>
        </p:txBody>
      </p:sp>
      <p:sp>
        <p:nvSpPr>
          <p:cNvPr id="3" name="Date Placeholder 2">
            <a:extLst>
              <a:ext uri="{FF2B5EF4-FFF2-40B4-BE49-F238E27FC236}">
                <a16:creationId xmlns:a16="http://schemas.microsoft.com/office/drawing/2014/main" id="{A0252B5B-C0A3-2B46-8906-5CF2D8B14365}"/>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6A0DB19C-1414-764B-9AD5-237080E2BD93}"/>
              </a:ext>
            </a:extLst>
          </p:cNvPr>
          <p:cNvSpPr>
            <a:spLocks noGrp="1"/>
          </p:cNvSpPr>
          <p:nvPr>
            <p:ph type="sldNum" sz="quarter" idx="12"/>
          </p:nvPr>
        </p:nvSpPr>
        <p:spPr/>
        <p:txBody>
          <a:bodyPr/>
          <a:lstStyle/>
          <a:p>
            <a:r>
              <a:rPr lang="en-US" dirty="0"/>
              <a:t>CS 4504</a:t>
            </a:r>
          </a:p>
        </p:txBody>
      </p:sp>
      <p:graphicFrame>
        <p:nvGraphicFramePr>
          <p:cNvPr id="6" name="Content Placeholder 5">
            <a:extLst>
              <a:ext uri="{FF2B5EF4-FFF2-40B4-BE49-F238E27FC236}">
                <a16:creationId xmlns:a16="http://schemas.microsoft.com/office/drawing/2014/main" id="{1CC084B0-6BB3-9B42-8D5E-C0E1E4416B21}"/>
              </a:ext>
            </a:extLst>
          </p:cNvPr>
          <p:cNvGraphicFramePr>
            <a:graphicFrameLocks noGrp="1"/>
          </p:cNvGraphicFramePr>
          <p:nvPr>
            <p:ph sz="quarter" idx="1"/>
            <p:extLst>
              <p:ext uri="{D42A27DB-BD31-4B8C-83A1-F6EECF244321}">
                <p14:modId xmlns:p14="http://schemas.microsoft.com/office/powerpoint/2010/main" val="3718319897"/>
              </p:ext>
            </p:extLst>
          </p:nvPr>
        </p:nvGraphicFramePr>
        <p:xfrm>
          <a:off x="451686" y="1447800"/>
          <a:ext cx="8229600" cy="4571999"/>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3009878237"/>
                    </a:ext>
                  </a:extLst>
                </a:gridCol>
                <a:gridCol w="2133600">
                  <a:extLst>
                    <a:ext uri="{9D8B030D-6E8A-4147-A177-3AD203B41FA5}">
                      <a16:colId xmlns:a16="http://schemas.microsoft.com/office/drawing/2014/main" val="3322588589"/>
                    </a:ext>
                  </a:extLst>
                </a:gridCol>
                <a:gridCol w="2438400">
                  <a:extLst>
                    <a:ext uri="{9D8B030D-6E8A-4147-A177-3AD203B41FA5}">
                      <a16:colId xmlns:a16="http://schemas.microsoft.com/office/drawing/2014/main" val="372778398"/>
                    </a:ext>
                  </a:extLst>
                </a:gridCol>
                <a:gridCol w="2057400">
                  <a:extLst>
                    <a:ext uri="{9D8B030D-6E8A-4147-A177-3AD203B41FA5}">
                      <a16:colId xmlns:a16="http://schemas.microsoft.com/office/drawing/2014/main" val="3330651311"/>
                    </a:ext>
                  </a:extLst>
                </a:gridCol>
              </a:tblGrid>
              <a:tr h="781628">
                <a:tc>
                  <a:txBody>
                    <a:bodyPr/>
                    <a:lstStyle/>
                    <a:p>
                      <a:pPr algn="ctr"/>
                      <a:endParaRPr lang="en-US" dirty="0"/>
                    </a:p>
                  </a:txBody>
                  <a:tcPr anchor="ctr"/>
                </a:tc>
                <a:tc>
                  <a:txBody>
                    <a:bodyPr/>
                    <a:lstStyle/>
                    <a:p>
                      <a:pPr algn="ctr"/>
                      <a:r>
                        <a:rPr lang="en-US" dirty="0"/>
                        <a:t>Bully</a:t>
                      </a:r>
                    </a:p>
                  </a:txBody>
                  <a:tcPr anchor="ctr"/>
                </a:tc>
                <a:tc>
                  <a:txBody>
                    <a:bodyPr/>
                    <a:lstStyle/>
                    <a:p>
                      <a:pPr algn="ctr"/>
                      <a:r>
                        <a:rPr lang="en-US" dirty="0"/>
                        <a:t>Raft</a:t>
                      </a:r>
                    </a:p>
                  </a:txBody>
                  <a:tcPr anchor="ctr"/>
                </a:tc>
                <a:tc>
                  <a:txBody>
                    <a:bodyPr/>
                    <a:lstStyle/>
                    <a:p>
                      <a:pPr algn="ctr"/>
                      <a:r>
                        <a:rPr lang="en-US" dirty="0"/>
                        <a:t>ZAB</a:t>
                      </a:r>
                    </a:p>
                  </a:txBody>
                  <a:tcPr anchor="ctr"/>
                </a:tc>
                <a:extLst>
                  <a:ext uri="{0D108BD9-81ED-4DB2-BD59-A6C34878D82A}">
                    <a16:rowId xmlns:a16="http://schemas.microsoft.com/office/drawing/2014/main" val="109875651"/>
                  </a:ext>
                </a:extLst>
              </a:tr>
              <a:tr h="717097">
                <a:tc>
                  <a:txBody>
                    <a:bodyPr/>
                    <a:lstStyle/>
                    <a:p>
                      <a:pPr algn="ctr"/>
                      <a:r>
                        <a:rPr lang="en-US" dirty="0"/>
                        <a:t>Election message</a:t>
                      </a:r>
                    </a:p>
                  </a:txBody>
                  <a:tcPr anchor="ctr"/>
                </a:tc>
                <a:tc>
                  <a:txBody>
                    <a:bodyPr/>
                    <a:lstStyle/>
                    <a:p>
                      <a:r>
                        <a:rPr lang="en-US" sz="1400" dirty="0"/>
                        <a:t>Alive message</a:t>
                      </a:r>
                    </a:p>
                  </a:txBody>
                  <a:tcPr anchor="ctr"/>
                </a:tc>
                <a:tc>
                  <a:txBody>
                    <a:bodyPr/>
                    <a:lstStyle/>
                    <a:p>
                      <a:r>
                        <a:rPr lang="en-US" sz="1400" dirty="0"/>
                        <a:t>Accept or reject message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Voting message &lt;epoch, </a:t>
                      </a:r>
                      <a:r>
                        <a:rPr lang="en-US" sz="1400" dirty="0" err="1"/>
                        <a:t>vote_id</a:t>
                      </a:r>
                      <a:r>
                        <a:rPr lang="en-US" sz="1400" dirty="0"/>
                        <a:t>, </a:t>
                      </a:r>
                      <a:r>
                        <a:rPr lang="en-US" sz="1400" dirty="0" err="1"/>
                        <a:t>vote_zxID</a:t>
                      </a:r>
                      <a:r>
                        <a:rPr lang="en-US" sz="1400" dirty="0"/>
                        <a:t>&gt;</a:t>
                      </a:r>
                    </a:p>
                  </a:txBody>
                  <a:tcPr anchor="ctr"/>
                </a:tc>
                <a:extLst>
                  <a:ext uri="{0D108BD9-81ED-4DB2-BD59-A6C34878D82A}">
                    <a16:rowId xmlns:a16="http://schemas.microsoft.com/office/drawing/2014/main" val="873185617"/>
                  </a:ext>
                </a:extLst>
              </a:tr>
              <a:tr h="717097">
                <a:tc>
                  <a:txBody>
                    <a:bodyPr/>
                    <a:lstStyle/>
                    <a:p>
                      <a:pPr algn="ctr"/>
                      <a:r>
                        <a:rPr lang="en-US" dirty="0"/>
                        <a:t>How to elect leader</a:t>
                      </a:r>
                    </a:p>
                  </a:txBody>
                  <a:tcPr anchor="ctr"/>
                </a:tc>
                <a:tc>
                  <a:txBody>
                    <a:bodyPr/>
                    <a:lstStyle/>
                    <a:p>
                      <a:r>
                        <a:rPr lang="en-US" sz="1400" dirty="0"/>
                        <a:t>Largest ID</a:t>
                      </a:r>
                    </a:p>
                  </a:txBody>
                  <a:tcPr anchor="ctr"/>
                </a:tc>
                <a:tc>
                  <a:txBody>
                    <a:bodyPr/>
                    <a:lstStyle/>
                    <a:p>
                      <a:r>
                        <a:rPr lang="en-US" sz="1400" dirty="0"/>
                        <a:t>Get half of the votes</a:t>
                      </a:r>
                    </a:p>
                  </a:txBody>
                  <a:tcPr anchor="ctr"/>
                </a:tc>
                <a:tc>
                  <a:txBody>
                    <a:bodyPr/>
                    <a:lstStyle/>
                    <a:p>
                      <a:r>
                        <a:rPr lang="en-US" sz="1400" dirty="0"/>
                        <a:t>Node contains latest data or largest ID</a:t>
                      </a:r>
                    </a:p>
                  </a:txBody>
                  <a:tcPr anchor="ctr"/>
                </a:tc>
                <a:extLst>
                  <a:ext uri="{0D108BD9-81ED-4DB2-BD59-A6C34878D82A}">
                    <a16:rowId xmlns:a16="http://schemas.microsoft.com/office/drawing/2014/main" val="2664578957"/>
                  </a:ext>
                </a:extLst>
              </a:tr>
              <a:tr h="1536637">
                <a:tc>
                  <a:txBody>
                    <a:bodyPr/>
                    <a:lstStyle/>
                    <a:p>
                      <a:pPr algn="ctr"/>
                      <a:r>
                        <a:rPr lang="en-US" dirty="0"/>
                        <a:t>How the algorithm works</a:t>
                      </a:r>
                    </a:p>
                  </a:txBody>
                  <a:tcPr anchor="ctr"/>
                </a:tc>
                <a:tc>
                  <a:txBody>
                    <a:bodyPr/>
                    <a:lstStyle/>
                    <a:p>
                      <a:r>
                        <a:rPr lang="en-US" sz="1400" dirty="0"/>
                        <a:t>When nodes find no responses from leader or leader fails, raise new election</a:t>
                      </a:r>
                    </a:p>
                  </a:txBody>
                  <a:tcPr anchor="ctr"/>
                </a:tc>
                <a:tc>
                  <a:txBody>
                    <a:bodyPr/>
                    <a:lstStyle/>
                    <a:p>
                      <a:r>
                        <a:rPr lang="en-US" sz="1400" dirty="0"/>
                        <a:t>Every node can be Candidate and selected as Leader. Every follower can only vote once in every election.</a:t>
                      </a:r>
                    </a:p>
                  </a:txBody>
                  <a:tcPr anchor="ctr"/>
                </a:tc>
                <a:tc>
                  <a:txBody>
                    <a:bodyPr/>
                    <a:lstStyle/>
                    <a:p>
                      <a:r>
                        <a:rPr lang="en-US" sz="1400" dirty="0"/>
                        <a:t>Every node at Looking state can join the election and vote many time. The leader depends on the epoch, </a:t>
                      </a:r>
                      <a:r>
                        <a:rPr lang="en-US" sz="1400" dirty="0" err="1"/>
                        <a:t>zxID</a:t>
                      </a:r>
                      <a:r>
                        <a:rPr lang="en-US" sz="1400" dirty="0"/>
                        <a:t> and </a:t>
                      </a:r>
                      <a:r>
                        <a:rPr lang="en-US" sz="1400" dirty="0" err="1"/>
                        <a:t>server_ID</a:t>
                      </a:r>
                      <a:r>
                        <a:rPr lang="en-US" sz="1400" dirty="0"/>
                        <a:t>.</a:t>
                      </a:r>
                    </a:p>
                  </a:txBody>
                  <a:tcPr anchor="ctr"/>
                </a:tc>
                <a:extLst>
                  <a:ext uri="{0D108BD9-81ED-4DB2-BD59-A6C34878D82A}">
                    <a16:rowId xmlns:a16="http://schemas.microsoft.com/office/drawing/2014/main" val="3625305637"/>
                  </a:ext>
                </a:extLst>
              </a:tr>
              <a:tr h="409770">
                <a:tc>
                  <a:txBody>
                    <a:bodyPr/>
                    <a:lstStyle/>
                    <a:p>
                      <a:pPr algn="ctr"/>
                      <a:r>
                        <a:rPr lang="en-US" dirty="0"/>
                        <a:t>Election time</a:t>
                      </a:r>
                    </a:p>
                  </a:txBody>
                  <a:tcPr anchor="ctr"/>
                </a:tc>
                <a:tc>
                  <a:txBody>
                    <a:bodyPr/>
                    <a:lstStyle/>
                    <a:p>
                      <a:r>
                        <a:rPr lang="en-US" sz="1400" dirty="0"/>
                        <a:t>Short</a:t>
                      </a:r>
                    </a:p>
                  </a:txBody>
                  <a:tcPr anchor="ctr"/>
                </a:tc>
                <a:tc>
                  <a:txBody>
                    <a:bodyPr/>
                    <a:lstStyle/>
                    <a:p>
                      <a:r>
                        <a:rPr lang="en-US" sz="1400" dirty="0"/>
                        <a:t>Short</a:t>
                      </a:r>
                    </a:p>
                  </a:txBody>
                  <a:tcPr anchor="ctr"/>
                </a:tc>
                <a:tc>
                  <a:txBody>
                    <a:bodyPr/>
                    <a:lstStyle/>
                    <a:p>
                      <a:r>
                        <a:rPr lang="en-US" sz="1400" dirty="0"/>
                        <a:t>Long</a:t>
                      </a:r>
                    </a:p>
                  </a:txBody>
                  <a:tcPr anchor="ctr"/>
                </a:tc>
                <a:extLst>
                  <a:ext uri="{0D108BD9-81ED-4DB2-BD59-A6C34878D82A}">
                    <a16:rowId xmlns:a16="http://schemas.microsoft.com/office/drawing/2014/main" val="3672738502"/>
                  </a:ext>
                </a:extLst>
              </a:tr>
              <a:tr h="409770">
                <a:tc>
                  <a:txBody>
                    <a:bodyPr/>
                    <a:lstStyle/>
                    <a:p>
                      <a:pPr algn="ctr"/>
                      <a:r>
                        <a:rPr lang="en-US" dirty="0"/>
                        <a:t>Performance</a:t>
                      </a:r>
                    </a:p>
                  </a:txBody>
                  <a:tcPr anchor="ctr"/>
                </a:tc>
                <a:tc gridSpan="3">
                  <a:txBody>
                    <a:bodyPr/>
                    <a:lstStyle/>
                    <a:p>
                      <a:r>
                        <a:rPr lang="en-US" sz="1400" dirty="0"/>
                        <a:t>Bully &lt; Raft &lt; ZAB</a:t>
                      </a:r>
                    </a:p>
                  </a:txBody>
                  <a:tcPr anchor="ct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231088381"/>
                  </a:ext>
                </a:extLst>
              </a:tr>
            </a:tbl>
          </a:graphicData>
        </a:graphic>
      </p:graphicFrame>
    </p:spTree>
    <p:extLst>
      <p:ext uri="{BB962C8B-B14F-4D97-AF65-F5344CB8AC3E}">
        <p14:creationId xmlns:p14="http://schemas.microsoft.com/office/powerpoint/2010/main" val="178045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2FB24-EDDA-554F-86AC-1727D802B219}"/>
              </a:ext>
            </a:extLst>
          </p:cNvPr>
          <p:cNvSpPr>
            <a:spLocks noGrp="1"/>
          </p:cNvSpPr>
          <p:nvPr>
            <p:ph type="title"/>
          </p:nvPr>
        </p:nvSpPr>
        <p:spPr/>
        <p:txBody>
          <a:bodyPr>
            <a:normAutofit fontScale="90000"/>
          </a:bodyPr>
          <a:lstStyle/>
          <a:p>
            <a:r>
              <a:rPr lang="en-US" dirty="0"/>
              <a:t>Most of clusters use odd number of nodes</a:t>
            </a:r>
          </a:p>
        </p:txBody>
      </p:sp>
      <p:sp>
        <p:nvSpPr>
          <p:cNvPr id="3" name="Date Placeholder 2">
            <a:extLst>
              <a:ext uri="{FF2B5EF4-FFF2-40B4-BE49-F238E27FC236}">
                <a16:creationId xmlns:a16="http://schemas.microsoft.com/office/drawing/2014/main" id="{D39CADD5-4A83-6447-A5CE-06165475EEE3}"/>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F5275782-DA9E-CB47-8AFD-71D8729188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9DD8042D-CA86-A349-A4BF-5A50EFB43F0D}"/>
              </a:ext>
            </a:extLst>
          </p:cNvPr>
          <p:cNvSpPr>
            <a:spLocks noGrp="1"/>
          </p:cNvSpPr>
          <p:nvPr>
            <p:ph sz="quarter" idx="1"/>
          </p:nvPr>
        </p:nvSpPr>
        <p:spPr>
          <a:xfrm>
            <a:off x="457200" y="1295400"/>
            <a:ext cx="8229600" cy="4572000"/>
          </a:xfrm>
        </p:spPr>
        <p:txBody>
          <a:bodyPr>
            <a:normAutofit fontScale="77500" lnSpcReduction="20000"/>
          </a:bodyPr>
          <a:lstStyle/>
          <a:p>
            <a:r>
              <a:rPr lang="en-US" dirty="0"/>
              <a:t>The idea of the election algorithm is that the minority obeys the majority, and the nodes that get more votes win.</a:t>
            </a:r>
          </a:p>
          <a:p>
            <a:endParaRPr lang="en-US" dirty="0"/>
          </a:p>
          <a:p>
            <a:r>
              <a:rPr lang="en-US" dirty="0"/>
              <a:t>If a cluster use even number of nodes, the probability that two nodes have the same number of votes will be very high. </a:t>
            </a:r>
          </a:p>
          <a:p>
            <a:endParaRPr lang="en-US" dirty="0"/>
          </a:p>
          <a:p>
            <a:r>
              <a:rPr lang="en-US" dirty="0"/>
              <a:t>Therefore, most of the selection algorithms usually use odd nodes.</a:t>
            </a:r>
          </a:p>
        </p:txBody>
      </p:sp>
    </p:spTree>
    <p:extLst>
      <p:ext uri="{BB962C8B-B14F-4D97-AF65-F5344CB8AC3E}">
        <p14:creationId xmlns:p14="http://schemas.microsoft.com/office/powerpoint/2010/main" val="21569025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37715</TotalTime>
  <Words>2337</Words>
  <Application>Microsoft Macintosh PowerPoint</Application>
  <PresentationFormat>On-screen Show (4:3)</PresentationFormat>
  <Paragraphs>331</Paragraphs>
  <Slides>37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Courier New</vt:lpstr>
      <vt:lpstr>Wingdings</vt:lpstr>
      <vt:lpstr>Wingdings 3</vt:lpstr>
      <vt:lpstr>Origin</vt:lpstr>
      <vt:lpstr>CS 4504 Parallel and Distributed Computation  Distributed Election</vt:lpstr>
      <vt:lpstr>Distributed Clusters</vt:lpstr>
      <vt:lpstr>Leader in Distributed Systems</vt:lpstr>
      <vt:lpstr>Why we need Distributed Election?</vt:lpstr>
      <vt:lpstr>Why we need Distributed Election?</vt:lpstr>
      <vt:lpstr>1. Bully algorithm</vt:lpstr>
      <vt:lpstr>1. Bully algorithm</vt:lpstr>
      <vt:lpstr>1. Bully algorithm</vt:lpstr>
      <vt:lpstr>1. Bully algorithm</vt:lpstr>
      <vt:lpstr>1. Bully algorithm</vt:lpstr>
      <vt:lpstr>1. Bully algorithm</vt:lpstr>
      <vt:lpstr>1. Bully algorithm</vt:lpstr>
      <vt:lpstr>Bully algorithm example in MongoDB</vt:lpstr>
      <vt:lpstr>1. Bully algorithm</vt:lpstr>
      <vt:lpstr>1. Bully algorithm</vt:lpstr>
      <vt:lpstr>2. Raft algorithm</vt:lpstr>
      <vt:lpstr>2. Raft algorithm</vt:lpstr>
      <vt:lpstr>2. Raft algorithm</vt:lpstr>
      <vt:lpstr>2. Raft algorithm</vt:lpstr>
      <vt:lpstr>2. Raft algorithm</vt:lpstr>
      <vt:lpstr>2. Raft algorithm</vt:lpstr>
      <vt:lpstr>2. Raft algorithm</vt:lpstr>
      <vt:lpstr>2. Raft algorithm</vt:lpstr>
      <vt:lpstr>Raft algorithm example in Kubernetes</vt:lpstr>
      <vt:lpstr>2. Raft algorithm</vt:lpstr>
      <vt:lpstr>2. Raft algorithm</vt:lpstr>
      <vt:lpstr>3. ZAB algorithm</vt:lpstr>
      <vt:lpstr>3. ZAB algorithm</vt:lpstr>
      <vt:lpstr>3. ZAB algorithm</vt:lpstr>
      <vt:lpstr>3. ZAB algorithm</vt:lpstr>
      <vt:lpstr>3. ZAB algorithm</vt:lpstr>
      <vt:lpstr>3. ZAB algorithm</vt:lpstr>
      <vt:lpstr>3. ZAB algorithm</vt:lpstr>
      <vt:lpstr>3. ZAB algorithm</vt:lpstr>
      <vt:lpstr>3. ZAB algorithm</vt:lpstr>
      <vt:lpstr>Comparison</vt:lpstr>
      <vt:lpstr>Most of clusters use odd number of nodes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Reference-Driven Performance Anomaly Identification</dc:title>
  <dc:creator/>
  <cp:lastModifiedBy>Kun Suo</cp:lastModifiedBy>
  <cp:revision>1446</cp:revision>
  <dcterms:created xsi:type="dcterms:W3CDTF">2012-08-09T04:56:17Z</dcterms:created>
  <dcterms:modified xsi:type="dcterms:W3CDTF">2026-08-19T15:25:32Z</dcterms:modified>
</cp:coreProperties>
</file>